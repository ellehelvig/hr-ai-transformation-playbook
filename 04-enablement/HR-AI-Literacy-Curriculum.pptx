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40d20541fd54dac" /><Relationship Type="http://schemas.openxmlformats.org/officeDocument/2006/relationships/extended-properties" Target="/docProps/app.xml" Id="R3238620e0b1e4f91" /><Relationship Type="http://schemas.openxmlformats.org/officeDocument/2006/relationships/officeDocument" Target="/ppt/presentation.xml" Id="Raec209d1a0fd45c6" /></Relationships>
</file>

<file path=ppt/presentation.xml><?xml version="1.0" encoding="utf-8"?>
<p:presentation xmlns:p="http://schemas.openxmlformats.org/presentationml/2006/main">
  <p:sldMasterIdLst>
    <p:sldMasterId xmlns:r="http://schemas.openxmlformats.org/officeDocument/2006/relationships" id="2147483648" r:id="Rf0d76b21316f47bb"/>
  </p:sldMasterIdLst>
  <p:notesMasterIdLst>
    <p:notesMasterId xmlns:r="http://schemas.openxmlformats.org/officeDocument/2006/relationships" r:id="Ra4485daec9744c56"/>
  </p:notesMasterIdLst>
  <p:sldIdLst>
    <p:sldId xmlns:r="http://schemas.openxmlformats.org/officeDocument/2006/relationships" id="256" r:id="R0c2f782519ec4aa9"/>
    <p:sldId xmlns:r="http://schemas.openxmlformats.org/officeDocument/2006/relationships" id="257" r:id="R7a52ce6a26d340b1"/>
    <p:sldId xmlns:r="http://schemas.openxmlformats.org/officeDocument/2006/relationships" id="258" r:id="R3bdd8e7693b74b1d"/>
    <p:sldId xmlns:r="http://schemas.openxmlformats.org/officeDocument/2006/relationships" id="259" r:id="Race620e38bd34f53"/>
    <p:sldId xmlns:r="http://schemas.openxmlformats.org/officeDocument/2006/relationships" id="260" r:id="R3fd0d272893d4a92"/>
    <p:sldId xmlns:r="http://schemas.openxmlformats.org/officeDocument/2006/relationships" id="261" r:id="R33d1cbb618104ad9"/>
    <p:sldId xmlns:r="http://schemas.openxmlformats.org/officeDocument/2006/relationships" id="262" r:id="Rdbd9afb303ed4f4b"/>
    <p:sldId xmlns:r="http://schemas.openxmlformats.org/officeDocument/2006/relationships" id="263" r:id="R78d46a94c7ec4fc2"/>
    <p:sldId xmlns:r="http://schemas.openxmlformats.org/officeDocument/2006/relationships" id="264" r:id="Rd1b61186818942bf"/>
    <p:sldId xmlns:r="http://schemas.openxmlformats.org/officeDocument/2006/relationships" id="265" r:id="Ra6429b80f234443e"/>
    <p:sldId xmlns:r="http://schemas.openxmlformats.org/officeDocument/2006/relationships" id="266" r:id="R5f737c8509eb4de4"/>
    <p:sldId xmlns:r="http://schemas.openxmlformats.org/officeDocument/2006/relationships" id="267" r:id="R64ad40bebcb74641"/>
    <p:sldId xmlns:r="http://schemas.openxmlformats.org/officeDocument/2006/relationships" id="268" r:id="Rf480ac9e835e4972"/>
    <p:sldId xmlns:r="http://schemas.openxmlformats.org/officeDocument/2006/relationships" id="269" r:id="R140fa14b0cae4be9"/>
    <p:sldId xmlns:r="http://schemas.openxmlformats.org/officeDocument/2006/relationships" id="270" r:id="R173812d242924bbf"/>
    <p:sldId xmlns:r="http://schemas.openxmlformats.org/officeDocument/2006/relationships" id="271" r:id="R9c5c72fd8c344458"/>
    <p:sldId xmlns:r="http://schemas.openxmlformats.org/officeDocument/2006/relationships" id="272" r:id="R1cdbcd5ff62d428a"/>
    <p:sldId xmlns:r="http://schemas.openxmlformats.org/officeDocument/2006/relationships" id="273" r:id="Re4d2d549715e4039"/>
    <p:sldId xmlns:r="http://schemas.openxmlformats.org/officeDocument/2006/relationships" id="274" r:id="R48a4c5a068b8451b"/>
    <p:sldId xmlns:r="http://schemas.openxmlformats.org/officeDocument/2006/relationships" id="275" r:id="R7c7db18f7b0a4d82"/>
    <p:sldId xmlns:r="http://schemas.openxmlformats.org/officeDocument/2006/relationships" id="276" r:id="R59a23dabae83451d"/>
    <p:sldId xmlns:r="http://schemas.openxmlformats.org/officeDocument/2006/relationships" id="277" r:id="Rffb0a36f2ba64027"/>
    <p:sldId xmlns:r="http://schemas.openxmlformats.org/officeDocument/2006/relationships" id="278" r:id="Rdd5345030d444ca5"/>
  </p:sldIdLst>
  <p:sldSz cx="9144000" cy="51435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4d564a7232eb477e" /><Relationship Type="http://schemas.openxmlformats.org/officeDocument/2006/relationships/slideMaster" Target="/ppt/slideMasters/slideMaster1.xml" Id="Rf0d76b21316f47bb" /><Relationship Type="http://schemas.openxmlformats.org/officeDocument/2006/relationships/notesMaster" Target="/ppt/notesMasters/notesMaster1.xml" Id="Ra4485daec9744c56" /><Relationship Type="http://schemas.openxmlformats.org/officeDocument/2006/relationships/presProps" Target="/ppt/presProps.xml" Id="Rb5387a0c117c45ea" /><Relationship Type="http://schemas.openxmlformats.org/officeDocument/2006/relationships/viewProps" Target="/ppt/viewProps.xml" Id="Ree877745208740db" /><Relationship Type="http://schemas.openxmlformats.org/officeDocument/2006/relationships/tableStyles" Target="/ppt/tableStyles.xml" Id="R079f7c2126fa4b75" /><Relationship Type="http://schemas.openxmlformats.org/officeDocument/2006/relationships/slide" Target="/ppt/slides/slide1.xml" Id="R0c2f782519ec4aa9" /><Relationship Type="http://schemas.openxmlformats.org/officeDocument/2006/relationships/slide" Target="/ppt/slides/slide2.xml" Id="R7a52ce6a26d340b1" /><Relationship Type="http://schemas.openxmlformats.org/officeDocument/2006/relationships/slide" Target="/ppt/slides/slide3.xml" Id="R3bdd8e7693b74b1d" /><Relationship Type="http://schemas.openxmlformats.org/officeDocument/2006/relationships/slide" Target="/ppt/slides/slide4.xml" Id="Race620e38bd34f53" /><Relationship Type="http://schemas.openxmlformats.org/officeDocument/2006/relationships/slide" Target="/ppt/slides/slide5.xml" Id="R3fd0d272893d4a92" /><Relationship Type="http://schemas.openxmlformats.org/officeDocument/2006/relationships/slide" Target="/ppt/slides/slide6.xml" Id="R33d1cbb618104ad9" /><Relationship Type="http://schemas.openxmlformats.org/officeDocument/2006/relationships/slide" Target="/ppt/slides/slide7.xml" Id="Rdbd9afb303ed4f4b" /><Relationship Type="http://schemas.openxmlformats.org/officeDocument/2006/relationships/slide" Target="/ppt/slides/slide8.xml" Id="R78d46a94c7ec4fc2" /><Relationship Type="http://schemas.openxmlformats.org/officeDocument/2006/relationships/slide" Target="/ppt/slides/slide9.xml" Id="Rd1b61186818942bf" /><Relationship Type="http://schemas.openxmlformats.org/officeDocument/2006/relationships/slide" Target="/ppt/slides/slide10.xml" Id="Ra6429b80f234443e" /><Relationship Type="http://schemas.openxmlformats.org/officeDocument/2006/relationships/slide" Target="/ppt/slides/slide11.xml" Id="R5f737c8509eb4de4" /><Relationship Type="http://schemas.openxmlformats.org/officeDocument/2006/relationships/slide" Target="/ppt/slides/slide12.xml" Id="R64ad40bebcb74641" /><Relationship Type="http://schemas.openxmlformats.org/officeDocument/2006/relationships/slide" Target="/ppt/slides/slide13.xml" Id="Rf480ac9e835e4972" /><Relationship Type="http://schemas.openxmlformats.org/officeDocument/2006/relationships/slide" Target="/ppt/slides/slide14.xml" Id="R140fa14b0cae4be9" /><Relationship Type="http://schemas.openxmlformats.org/officeDocument/2006/relationships/slide" Target="/ppt/slides/slide15.xml" Id="R173812d242924bbf" /><Relationship Type="http://schemas.openxmlformats.org/officeDocument/2006/relationships/slide" Target="/ppt/slides/slide16.xml" Id="R9c5c72fd8c344458" /><Relationship Type="http://schemas.openxmlformats.org/officeDocument/2006/relationships/slide" Target="/ppt/slides/slide17.xml" Id="R1cdbcd5ff62d428a" /><Relationship Type="http://schemas.openxmlformats.org/officeDocument/2006/relationships/slide" Target="/ppt/slides/slide18.xml" Id="Re4d2d549715e4039" /><Relationship Type="http://schemas.openxmlformats.org/officeDocument/2006/relationships/slide" Target="/ppt/slides/slide19.xml" Id="R48a4c5a068b8451b" /><Relationship Type="http://schemas.openxmlformats.org/officeDocument/2006/relationships/slide" Target="/ppt/slides/slide20.xml" Id="R7c7db18f7b0a4d82" /><Relationship Type="http://schemas.openxmlformats.org/officeDocument/2006/relationships/slide" Target="/ppt/slides/slide21.xml" Id="R59a23dabae83451d" /><Relationship Type="http://schemas.openxmlformats.org/officeDocument/2006/relationships/slide" Target="/ppt/slides/slide22.xml" Id="Rffb0a36f2ba64027" /><Relationship Type="http://schemas.openxmlformats.org/officeDocument/2006/relationships/slide" Target="/ppt/slides/slide23.xml" Id="Rdd5345030d444ca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4f9dde6522d447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65e0ee3ba09437d" /><Relationship Type="http://schemas.openxmlformats.org/officeDocument/2006/relationships/notesMaster" Target="/ppt/notesMasters/notesMaster1.xml" Id="R392f075e5f3a448d" /></Relationships>
</file>

<file path=ppt/notesSlides/_rels/notesSlide2.xml.rels>&#65279;<?xml version="1.0" encoding="utf-8"?><Relationships xmlns="http://schemas.openxmlformats.org/package/2006/relationships"><Relationship Type="http://schemas.openxmlformats.org/officeDocument/2006/relationships/slide" Target="/ppt/slides/slide2.xml" Id="Rf0a6c55a69e541cc" /><Relationship Type="http://schemas.openxmlformats.org/officeDocument/2006/relationships/notesMaster" Target="/ppt/notesMasters/notesMaster1.xml" Id="Rf3c669daf4064203" /></Relationships>
</file>

<file path=ppt/notesSlides/_rels/notesSlide3.xml.rels>&#65279;<?xml version="1.0" encoding="utf-8"?><Relationships xmlns="http://schemas.openxmlformats.org/package/2006/relationships"><Relationship Type="http://schemas.openxmlformats.org/officeDocument/2006/relationships/slide" Target="/ppt/slides/slide3.xml" Id="R3de919493e184f3e" /><Relationship Type="http://schemas.openxmlformats.org/officeDocument/2006/relationships/notesMaster" Target="/ppt/notesMasters/notesMaster1.xml" Id="R0b4e33f28fe845c4" /></Relationships>
</file>

<file path=ppt/notesSlides/_rels/notesSlide4.xml.rels>&#65279;<?xml version="1.0" encoding="utf-8"?><Relationships xmlns="http://schemas.openxmlformats.org/package/2006/relationships"><Relationship Type="http://schemas.openxmlformats.org/officeDocument/2006/relationships/slide" Target="/ppt/slides/slide4.xml" Id="R9bc135a3f6fc4bcd" /><Relationship Type="http://schemas.openxmlformats.org/officeDocument/2006/relationships/notesMaster" Target="/ppt/notesMasters/notesMaster1.xml" Id="R74934b2b4c7b4fcc" /></Relationships>
</file>

<file path=ppt/notesSlides/_rels/notesSlide5.xml.rels>&#65279;<?xml version="1.0" encoding="utf-8"?><Relationships xmlns="http://schemas.openxmlformats.org/package/2006/relationships"><Relationship Type="http://schemas.openxmlformats.org/officeDocument/2006/relationships/slide" Target="/ppt/slides/slide5.xml" Id="R2e1b7c464e8743e7" /><Relationship Type="http://schemas.openxmlformats.org/officeDocument/2006/relationships/notesMaster" Target="/ppt/notesMasters/notesMaster1.xml" Id="R6af56e6170384053" /></Relationships>
</file>

<file path=ppt/notesSlides/_rels/notesSlide6.xml.rels>&#65279;<?xml version="1.0" encoding="utf-8"?><Relationships xmlns="http://schemas.openxmlformats.org/package/2006/relationships"><Relationship Type="http://schemas.openxmlformats.org/officeDocument/2006/relationships/slide" Target="/ppt/slides/slide6.xml" Id="R2b186aa008444fa7" /><Relationship Type="http://schemas.openxmlformats.org/officeDocument/2006/relationships/notesMaster" Target="/ppt/notesMasters/notesMaster1.xml" Id="R05a5da7985c946c9" /></Relationships>
</file>

<file path=ppt/notesSlides/_rels/notesSlide7.xml.rels>&#65279;<?xml version="1.0" encoding="utf-8"?><Relationships xmlns="http://schemas.openxmlformats.org/package/2006/relationships"><Relationship Type="http://schemas.openxmlformats.org/officeDocument/2006/relationships/slide" Target="/ppt/slides/slide7.xml" Id="Rea1b9d815aea45a7" /><Relationship Type="http://schemas.openxmlformats.org/officeDocument/2006/relationships/notesMaster" Target="/ppt/notesMasters/notesMaster1.xml" Id="R9620c01a94324991" /></Relationships>
</file>

<file path=ppt/notesSlides/_rels/notesSlide8.xml.rels>&#65279;<?xml version="1.0" encoding="utf-8"?><Relationships xmlns="http://schemas.openxmlformats.org/package/2006/relationships"><Relationship Type="http://schemas.openxmlformats.org/officeDocument/2006/relationships/slide" Target="/ppt/slides/slide8.xml" Id="Rffe34c4d83614fe6" /><Relationship Type="http://schemas.openxmlformats.org/officeDocument/2006/relationships/notesMaster" Target="/ppt/notesMasters/notesMaster1.xml" Id="R459a8fbdd1124682" /></Relationships>
</file>

<file path=ppt/notesSlides/_rels/notesSlide9.xml.rels>&#65279;<?xml version="1.0" encoding="utf-8"?><Relationships xmlns="http://schemas.openxmlformats.org/package/2006/relationships"><Relationship Type="http://schemas.openxmlformats.org/officeDocument/2006/relationships/slide" Target="/ppt/slides/slide9.xml" Id="Rab55faa965d44c05" /><Relationship Type="http://schemas.openxmlformats.org/officeDocument/2006/relationships/notesMaster" Target="/ppt/notesMasters/notesMaster1.xml" Id="Raf489410077f449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cfb07e5c31a41d1" /><Relationship Type="http://schemas.openxmlformats.org/officeDocument/2006/relationships/notesMaster" Target="/ppt/notesMasters/notesMaster1.xml" Id="Rb7e2d2b5f7424ff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9cdabaa97fc4405" /><Relationship Type="http://schemas.openxmlformats.org/officeDocument/2006/relationships/notesMaster" Target="/ppt/notesMasters/notesMaster1.xml" Id="Rd7f2aefb14714c5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c3bd8480dae405f" /><Relationship Type="http://schemas.openxmlformats.org/officeDocument/2006/relationships/notesMaster" Target="/ppt/notesMasters/notesMaster1.xml" Id="R5f46105232a3418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aafdb7e86f74908" /><Relationship Type="http://schemas.openxmlformats.org/officeDocument/2006/relationships/notesMaster" Target="/ppt/notesMasters/notesMaster1.xml" Id="Re3d3560c937f44b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d68661c4e82442c" /><Relationship Type="http://schemas.openxmlformats.org/officeDocument/2006/relationships/notesMaster" Target="/ppt/notesMasters/notesMaster1.xml" Id="R332462c411fe48f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9e99d2c62774e29" /><Relationship Type="http://schemas.openxmlformats.org/officeDocument/2006/relationships/notesMaster" Target="/ppt/notesMasters/notesMaster1.xml" Id="Ra9ccde86d36a418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881a78b2dd841ee" /><Relationship Type="http://schemas.openxmlformats.org/officeDocument/2006/relationships/notesMaster" Target="/ppt/notesMasters/notesMaster1.xml" Id="Rc72dacd350794c9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f93922271a6437a" /><Relationship Type="http://schemas.openxmlformats.org/officeDocument/2006/relationships/notesMaster" Target="/ppt/notesMasters/notesMaster1.xml" Id="Ra915155467894e6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a9b33f7b31649a9" /><Relationship Type="http://schemas.openxmlformats.org/officeDocument/2006/relationships/notesMaster" Target="/ppt/notesMasters/notesMaster1.xml" Id="Rb30d75f9077c4aa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c453b6e62314e12" /><Relationship Type="http://schemas.openxmlformats.org/officeDocument/2006/relationships/notesMaster" Target="/ppt/notesMasters/notesMaster1.xml" Id="Rb2a26986076941b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980aadc51784cc1" /><Relationship Type="http://schemas.openxmlformats.org/officeDocument/2006/relationships/notesMaster" Target="/ppt/notesMasters/notesMaster1.xml" Id="R5fd054f7c04e492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5b467b4b70440a7" /><Relationship Type="http://schemas.openxmlformats.org/officeDocument/2006/relationships/notesMaster" Target="/ppt/notesMasters/notesMaster1.xml" Id="Rc8a1a87746c644e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f7aa2ca1d4747a6" /><Relationship Type="http://schemas.openxmlformats.org/officeDocument/2006/relationships/notesMaster" Target="/ppt/notesMasters/notesMaster1.xml" Id="R6df39c0bbca048b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f0dd50d57bf4c34" /><Relationship Type="http://schemas.openxmlformats.org/officeDocument/2006/relationships/notesMaster" Target="/ppt/notesMasters/notesMaster1.xml" Id="R563c6494add3492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snapshot: 13 October 2026. Curriculum SHA-256: 5ee769258ac9b95a3c514b64dcd5b22215e40bac8621054ffb452bffc244827a. This deck summarizes the source; no human evaluation, delivery outcome or legal approval is claimed.</a:t>
            </a:r>
            <a:endParaRPr/>
          </a:p>
          <a:p xmlns:a="http://schemas.openxmlformats.org/drawingml/2006/main">
            <a:r>
              <a:t/>
            </a:r>
            <a:endParaRPr/>
          </a:p>
          <a:p xmlns:a="http://schemas.openxmlformats.org/drawingml/2006/main">
            <a:r>
              <a:t># HR AI literacy curriculum</a:t>
            </a:r>
            <a:endParaRPr/>
          </a:p>
          <a:p xmlns:a="http://schemas.openxmlformats.org/drawingml/2006/main">
            <a:r>
              <a:t/>
            </a:r>
            <a:endParaRPr/>
          </a:p>
          <a:p xmlns:a="http://schemas.openxmlformats.org/drawingml/2006/main">
            <a:r>
              <a:t>A 4-module learning program for HR professionals at all experience levels. Designed to be delivered as a facilitated series over 4–6 weeks, or adapted for self-paced completion.</a:t>
            </a:r>
            <a:endParaRPr/>
          </a:p>
          <a:p xmlns:a="http://schemas.openxmlformats.org/drawingml/2006/main">
            <a:r>
              <a:t/>
            </a:r>
            <a:endParaRPr/>
          </a:p>
          <a:p xmlns:a="http://schemas.openxmlformats.org/drawingml/2006/main">
            <a:r>
              <a:t>**Total time:** about 7 hours of sessions, plus async reading and hands-on practice (roughly 8 hours in all)</a:t>
            </a:r>
            <a:endParaRPr/>
          </a:p>
          <a:p xmlns:a="http://schemas.openxmlformats.org/drawingml/2006/main">
            <a:r>
              <a:t>**Format:** Workshop + async reading + hands-on practice</a:t>
            </a:r>
            <a:endParaRPr/>
          </a:p>
          <a:p xmlns:a="http://schemas.openxmlformats.org/drawingml/2006/main">
            <a:r>
              <a:t>**Audience:** All People Team members</a:t>
            </a:r>
            <a:endParaRPr/>
          </a:p>
          <a:p xmlns:a="http://schemas.openxmlformats.org/drawingml/2006/main">
            <a:r>
              <a:t>**Prerequisite:** None</a:t>
            </a:r>
            <a:endParaRPr/>
          </a:p>
          <a:p xmlns:a="http://schemas.openxmlformats.org/drawingml/2006/main">
            <a:r>
              <a:t/>
            </a:r>
            <a:endParaRPr/>
          </a:p>
          <a:p xmlns:a="http://schemas.openxmlformats.org/drawingml/2006/main">
            <a:r>
              <a:t>**Lab prerequisite:** The facilitator confirms an organization-approved tool,</a:t>
            </a:r>
            <a:endParaRPr/>
          </a:p>
          <a:p xmlns:a="http://schemas.openxmlformats.org/drawingml/2006/main">
            <a:r>
              <a:t>provider handling, and a synthetic-only data boundary before any exercise.</a:t>
            </a:r>
            <a:endParaRPr/>
          </a:p>
          <a:p xmlns:a="http://schemas.openxmlformats.org/drawingml/2006/main">
            <a:r>
              <a:t>Modules 1-3 and the required governance approvals precede any real-work pilot.</a:t>
            </a:r>
            <a:endParaRPr/>
          </a:p>
          <a:p xmlns:a="http://schemas.openxmlformats.org/drawingml/2006/main">
            <a:r>
              <a:t>This curriculum does not authorize employee-data processing.</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Program overview</a:t>
            </a:r>
            <a:endParaRPr/>
          </a:p>
          <a:p xmlns:a="http://schemas.openxmlformats.org/drawingml/2006/main">
            <a:r>
              <a:t/>
            </a:r>
            <a:endParaRPr/>
          </a:p>
          <a:p xmlns:a="http://schemas.openxmlformats.org/drawingml/2006/main">
            <a:r>
              <a:t>| Module | Title | Duration | Format |</a:t>
            </a:r>
            <a:endParaRPr/>
          </a:p>
          <a:p xmlns:a="http://schemas.openxmlformats.org/drawingml/2006/main">
            <a:r>
              <a:t>|---|---|---|---|</a:t>
            </a:r>
            <a:endParaRPr/>
          </a:p>
          <a:p xmlns:a="http://schemas.openxmlformats.org/drawingml/2006/main">
            <a:r>
              <a:t>| 1 | How AI works, what HR professionals actually need to know | 90 min | Workshop |</a:t>
            </a:r>
            <a:endParaRPr/>
          </a:p>
          <a:p xmlns:a="http://schemas.openxmlformats.org/drawingml/2006/main">
            <a:r>
              <a:t>| 2 | Using AI in your daily HR work | 2 hours | Workshop + lab |</a:t>
            </a:r>
            <a:endParaRPr/>
          </a:p>
          <a:p xmlns:a="http://schemas.openxmlformats.org/drawingml/2006/main">
            <a:r>
              <a:t>| 3 | Governance, ethics, and responsible use | 90 min | Workshop |</a:t>
            </a:r>
            <a:endParaRPr/>
          </a:p>
          <a:p xmlns:a="http://schemas.openxmlformats.org/drawingml/2006/main">
            <a:r>
              <a:t>| 4 | Building and scaling AI use cases | 2 hours | Workshop + project |</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1: How AI works, what HR professionals actually need to know</a:t>
            </a:r>
            <a:endParaRPr/>
          </a:p>
          <a:p xmlns:a="http://schemas.openxmlformats.org/drawingml/2006/main">
            <a:r>
              <a:t/>
            </a:r>
            <a:endParaRPr/>
          </a:p>
          <a:p xmlns:a="http://schemas.openxmlformats.org/drawingml/2006/main">
            <a:r>
              <a:t>**Learning objectives:**</a:t>
            </a:r>
            <a:endParaRPr/>
          </a:p>
          <a:p xmlns:a="http://schemas.openxmlformats.org/drawingml/2006/main">
            <a:r>
              <a:t>- Explain the difference between traditional automation and generative AI</a:t>
            </a:r>
            <a:endParaRPr/>
          </a:p>
          <a:p xmlns:a="http://schemas.openxmlformats.org/drawingml/2006/main">
            <a:r>
              <a:t>- Describe why AI "hallucinates" and how to mitigate it in HR contexts</a:t>
            </a:r>
            <a:endParaRPr/>
          </a:p>
          <a:p xmlns:a="http://schemas.openxmlformats.org/drawingml/2006/main">
            <a:r>
              <a:t>- Identify which HR tasks are good candidates for AI assistance and which are not</a:t>
            </a:r>
            <a:endParaRPr/>
          </a:p>
          <a:p xmlns:a="http://schemas.openxmlformats.org/drawingml/2006/main">
            <a:r>
              <a:t/>
            </a:r>
            <a:endParaRPr/>
          </a:p>
          <a:p xmlns:a="http://schemas.openxmlformats.org/drawingml/2006/main">
            <a:r>
              <a:t>**Session outline (90 minutes):**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0:00–0:10 | Opening: What do you already believe about AI? (quick poll + discussion) |</a:t>
            </a:r>
            <a:endParaRPr/>
          </a:p>
          <a:p xmlns:a="http://schemas.openxmlformats.org/drawingml/2006/main">
            <a:r>
              <a:t>| 0:10–0:30 | Concept: How LLMs work, without the jargon (facilitator presentation) |</a:t>
            </a:r>
            <a:endParaRPr/>
          </a:p>
          <a:p xmlns:a="http://schemas.openxmlformats.org/drawingml/2006/main">
            <a:r>
              <a:t>| 0:30–0:45 | Concept: Hallucination, confidence, and why AI makes things up |</a:t>
            </a:r>
            <a:endParaRPr/>
          </a:p>
          <a:p xmlns:a="http://schemas.openxmlformats.org/drawingml/2006/main">
            <a:r>
              <a:t>| 0:45–1:05 | Exercise: Spot the hallucination (participants identify errors in AI-generated HR content) |</a:t>
            </a:r>
            <a:endParaRPr/>
          </a:p>
          <a:p xmlns:a="http://schemas.openxmlformats.org/drawingml/2006/main">
            <a:r>
              <a:t>| 1:05–1:20 | Discussion: Where should HR use AI? Where should we be cautious? |</a:t>
            </a:r>
            <a:endParaRPr/>
          </a:p>
          <a:p xmlns:a="http://schemas.openxmlformats.org/drawingml/2006/main">
            <a:r>
              <a:t>| 1:20–1:30 | Wrap-up + homework: Try one AI tool before next session |</a:t>
            </a:r>
            <a:endParaRPr/>
          </a:p>
          <a:p xmlns:a="http://schemas.openxmlformats.org/drawingml/2006/main">
            <a:r>
              <a:t/>
            </a:r>
            <a:endParaRPr/>
          </a:p>
          <a:p xmlns:a="http://schemas.openxmlformats.org/drawingml/2006/main">
            <a:r>
              <a:t>**Key concepts to cover:**</a:t>
            </a:r>
            <a:endParaRPr/>
          </a:p>
          <a:p xmlns:a="http://schemas.openxmlformats.org/drawingml/2006/main">
            <a:r>
              <a:t/>
            </a:r>
            <a:endParaRPr/>
          </a:p>
          <a:p xmlns:a="http://schemas.openxmlformats.org/drawingml/2006/main">
            <a:r>
              <a:t>*What LLMs actually are:*</a:t>
            </a:r>
            <a:endParaRPr/>
          </a:p>
          <a:p xmlns:a="http://schemas.openxmlformats.org/drawingml/2006/main">
            <a:r>
              <a:t>Large language models predict the next most likely word given context. They don't "know" things the way a database knows things, they pattern-match against training data. This is why they can sound authoritative while being wrong.</a:t>
            </a:r>
            <a:endParaRPr/>
          </a:p>
          <a:p xmlns:a="http://schemas.openxmlformats.org/drawingml/2006/main">
            <a:r>
              <a:t/>
            </a:r>
            <a:endParaRPr/>
          </a:p>
          <a:p xmlns:a="http://schemas.openxmlformats.org/drawingml/2006/main">
            <a:r>
              <a:t>*The spectrum from rules to agents:*</a:t>
            </a:r>
            <a:endParaRPr/>
          </a:p>
          <a:p xmlns:a="http://schemas.openxmlformats.org/drawingml/2006/main">
            <a:r>
              <a:t>```</a:t>
            </a:r>
            <a:endParaRPr/>
          </a:p>
          <a:p xmlns:a="http://schemas.openxmlformats.org/drawingml/2006/main">
            <a:r>
              <a:t>Rules            →  Assist / Augment              →  Agent</a:t>
            </a:r>
            <a:endParaRPr/>
          </a:p>
          <a:p xmlns:a="http://schemas.openxmlformats.org/drawingml/2006/main">
            <a:r>
              <a:t>(deterministic)     (a person decides or owns)       (a model acts across several steps)</a:t>
            </a:r>
            <a:endParaRPr/>
          </a:p>
          <a:p xmlns:a="http://schemas.openxmlformats.org/drawingml/2006/main">
            <a:r>
              <a:t>```</a:t>
            </a:r>
            <a:endParaRPr/>
          </a:p>
          <a:p xmlns:a="http://schemas.openxmlformats.org/drawingml/2006/main">
            <a:r>
              <a:t>Use rules when rules reliably give the right answer. Most HR uses of AI belong in the middle. An agent, where a model takes several actions through tools with limited review between them, has to earn that autonomy through evidence and brings new governance requirements.</a:t>
            </a:r>
            <a:endParaRPr/>
          </a:p>
          <a:p xmlns:a="http://schemas.openxmlformats.org/drawingml/2006/main">
            <a:r>
              <a:t/>
            </a:r>
            <a:endParaRPr/>
          </a:p>
          <a:p xmlns:a="http://schemas.openxmlformats.org/drawingml/2006/main">
            <a:r>
              <a:t>*Prompt quality drives output quality:*</a:t>
            </a:r>
            <a:endParaRPr/>
          </a:p>
          <a:p xmlns:a="http://schemas.openxmlformats.org/drawingml/2006/main">
            <a:r>
              <a:t>Clear prompts help define a task and its boundaries. Output quality also depends on the model, source material, workflow controls, and verification. A well-written prompt does not establish factual accuracy or safe HR judgment.</a:t>
            </a:r>
            <a:endParaRPr/>
          </a:p>
          <a:p xmlns:a="http://schemas.openxmlformats.org/drawingml/2006/main">
            <a:r>
              <a:t/>
            </a:r>
            <a:endParaRPr/>
          </a:p>
          <a:p xmlns:a="http://schemas.openxmlformats.org/drawingml/2006/main">
            <a:r>
              <a:t>**Pre-reading (assign before session):**</a:t>
            </a:r>
            <a:endParaRPr/>
          </a:p>
          <a:p xmlns:a="http://schemas.openxmlformats.org/drawingml/2006/main">
            <a:r>
              <a:t>- [Your organization's AI use policy](../03-governance/ai-use-policy.md)</a:t>
            </a:r>
            <a:endParaRPr/>
          </a:p>
          <a:p xmlns:a="http://schemas.openxmlformats.org/drawingml/2006/main">
            <a:r>
              <a:t>- One-page primer on generative AI for non-technical audiences (create or source)</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2: Using AI in your daily HR work</a:t>
            </a:r>
            <a:endParaRPr/>
          </a:p>
          <a:p xmlns:a="http://schemas.openxmlformats.org/drawingml/2006/main">
            <a:r>
              <a:t/>
            </a:r>
            <a:endParaRPr/>
          </a:p>
          <a:p xmlns:a="http://schemas.openxmlformats.org/drawingml/2006/main">
            <a:r>
              <a:t>**Learning objectives:**</a:t>
            </a:r>
            <a:endParaRPr/>
          </a:p>
          <a:p xmlns:a="http://schemas.openxmlformats.org/drawingml/2006/main">
            <a:r>
              <a:t>- Write effective prompts for HR use cases</a:t>
            </a:r>
            <a:endParaRPr/>
          </a:p>
          <a:p xmlns:a="http://schemas.openxmlformats.org/drawingml/2006/main">
            <a:r>
              <a:t>- Use the prompt library for at least 3 HR workflows</a:t>
            </a:r>
            <a:endParaRPr/>
          </a:p>
          <a:p xmlns:a="http://schemas.openxmlformats.org/drawingml/2006/main">
            <a:r>
              <a:t>- Identify when to use AI, when to verify AI output, and when not to use it</a:t>
            </a:r>
            <a:endParaRPr/>
          </a:p>
          <a:p xmlns:a="http://schemas.openxmlformats.org/drawingml/2006/main">
            <a:r>
              <a:t/>
            </a:r>
            <a:endParaRPr/>
          </a:p>
          <a:p xmlns:a="http://schemas.openxmlformats.org/drawingml/2006/main">
            <a:r>
              <a:t>**Session outline (2 hours including lab):**</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Share-back from Module 1 homework, what did you try, what happened? |</a:t>
            </a:r>
            <a:endParaRPr/>
          </a:p>
          <a:p xmlns:a="http://schemas.openxmlformats.org/drawingml/2006/main">
            <a:r>
              <a:t>| 0:15–0:45 | Prompt engineering for HR: the four elements of a good prompt |</a:t>
            </a:r>
            <a:endParaRPr/>
          </a:p>
          <a:p xmlns:a="http://schemas.openxmlformats.org/drawingml/2006/main">
            <a:r>
              <a:t>| 0:45–1:10 | Live demo: Onboarding plan, performance review draft, policy Q&amp;A |</a:t>
            </a:r>
            <a:endParaRPr/>
          </a:p>
          <a:p xmlns:a="http://schemas.openxmlformats.org/drawingml/2006/main">
            <a:r>
              <a:t>| 1:10–1:50 | Hands-on lab: Each participant works through 2 prompts using synthetic HR scenarios in organization-approved tools |</a:t>
            </a:r>
            <a:endParaRPr/>
          </a:p>
          <a:p xmlns:a="http://schemas.openxmlformats.org/drawingml/2006/main">
            <a:r>
              <a:t>| 1:50–2:00 | Debrief: What surprised you? What didn't work? |</a:t>
            </a:r>
            <a:endParaRPr/>
          </a:p>
          <a:p xmlns:a="http://schemas.openxmlformats.org/drawingml/2006/main">
            <a:r>
              <a:t/>
            </a:r>
            <a:endParaRPr/>
          </a:p>
          <a:p xmlns:a="http://schemas.openxmlformats.org/drawingml/2006/main">
            <a:r>
              <a:t>**The four elements of an effective HR prompt:**</a:t>
            </a:r>
            <a:endParaRPr/>
          </a:p>
          <a:p xmlns:a="http://schemas.openxmlformats.org/drawingml/2006/main">
            <a:r>
              <a:t/>
            </a:r>
            <a:endParaRPr/>
          </a:p>
          <a:p xmlns:a="http://schemas.openxmlformats.org/drawingml/2006/main">
            <a:r>
              <a:t>1. **Role**: Define the task perspective, such as drafting support for an HRBP. A role instruction does not give the model professional authority.</a:t>
            </a:r>
            <a:endParaRPr/>
          </a:p>
          <a:p xmlns:a="http://schemas.openxmlformats.org/drawingml/2006/main">
            <a:r>
              <a:t/>
            </a:r>
            <a:endParaRPr/>
          </a:p>
          <a:p xmlns:a="http://schemas.openxmlformats.org/drawingml/2006/main">
            <a:r>
              <a:t>2. **Context**: Provide the specific details the AI needs. Role, tenure, team size, situation. Don't make the AI guess.</a:t>
            </a:r>
            <a:endParaRPr/>
          </a:p>
          <a:p xmlns:a="http://schemas.openxmlformats.org/drawingml/2006/main">
            <a:r>
              <a:t/>
            </a:r>
            <a:endParaRPr/>
          </a:p>
          <a:p xmlns:a="http://schemas.openxmlformats.org/drawingml/2006/main">
            <a:r>
              <a:t>3. **Task**: State clearly what you want it to produce. One output per prompt. "Draft a..." is clearer than "Help me with..."</a:t>
            </a:r>
            <a:endParaRPr/>
          </a:p>
          <a:p xmlns:a="http://schemas.openxmlformats.org/drawingml/2006/main">
            <a:r>
              <a:t/>
            </a:r>
            <a:endParaRPr/>
          </a:p>
          <a:p xmlns:a="http://schemas.openxmlformats.org/drawingml/2006/main">
            <a:r>
              <a:t>4. **Constraints**: Define length, tone, format, exclusions, and the verification needed. Check whether the output follows them.</a:t>
            </a:r>
            <a:endParaRPr/>
          </a:p>
          <a:p xmlns:a="http://schemas.openxmlformats.org/drawingml/2006/main">
            <a:r>
              <a:t/>
            </a:r>
            <a:endParaRPr/>
          </a:p>
          <a:p xmlns:a="http://schemas.openxmlformats.org/drawingml/2006/main">
            <a:r>
              <a:t>**Lab instructions:**</a:t>
            </a:r>
            <a:endParaRPr/>
          </a:p>
          <a:p xmlns:a="http://schemas.openxmlformats.org/drawingml/2006/main">
            <a:r>
              <a:t/>
            </a:r>
            <a:endParaRPr/>
          </a:p>
          <a:p xmlns:a="http://schemas.openxmlformats.org/drawingml/2006/main">
            <a:r>
              <a:t>Participants choose 2 prompts from the library that are relevant to their current work:</a:t>
            </a:r>
            <a:endParaRPr/>
          </a:p>
          <a:p xmlns:a="http://schemas.openxmlformats.org/drawingml/2006/main">
            <a:r>
              <a:t>1. Run the prompt with a fictional HR scenario in an organization-approved tool. Do not upload real employee, candidate, compensation, or confidential employer information.</a:t>
            </a:r>
            <a:endParaRPr/>
          </a:p>
          <a:p xmlns:a="http://schemas.openxmlformats.org/drawingml/2006/main">
            <a:r>
              <a:t>2. Evaluate the output: What's useful? What's wrong or missing? What would you change before using it?</a:t>
            </a:r>
            <a:endParaRPr/>
          </a:p>
          <a:p xmlns:a="http://schemas.openxmlformats.org/drawingml/2006/main">
            <a:r>
              <a:t>3. Iterate: Modify the prompt once based on what you learned and run it again</a:t>
            </a:r>
            <a:endParaRPr/>
          </a:p>
          <a:p xmlns:a="http://schemas.openxmlformats.org/drawingml/2006/main">
            <a:r>
              <a:t>4. Note: What changed between run 1 and run 2?</a:t>
            </a:r>
            <a:endParaRPr/>
          </a:p>
          <a:p xmlns:a="http://schemas.openxmlformats.org/drawingml/2006/main">
            <a:r>
              <a:t/>
            </a:r>
            <a:endParaRPr/>
          </a:p>
          <a:p xmlns:a="http://schemas.openxmlformats.org/drawingml/2006/main">
            <a:r>
              <a:t>**The verify-before-use rule:**</a:t>
            </a:r>
            <a:endParaRPr/>
          </a:p>
          <a:p xmlns:a="http://schemas.openxmlformats.org/drawingml/2006/main">
            <a:r>
              <a:t/>
            </a:r>
            <a:endParaRPr/>
          </a:p>
          <a:p xmlns:a="http://schemas.openxmlformats.org/drawingml/2006/main">
            <a:r>
              <a:t>Introduce and reinforce this heuristic:</a:t>
            </a:r>
            <a:endParaRPr/>
          </a:p>
          <a:p xmlns:a="http://schemas.openxmlformats.org/drawingml/2006/main">
            <a:r>
              <a:t>- Policy details → always verify against source system before sharing</a:t>
            </a:r>
            <a:endParaRPr/>
          </a:p>
          <a:p xmlns:a="http://schemas.openxmlformats.org/drawingml/2006/main">
            <a:r>
              <a:t>- Legal requirements → always verify with Legal before relying on</a:t>
            </a:r>
            <a:endParaRPr/>
          </a:p>
          <a:p xmlns:a="http://schemas.openxmlformats.org/drawingml/2006/main">
            <a:r>
              <a:t>- Factual claims → spot-check against a known source</a:t>
            </a:r>
            <a:endParaRPr/>
          </a:p>
          <a:p xmlns:a="http://schemas.openxmlformats.org/drawingml/2006/main">
            <a:r>
              <a:t>- Tone and content → always read before sending; AI doesn't know your audience</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3: Governance, ethics, and responsible use</a:t>
            </a:r>
            <a:endParaRPr/>
          </a:p>
          <a:p xmlns:a="http://schemas.openxmlformats.org/drawingml/2006/main">
            <a:r>
              <a:t/>
            </a:r>
            <a:endParaRPr/>
          </a:p>
          <a:p xmlns:a="http://schemas.openxmlformats.org/drawingml/2006/main">
            <a:r>
              <a:t>**Learning objectives:**</a:t>
            </a:r>
            <a:endParaRPr/>
          </a:p>
          <a:p xmlns:a="http://schemas.openxmlformats.org/drawingml/2006/main">
            <a:r>
              <a:t>- Apply the organization's AI use policy to real HR scenarios</a:t>
            </a:r>
            <a:endParaRPr/>
          </a:p>
          <a:p xmlns:a="http://schemas.openxmlformats.org/drawingml/2006/main">
            <a:r>
              <a:t>- Identify the key legal risk areas in HR AI (bias, privacy, employment law)</a:t>
            </a:r>
            <a:endParaRPr/>
          </a:p>
          <a:p xmlns:a="http://schemas.openxmlformats.org/drawingml/2006/main">
            <a:r>
              <a:t>- Complete a basic risk assessment for a new use case</a:t>
            </a:r>
            <a:endParaRPr/>
          </a:p>
          <a:p xmlns:a="http://schemas.openxmlformats.org/drawingml/2006/main">
            <a:r>
              <a:t/>
            </a:r>
            <a:endParaRPr/>
          </a:p>
          <a:p xmlns:a="http://schemas.openxmlformats.org/drawingml/2006/main">
            <a:r>
              <a:t>**Session outline (90 minutes):**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Case study: Three HR AI failures and what we can learn (discussion) |</a:t>
            </a:r>
            <a:endParaRPr/>
          </a:p>
          <a:p xmlns:a="http://schemas.openxmlformats.org/drawingml/2006/main">
            <a:r>
              <a:t>| 0:15–0:40 | Framework: What makes AI use in HR risky? Legal and ethical dimensions |</a:t>
            </a:r>
            <a:endParaRPr/>
          </a:p>
          <a:p xmlns:a="http://schemas.openxmlformats.org/drawingml/2006/main">
            <a:r>
              <a:t>| 0:40–1:00 | Scenario practice: Is this use case okay? (small groups, 4 scenarios) |</a:t>
            </a:r>
            <a:endParaRPr/>
          </a:p>
          <a:p xmlns:a="http://schemas.openxmlformats.org/drawingml/2006/main">
            <a:r>
              <a:t>| 1:00–1:20 | Walk-through: The risk assessment template |</a:t>
            </a:r>
            <a:endParaRPr/>
          </a:p>
          <a:p xmlns:a="http://schemas.openxmlformats.org/drawingml/2006/main">
            <a:r>
              <a:t>| 1:20–1:30 | Q&amp;A + open discussion |</a:t>
            </a:r>
            <a:endParaRPr/>
          </a:p>
          <a:p xmlns:a="http://schemas.openxmlformats.org/drawingml/2006/main">
            <a:r>
              <a:t/>
            </a:r>
            <a:endParaRPr/>
          </a:p>
          <a:p xmlns:a="http://schemas.openxmlformats.org/drawingml/2006/main">
            <a:r>
              <a:t>&gt; **Note on regulatory currency:** Use the [Key dates for HR](../03-governance/README.md#key-dates-for-hr) and its linked primary sources as the dated reference. The slides summarize risk questions; they are not a complete legal reference. Have Legal verify jurisdiction, scope, obligations, and effective dates before delivery or adoption.</a:t>
            </a:r>
            <a:endParaRPr/>
          </a:p>
          <a:p xmlns:a="http://schemas.openxmlformats.org/drawingml/2006/main">
            <a:r>
              <a:t/>
            </a:r>
            <a:endParaRPr/>
          </a:p>
          <a:p xmlns:a="http://schemas.openxmlformats.org/drawingml/2006/main">
            <a:r>
              <a:t>**Key legal risk areas to cover:**</a:t>
            </a:r>
            <a:endParaRPr/>
          </a:p>
          <a:p xmlns:a="http://schemas.openxmlformats.org/drawingml/2006/main">
            <a:r>
              <a:t/>
            </a:r>
            <a:endParaRPr/>
          </a:p>
          <a:p xmlns:a="http://schemas.openxmlformats.org/drawingml/2006/main">
            <a:r>
              <a:t>*Bias and disparate impact:*</a:t>
            </a:r>
            <a:endParaRPr/>
          </a:p>
          <a:p xmlns:a="http://schemas.openxmlformats.org/drawingml/2006/main">
            <a:r>
              <a:t>AI trained on historical HR data can encode and amplify past discrimination. A history in which 80% of engineering hires were male is a reason to examine labels, features, selection effects, and group outcomes; that proportion alone does not determine how a model will score resumes. Adverse impact testing is a core control. It is required by law in some jurisdictions (NYC Local Law 144 mandates an annual bias audit for covered tools) and expected as evidence of reasonable care in many others. Confirm the cadence with Legal. See the [NIST AI RMF](https://www.nist.gov/itl/ai-risk-management-framework).</a:t>
            </a:r>
            <a:endParaRPr/>
          </a:p>
          <a:p xmlns:a="http://schemas.openxmlformats.org/drawingml/2006/main">
            <a:r>
              <a:t/>
            </a:r>
            <a:endParaRPr/>
          </a:p>
          <a:p xmlns:a="http://schemas.openxmlformats.org/drawingml/2006/main">
            <a:r>
              <a:t>*Illinois AI Video Interview Act, NYC Local Law 144, and emerging state laws:*</a:t>
            </a:r>
            <a:endParaRPr/>
          </a:p>
          <a:p xmlns:a="http://schemas.openxmlformats.org/drawingml/2006/main">
            <a:r>
              <a:t>Several jurisdictions now require disclosure, impact assessments, or consent for AI use in hiring. Illinois's AI Video Interview Act ([820 ILCS 42](https://www.ilga.gov/Legislation/ILCS/Articles?ActID=4015&amp;ChapterID=68)) governs AI analysis of recorded video interviews, including notice and consent before the interview. Confirm its current requirements against the statute before relying on them. Illinois also amended its Human Rights Act via HB 3773 (effective January 1, 2026) to broadly prohibit discriminatory AI use in hiring and promotion, not just video interviews. A companion law, Public Act 104-0425 (SB 2487, effective January 1, 2026), gives the Human Rights Commission tiered civil penalty authority for violations: up to $16,000 for a first offense, up to $42,500 with one prior violation within five years, up to $70,000 for two or more within seven years. The regulatory landscape is shifting quickly. Use cases involving hiring must be reviewed against current state law.</a:t>
            </a:r>
            <a:endParaRPr/>
          </a:p>
          <a:p xmlns:a="http://schemas.openxmlformats.org/drawingml/2006/main">
            <a:r>
              <a:t/>
            </a:r>
            <a:endParaRPr/>
          </a:p>
          <a:p xmlns:a="http://schemas.openxmlformats.org/drawingml/2006/main">
            <a:r>
              <a:t>NYC Local Law 144 enforcement is entering a stricter phase. A December 2025 NY State Comptroller audit found DCWP's enforcement "ineffective": DCWP's own review of 32 companies' bias-audit disclosures caught 1 likely non-compliance issue, where the Comptroller's review of the same 32 found at least 17. Expect more investigations and higher penalties as DCWP responds to the audit's recommendations, not just the disclosure-and-audit paperwork the law describes on paper.</a:t>
            </a:r>
            <a:endParaRPr/>
          </a:p>
          <a:p xmlns:a="http://schemas.openxmlformats.org/drawingml/2006/main">
            <a:r>
              <a:t/>
            </a:r>
            <a:endParaRPr/>
          </a:p>
          <a:p xmlns:a="http://schemas.openxmlformats.org/drawingml/2006/main">
            <a:r>
              <a:t>*Colorado's Automated Decision-Making Technology Act:*</a:t>
            </a:r>
            <a:endParaRPr/>
          </a:p>
          <a:p xmlns:a="http://schemas.openxmlformats.org/drawingml/2006/main">
            <a:r>
              <a:t>Colorado SB26-189 (signed 14 May 2026, Colo. Sess. Laws ch. 131) repeals and replaces the state's 2024 AI consumer protection law. It covers "consequential decisions," including employment, made using automated decision-making technology (ADMT) that materially influences the outcome. Starting January 1, 2027, developers must give deployers technical documentation on intended use, training data categories, known limitations, and human review instructions. Deployers will owe consumers notice at the point of interaction, and within 30 days of any adverse consequential decision, a plain-language explanation plus the right to request human review and reconsideration. Records must be retained 3 years. The attorney general enforces under the Colorado Consumer Protection Act, with a 60-day cure period through January 1, 2030.</a:t>
            </a:r>
            <a:endParaRPr/>
          </a:p>
          <a:p xmlns:a="http://schemas.openxmlformats.org/drawingml/2006/main">
            <a:r>
              <a:t/>
            </a:r>
            <a:endParaRPr/>
          </a:p>
          <a:p xmlns:a="http://schemas.openxmlformats.org/drawingml/2006/main">
            <a:r>
              <a:t>*Connecticut: AI Responsibility and Transparency Act (Public Act 26-15):*</a:t>
            </a:r>
            <a:endParaRPr/>
          </a:p>
          <a:p xmlns:a="http://schemas.openxmlformats.org/drawingml/2006/main">
            <a:r>
              <a:t>Connecticut's SB 5 became Public Act 26-15 in June 2026. It is the most comprehensive state AI employment statute enacted so far, and it phases in across two years. Read the dates carefully, because the parts that bite first are not the disclosure rules.</a:t>
            </a:r>
            <a:endParaRPr/>
          </a:p>
          <a:p xmlns:a="http://schemas.openxmlformats.org/drawingml/2006/main">
            <a:r>
              <a:t/>
            </a:r>
            <a:endParaRPr/>
          </a:p>
          <a:p xmlns:a="http://schemas.openxmlformats.org/drawingml/2006/main">
            <a:r>
              <a:t>Live October 1, 2026:</a:t>
            </a:r>
            <a:endParaRPr/>
          </a:p>
          <a:p xmlns:a="http://schemas.openxmlformats.org/drawingml/2006/main">
            <a:r>
              <a:t/>
            </a:r>
            <a:endParaRPr/>
          </a:p>
          <a:p xmlns:a="http://schemas.openxmlformats.org/drawingml/2006/main">
            <a:r>
              <a:t>- **AI is not a defense.** Sections 13 and 14 amend Conn. Gen. Stat. 46a-60 so that using an automated employment-related decision technology is not a defense against a discrimination complaint. The commission or court may consider the quality, efficacy, recency, and scope of anti-bias testing, its results, and the employer's response. This does not establish that a stale audit is always worse than no audit, or that testing guarantees a favorable legal outcome. Preserve the testing evidence and corrective actions for counsel review. Source: [Public Act 26-15](https://www.cga.ct.gov/2026/ACT/PA/PDF/2026PA-00015-R00SB-00005-PA.PDF).</a:t>
            </a:r>
            <a:endParaRPr/>
          </a:p>
          <a:p xmlns:a="http://schemas.openxmlformats.org/drawingml/2006/main">
            <a:r>
              <a:t>- **WARN notices.** Section 26 requires any employer serving a federal WARN notice under 29 USC 2102(a) to disclose to the Connecticut Labor Department whether the layoffs relate to the employer's use of AI or other technological change. Note the disclosure runs to the department, not to affected employees.</a:t>
            </a:r>
            <a:endParaRPr/>
          </a:p>
          <a:p xmlns:a="http://schemas.openxmlformats.org/drawingml/2006/main">
            <a:r>
              <a:t/>
            </a:r>
            <a:endParaRPr/>
          </a:p>
          <a:p xmlns:a="http://schemas.openxmlformats.org/drawingml/2006/main">
            <a:r>
              <a:t>Live October 1, 2027 (sections 7 to 12 take effect in 2026, but the duties attach only to technology deployed on or after October 1, 2027):</a:t>
            </a:r>
            <a:endParaRPr/>
          </a:p>
          <a:p xmlns:a="http://schemas.openxmlformats.org/drawingml/2006/main">
            <a:r>
              <a:t/>
            </a:r>
            <a:endParaRPr/>
          </a:p>
          <a:p xmlns:a="http://schemas.openxmlformats.org/drawingml/2006/main">
            <a:r>
              <a:t>- Scope is set by "substantial factor," defined as a factor that meaningfully alters the outcome of an employment-related decision. Covered decisions are hiring, promotion, discipline, discharge, renewal, selection for training or apprenticeship, and terms, privileges or conditions of employment. Carved out: nonmaterial changes to job tasks or hours, and decisions about workplace health and safety, scheduling, and productivity monitoring.</a:t>
            </a:r>
            <a:endParaRPr/>
          </a:p>
          <a:p xmlns:a="http://schemas.openxmlformats.org/drawingml/2006/main">
            <a:r>
              <a:t>- Developers must give deployers the information deployers need to meet their duties, but only where the tool was advertised, marketed, configured, contracted for, sold, or licensed to materially influence an employment decision.</a:t>
            </a:r>
            <a:endParaRPr/>
          </a:p>
          <a:p xmlns:a="http://schemas.openxmlformats.org/drawingml/2006/main">
            <a:r>
              <a:t>- Deployers must disclose in plain language when an employee or applicant is interacting with the technology, unless a reasonable person would find it obvious.</a:t>
            </a:r>
            <a:endParaRPr/>
          </a:p>
          <a:p xmlns:a="http://schemas.openxmlformats.org/drawingml/2006/main">
            <a:r>
              <a:t>- Before the decision is made, deployers must give written notice covering six specific points: that the technology was deployed, its purpose and the nature of the decision, the tool's trade name, the categories of personal data analyzed and how they will be assessed, the sources of that data, and deployer contact information.</a:t>
            </a:r>
            <a:endParaRPr/>
          </a:p>
          <a:p xmlns:a="http://schemas.openxmlformats.org/drawingml/2006/main">
            <a:r>
              <a:t>- Trade secrets can be withheld, but the withholding party must send notice saying what is being withheld and why.</a:t>
            </a:r>
            <a:endParaRPr/>
          </a:p>
          <a:p xmlns:a="http://schemas.openxmlformats.org/drawingml/2006/main">
            <a:r>
              <a:t/>
            </a:r>
            <a:endParaRPr/>
          </a:p>
          <a:p xmlns:a="http://schemas.openxmlformats.org/drawingml/2006/main">
            <a:r>
              <a:t>Enforcement is narrower than the obligations suggest: violations are unfair or deceptive trade practices under CUTPA, enforced **solely by the Attorney General**, with an explicit statement that the act creates **no private right of action**. Violations occurring on or before December 31, 2027 carry a 60-day cure period.</a:t>
            </a:r>
            <a:endParaRPr/>
          </a:p>
          <a:p xmlns:a="http://schemas.openxmlformats.org/drawingml/2006/main">
            <a:r>
              <a:t/>
            </a:r>
            <a:endParaRPr/>
          </a:p>
          <a:p xmlns:a="http://schemas.openxmlformats.org/drawingml/2006/main">
            <a:r>
              <a:t>One provision to catch in procurement: Section 8(c) lets a developer contract to assume the deployer's disclosure and notice duties, provided the contract is explicit about which duties transfer. That is a negotiating lever worth asking every vendor about. See the [vendor intake checklist](../03-governance/vendor-intake-checklist.md).</a:t>
            </a:r>
            <a:endParaRPr/>
          </a:p>
          <a:p xmlns:a="http://schemas.openxmlformats.org/drawingml/2006/main">
            <a:r>
              <a:t/>
            </a:r>
            <a:endParaRPr/>
          </a:p>
          <a:p xmlns:a="http://schemas.openxmlformats.org/drawingml/2006/main">
            <a:r>
              <a:t>*California: FEHA algorithmic discrimination rules and CPPA ADMT regulations:*</a:t>
            </a:r>
            <a:endParaRPr/>
          </a:p>
          <a:p xmlns:a="http://schemas.openxmlformats.org/drawingml/2006/main">
            <a:r>
              <a:t>The Civil Rights Council's FEHA regulations on automated decision systems took effect October 1, 2025: they prohibit AI-driven disparate treatment or disparate impact in employment decisions, require four years of recordkeeping, and hold employers liable for discriminatory outcomes even when the tool comes from a third-party vendor. Separately, the [CPPA regulation package](https://cppa.ca.gov/announcements/2025/20250923.html) took effect January 1, 2026. Covered businesses must begin risk-assessment compliance in 2026; ADMT notice and consumer-rights compliance begins January 1, 2027. These dates govern different duties. Review the [final regulations](https://cppa.ca.gov/regulations/ccpa_updates.html) for scope, opt-out exceptions, appeal conditions, and transition rules for processing already underway.</a:t>
            </a:r>
            <a:endParaRPr/>
          </a:p>
          <a:p xmlns:a="http://schemas.openxmlformats.org/drawingml/2006/main">
            <a:r>
              <a:t/>
            </a:r>
            <a:endParaRPr/>
          </a:p>
          <a:p xmlns:a="http://schemas.openxmlformats.org/drawingml/2006/main">
            <a:r>
              <a:t>Four California workplace bills were approved and chaptered on 30 September 2026. All four are enacted law, with obligations beginning in 2027. The chaptered texts were reviewed on 9 October 2026. AB 1883, SB 951, and AB 1331 take effect on 1 January 2027 under [California Constitution Article IV, section 8(c)(1)](https://leginfo.legislature.ca.gov/faces/codes_displayText.xhtml?lawCode=CONS&amp;division=&amp;title=&amp;part=&amp;chapter=&amp;article=IV); none contains an urgency clause or a later operative-date provision. SB 947 takes effect on that date but expressly makes its new Labor Code part operative on 1 July 2027. See the [source register](../03-governance/claims/california-workplace-laws.json) and the [Governor's signing announcement](https://www.gov.ca.gov/2026/09/30/californias-nation-leading-ai-framework-just-got-stronger-governor-newsom-signs-more-first-in-the-nation-worker-protections-and-more/).</a:t>
            </a:r>
            <a:endParaRPr/>
          </a:p>
          <a:p xmlns:a="http://schemas.openxmlformats.org/drawingml/2006/main">
            <a:r>
              <a:t/>
            </a:r>
            <a:endParaRPr/>
          </a:p>
          <a:p xmlns:a="http://schemas.openxmlformats.org/drawingml/2006/main">
            <a:r>
              <a:t>- **[AB 1883](https://leginfo.legislature.ca.gov/faces/billNavClient.xhtml?bill_id=202520260AB1883)** (workplace surveillance tools, Chapter 853, Statutes of 2026) adds Labor Code Part 5.8 to bar employers from using AI-driven surveillance tools to recognize or infer an employee's emotional state, or to collect neural data, meaning data measured from the central or peripheral nervous system and not inferred from nonneural information. Safety uses are preserved, and there is a narrow carve-out for federally mandated aerospace and national security work. Enforcement runs through the Labor Commissioner or a public prosecutor, with penalties up to $500 per violation. It was enrolled on 3 September 2026 and approved by the Governor on 30 September 2026. Some published summaries report 3 September as the signing date; that is the enrollment date.</a:t>
            </a:r>
            <a:endParaRPr/>
          </a:p>
          <a:p xmlns:a="http://schemas.openxmlformats.org/drawingml/2006/main">
            <a:r>
              <a:t>- **[SB 947](https://leginfo.legislature.ca.gov/faces/billTextClient.xhtml?bill_id=202520260SB947)** (the "No Robo Bosses Act," Chapter 859, Statutes of 2026) is **operative 1 July 2027**, under new Labor Code section 1526.7. It bars sole reliance on an ADS for discipline or termination. Primary reliance requires human corroboration and written post-use notice when the decision is communicated. If corroboration fails, or the reviewer finds the output inaccurate, incomplete, or misleading, the employer must not use that output for the decision. The employee may request a meaningful description of their own data used by the ADS. Check the collective bargaining and federal-operation exceptions in sections 1526.5 and 1526.6.</a:t>
            </a:r>
            <a:endParaRPr/>
          </a:p>
          <a:p xmlns:a="http://schemas.openxmlformats.org/drawingml/2006/main">
            <a:r>
              <a:t>- **[SB 951](https://leginfo.legislature.ca.gov/faces/billTextClient.xhtml?bill_id=202520260SB951)** (Chapter 860, Statutes of 2026), **effective 1 January 2027**, adds technology-displacement information to an otherwise required Cal/WARN notice when AI or automation causes the event wholly or substantially. New Labor Code section 1401(d) requires affected jobs and locations, functions being automated, the technology category, and a technology-displacement heading. It retains the existing 60-day notice period. It does not enact the earlier proposal for a 90-day notice or an employer hiring-freeze notice; section 1402.7 instead requires an EDD study by 1 January 2028. Assess Cal/WARN coverage and exceptions before applying the notice requirement.</a:t>
            </a:r>
            <a:endParaRPr/>
          </a:p>
          <a:p xmlns:a="http://schemas.openxmlformats.org/drawingml/2006/main">
            <a:r>
              <a:t>- **[AB 1331](https://leginfo.legislature.ca.gov/faces/billTextClient.xhtml?bill_id=202520260AB1331)** (Chapter 851, Statutes of 2026), **effective 1 January 2027**, limits workplace bathroom surveillance and lets employees leave surveillance tools behind when entering a bathroom. New Labor Code section 1561 includes exceptions for court orders, one-time entry/exit checks, voluntary possession, and certain identification or safety devices. The tool definition reaches beyond AI. Review the full exceptions in sections 1561, 1564, and 1565 before changing monitoring practices.</a:t>
            </a:r>
            <a:endParaRPr/>
          </a:p>
          <a:p xmlns:a="http://schemas.openxmlformats.org/drawingml/2006/main">
            <a:r>
              <a:t/>
            </a:r>
            <a:endParaRPr/>
          </a:p>
          <a:p xmlns:a="http://schemas.openxmlformats.org/drawingml/2006/main">
            <a:r>
              <a:t>*Texas: Responsible AI Governance Act (TRAIGA):*</a:t>
            </a:r>
            <a:endParaRPr/>
          </a:p>
          <a:p xmlns:a="http://schemas.openxmlformats.org/drawingml/2006/main">
            <a:r>
              <a:t>Effective January 1, 2026 (HB 149, signed June 22, 2025). Narrower than Illinois or Colorado: TRAIGA prohibits intentional AI-based discrimination but does not create disparate impact liability, and the Attorney General has exclusive enforcement authority with a 60-day cure period before action.</a:t>
            </a:r>
            <a:endParaRPr/>
          </a:p>
          <a:p xmlns:a="http://schemas.openxmlformats.org/drawingml/2006/main">
            <a:r>
              <a:t/>
            </a:r>
            <a:endParaRPr/>
          </a:p>
          <a:p xmlns:a="http://schemas.openxmlformats.org/drawingml/2006/main">
            <a:r>
              <a:t>*New Jersey: no AI statute, but existing discrimination law already reaches AI:*</a:t>
            </a:r>
            <a:endParaRPr/>
          </a:p>
          <a:p xmlns:a="http://schemas.openxmlformats.org/drawingml/2006/main">
            <a:r>
              <a:t>New Jersey is the case that breaks the habit of scanning for AI-specific bills. It has no AI hiring statute. In January 2025 the Office of the Attorney General and the Division on Civil Rights issued guidance stating that the Law Against Discrimination (N.J.S.A. 10:5-1 et seq.) applies to algorithmic discrimination the same way it has long applied to other discriminatory conduct, in employment among other contexts. Three points matter for HR practice:</a:t>
            </a:r>
            <a:endParaRPr/>
          </a:p>
          <a:p xmlns:a="http://schemas.openxmlformats.org/drawingml/2006/main">
            <a:r>
              <a:t/>
            </a:r>
            <a:endParaRPr/>
          </a:p>
          <a:p xmlns:a="http://schemas.openxmlformats.org/drawingml/2006/main">
            <a:r>
              <a:t>- **No intent required, and a vendor tool is not a defense.** The guidance states that a covered entity "is not shielded from liability for algorithmic discrimination that results from the entity's use of an automated decision-making tool simply because the tool was developed by a third party or because the entity does not understand the inner workings of the tool."</a:t>
            </a:r>
            <a:endParaRPr/>
          </a:p>
          <a:p xmlns:a="http://schemas.openxmlformats.org/drawingml/2006/main">
            <a:r>
              <a:t>- **Disparate impact is covered.** Use of a tool with a disproportionate effect on a protected class is prohibited unless it is necessary to achieve a substantial, legitimate, nondiscriminatory interest and there is no less discriminatory alternative. Whether the employer tested the tool for bias or evaluated alternatives may be weighed as relevant evidence, which is the same pattern as Connecticut: your fairness audit becomes evidence.</a:t>
            </a:r>
            <a:endParaRPr/>
          </a:p>
          <a:p xmlns:a="http://schemas.openxmlformats.org/drawingml/2006/main">
            <a:r>
              <a:t>- **Reasonable accommodations are in scope.** A tool can violate the LAD by being inaccessible or by penalizing someone who uses an accommodation. The guidance's example is a typing-speed screen that cannot read a non-traditional keyboard.</a:t>
            </a:r>
            <a:endParaRPr/>
          </a:p>
          <a:p xmlns:a="http://schemas.openxmlformats.org/drawingml/2006/main">
            <a:r>
              <a:t/>
            </a:r>
            <a:endParaRPr/>
          </a:p>
          <a:p xmlns:a="http://schemas.openxmlformats.org/drawingml/2006/main">
            <a:r>
              <a:t>Two limits to state accurately when you teach this. The guidance is interpretive: it says on its face that it imposes no requirements beyond the LAD and will not be enforced as a substitute for enforcing the LAD. And it carries no effective date, because the underlying statute has been in force for decades. Do not present it as a new obligation that switched on in 2025. The takeaway for the class is the general one: a state with no AI bill is not a state with no AI exposure.</a:t>
            </a:r>
            <a:endParaRPr/>
          </a:p>
          <a:p xmlns:a="http://schemas.openxmlformats.org/drawingml/2006/main">
            <a:r>
              <a:t/>
            </a:r>
            <a:endParaRPr/>
          </a:p>
          <a:p xmlns:a="http://schemas.openxmlformats.org/drawingml/2006/main">
            <a:r>
              <a:t>*GDPR and CCPA:*</a:t>
            </a:r>
            <a:endParaRPr/>
          </a:p>
          <a:p xmlns:a="http://schemas.openxmlformats.org/drawingml/2006/main">
            <a:r>
              <a:t>Employees in covered jurisdictions have rights regarding automated decision-making. Know which of your employees are covered and how your AI use cases interact with their rights. See the California-specific rules above for the current state of play there.</a:t>
            </a:r>
            <a:endParaRPr/>
          </a:p>
          <a:p xmlns:a="http://schemas.openxmlformats.org/drawingml/2006/main">
            <a:r>
              <a:t/>
            </a:r>
            <a:endParaRPr/>
          </a:p>
          <a:p xmlns:a="http://schemas.openxmlformats.org/drawingml/2006/main">
            <a:r>
              <a:t>*UK: Data (Use and Access) Act 2025 replaces GDPR Article 22:*</a:t>
            </a:r>
            <a:endParaRPr/>
          </a:p>
          <a:p xmlns:a="http://schemas.openxmlformats.org/drawingml/2006/main">
            <a:r>
              <a:t>Section 80 of the UK's Data (Use and Access) Act 2025 took effect February 5, 2026 (Commencement Regulations SI 2026/82) and substitutes Article 22 of the UK GDPR with new Articles 22A to 22D. The new regime permits solely automated "significant decisions," those with a legal or similarly significant effect, more broadly than before, but requires safeguards: notice to the individual, the ability to make representations, the right to human intervention, and the right to contest the decision. Stricter restrictions still apply where special category data is used. Treat this as a distinct regime from EU GDPR Article 22, not an equivalent, for any AI use case touching UK-based workers or candidates.</a:t>
            </a:r>
            <a:endParaRPr/>
          </a:p>
          <a:p xmlns:a="http://schemas.openxmlformats.org/drawingml/2006/main">
            <a:r>
              <a:t/>
            </a:r>
            <a:endParaRPr/>
          </a:p>
          <a:p xmlns:a="http://schemas.openxmlformats.org/drawingml/2006/main">
            <a:r>
              <a:t>The ICO is already signaling how it will police this in recruitment specifically. A March 2026 ICO report on automated decision-making in hiring found many employers don't recognize they're doing ADM at all, and that "human review" in practice often amounts to rubber-stamping rather than a reviewer with real authority to change the outcome. Following that report, the ICO opened a consultation on draft ADM guidance, worth checking for the final version before relying on the March findings alone. Build the oversight role description to survive that scrutiny, not just to check the box.</a:t>
            </a:r>
            <a:endParaRPr/>
          </a:p>
          <a:p xmlns:a="http://schemas.openxmlformats.org/drawingml/2006/main">
            <a:r>
              <a:t/>
            </a:r>
            <a:endParaRPr/>
          </a:p>
          <a:p xmlns:a="http://schemas.openxmlformats.org/drawingml/2006/main">
            <a:r>
              <a:t>*Canada: no federal AI employment law, but Ontario requires disclosure:*</a:t>
            </a:r>
            <a:endParaRPr/>
          </a:p>
          <a:p xmlns:a="http://schemas.openxmlformats.org/drawingml/2006/main">
            <a:r>
              <a:t>Canada's federal AI bill (AIDA, part of Bill C-27) died when Parliament prorogued in January 2025 and has not been revived. AI regulation there runs through existing privacy, human rights, and sector law instead. Ontario is the exception: since January 1, 2026, employers with 25+ employees must disclose in publicly advertised job postings whether AI is used to screen, assess, or select candidates (Employment Standards Act, 2000 amendment).</a:t>
            </a:r>
            <a:endParaRPr/>
          </a:p>
          <a:p xmlns:a="http://schemas.openxmlformats.org/drawingml/2006/main">
            <a:r>
              <a:t/>
            </a:r>
            <a:endParaRPr/>
          </a:p>
          <a:p xmlns:a="http://schemas.openxmlformats.org/drawingml/2006/main">
            <a:r>
              <a:t>*The "AI as a manager" trap:*</a:t>
            </a:r>
            <a:endParaRPr/>
          </a:p>
          <a:p xmlns:a="http://schemas.openxmlformats.org/drawingml/2006/main">
            <a:r>
              <a:t>AI that monitors, evaluates, or scores employees without their knowledge, even for legitimate purposes, creates legal and trust exposure. Transparency is not just ethical, it's protective.</a:t>
            </a:r>
            <a:endParaRPr/>
          </a:p>
          <a:p xmlns:a="http://schemas.openxmlformats.org/drawingml/2006/main">
            <a:r>
              <a:t/>
            </a:r>
            <a:endParaRPr/>
          </a:p>
          <a:p xmlns:a="http://schemas.openxmlformats.org/drawingml/2006/main">
            <a:r>
              <a:t>**Scenario practice cards:**</a:t>
            </a:r>
            <a:endParaRPr/>
          </a:p>
          <a:p xmlns:a="http://schemas.openxmlformats.org/drawingml/2006/main">
            <a:r>
              <a:t/>
            </a:r>
            <a:endParaRPr/>
          </a:p>
          <a:p xmlns:a="http://schemas.openxmlformats.org/drawingml/2006/main">
            <a:r>
              <a:t>Print or share these four scenarios. Groups of 3–4 discuss: Is this use appropriate? What are the risks? What would you change?</a:t>
            </a:r>
            <a:endParaRPr/>
          </a:p>
          <a:p xmlns:a="http://schemas.openxmlformats.org/drawingml/2006/main">
            <a:r>
              <a:t/>
            </a:r>
            <a:endParaRPr/>
          </a:p>
          <a:p xmlns:a="http://schemas.openxmlformats.org/drawingml/2006/main">
            <a:r>
              <a:t>&gt; **Scenario A:** An AI tool automatically rejects resumes with gaps of more than 6 months without showing them to a recruiter.</a:t>
            </a:r>
            <a:endParaRPr/>
          </a:p>
          <a:p xmlns:a="http://schemas.openxmlformats.org/drawingml/2006/main">
            <a:r>
              <a:t/>
            </a:r>
            <a:endParaRPr/>
          </a:p>
          <a:p xmlns:a="http://schemas.openxmlformats.org/drawingml/2006/main">
            <a:r>
              <a:t>&gt; **Scenario B:** An HRBP uses an AI writing assistant to draft a PIP for an employee, then reviews and edits it before sharing with the manager.</a:t>
            </a:r>
            <a:endParaRPr/>
          </a:p>
          <a:p xmlns:a="http://schemas.openxmlformats.org/drawingml/2006/main">
            <a:r>
              <a:t/>
            </a:r>
            <a:endParaRPr/>
          </a:p>
          <a:p xmlns:a="http://schemas.openxmlformats.org/drawingml/2006/main">
            <a:r>
              <a:t>&gt; **Scenario C:** People Analytics builds an attrition risk model that scores all employees monthly and shares the scores directly with managers.</a:t>
            </a:r>
            <a:endParaRPr/>
          </a:p>
          <a:p xmlns:a="http://schemas.openxmlformats.org/drawingml/2006/main">
            <a:r>
              <a:t/>
            </a:r>
            <a:endParaRPr/>
          </a:p>
          <a:p xmlns:a="http://schemas.openxmlformats.org/drawingml/2006/main">
            <a:r>
              <a:t>&gt; **Scenario D:** An AI chatbot answers benefits questions for employees. It sometimes gives incorrect information but flags that users should confirm with HR.</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4: Building and scaling AI use cases</a:t>
            </a:r>
            <a:endParaRPr/>
          </a:p>
          <a:p xmlns:a="http://schemas.openxmlformats.org/drawingml/2006/main">
            <a:r>
              <a:t/>
            </a:r>
            <a:endParaRPr/>
          </a:p>
          <a:p xmlns:a="http://schemas.openxmlformats.org/drawingml/2006/main">
            <a:r>
              <a:t>**Learning objectives:**</a:t>
            </a:r>
            <a:endParaRPr/>
          </a:p>
          <a:p xmlns:a="http://schemas.openxmlformats.org/drawingml/2006/main">
            <a:r>
              <a:t>- Apply the prioritization matrix to identify your team's highest-value AI use cases</a:t>
            </a:r>
            <a:endParaRPr/>
          </a:p>
          <a:p xmlns:a="http://schemas.openxmlformats.org/drawingml/2006/main">
            <a:r>
              <a:t>- Define a use case with clear success metrics and governance requirements</a:t>
            </a:r>
            <a:endParaRPr/>
          </a:p>
          <a:p xmlns:a="http://schemas.openxmlformats.org/drawingml/2006/main">
            <a:r>
              <a:t>- Draft a basic implementation plan for a low-complexity use case</a:t>
            </a:r>
            <a:endParaRPr/>
          </a:p>
          <a:p xmlns:a="http://schemas.openxmlformats.org/drawingml/2006/main">
            <a:r>
              <a:t/>
            </a:r>
            <a:endParaRPr/>
          </a:p>
          <a:p xmlns:a="http://schemas.openxmlformats.org/drawingml/2006/main">
            <a:r>
              <a:t>**Session outline (2 hours):**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Opening: What does "scaling AI in HR" actually mean? |</a:t>
            </a:r>
            <a:endParaRPr/>
          </a:p>
          <a:p xmlns:a="http://schemas.openxmlformats.org/drawingml/2006/main">
            <a:r>
              <a:t>| 0:15–0:45 | Framework: From idea to deployment, the use case lifecycle |</a:t>
            </a:r>
            <a:endParaRPr/>
          </a:p>
          <a:p xmlns:a="http://schemas.openxmlformats.org/drawingml/2006/main">
            <a:r>
              <a:t>| 0:45–1:15 | Team exercise: Prioritization matrix applied to your team's top 5 ideas |</a:t>
            </a:r>
            <a:endParaRPr/>
          </a:p>
          <a:p xmlns:a="http://schemas.openxmlformats.org/drawingml/2006/main">
            <a:r>
              <a:t>| 1:15–1:45 | Small group: Draft a one-page use case spec for your top-ranked idea |</a:t>
            </a:r>
            <a:endParaRPr/>
          </a:p>
          <a:p xmlns:a="http://schemas.openxmlformats.org/drawingml/2006/main">
            <a:r>
              <a:t>| 1:45–2:00 | Gallery walk + feedback |</a:t>
            </a:r>
            <a:endParaRPr/>
          </a:p>
          <a:p xmlns:a="http://schemas.openxmlformats.org/drawingml/2006/main">
            <a:r>
              <a:t/>
            </a:r>
            <a:endParaRPr/>
          </a:p>
          <a:p xmlns:a="http://schemas.openxmlformats.org/drawingml/2006/main">
            <a:r>
              <a:t>**Use case lifecycle:**</a:t>
            </a:r>
            <a:endParaRPr/>
          </a:p>
          <a:p xmlns:a="http://schemas.openxmlformats.org/drawingml/2006/main">
            <a:r>
              <a:t/>
            </a:r>
            <a:endParaRPr/>
          </a:p>
          <a:p xmlns:a="http://schemas.openxmlformats.org/drawingml/2006/main">
            <a:r>
              <a:t>```</a:t>
            </a:r>
            <a:endParaRPr/>
          </a:p>
          <a:p xmlns:a="http://schemas.openxmlformats.org/drawingml/2006/main">
            <a:r>
              <a:t>Discover → Prioritize → Design → Pilot → Evaluate → Scale</a:t>
            </a:r>
            <a:endParaRPr/>
          </a:p>
          <a:p xmlns:a="http://schemas.openxmlformats.org/drawingml/2006/main">
            <a:r>
              <a:t>   ↑                                          |</a:t>
            </a:r>
            <a:endParaRPr/>
          </a:p>
          <a:p xmlns:a="http://schemas.openxmlformats.org/drawingml/2006/main">
            <a:r>
              <a:t>   └──────────────── iterate ─────────────────┘</a:t>
            </a:r>
            <a:endParaRPr/>
          </a:p>
          <a:p xmlns:a="http://schemas.openxmlformats.org/drawingml/2006/main">
            <a:r>
              <a:t>```</a:t>
            </a:r>
            <a:endParaRPr/>
          </a:p>
          <a:p xmlns:a="http://schemas.openxmlformats.org/drawingml/2006/main">
            <a:r>
              <a:t/>
            </a:r>
            <a:endParaRPr/>
          </a:p>
          <a:p xmlns:a="http://schemas.openxmlformats.org/drawingml/2006/main">
            <a:r>
              <a:t>- **Discover:** What problem are we solving? Who feels it most?</a:t>
            </a:r>
            <a:endParaRPr/>
          </a:p>
          <a:p xmlns:a="http://schemas.openxmlformats.org/drawingml/2006/main">
            <a:r>
              <a:t>- **Prioritize:** Use the matrix. Don't skip this.</a:t>
            </a:r>
            <a:endParaRPr/>
          </a:p>
          <a:p xmlns:a="http://schemas.openxmlformats.org/drawingml/2006/main">
            <a:r>
              <a:t>- **Design:** Define inputs, outputs, human review gates, success metrics, and fallback</a:t>
            </a:r>
            <a:endParaRPr/>
          </a:p>
          <a:p xmlns:a="http://schemas.openxmlformats.org/drawingml/2006/main">
            <a:r>
              <a:t>- **Pilot:** Small scope, high observation. 4–8 weeks.</a:t>
            </a:r>
            <a:endParaRPr/>
          </a:p>
          <a:p xmlns:a="http://schemas.openxmlformats.org/drawingml/2006/main">
            <a:r>
              <a:t>- **Evaluate:** Did it work? For whom? What didn't?</a:t>
            </a:r>
            <a:endParaRPr/>
          </a:p>
          <a:p xmlns:a="http://schemas.openxmlformats.org/drawingml/2006/main">
            <a:r>
              <a:t>- **Scale:** Expand with the lessons from pilot baked in</a:t>
            </a:r>
            <a:endParaRPr/>
          </a:p>
          <a:p xmlns:a="http://schemas.openxmlformats.org/drawingml/2006/main">
            <a:r>
              <a:t/>
            </a:r>
            <a:endParaRPr/>
          </a:p>
          <a:p xmlns:a="http://schemas.openxmlformats.org/drawingml/2006/main">
            <a:r>
              <a:t>**One-page use case spec template:**</a:t>
            </a:r>
            <a:endParaRPr/>
          </a:p>
          <a:p xmlns:a="http://schemas.openxmlformats.org/drawingml/2006/main">
            <a:r>
              <a:t/>
            </a:r>
            <a:endParaRPr/>
          </a:p>
          <a:p xmlns:a="http://schemas.openxmlformats.org/drawingml/2006/main">
            <a:r>
              <a:t>Participants complete this for their team's top-ranked use case:</a:t>
            </a:r>
            <a:endParaRPr/>
          </a:p>
          <a:p xmlns:a="http://schemas.openxmlformats.org/drawingml/2006/main">
            <a:r>
              <a:t/>
            </a:r>
            <a:endParaRPr/>
          </a:p>
          <a:p xmlns:a="http://schemas.openxmlformats.org/drawingml/2006/main">
            <a:r>
              <a:t>```</a:t>
            </a:r>
            <a:endParaRPr/>
          </a:p>
          <a:p xmlns:a="http://schemas.openxmlformats.org/drawingml/2006/main">
            <a:r>
              <a:t>Use case name:</a:t>
            </a:r>
            <a:endParaRPr/>
          </a:p>
          <a:p xmlns:a="http://schemas.openxmlformats.org/drawingml/2006/main">
            <a:r>
              <a:t>Problem it solves (1 sentence):</a:t>
            </a:r>
            <a:endParaRPr/>
          </a:p>
          <a:p xmlns:a="http://schemas.openxmlformats.org/drawingml/2006/main">
            <a:r>
              <a:t>Who benefits and how:</a:t>
            </a:r>
            <a:endParaRPr/>
          </a:p>
          <a:p xmlns:a="http://schemas.openxmlformats.org/drawingml/2006/main">
            <a:r>
              <a:t>AI approach (Rules / Augment / Assist / Human-led / Analytics):</a:t>
            </a:r>
            <a:endParaRPr/>
          </a:p>
          <a:p xmlns:a="http://schemas.openxmlformats.org/drawingml/2006/main">
            <a:r>
              <a:t>Data needed:</a:t>
            </a:r>
            <a:endParaRPr/>
          </a:p>
          <a:p xmlns:a="http://schemas.openxmlformats.org/drawingml/2006/main">
            <a:r>
              <a:t>Human review gate:</a:t>
            </a:r>
            <a:endParaRPr/>
          </a:p>
          <a:p xmlns:a="http://schemas.openxmlformats.org/drawingml/2006/main">
            <a:r>
              <a:t>Success metric(s):</a:t>
            </a:r>
            <a:endParaRPr/>
          </a:p>
          <a:p xmlns:a="http://schemas.openxmlformats.org/drawingml/2006/main">
            <a:r>
              <a:t>What could go wrong:</a:t>
            </a:r>
            <a:endParaRPr/>
          </a:p>
          <a:p xmlns:a="http://schemas.openxmlformats.org/drawingml/2006/main">
            <a:r>
              <a:t>Governance requirements (from risk assessment):</a:t>
            </a:r>
            <a:endParaRPr/>
          </a:p>
          <a:p xmlns:a="http://schemas.openxmlformats.org/drawingml/2006/main">
            <a:r>
              <a:t>First step to move forward:</a:t>
            </a:r>
            <a:endParaRPr/>
          </a:p>
          <a:p xmlns:a="http://schemas.openxmlformats.org/drawingml/2006/main">
            <a:r>
              <a:t>```</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Assessment and certification</a:t>
            </a:r>
            <a:endParaRPr/>
          </a:p>
          <a:p xmlns:a="http://schemas.openxmlformats.org/drawingml/2006/main">
            <a:r>
              <a:t/>
            </a:r>
            <a:endParaRPr/>
          </a:p>
          <a:p xmlns:a="http://schemas.openxmlformats.org/drawingml/2006/main">
            <a:r>
              <a:t>An organization may choose to give participants who complete all four modules</a:t>
            </a:r>
            <a:endParaRPr/>
          </a:p>
          <a:p xmlns:a="http://schemas.openxmlformats.org/drawingml/2006/main">
            <a:r>
              <a:t>and the hands-on components an **HR AI Practitioner** acknowledgment. This is a</a:t>
            </a:r>
            <a:endParaRPr/>
          </a:p>
          <a:p xmlns:a="http://schemas.openxmlformats.org/drawingml/2006/main">
            <a:r>
              <a:t>proposed internal recognition, not an accredited certification or evidence of</a:t>
            </a:r>
            <a:endParaRPr/>
          </a:p>
          <a:p xmlns:a="http://schemas.openxmlformats.org/drawingml/2006/main">
            <a:r>
              <a:t>professional competence. No delivery or learning outcome is claimed here.</a:t>
            </a:r>
            <a:endParaRPr/>
          </a:p>
          <a:p xmlns:a="http://schemas.openxmlformats.org/drawingml/2006/main">
            <a:r>
              <a:t/>
            </a:r>
            <a:endParaRPr/>
          </a:p>
          <a:p xmlns:a="http://schemas.openxmlformats.org/drawingml/2006/main">
            <a:r>
              <a:t>Optional extension: Participants who complete a full use case spec and present it to the HR Technology team are recognized as **HR AI Champions**, an informal internal designation that supports peer enablement.</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Facilitator notes</a:t>
            </a:r>
            <a:endParaRPr/>
          </a:p>
          <a:p xmlns:a="http://schemas.openxmlformats.org/drawingml/2006/main">
            <a:r>
              <a:t/>
            </a:r>
            <a:endParaRPr/>
          </a:p>
          <a:p xmlns:a="http://schemas.openxmlformats.org/drawingml/2006/main">
            <a:r>
              <a:t>These are facilitation suggestions, not measured delivery findings. Use synthetic examples; removing names alone does not establish anonymity. Do not upload real employee, candidate, compensation, or employer-confidential information for a training exercise.</a:t>
            </a:r>
            <a:endParaRPr/>
          </a:p>
          <a:p xmlns:a="http://schemas.openxmlformats.org/drawingml/2006/main">
            <a:r>
              <a:t/>
            </a:r>
            <a:endParaRPr/>
          </a:p>
          <a:p xmlns:a="http://schemas.openxmlformats.org/drawingml/2006/main">
            <a:r>
              <a:t>- Budget flex time in Module 3 for questions and disagreement about risk.</a:t>
            </a:r>
            <a:endParaRPr/>
          </a:p>
          <a:p xmlns:a="http://schemas.openxmlformats.org/drawingml/2006/main">
            <a:r>
              <a:t>- Protect time for the Module 2 lab, and check whether participants can identify errors and verify outputs afterward.</a:t>
            </a:r>
            <a:endParaRPr/>
          </a:p>
          <a:p xmlns:a="http://schemas.openxmlformats.org/drawingml/2006/main">
            <a:r>
              <a:t>- Adapt synthetic scenarios to familiar workflows, without identifiable employee cases or confidential documents.</a:t>
            </a:r>
            <a:endParaRPr/>
          </a:p>
          <a:p xmlns:a="http://schemas.openxmlformats.org/drawingml/2006/main">
            <a:r>
              <a:t>- Keep an AI skeptic on the facilitation team if possible. The best discussions happen when the room has range.</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snapshot: 13 October 2026. Curriculum SHA-256: 5ee769258ac9b95a3c514b64dcd5b22215e40bac8621054ffb452bffc244827a. This deck summarizes the source; no human evaluation, delivery outcome or legal approval is claimed.</a:t>
            </a:r>
            <a:endParaRPr/>
          </a:p>
          <a:p xmlns:a="http://schemas.openxmlformats.org/drawingml/2006/main">
            <a:r>
              <a:t/>
            </a:r>
            <a:endParaRPr/>
          </a:p>
          <a:p xmlns:a="http://schemas.openxmlformats.org/drawingml/2006/main">
            <a:r>
              <a:t># HR AI literacy curriculum</a:t>
            </a:r>
            <a:endParaRPr/>
          </a:p>
          <a:p xmlns:a="http://schemas.openxmlformats.org/drawingml/2006/main">
            <a:r>
              <a:t/>
            </a:r>
            <a:endParaRPr/>
          </a:p>
          <a:p xmlns:a="http://schemas.openxmlformats.org/drawingml/2006/main">
            <a:r>
              <a:t>A 4-module learning program for HR professionals at all experience levels. Designed to be delivered as a facilitated series over 4–6 weeks, or adapted for self-paced completion.</a:t>
            </a:r>
            <a:endParaRPr/>
          </a:p>
          <a:p xmlns:a="http://schemas.openxmlformats.org/drawingml/2006/main">
            <a:r>
              <a:t/>
            </a:r>
            <a:endParaRPr/>
          </a:p>
          <a:p xmlns:a="http://schemas.openxmlformats.org/drawingml/2006/main">
            <a:r>
              <a:t>**Total time:** about 7 hours of sessions, plus async reading and hands-on practice (roughly 8 hours in all)</a:t>
            </a:r>
            <a:endParaRPr/>
          </a:p>
          <a:p xmlns:a="http://schemas.openxmlformats.org/drawingml/2006/main">
            <a:r>
              <a:t>**Format:** Workshop + async reading + hands-on practice</a:t>
            </a:r>
            <a:endParaRPr/>
          </a:p>
          <a:p xmlns:a="http://schemas.openxmlformats.org/drawingml/2006/main">
            <a:r>
              <a:t>**Audience:** All People Team members</a:t>
            </a:r>
            <a:endParaRPr/>
          </a:p>
          <a:p xmlns:a="http://schemas.openxmlformats.org/drawingml/2006/main">
            <a:r>
              <a:t>**Prerequisite:** None</a:t>
            </a:r>
            <a:endParaRPr/>
          </a:p>
          <a:p xmlns:a="http://schemas.openxmlformats.org/drawingml/2006/main">
            <a:r>
              <a:t/>
            </a:r>
            <a:endParaRPr/>
          </a:p>
          <a:p xmlns:a="http://schemas.openxmlformats.org/drawingml/2006/main">
            <a:r>
              <a:t>**Lab prerequisite:** The facilitator confirms an organization-approved tool,</a:t>
            </a:r>
            <a:endParaRPr/>
          </a:p>
          <a:p xmlns:a="http://schemas.openxmlformats.org/drawingml/2006/main">
            <a:r>
              <a:t>provider handling, and a synthetic-only data boundary before any exercise.</a:t>
            </a:r>
            <a:endParaRPr/>
          </a:p>
          <a:p xmlns:a="http://schemas.openxmlformats.org/drawingml/2006/main">
            <a:r>
              <a:t>Modules 1-3 and the required governance approvals precede any real-work pilot.</a:t>
            </a:r>
            <a:endParaRPr/>
          </a:p>
          <a:p xmlns:a="http://schemas.openxmlformats.org/drawingml/2006/main">
            <a:r>
              <a:t>This curriculum does not authorize employee-data processing.</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Program overview</a:t>
            </a:r>
            <a:endParaRPr/>
          </a:p>
          <a:p xmlns:a="http://schemas.openxmlformats.org/drawingml/2006/main">
            <a:r>
              <a:t/>
            </a:r>
            <a:endParaRPr/>
          </a:p>
          <a:p xmlns:a="http://schemas.openxmlformats.org/drawingml/2006/main">
            <a:r>
              <a:t>| Module | Title | Duration | Format |</a:t>
            </a:r>
            <a:endParaRPr/>
          </a:p>
          <a:p xmlns:a="http://schemas.openxmlformats.org/drawingml/2006/main">
            <a:r>
              <a:t>|---|---|---|---|</a:t>
            </a:r>
            <a:endParaRPr/>
          </a:p>
          <a:p xmlns:a="http://schemas.openxmlformats.org/drawingml/2006/main">
            <a:r>
              <a:t>| 1 | How AI works, what HR professionals actually need to know | 90 min | Workshop |</a:t>
            </a:r>
            <a:endParaRPr/>
          </a:p>
          <a:p xmlns:a="http://schemas.openxmlformats.org/drawingml/2006/main">
            <a:r>
              <a:t>| 2 | Using AI in your daily HR work | 2 hours | Workshop + lab |</a:t>
            </a:r>
            <a:endParaRPr/>
          </a:p>
          <a:p xmlns:a="http://schemas.openxmlformats.org/drawingml/2006/main">
            <a:r>
              <a:t>| 3 | Governance, ethics, and responsible use | 90 min | Workshop |</a:t>
            </a:r>
            <a:endParaRPr/>
          </a:p>
          <a:p xmlns:a="http://schemas.openxmlformats.org/drawingml/2006/main">
            <a:r>
              <a:t>| 4 | Building and scaling AI use cases | 2 hours | Workshop + project |</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1: How AI works, what HR professionals actually need to know</a:t>
            </a:r>
            <a:endParaRPr/>
          </a:p>
          <a:p xmlns:a="http://schemas.openxmlformats.org/drawingml/2006/main">
            <a:r>
              <a:t/>
            </a:r>
            <a:endParaRPr/>
          </a:p>
          <a:p xmlns:a="http://schemas.openxmlformats.org/drawingml/2006/main">
            <a:r>
              <a:t>**Learning objectives:**</a:t>
            </a:r>
            <a:endParaRPr/>
          </a:p>
          <a:p xmlns:a="http://schemas.openxmlformats.org/drawingml/2006/main">
            <a:r>
              <a:t>- Explain the difference between traditional automation and generative AI</a:t>
            </a:r>
            <a:endParaRPr/>
          </a:p>
          <a:p xmlns:a="http://schemas.openxmlformats.org/drawingml/2006/main">
            <a:r>
              <a:t>- Describe why AI "hallucinates" and how to mitigate it in HR contexts</a:t>
            </a:r>
            <a:endParaRPr/>
          </a:p>
          <a:p xmlns:a="http://schemas.openxmlformats.org/drawingml/2006/main">
            <a:r>
              <a:t>- Identify which HR tasks are good candidates for AI assistance and which are not</a:t>
            </a:r>
            <a:endParaRPr/>
          </a:p>
          <a:p xmlns:a="http://schemas.openxmlformats.org/drawingml/2006/main">
            <a:r>
              <a:t/>
            </a:r>
            <a:endParaRPr/>
          </a:p>
          <a:p xmlns:a="http://schemas.openxmlformats.org/drawingml/2006/main">
            <a:r>
              <a:t>**Session outline (90 minutes):**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0:00–0:10 | Opening: What do you already believe about AI? (quick poll + discussion) |</a:t>
            </a:r>
            <a:endParaRPr/>
          </a:p>
          <a:p xmlns:a="http://schemas.openxmlformats.org/drawingml/2006/main">
            <a:r>
              <a:t>| 0:10–0:30 | Concept: How LLMs work, without the jargon (facilitator presentation) |</a:t>
            </a:r>
            <a:endParaRPr/>
          </a:p>
          <a:p xmlns:a="http://schemas.openxmlformats.org/drawingml/2006/main">
            <a:r>
              <a:t>| 0:30–0:45 | Concept: Hallucination, confidence, and why AI makes things up |</a:t>
            </a:r>
            <a:endParaRPr/>
          </a:p>
          <a:p xmlns:a="http://schemas.openxmlformats.org/drawingml/2006/main">
            <a:r>
              <a:t>| 0:45–1:05 | Exercise: Spot the hallucination (participants identify errors in AI-generated HR content) |</a:t>
            </a:r>
            <a:endParaRPr/>
          </a:p>
          <a:p xmlns:a="http://schemas.openxmlformats.org/drawingml/2006/main">
            <a:r>
              <a:t>| 1:05–1:20 | Discussion: Where should HR use AI? Where should we be cautious? |</a:t>
            </a:r>
            <a:endParaRPr/>
          </a:p>
          <a:p xmlns:a="http://schemas.openxmlformats.org/drawingml/2006/main">
            <a:r>
              <a:t>| 1:20–1:30 | Wrap-up + homework: Try one AI tool before next session |</a:t>
            </a:r>
            <a:endParaRPr/>
          </a:p>
          <a:p xmlns:a="http://schemas.openxmlformats.org/drawingml/2006/main">
            <a:r>
              <a:t/>
            </a:r>
            <a:endParaRPr/>
          </a:p>
          <a:p xmlns:a="http://schemas.openxmlformats.org/drawingml/2006/main">
            <a:r>
              <a:t>**Key concepts to cover:**</a:t>
            </a:r>
            <a:endParaRPr/>
          </a:p>
          <a:p xmlns:a="http://schemas.openxmlformats.org/drawingml/2006/main">
            <a:r>
              <a:t/>
            </a:r>
            <a:endParaRPr/>
          </a:p>
          <a:p xmlns:a="http://schemas.openxmlformats.org/drawingml/2006/main">
            <a:r>
              <a:t>*What LLMs actually are:*</a:t>
            </a:r>
            <a:endParaRPr/>
          </a:p>
          <a:p xmlns:a="http://schemas.openxmlformats.org/drawingml/2006/main">
            <a:r>
              <a:t>Large language models predict the next most likely word given context. They don't "know" things the way a database knows things, they pattern-match against training data. This is why they can sound authoritative while being wrong.</a:t>
            </a:r>
            <a:endParaRPr/>
          </a:p>
          <a:p xmlns:a="http://schemas.openxmlformats.org/drawingml/2006/main">
            <a:r>
              <a:t/>
            </a:r>
            <a:endParaRPr/>
          </a:p>
          <a:p xmlns:a="http://schemas.openxmlformats.org/drawingml/2006/main">
            <a:r>
              <a:t>*The spectrum from rules to agents:*</a:t>
            </a:r>
            <a:endParaRPr/>
          </a:p>
          <a:p xmlns:a="http://schemas.openxmlformats.org/drawingml/2006/main">
            <a:r>
              <a:t>```</a:t>
            </a:r>
            <a:endParaRPr/>
          </a:p>
          <a:p xmlns:a="http://schemas.openxmlformats.org/drawingml/2006/main">
            <a:r>
              <a:t>Rules            →  Assist / Augment              →  Agent</a:t>
            </a:r>
            <a:endParaRPr/>
          </a:p>
          <a:p xmlns:a="http://schemas.openxmlformats.org/drawingml/2006/main">
            <a:r>
              <a:t>(deterministic)     (a person decides or owns)       (a model acts across several steps)</a:t>
            </a:r>
            <a:endParaRPr/>
          </a:p>
          <a:p xmlns:a="http://schemas.openxmlformats.org/drawingml/2006/main">
            <a:r>
              <a:t>```</a:t>
            </a:r>
            <a:endParaRPr/>
          </a:p>
          <a:p xmlns:a="http://schemas.openxmlformats.org/drawingml/2006/main">
            <a:r>
              <a:t>Use rules when rules reliably give the right answer. Most HR uses of AI belong in the middle. An agent, where a model takes several actions through tools with limited review between them, has to earn that autonomy through evidence and brings new governance requirements.</a:t>
            </a:r>
            <a:endParaRPr/>
          </a:p>
          <a:p xmlns:a="http://schemas.openxmlformats.org/drawingml/2006/main">
            <a:r>
              <a:t/>
            </a:r>
            <a:endParaRPr/>
          </a:p>
          <a:p xmlns:a="http://schemas.openxmlformats.org/drawingml/2006/main">
            <a:r>
              <a:t>*Prompt quality drives output quality:*</a:t>
            </a:r>
            <a:endParaRPr/>
          </a:p>
          <a:p xmlns:a="http://schemas.openxmlformats.org/drawingml/2006/main">
            <a:r>
              <a:t>Clear prompts help define a task and its boundaries. Output quality also depends on the model, source material, workflow controls, and verification. A well-written prompt does not establish factual accuracy or safe HR judgment.</a:t>
            </a:r>
            <a:endParaRPr/>
          </a:p>
          <a:p xmlns:a="http://schemas.openxmlformats.org/drawingml/2006/main">
            <a:r>
              <a:t/>
            </a:r>
            <a:endParaRPr/>
          </a:p>
          <a:p xmlns:a="http://schemas.openxmlformats.org/drawingml/2006/main">
            <a:r>
              <a:t>**Pre-reading (assign before session):**</a:t>
            </a:r>
            <a:endParaRPr/>
          </a:p>
          <a:p xmlns:a="http://schemas.openxmlformats.org/drawingml/2006/main">
            <a:r>
              <a:t>- [Your organization's AI use policy](../03-governance/ai-use-policy.md)</a:t>
            </a:r>
            <a:endParaRPr/>
          </a:p>
          <a:p xmlns:a="http://schemas.openxmlformats.org/drawingml/2006/main">
            <a:r>
              <a:t>- One-page primer on generative AI for non-technical audiences (create or source)</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2: Using AI in your daily HR work</a:t>
            </a:r>
            <a:endParaRPr/>
          </a:p>
          <a:p xmlns:a="http://schemas.openxmlformats.org/drawingml/2006/main">
            <a:r>
              <a:t/>
            </a:r>
            <a:endParaRPr/>
          </a:p>
          <a:p xmlns:a="http://schemas.openxmlformats.org/drawingml/2006/main">
            <a:r>
              <a:t>**Learning objectives:**</a:t>
            </a:r>
            <a:endParaRPr/>
          </a:p>
          <a:p xmlns:a="http://schemas.openxmlformats.org/drawingml/2006/main">
            <a:r>
              <a:t>- Write effective prompts for HR use cases</a:t>
            </a:r>
            <a:endParaRPr/>
          </a:p>
          <a:p xmlns:a="http://schemas.openxmlformats.org/drawingml/2006/main">
            <a:r>
              <a:t>- Use the prompt library for at least 3 HR workflows</a:t>
            </a:r>
            <a:endParaRPr/>
          </a:p>
          <a:p xmlns:a="http://schemas.openxmlformats.org/drawingml/2006/main">
            <a:r>
              <a:t>- Identify when to use AI, when to verify AI output, and when not to use it</a:t>
            </a:r>
            <a:endParaRPr/>
          </a:p>
          <a:p xmlns:a="http://schemas.openxmlformats.org/drawingml/2006/main">
            <a:r>
              <a:t/>
            </a:r>
            <a:endParaRPr/>
          </a:p>
          <a:p xmlns:a="http://schemas.openxmlformats.org/drawingml/2006/main">
            <a:r>
              <a:t>**Session outline (2 hours including lab):**</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Share-back from Module 1 homework, what did you try, what happened? |</a:t>
            </a:r>
            <a:endParaRPr/>
          </a:p>
          <a:p xmlns:a="http://schemas.openxmlformats.org/drawingml/2006/main">
            <a:r>
              <a:t>| 0:15–0:45 | Prompt engineering for HR: the four elements of a good prompt |</a:t>
            </a:r>
            <a:endParaRPr/>
          </a:p>
          <a:p xmlns:a="http://schemas.openxmlformats.org/drawingml/2006/main">
            <a:r>
              <a:t>| 0:45–1:10 | Live demo: Onboarding plan, performance review draft, policy Q&amp;A |</a:t>
            </a:r>
            <a:endParaRPr/>
          </a:p>
          <a:p xmlns:a="http://schemas.openxmlformats.org/drawingml/2006/main">
            <a:r>
              <a:t>| 1:10–1:50 | Hands-on lab: Each participant works through 2 prompts using synthetic HR scenarios in organization-approved tools |</a:t>
            </a:r>
            <a:endParaRPr/>
          </a:p>
          <a:p xmlns:a="http://schemas.openxmlformats.org/drawingml/2006/main">
            <a:r>
              <a:t>| 1:50–2:00 | Debrief: What surprised you? What didn't work? |</a:t>
            </a:r>
            <a:endParaRPr/>
          </a:p>
          <a:p xmlns:a="http://schemas.openxmlformats.org/drawingml/2006/main">
            <a:r>
              <a:t/>
            </a:r>
            <a:endParaRPr/>
          </a:p>
          <a:p xmlns:a="http://schemas.openxmlformats.org/drawingml/2006/main">
            <a:r>
              <a:t>**The four elements of an effective HR prompt:**</a:t>
            </a:r>
            <a:endParaRPr/>
          </a:p>
          <a:p xmlns:a="http://schemas.openxmlformats.org/drawingml/2006/main">
            <a:r>
              <a:t/>
            </a:r>
            <a:endParaRPr/>
          </a:p>
          <a:p xmlns:a="http://schemas.openxmlformats.org/drawingml/2006/main">
            <a:r>
              <a:t>1. **Role**: Define the task perspective, such as drafting support for an HRBP. A role instruction does not give the model professional authority.</a:t>
            </a:r>
            <a:endParaRPr/>
          </a:p>
          <a:p xmlns:a="http://schemas.openxmlformats.org/drawingml/2006/main">
            <a:r>
              <a:t/>
            </a:r>
            <a:endParaRPr/>
          </a:p>
          <a:p xmlns:a="http://schemas.openxmlformats.org/drawingml/2006/main">
            <a:r>
              <a:t>2. **Context**: Provide the specific details the AI needs. Role, tenure, team size, situation. Don't make the AI guess.</a:t>
            </a:r>
            <a:endParaRPr/>
          </a:p>
          <a:p xmlns:a="http://schemas.openxmlformats.org/drawingml/2006/main">
            <a:r>
              <a:t/>
            </a:r>
            <a:endParaRPr/>
          </a:p>
          <a:p xmlns:a="http://schemas.openxmlformats.org/drawingml/2006/main">
            <a:r>
              <a:t>3. **Task**: State clearly what you want it to produce. One output per prompt. "Draft a..." is clearer than "Help me with..."</a:t>
            </a:r>
            <a:endParaRPr/>
          </a:p>
          <a:p xmlns:a="http://schemas.openxmlformats.org/drawingml/2006/main">
            <a:r>
              <a:t/>
            </a:r>
            <a:endParaRPr/>
          </a:p>
          <a:p xmlns:a="http://schemas.openxmlformats.org/drawingml/2006/main">
            <a:r>
              <a:t>4. **Constraints**: Define length, tone, format, exclusions, and the verification needed. Check whether the output follows them.</a:t>
            </a:r>
            <a:endParaRPr/>
          </a:p>
          <a:p xmlns:a="http://schemas.openxmlformats.org/drawingml/2006/main">
            <a:r>
              <a:t/>
            </a:r>
            <a:endParaRPr/>
          </a:p>
          <a:p xmlns:a="http://schemas.openxmlformats.org/drawingml/2006/main">
            <a:r>
              <a:t>**Lab instructions:**</a:t>
            </a:r>
            <a:endParaRPr/>
          </a:p>
          <a:p xmlns:a="http://schemas.openxmlformats.org/drawingml/2006/main">
            <a:r>
              <a:t/>
            </a:r>
            <a:endParaRPr/>
          </a:p>
          <a:p xmlns:a="http://schemas.openxmlformats.org/drawingml/2006/main">
            <a:r>
              <a:t>Participants choose 2 prompts from the library that are relevant to their current work:</a:t>
            </a:r>
            <a:endParaRPr/>
          </a:p>
          <a:p xmlns:a="http://schemas.openxmlformats.org/drawingml/2006/main">
            <a:r>
              <a:t>1. Run the prompt with a fictional HR scenario in an organization-approved tool. Do not upload real employee, candidate, compensation, or confidential employer information.</a:t>
            </a:r>
            <a:endParaRPr/>
          </a:p>
          <a:p xmlns:a="http://schemas.openxmlformats.org/drawingml/2006/main">
            <a:r>
              <a:t>2. Evaluate the output: What's useful? What's wrong or missing? What would you change before using it?</a:t>
            </a:r>
            <a:endParaRPr/>
          </a:p>
          <a:p xmlns:a="http://schemas.openxmlformats.org/drawingml/2006/main">
            <a:r>
              <a:t>3. Iterate: Modify the prompt once based on what you learned and run it again</a:t>
            </a:r>
            <a:endParaRPr/>
          </a:p>
          <a:p xmlns:a="http://schemas.openxmlformats.org/drawingml/2006/main">
            <a:r>
              <a:t>4. Note: What changed between run 1 and run 2?</a:t>
            </a:r>
            <a:endParaRPr/>
          </a:p>
          <a:p xmlns:a="http://schemas.openxmlformats.org/drawingml/2006/main">
            <a:r>
              <a:t/>
            </a:r>
            <a:endParaRPr/>
          </a:p>
          <a:p xmlns:a="http://schemas.openxmlformats.org/drawingml/2006/main">
            <a:r>
              <a:t>**The verify-before-use rule:**</a:t>
            </a:r>
            <a:endParaRPr/>
          </a:p>
          <a:p xmlns:a="http://schemas.openxmlformats.org/drawingml/2006/main">
            <a:r>
              <a:t/>
            </a:r>
            <a:endParaRPr/>
          </a:p>
          <a:p xmlns:a="http://schemas.openxmlformats.org/drawingml/2006/main">
            <a:r>
              <a:t>Introduce and reinforce this heuristic:</a:t>
            </a:r>
            <a:endParaRPr/>
          </a:p>
          <a:p xmlns:a="http://schemas.openxmlformats.org/drawingml/2006/main">
            <a:r>
              <a:t>- Policy details → always verify against source system before sharing</a:t>
            </a:r>
            <a:endParaRPr/>
          </a:p>
          <a:p xmlns:a="http://schemas.openxmlformats.org/drawingml/2006/main">
            <a:r>
              <a:t>- Legal requirements → always verify with Legal before relying on</a:t>
            </a:r>
            <a:endParaRPr/>
          </a:p>
          <a:p xmlns:a="http://schemas.openxmlformats.org/drawingml/2006/main">
            <a:r>
              <a:t>- Factual claims → spot-check against a known source</a:t>
            </a:r>
            <a:endParaRPr/>
          </a:p>
          <a:p xmlns:a="http://schemas.openxmlformats.org/drawingml/2006/main">
            <a:r>
              <a:t>- Tone and content → always read before sending; AI doesn't know your audience</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3: Governance, ethics, and responsible use</a:t>
            </a:r>
            <a:endParaRPr/>
          </a:p>
          <a:p xmlns:a="http://schemas.openxmlformats.org/drawingml/2006/main">
            <a:r>
              <a:t/>
            </a:r>
            <a:endParaRPr/>
          </a:p>
          <a:p xmlns:a="http://schemas.openxmlformats.org/drawingml/2006/main">
            <a:r>
              <a:t>**Learning objectives:**</a:t>
            </a:r>
            <a:endParaRPr/>
          </a:p>
          <a:p xmlns:a="http://schemas.openxmlformats.org/drawingml/2006/main">
            <a:r>
              <a:t>- Apply the organization's AI use policy to real HR scenarios</a:t>
            </a:r>
            <a:endParaRPr/>
          </a:p>
          <a:p xmlns:a="http://schemas.openxmlformats.org/drawingml/2006/main">
            <a:r>
              <a:t>- Identify the key legal risk areas in HR AI (bias, privacy, employment law)</a:t>
            </a:r>
            <a:endParaRPr/>
          </a:p>
          <a:p xmlns:a="http://schemas.openxmlformats.org/drawingml/2006/main">
            <a:r>
              <a:t>- Complete a basic risk assessment for a new use case</a:t>
            </a:r>
            <a:endParaRPr/>
          </a:p>
          <a:p xmlns:a="http://schemas.openxmlformats.org/drawingml/2006/main">
            <a:r>
              <a:t/>
            </a:r>
            <a:endParaRPr/>
          </a:p>
          <a:p xmlns:a="http://schemas.openxmlformats.org/drawingml/2006/main">
            <a:r>
              <a:t>**Session outline (90 minutes):**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Case study: Three HR AI failures and what we can learn (discussion) |</a:t>
            </a:r>
            <a:endParaRPr/>
          </a:p>
          <a:p xmlns:a="http://schemas.openxmlformats.org/drawingml/2006/main">
            <a:r>
              <a:t>| 0:15–0:40 | Framework: What makes AI use in HR risky? Legal and ethical dimensions |</a:t>
            </a:r>
            <a:endParaRPr/>
          </a:p>
          <a:p xmlns:a="http://schemas.openxmlformats.org/drawingml/2006/main">
            <a:r>
              <a:t>| 0:40–1:00 | Scenario practice: Is this use case okay? (small groups, 4 scenarios) |</a:t>
            </a:r>
            <a:endParaRPr/>
          </a:p>
          <a:p xmlns:a="http://schemas.openxmlformats.org/drawingml/2006/main">
            <a:r>
              <a:t>| 1:00–1:20 | Walk-through: The risk assessment template |</a:t>
            </a:r>
            <a:endParaRPr/>
          </a:p>
          <a:p xmlns:a="http://schemas.openxmlformats.org/drawingml/2006/main">
            <a:r>
              <a:t>| 1:20–1:30 | Q&amp;A + open discussion |</a:t>
            </a:r>
            <a:endParaRPr/>
          </a:p>
          <a:p xmlns:a="http://schemas.openxmlformats.org/drawingml/2006/main">
            <a:r>
              <a:t/>
            </a:r>
            <a:endParaRPr/>
          </a:p>
          <a:p xmlns:a="http://schemas.openxmlformats.org/drawingml/2006/main">
            <a:r>
              <a:t>&gt; **Note on regulatory currency:** Use the [Key dates for HR](../03-governance/README.md#key-dates-for-hr) and its linked primary sources as the dated reference. The slides summarize risk questions; they are not a complete legal reference. Have Legal verify jurisdiction, scope, obligations, and effective dates before delivery or adoption.</a:t>
            </a:r>
            <a:endParaRPr/>
          </a:p>
          <a:p xmlns:a="http://schemas.openxmlformats.org/drawingml/2006/main">
            <a:r>
              <a:t/>
            </a:r>
            <a:endParaRPr/>
          </a:p>
          <a:p xmlns:a="http://schemas.openxmlformats.org/drawingml/2006/main">
            <a:r>
              <a:t>**Key legal risk areas to cover:**</a:t>
            </a:r>
            <a:endParaRPr/>
          </a:p>
          <a:p xmlns:a="http://schemas.openxmlformats.org/drawingml/2006/main">
            <a:r>
              <a:t/>
            </a:r>
            <a:endParaRPr/>
          </a:p>
          <a:p xmlns:a="http://schemas.openxmlformats.org/drawingml/2006/main">
            <a:r>
              <a:t>*Bias and disparate impact:*</a:t>
            </a:r>
            <a:endParaRPr/>
          </a:p>
          <a:p xmlns:a="http://schemas.openxmlformats.org/drawingml/2006/main">
            <a:r>
              <a:t>AI trained on historical HR data can encode and amplify past discrimination. A history in which 80% of engineering hires were male is a reason to examine labels, features, selection effects, and group outcomes; that proportion alone does not determine how a model will score resumes. Adverse impact testing is a core control. It is required by law in some jurisdictions (NYC Local Law 144 mandates an annual bias audit for covered tools) and expected as evidence of reasonable care in many others. Confirm the cadence with Legal. See the [NIST AI RMF](https://www.nist.gov/itl/ai-risk-management-framework).</a:t>
            </a:r>
            <a:endParaRPr/>
          </a:p>
          <a:p xmlns:a="http://schemas.openxmlformats.org/drawingml/2006/main">
            <a:r>
              <a:t/>
            </a:r>
            <a:endParaRPr/>
          </a:p>
          <a:p xmlns:a="http://schemas.openxmlformats.org/drawingml/2006/main">
            <a:r>
              <a:t>*Illinois AI Video Interview Act, NYC Local Law 144, and emerging state laws:*</a:t>
            </a:r>
            <a:endParaRPr/>
          </a:p>
          <a:p xmlns:a="http://schemas.openxmlformats.org/drawingml/2006/main">
            <a:r>
              <a:t>Several jurisdictions now require disclosure, impact assessments, or consent for AI use in hiring. Illinois's AI Video Interview Act ([820 ILCS 42](https://www.ilga.gov/Legislation/ILCS/Articles?ActID=4015&amp;ChapterID=68)) governs AI analysis of recorded video interviews, including notice and consent before the interview. Confirm its current requirements against the statute before relying on them. Illinois also amended its Human Rights Act via HB 3773 (effective January 1, 2026) to broadly prohibit discriminatory AI use in hiring and promotion, not just video interviews. A companion law, Public Act 104-0425 (SB 2487, effective January 1, 2026), gives the Human Rights Commission tiered civil penalty authority for violations: up to $16,000 for a first offense, up to $42,500 with one prior violation within five years, up to $70,000 for two or more within seven years. The regulatory landscape is shifting quickly. Use cases involving hiring must be reviewed against current state law.</a:t>
            </a:r>
            <a:endParaRPr/>
          </a:p>
          <a:p xmlns:a="http://schemas.openxmlformats.org/drawingml/2006/main">
            <a:r>
              <a:t/>
            </a:r>
            <a:endParaRPr/>
          </a:p>
          <a:p xmlns:a="http://schemas.openxmlformats.org/drawingml/2006/main">
            <a:r>
              <a:t>NYC Local Law 144 enforcement is entering a stricter phase. A December 2025 NY State Comptroller audit found DCWP's enforcement "ineffective": DCWP's own review of 32 companies' bias-audit disclosures caught 1 likely non-compliance issue, where the Comptroller's review of the same 32 found at least 17. Expect more investigations and higher penalties as DCWP responds to the audit's recommendations, not just the disclosure-and-audit paperwork the law describes on paper.</a:t>
            </a:r>
            <a:endParaRPr/>
          </a:p>
          <a:p xmlns:a="http://schemas.openxmlformats.org/drawingml/2006/main">
            <a:r>
              <a:t/>
            </a:r>
            <a:endParaRPr/>
          </a:p>
          <a:p xmlns:a="http://schemas.openxmlformats.org/drawingml/2006/main">
            <a:r>
              <a:t>*Colorado's Automated Decision-Making Technology Act:*</a:t>
            </a:r>
            <a:endParaRPr/>
          </a:p>
          <a:p xmlns:a="http://schemas.openxmlformats.org/drawingml/2006/main">
            <a:r>
              <a:t>Colorado SB26-189 (signed 14 May 2026, Colo. Sess. Laws ch. 131) repeals and replaces the state's 2024 AI consumer protection law. It covers "consequential decisions," including employment, made using automated decision-making technology (ADMT) that materially influences the outcome. Starting January 1, 2027, developers must give deployers technical documentation on intended use, training data categories, known limitations, and human review instructions. Deployers will owe consumers notice at the point of interaction, and within 30 days of any adverse consequential decision, a plain-language explanation plus the right to request human review and reconsideration. Records must be retained 3 years. The attorney general enforces under the Colorado Consumer Protection Act, with a 60-day cure period through January 1, 2030.</a:t>
            </a:r>
            <a:endParaRPr/>
          </a:p>
          <a:p xmlns:a="http://schemas.openxmlformats.org/drawingml/2006/main">
            <a:r>
              <a:t/>
            </a:r>
            <a:endParaRPr/>
          </a:p>
          <a:p xmlns:a="http://schemas.openxmlformats.org/drawingml/2006/main">
            <a:r>
              <a:t>*Connecticut: AI Responsibility and Transparency Act (Public Act 26-15):*</a:t>
            </a:r>
            <a:endParaRPr/>
          </a:p>
          <a:p xmlns:a="http://schemas.openxmlformats.org/drawingml/2006/main">
            <a:r>
              <a:t>Connecticut's SB 5 became Public Act 26-15 in June 2026. It is the most comprehensive state AI employment statute enacted so far, and it phases in across two years. Read the dates carefully, because the parts that bite first are not the disclosure rules.</a:t>
            </a:r>
            <a:endParaRPr/>
          </a:p>
          <a:p xmlns:a="http://schemas.openxmlformats.org/drawingml/2006/main">
            <a:r>
              <a:t/>
            </a:r>
            <a:endParaRPr/>
          </a:p>
          <a:p xmlns:a="http://schemas.openxmlformats.org/drawingml/2006/main">
            <a:r>
              <a:t>Live October 1, 2026:</a:t>
            </a:r>
            <a:endParaRPr/>
          </a:p>
          <a:p xmlns:a="http://schemas.openxmlformats.org/drawingml/2006/main">
            <a:r>
              <a:t/>
            </a:r>
            <a:endParaRPr/>
          </a:p>
          <a:p xmlns:a="http://schemas.openxmlformats.org/drawingml/2006/main">
            <a:r>
              <a:t>- **AI is not a defense.** Sections 13 and 14 amend Conn. Gen. Stat. 46a-60 so that using an automated employment-related decision technology is not a defense against a discrimination complaint. The commission or court may consider the quality, efficacy, recency, and scope of anti-bias testing, its results, and the employer's response. This does not establish that a stale audit is always worse than no audit, or that testing guarantees a favorable legal outcome. Preserve the testing evidence and corrective actions for counsel review. Source: [Public Act 26-15](https://www.cga.ct.gov/2026/ACT/PA/PDF/2026PA-00015-R00SB-00005-PA.PDF).</a:t>
            </a:r>
            <a:endParaRPr/>
          </a:p>
          <a:p xmlns:a="http://schemas.openxmlformats.org/drawingml/2006/main">
            <a:r>
              <a:t>- **WARN notices.** Section 26 requires any employer serving a federal WARN notice under 29 USC 2102(a) to disclose to the Connecticut Labor Department whether the layoffs relate to the employer's use of AI or other technological change. Note the disclosure runs to the department, not to affected employees.</a:t>
            </a:r>
            <a:endParaRPr/>
          </a:p>
          <a:p xmlns:a="http://schemas.openxmlformats.org/drawingml/2006/main">
            <a:r>
              <a:t/>
            </a:r>
            <a:endParaRPr/>
          </a:p>
          <a:p xmlns:a="http://schemas.openxmlformats.org/drawingml/2006/main">
            <a:r>
              <a:t>Live October 1, 2027 (sections 7 to 12 take effect in 2026, but the duties attach only to technology deployed on or after October 1, 2027):</a:t>
            </a:r>
            <a:endParaRPr/>
          </a:p>
          <a:p xmlns:a="http://schemas.openxmlformats.org/drawingml/2006/main">
            <a:r>
              <a:t/>
            </a:r>
            <a:endParaRPr/>
          </a:p>
          <a:p xmlns:a="http://schemas.openxmlformats.org/drawingml/2006/main">
            <a:r>
              <a:t>- Scope is set by "substantial factor," defined as a factor that meaningfully alters the outcome of an employment-related decision. Covered decisions are hiring, promotion, discipline, discharge, renewal, selection for training or apprenticeship, and terms, privileges or conditions of employment. Carved out: nonmaterial changes to job tasks or hours, and decisions about workplace health and safety, scheduling, and productivity monitoring.</a:t>
            </a:r>
            <a:endParaRPr/>
          </a:p>
          <a:p xmlns:a="http://schemas.openxmlformats.org/drawingml/2006/main">
            <a:r>
              <a:t>- Developers must give deployers the information deployers need to meet their duties, but only where the tool was advertised, marketed, configured, contracted for, sold, or licensed to materially influence an employment decision.</a:t>
            </a:r>
            <a:endParaRPr/>
          </a:p>
          <a:p xmlns:a="http://schemas.openxmlformats.org/drawingml/2006/main">
            <a:r>
              <a:t>- Deployers must disclose in plain language when an employee or applicant is interacting with the technology, unless a reasonable person would find it obvious.</a:t>
            </a:r>
            <a:endParaRPr/>
          </a:p>
          <a:p xmlns:a="http://schemas.openxmlformats.org/drawingml/2006/main">
            <a:r>
              <a:t>- Before the decision is made, deployers must give written notice covering six specific points: that the technology was deployed, its purpose and the nature of the decision, the tool's trade name, the categories of personal data analyzed and how they will be assessed, the sources of that data, and deployer contact information.</a:t>
            </a:r>
            <a:endParaRPr/>
          </a:p>
          <a:p xmlns:a="http://schemas.openxmlformats.org/drawingml/2006/main">
            <a:r>
              <a:t>- Trade secrets can be withheld, but the withholding party must send notice saying what is being withheld and why.</a:t>
            </a:r>
            <a:endParaRPr/>
          </a:p>
          <a:p xmlns:a="http://schemas.openxmlformats.org/drawingml/2006/main">
            <a:r>
              <a:t/>
            </a:r>
            <a:endParaRPr/>
          </a:p>
          <a:p xmlns:a="http://schemas.openxmlformats.org/drawingml/2006/main">
            <a:r>
              <a:t>Enforcement is narrower than the obligations suggest: violations are unfair or deceptive trade practices under CUTPA, enforced **solely by the Attorney General**, with an explicit statement that the act creates **no private right of action**. Violations occurring on or before December 31, 2027 carry a 60-day cure period.</a:t>
            </a:r>
            <a:endParaRPr/>
          </a:p>
          <a:p xmlns:a="http://schemas.openxmlformats.org/drawingml/2006/main">
            <a:r>
              <a:t/>
            </a:r>
            <a:endParaRPr/>
          </a:p>
          <a:p xmlns:a="http://schemas.openxmlformats.org/drawingml/2006/main">
            <a:r>
              <a:t>One provision to catch in procurement: Section 8(c) lets a developer contract to assume the deployer's disclosure and notice duties, provided the contract is explicit about which duties transfer. That is a negotiating lever worth asking every vendor about. See the [vendor intake checklist](../03-governance/vendor-intake-checklist.md).</a:t>
            </a:r>
            <a:endParaRPr/>
          </a:p>
          <a:p xmlns:a="http://schemas.openxmlformats.org/drawingml/2006/main">
            <a:r>
              <a:t/>
            </a:r>
            <a:endParaRPr/>
          </a:p>
          <a:p xmlns:a="http://schemas.openxmlformats.org/drawingml/2006/main">
            <a:r>
              <a:t>*California: FEHA algorithmic discrimination rules and CPPA ADMT regulations:*</a:t>
            </a:r>
            <a:endParaRPr/>
          </a:p>
          <a:p xmlns:a="http://schemas.openxmlformats.org/drawingml/2006/main">
            <a:r>
              <a:t>The Civil Rights Council's FEHA regulations on automated decision systems took effect October 1, 2025: they prohibit AI-driven disparate treatment or disparate impact in employment decisions, require four years of recordkeeping, and hold employers liable for discriminatory outcomes even when the tool comes from a third-party vendor. Separately, the [CPPA regulation package](https://cppa.ca.gov/announcements/2025/20250923.html) took effect January 1, 2026. Covered businesses must begin risk-assessment compliance in 2026; ADMT notice and consumer-rights compliance begins January 1, 2027. These dates govern different duties. Review the [final regulations](https://cppa.ca.gov/regulations/ccpa_updates.html) for scope, opt-out exceptions, appeal conditions, and transition rules for processing already underway.</a:t>
            </a:r>
            <a:endParaRPr/>
          </a:p>
          <a:p xmlns:a="http://schemas.openxmlformats.org/drawingml/2006/main">
            <a:r>
              <a:t/>
            </a:r>
            <a:endParaRPr/>
          </a:p>
          <a:p xmlns:a="http://schemas.openxmlformats.org/drawingml/2006/main">
            <a:r>
              <a:t>Four California workplace bills were approved and chaptered on 30 September 2026. All four are enacted law, with obligations beginning in 2027. The chaptered texts were reviewed on 9 October 2026. AB 1883, SB 951, and AB 1331 take effect on 1 January 2027 under [California Constitution Article IV, section 8(c)(1)](https://leginfo.legislature.ca.gov/faces/codes_displayText.xhtml?lawCode=CONS&amp;division=&amp;title=&amp;part=&amp;chapter=&amp;article=IV); none contains an urgency clause or a later operative-date provision. SB 947 takes effect on that date but expressly makes its new Labor Code part operative on 1 July 2027. See the [source register](../03-governance/claims/california-workplace-laws.json) and the [Governor's signing announcement](https://www.gov.ca.gov/2026/09/30/californias-nation-leading-ai-framework-just-got-stronger-governor-newsom-signs-more-first-in-the-nation-worker-protections-and-more/).</a:t>
            </a:r>
            <a:endParaRPr/>
          </a:p>
          <a:p xmlns:a="http://schemas.openxmlformats.org/drawingml/2006/main">
            <a:r>
              <a:t/>
            </a:r>
            <a:endParaRPr/>
          </a:p>
          <a:p xmlns:a="http://schemas.openxmlformats.org/drawingml/2006/main">
            <a:r>
              <a:t>- **[AB 1883](https://leginfo.legislature.ca.gov/faces/billNavClient.xhtml?bill_id=202520260AB1883)** (workplace surveillance tools, Chapter 853, Statutes of 2026) adds Labor Code Part 5.8 to bar employers from using AI-driven surveillance tools to recognize or infer an employee's emotional state, or to collect neural data, meaning data measured from the central or peripheral nervous system and not inferred from nonneural information. Safety uses are preserved, and there is a narrow carve-out for federally mandated aerospace and national security work. Enforcement runs through the Labor Commissioner or a public prosecutor, with penalties up to $500 per violation. It was enrolled on 3 September 2026 and approved by the Governor on 30 September 2026. Some published summaries report 3 September as the signing date; that is the enrollment date.</a:t>
            </a:r>
            <a:endParaRPr/>
          </a:p>
          <a:p xmlns:a="http://schemas.openxmlformats.org/drawingml/2006/main">
            <a:r>
              <a:t>- **[SB 947](https://leginfo.legislature.ca.gov/faces/billTextClient.xhtml?bill_id=202520260SB947)** (the "No Robo Bosses Act," Chapter 859, Statutes of 2026) is **operative 1 July 2027**, under new Labor Code section 1526.7. It bars sole reliance on an ADS for discipline or termination. Primary reliance requires human corroboration and written post-use notice when the decision is communicated. If corroboration fails, or the reviewer finds the output inaccurate, incomplete, or misleading, the employer must not use that output for the decision. The employee may request a meaningful description of their own data used by the ADS. Check the collective bargaining and federal-operation exceptions in sections 1526.5 and 1526.6.</a:t>
            </a:r>
            <a:endParaRPr/>
          </a:p>
          <a:p xmlns:a="http://schemas.openxmlformats.org/drawingml/2006/main">
            <a:r>
              <a:t>- **[SB 951](https://leginfo.legislature.ca.gov/faces/billTextClient.xhtml?bill_id=202520260SB951)** (Chapter 860, Statutes of 2026), **effective 1 January 2027**, adds technology-displacement information to an otherwise required Cal/WARN notice when AI or automation causes the event wholly or substantially. New Labor Code section 1401(d) requires affected jobs and locations, functions being automated, the technology category, and a technology-displacement heading. It retains the existing 60-day notice period. It does not enact the earlier proposal for a 90-day notice or an employer hiring-freeze notice; section 1402.7 instead requires an EDD study by 1 January 2028. Assess Cal/WARN coverage and exceptions before applying the notice requirement.</a:t>
            </a:r>
            <a:endParaRPr/>
          </a:p>
          <a:p xmlns:a="http://schemas.openxmlformats.org/drawingml/2006/main">
            <a:r>
              <a:t>- **[AB 1331](https://leginfo.legislature.ca.gov/faces/billTextClient.xhtml?bill_id=202520260AB1331)** (Chapter 851, Statutes of 2026), **effective 1 January 2027**, limits workplace bathroom surveillance and lets employees leave surveillance tools behind when entering a bathroom. New Labor Code section 1561 includes exceptions for court orders, one-time entry/exit checks, voluntary possession, and certain identification or safety devices. The tool definition reaches beyond AI. Review the full exceptions in sections 1561, 1564, and 1565 before changing monitoring practices.</a:t>
            </a:r>
            <a:endParaRPr/>
          </a:p>
          <a:p xmlns:a="http://schemas.openxmlformats.org/drawingml/2006/main">
            <a:r>
              <a:t/>
            </a:r>
            <a:endParaRPr/>
          </a:p>
          <a:p xmlns:a="http://schemas.openxmlformats.org/drawingml/2006/main">
            <a:r>
              <a:t>*Texas: Responsible AI Governance Act (TRAIGA):*</a:t>
            </a:r>
            <a:endParaRPr/>
          </a:p>
          <a:p xmlns:a="http://schemas.openxmlformats.org/drawingml/2006/main">
            <a:r>
              <a:t>Effective January 1, 2026 (HB 149, signed June 22, 2025). Narrower than Illinois or Colorado: TRAIGA prohibits intentional AI-based discrimination but does not create disparate impact liability, and the Attorney General has exclusive enforcement authority with a 60-day cure period before action.</a:t>
            </a:r>
            <a:endParaRPr/>
          </a:p>
          <a:p xmlns:a="http://schemas.openxmlformats.org/drawingml/2006/main">
            <a:r>
              <a:t/>
            </a:r>
            <a:endParaRPr/>
          </a:p>
          <a:p xmlns:a="http://schemas.openxmlformats.org/drawingml/2006/main">
            <a:r>
              <a:t>*New Jersey: no AI statute, but existing discrimination law already reaches AI:*</a:t>
            </a:r>
            <a:endParaRPr/>
          </a:p>
          <a:p xmlns:a="http://schemas.openxmlformats.org/drawingml/2006/main">
            <a:r>
              <a:t>New Jersey is the case that breaks the habit of scanning for AI-specific bills. It has no AI hiring statute. In January 2025 the Office of the Attorney General and the Division on Civil Rights issued guidance stating that the Law Against Discrimination (N.J.S.A. 10:5-1 et seq.) applies to algorithmic discrimination the same way it has long applied to other discriminatory conduct, in employment among other contexts. Three points matter for HR practice:</a:t>
            </a:r>
            <a:endParaRPr/>
          </a:p>
          <a:p xmlns:a="http://schemas.openxmlformats.org/drawingml/2006/main">
            <a:r>
              <a:t/>
            </a:r>
            <a:endParaRPr/>
          </a:p>
          <a:p xmlns:a="http://schemas.openxmlformats.org/drawingml/2006/main">
            <a:r>
              <a:t>- **No intent required, and a vendor tool is not a defense.** The guidance states that a covered entity "is not shielded from liability for algorithmic discrimination that results from the entity's use of an automated decision-making tool simply because the tool was developed by a third party or because the entity does not understand the inner workings of the tool."</a:t>
            </a:r>
            <a:endParaRPr/>
          </a:p>
          <a:p xmlns:a="http://schemas.openxmlformats.org/drawingml/2006/main">
            <a:r>
              <a:t>- **Disparate impact is covered.** Use of a tool with a disproportionate effect on a protected class is prohibited unless it is necessary to achieve a substantial, legitimate, nondiscriminatory interest and there is no less discriminatory alternative. Whether the employer tested the tool for bias or evaluated alternatives may be weighed as relevant evidence, which is the same pattern as Connecticut: your fairness audit becomes evidence.</a:t>
            </a:r>
            <a:endParaRPr/>
          </a:p>
          <a:p xmlns:a="http://schemas.openxmlformats.org/drawingml/2006/main">
            <a:r>
              <a:t>- **Reasonable accommodations are in scope.** A tool can violate the LAD by being inaccessible or by penalizing someone who uses an accommodation. The guidance's example is a typing-speed screen that cannot read a non-traditional keyboard.</a:t>
            </a:r>
            <a:endParaRPr/>
          </a:p>
          <a:p xmlns:a="http://schemas.openxmlformats.org/drawingml/2006/main">
            <a:r>
              <a:t/>
            </a:r>
            <a:endParaRPr/>
          </a:p>
          <a:p xmlns:a="http://schemas.openxmlformats.org/drawingml/2006/main">
            <a:r>
              <a:t>Two limits to state accurately when you teach this. The guidance is interpretive: it says on its face that it imposes no requirements beyond the LAD and will not be enforced as a substitute for enforcing the LAD. And it carries no effective date, because the underlying statute has been in force for decades. Do not present it as a new obligation that switched on in 2025. The takeaway for the class is the general one: a state with no AI bill is not a state with no AI exposure.</a:t>
            </a:r>
            <a:endParaRPr/>
          </a:p>
          <a:p xmlns:a="http://schemas.openxmlformats.org/drawingml/2006/main">
            <a:r>
              <a:t/>
            </a:r>
            <a:endParaRPr/>
          </a:p>
          <a:p xmlns:a="http://schemas.openxmlformats.org/drawingml/2006/main">
            <a:r>
              <a:t>*GDPR and CCPA:*</a:t>
            </a:r>
            <a:endParaRPr/>
          </a:p>
          <a:p xmlns:a="http://schemas.openxmlformats.org/drawingml/2006/main">
            <a:r>
              <a:t>Employees in covered jurisdictions have rights regarding automated decision-making. Know which of your employees are covered and how your AI use cases interact with their rights. See the California-specific rules above for the current state of play there.</a:t>
            </a:r>
            <a:endParaRPr/>
          </a:p>
          <a:p xmlns:a="http://schemas.openxmlformats.org/drawingml/2006/main">
            <a:r>
              <a:t/>
            </a:r>
            <a:endParaRPr/>
          </a:p>
          <a:p xmlns:a="http://schemas.openxmlformats.org/drawingml/2006/main">
            <a:r>
              <a:t>*UK: Data (Use and Access) Act 2025 replaces GDPR Article 22:*</a:t>
            </a:r>
            <a:endParaRPr/>
          </a:p>
          <a:p xmlns:a="http://schemas.openxmlformats.org/drawingml/2006/main">
            <a:r>
              <a:t>Section 80 of the UK's Data (Use and Access) Act 2025 took effect February 5, 2026 (Commencement Regulations SI 2026/82) and substitutes Article 22 of the UK GDPR with new Articles 22A to 22D. The new regime permits solely automated "significant decisions," those with a legal or similarly significant effect, more broadly than before, but requires safeguards: notice to the individual, the ability to make representations, the right to human intervention, and the right to contest the decision. Stricter restrictions still apply where special category data is used. Treat this as a distinct regime from EU GDPR Article 22, not an equivalent, for any AI use case touching UK-based workers or candidates.</a:t>
            </a:r>
            <a:endParaRPr/>
          </a:p>
          <a:p xmlns:a="http://schemas.openxmlformats.org/drawingml/2006/main">
            <a:r>
              <a:t/>
            </a:r>
            <a:endParaRPr/>
          </a:p>
          <a:p xmlns:a="http://schemas.openxmlformats.org/drawingml/2006/main">
            <a:r>
              <a:t>The ICO is already signaling how it will police this in recruitment specifically. A March 2026 ICO report on automated decision-making in hiring found many employers don't recognize they're doing ADM at all, and that "human review" in practice often amounts to rubber-stamping rather than a reviewer with real authority to change the outcome. Following that report, the ICO opened a consultation on draft ADM guidance, worth checking for the final version before relying on the March findings alone. Build the oversight role description to survive that scrutiny, not just to check the box.</a:t>
            </a:r>
            <a:endParaRPr/>
          </a:p>
          <a:p xmlns:a="http://schemas.openxmlformats.org/drawingml/2006/main">
            <a:r>
              <a:t/>
            </a:r>
            <a:endParaRPr/>
          </a:p>
          <a:p xmlns:a="http://schemas.openxmlformats.org/drawingml/2006/main">
            <a:r>
              <a:t>*Canada: no federal AI employment law, but Ontario requires disclosure:*</a:t>
            </a:r>
            <a:endParaRPr/>
          </a:p>
          <a:p xmlns:a="http://schemas.openxmlformats.org/drawingml/2006/main">
            <a:r>
              <a:t>Canada's federal AI bill (AIDA, part of Bill C-27) died when Parliament prorogued in January 2025 and has not been revived. AI regulation there runs through existing privacy, human rights, and sector law instead. Ontario is the exception: since January 1, 2026, employers with 25+ employees must disclose in publicly advertised job postings whether AI is used to screen, assess, or select candidates (Employment Standards Act, 2000 amendment).</a:t>
            </a:r>
            <a:endParaRPr/>
          </a:p>
          <a:p xmlns:a="http://schemas.openxmlformats.org/drawingml/2006/main">
            <a:r>
              <a:t/>
            </a:r>
            <a:endParaRPr/>
          </a:p>
          <a:p xmlns:a="http://schemas.openxmlformats.org/drawingml/2006/main">
            <a:r>
              <a:t>*The "AI as a manager" trap:*</a:t>
            </a:r>
            <a:endParaRPr/>
          </a:p>
          <a:p xmlns:a="http://schemas.openxmlformats.org/drawingml/2006/main">
            <a:r>
              <a:t>AI that monitors, evaluates, or scores employees without their knowledge, even for legitimate purposes, creates legal and trust exposure. Transparency is not just ethical, it's protective.</a:t>
            </a:r>
            <a:endParaRPr/>
          </a:p>
          <a:p xmlns:a="http://schemas.openxmlformats.org/drawingml/2006/main">
            <a:r>
              <a:t/>
            </a:r>
            <a:endParaRPr/>
          </a:p>
          <a:p xmlns:a="http://schemas.openxmlformats.org/drawingml/2006/main">
            <a:r>
              <a:t>**Scenario practice cards:**</a:t>
            </a:r>
            <a:endParaRPr/>
          </a:p>
          <a:p xmlns:a="http://schemas.openxmlformats.org/drawingml/2006/main">
            <a:r>
              <a:t/>
            </a:r>
            <a:endParaRPr/>
          </a:p>
          <a:p xmlns:a="http://schemas.openxmlformats.org/drawingml/2006/main">
            <a:r>
              <a:t>Print or share these four scenarios. Groups of 3–4 discuss: Is this use appropriate? What are the risks? What would you change?</a:t>
            </a:r>
            <a:endParaRPr/>
          </a:p>
          <a:p xmlns:a="http://schemas.openxmlformats.org/drawingml/2006/main">
            <a:r>
              <a:t/>
            </a:r>
            <a:endParaRPr/>
          </a:p>
          <a:p xmlns:a="http://schemas.openxmlformats.org/drawingml/2006/main">
            <a:r>
              <a:t>&gt; **Scenario A:** An AI tool automatically rejects resumes with gaps of more than 6 months without showing them to a recruiter.</a:t>
            </a:r>
            <a:endParaRPr/>
          </a:p>
          <a:p xmlns:a="http://schemas.openxmlformats.org/drawingml/2006/main">
            <a:r>
              <a:t/>
            </a:r>
            <a:endParaRPr/>
          </a:p>
          <a:p xmlns:a="http://schemas.openxmlformats.org/drawingml/2006/main">
            <a:r>
              <a:t>&gt; **Scenario B:** An HRBP uses an AI writing assistant to draft a PIP for an employee, then reviews and edits it before sharing with the manager.</a:t>
            </a:r>
            <a:endParaRPr/>
          </a:p>
          <a:p xmlns:a="http://schemas.openxmlformats.org/drawingml/2006/main">
            <a:r>
              <a:t/>
            </a:r>
            <a:endParaRPr/>
          </a:p>
          <a:p xmlns:a="http://schemas.openxmlformats.org/drawingml/2006/main">
            <a:r>
              <a:t>&gt; **Scenario C:** People Analytics builds an attrition risk model that scores all employees monthly and shares the scores directly with managers.</a:t>
            </a:r>
            <a:endParaRPr/>
          </a:p>
          <a:p xmlns:a="http://schemas.openxmlformats.org/drawingml/2006/main">
            <a:r>
              <a:t/>
            </a:r>
            <a:endParaRPr/>
          </a:p>
          <a:p xmlns:a="http://schemas.openxmlformats.org/drawingml/2006/main">
            <a:r>
              <a:t>&gt; **Scenario D:** An AI chatbot answers benefits questions for employees. It sometimes gives incorrect information but flags that users should confirm with HR.</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4: Building and scaling AI use cases</a:t>
            </a:r>
            <a:endParaRPr/>
          </a:p>
          <a:p xmlns:a="http://schemas.openxmlformats.org/drawingml/2006/main">
            <a:r>
              <a:t/>
            </a:r>
            <a:endParaRPr/>
          </a:p>
          <a:p xmlns:a="http://schemas.openxmlformats.org/drawingml/2006/main">
            <a:r>
              <a:t>**Learning objectives:**</a:t>
            </a:r>
            <a:endParaRPr/>
          </a:p>
          <a:p xmlns:a="http://schemas.openxmlformats.org/drawingml/2006/main">
            <a:r>
              <a:t>- Apply the prioritization matrix to identify your team's highest-value AI use cases</a:t>
            </a:r>
            <a:endParaRPr/>
          </a:p>
          <a:p xmlns:a="http://schemas.openxmlformats.org/drawingml/2006/main">
            <a:r>
              <a:t>- Define a use case with clear success metrics and governance requirements</a:t>
            </a:r>
            <a:endParaRPr/>
          </a:p>
          <a:p xmlns:a="http://schemas.openxmlformats.org/drawingml/2006/main">
            <a:r>
              <a:t>- Draft a basic implementation plan for a low-complexity use case</a:t>
            </a:r>
            <a:endParaRPr/>
          </a:p>
          <a:p xmlns:a="http://schemas.openxmlformats.org/drawingml/2006/main">
            <a:r>
              <a:t/>
            </a:r>
            <a:endParaRPr/>
          </a:p>
          <a:p xmlns:a="http://schemas.openxmlformats.org/drawingml/2006/main">
            <a:r>
              <a:t>**Session outline (2 hours):**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Opening: What does "scaling AI in HR" actually mean? |</a:t>
            </a:r>
            <a:endParaRPr/>
          </a:p>
          <a:p xmlns:a="http://schemas.openxmlformats.org/drawingml/2006/main">
            <a:r>
              <a:t>| 0:15–0:45 | Framework: From idea to deployment, the use case lifecycle |</a:t>
            </a:r>
            <a:endParaRPr/>
          </a:p>
          <a:p xmlns:a="http://schemas.openxmlformats.org/drawingml/2006/main">
            <a:r>
              <a:t>| 0:45–1:15 | Team exercise: Prioritization matrix applied to your team's top 5 ideas |</a:t>
            </a:r>
            <a:endParaRPr/>
          </a:p>
          <a:p xmlns:a="http://schemas.openxmlformats.org/drawingml/2006/main">
            <a:r>
              <a:t>| 1:15–1:45 | Small group: Draft a one-page use case spec for your top-ranked idea |</a:t>
            </a:r>
            <a:endParaRPr/>
          </a:p>
          <a:p xmlns:a="http://schemas.openxmlformats.org/drawingml/2006/main">
            <a:r>
              <a:t>| 1:45–2:00 | Gallery walk + feedback |</a:t>
            </a:r>
            <a:endParaRPr/>
          </a:p>
          <a:p xmlns:a="http://schemas.openxmlformats.org/drawingml/2006/main">
            <a:r>
              <a:t/>
            </a:r>
            <a:endParaRPr/>
          </a:p>
          <a:p xmlns:a="http://schemas.openxmlformats.org/drawingml/2006/main">
            <a:r>
              <a:t>**Use case lifecycle:**</a:t>
            </a:r>
            <a:endParaRPr/>
          </a:p>
          <a:p xmlns:a="http://schemas.openxmlformats.org/drawingml/2006/main">
            <a:r>
              <a:t/>
            </a:r>
            <a:endParaRPr/>
          </a:p>
          <a:p xmlns:a="http://schemas.openxmlformats.org/drawingml/2006/main">
            <a:r>
              <a:t>```</a:t>
            </a:r>
            <a:endParaRPr/>
          </a:p>
          <a:p xmlns:a="http://schemas.openxmlformats.org/drawingml/2006/main">
            <a:r>
              <a:t>Discover → Prioritize → Design → Pilot → Evaluate → Scale</a:t>
            </a:r>
            <a:endParaRPr/>
          </a:p>
          <a:p xmlns:a="http://schemas.openxmlformats.org/drawingml/2006/main">
            <a:r>
              <a:t>   ↑                                          |</a:t>
            </a:r>
            <a:endParaRPr/>
          </a:p>
          <a:p xmlns:a="http://schemas.openxmlformats.org/drawingml/2006/main">
            <a:r>
              <a:t>   └──────────────── iterate ─────────────────┘</a:t>
            </a:r>
            <a:endParaRPr/>
          </a:p>
          <a:p xmlns:a="http://schemas.openxmlformats.org/drawingml/2006/main">
            <a:r>
              <a:t>```</a:t>
            </a:r>
            <a:endParaRPr/>
          </a:p>
          <a:p xmlns:a="http://schemas.openxmlformats.org/drawingml/2006/main">
            <a:r>
              <a:t/>
            </a:r>
            <a:endParaRPr/>
          </a:p>
          <a:p xmlns:a="http://schemas.openxmlformats.org/drawingml/2006/main">
            <a:r>
              <a:t>- **Discover:** What problem are we solving? Who feels it most?</a:t>
            </a:r>
            <a:endParaRPr/>
          </a:p>
          <a:p xmlns:a="http://schemas.openxmlformats.org/drawingml/2006/main">
            <a:r>
              <a:t>- **Prioritize:** Use the matrix. Don't skip this.</a:t>
            </a:r>
            <a:endParaRPr/>
          </a:p>
          <a:p xmlns:a="http://schemas.openxmlformats.org/drawingml/2006/main">
            <a:r>
              <a:t>- **Design:** Define inputs, outputs, human review gates, success metrics, and fallback</a:t>
            </a:r>
            <a:endParaRPr/>
          </a:p>
          <a:p xmlns:a="http://schemas.openxmlformats.org/drawingml/2006/main">
            <a:r>
              <a:t>- **Pilot:** Small scope, high observation. 4–8 weeks.</a:t>
            </a:r>
            <a:endParaRPr/>
          </a:p>
          <a:p xmlns:a="http://schemas.openxmlformats.org/drawingml/2006/main">
            <a:r>
              <a:t>- **Evaluate:** Did it work? For whom? What didn't?</a:t>
            </a:r>
            <a:endParaRPr/>
          </a:p>
          <a:p xmlns:a="http://schemas.openxmlformats.org/drawingml/2006/main">
            <a:r>
              <a:t>- **Scale:** Expand with the lessons from pilot baked in</a:t>
            </a:r>
            <a:endParaRPr/>
          </a:p>
          <a:p xmlns:a="http://schemas.openxmlformats.org/drawingml/2006/main">
            <a:r>
              <a:t/>
            </a:r>
            <a:endParaRPr/>
          </a:p>
          <a:p xmlns:a="http://schemas.openxmlformats.org/drawingml/2006/main">
            <a:r>
              <a:t>**One-page use case spec template:**</a:t>
            </a:r>
            <a:endParaRPr/>
          </a:p>
          <a:p xmlns:a="http://schemas.openxmlformats.org/drawingml/2006/main">
            <a:r>
              <a:t/>
            </a:r>
            <a:endParaRPr/>
          </a:p>
          <a:p xmlns:a="http://schemas.openxmlformats.org/drawingml/2006/main">
            <a:r>
              <a:t>Participants complete this for their team's top-ranked use case:</a:t>
            </a:r>
            <a:endParaRPr/>
          </a:p>
          <a:p xmlns:a="http://schemas.openxmlformats.org/drawingml/2006/main">
            <a:r>
              <a:t/>
            </a:r>
            <a:endParaRPr/>
          </a:p>
          <a:p xmlns:a="http://schemas.openxmlformats.org/drawingml/2006/main">
            <a:r>
              <a:t>```</a:t>
            </a:r>
            <a:endParaRPr/>
          </a:p>
          <a:p xmlns:a="http://schemas.openxmlformats.org/drawingml/2006/main">
            <a:r>
              <a:t>Use case name:</a:t>
            </a:r>
            <a:endParaRPr/>
          </a:p>
          <a:p xmlns:a="http://schemas.openxmlformats.org/drawingml/2006/main">
            <a:r>
              <a:t>Problem it solves (1 sentence):</a:t>
            </a:r>
            <a:endParaRPr/>
          </a:p>
          <a:p xmlns:a="http://schemas.openxmlformats.org/drawingml/2006/main">
            <a:r>
              <a:t>Who benefits and how:</a:t>
            </a:r>
            <a:endParaRPr/>
          </a:p>
          <a:p xmlns:a="http://schemas.openxmlformats.org/drawingml/2006/main">
            <a:r>
              <a:t>AI approach (Rules / Augment / Assist / Human-led / Analytics):</a:t>
            </a:r>
            <a:endParaRPr/>
          </a:p>
          <a:p xmlns:a="http://schemas.openxmlformats.org/drawingml/2006/main">
            <a:r>
              <a:t>Data needed:</a:t>
            </a:r>
            <a:endParaRPr/>
          </a:p>
          <a:p xmlns:a="http://schemas.openxmlformats.org/drawingml/2006/main">
            <a:r>
              <a:t>Human review gate:</a:t>
            </a:r>
            <a:endParaRPr/>
          </a:p>
          <a:p xmlns:a="http://schemas.openxmlformats.org/drawingml/2006/main">
            <a:r>
              <a:t>Success metric(s):</a:t>
            </a:r>
            <a:endParaRPr/>
          </a:p>
          <a:p xmlns:a="http://schemas.openxmlformats.org/drawingml/2006/main">
            <a:r>
              <a:t>What could go wrong:</a:t>
            </a:r>
            <a:endParaRPr/>
          </a:p>
          <a:p xmlns:a="http://schemas.openxmlformats.org/drawingml/2006/main">
            <a:r>
              <a:t>Governance requirements (from risk assessment):</a:t>
            </a:r>
            <a:endParaRPr/>
          </a:p>
          <a:p xmlns:a="http://schemas.openxmlformats.org/drawingml/2006/main">
            <a:r>
              <a:t>First step to move forward:</a:t>
            </a:r>
            <a:endParaRPr/>
          </a:p>
          <a:p xmlns:a="http://schemas.openxmlformats.org/drawingml/2006/main">
            <a:r>
              <a:t>```</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Assessment and certification</a:t>
            </a:r>
            <a:endParaRPr/>
          </a:p>
          <a:p xmlns:a="http://schemas.openxmlformats.org/drawingml/2006/main">
            <a:r>
              <a:t/>
            </a:r>
            <a:endParaRPr/>
          </a:p>
          <a:p xmlns:a="http://schemas.openxmlformats.org/drawingml/2006/main">
            <a:r>
              <a:t>An organization may choose to give participants who complete all four modules</a:t>
            </a:r>
            <a:endParaRPr/>
          </a:p>
          <a:p xmlns:a="http://schemas.openxmlformats.org/drawingml/2006/main">
            <a:r>
              <a:t>and the hands-on components an **HR AI Practitioner** acknowledgment. This is a</a:t>
            </a:r>
            <a:endParaRPr/>
          </a:p>
          <a:p xmlns:a="http://schemas.openxmlformats.org/drawingml/2006/main">
            <a:r>
              <a:t>proposed internal recognition, not an accredited certification or evidence of</a:t>
            </a:r>
            <a:endParaRPr/>
          </a:p>
          <a:p xmlns:a="http://schemas.openxmlformats.org/drawingml/2006/main">
            <a:r>
              <a:t>professional competence. No delivery or learning outcome is claimed here.</a:t>
            </a:r>
            <a:endParaRPr/>
          </a:p>
          <a:p xmlns:a="http://schemas.openxmlformats.org/drawingml/2006/main">
            <a:r>
              <a:t/>
            </a:r>
            <a:endParaRPr/>
          </a:p>
          <a:p xmlns:a="http://schemas.openxmlformats.org/drawingml/2006/main">
            <a:r>
              <a:t>Optional extension: Participants who complete a full use case spec and present it to the HR Technology team are recognized as **HR AI Champions**, an informal internal designation that supports peer enablement.</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Facilitator notes</a:t>
            </a:r>
            <a:endParaRPr/>
          </a:p>
          <a:p xmlns:a="http://schemas.openxmlformats.org/drawingml/2006/main">
            <a:r>
              <a:t/>
            </a:r>
            <a:endParaRPr/>
          </a:p>
          <a:p xmlns:a="http://schemas.openxmlformats.org/drawingml/2006/main">
            <a:r>
              <a:t>These are facilitation suggestions, not measured delivery findings. Use synthetic examples; removing names alone does not establish anonymity. Do not upload real employee, candidate, compensation, or employer-confidential information for a training exercise.</a:t>
            </a:r>
            <a:endParaRPr/>
          </a:p>
          <a:p xmlns:a="http://schemas.openxmlformats.org/drawingml/2006/main">
            <a:r>
              <a:t/>
            </a:r>
            <a:endParaRPr/>
          </a:p>
          <a:p xmlns:a="http://schemas.openxmlformats.org/drawingml/2006/main">
            <a:r>
              <a:t>- Budget flex time in Module 3 for questions and disagreement about risk.</a:t>
            </a:r>
            <a:endParaRPr/>
          </a:p>
          <a:p xmlns:a="http://schemas.openxmlformats.org/drawingml/2006/main">
            <a:r>
              <a:t>- Protect time for the Module 2 lab, and check whether participants can identify errors and verify outputs afterward.</a:t>
            </a:r>
            <a:endParaRPr/>
          </a:p>
          <a:p xmlns:a="http://schemas.openxmlformats.org/drawingml/2006/main">
            <a:r>
              <a:t>- Adapt synthetic scenarios to familiar workflows, without identifiable employee cases or confidential documents.</a:t>
            </a:r>
            <a:endParaRPr/>
          </a:p>
          <a:p xmlns:a="http://schemas.openxmlformats.org/drawingml/2006/main">
            <a:r>
              <a:t>- Keep an AI skeptic on the facilitation team if possible. The best discussions happen when the room has range.</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snapshot: 13 October 2026. Curriculum SHA-256: 5ee769258ac9b95a3c514b64dcd5b22215e40bac8621054ffb452bffc244827a. This deck summarizes the source; no human evaluation, delivery outcome or legal approval is claimed.</a:t>
            </a:r>
            <a:endParaRPr/>
          </a:p>
          <a:p xmlns:a="http://schemas.openxmlformats.org/drawingml/2006/main">
            <a:r>
              <a:t/>
            </a:r>
            <a:endParaRPr/>
          </a:p>
          <a:p xmlns:a="http://schemas.openxmlformats.org/drawingml/2006/main">
            <a:r>
              <a:t># HR AI literacy curriculum</a:t>
            </a:r>
            <a:endParaRPr/>
          </a:p>
          <a:p xmlns:a="http://schemas.openxmlformats.org/drawingml/2006/main">
            <a:r>
              <a:t/>
            </a:r>
            <a:endParaRPr/>
          </a:p>
          <a:p xmlns:a="http://schemas.openxmlformats.org/drawingml/2006/main">
            <a:r>
              <a:t>A 4-module learning program for HR professionals at all experience levels. Designed to be delivered as a facilitated series over 4–6 weeks, or adapted for self-paced completion.</a:t>
            </a:r>
            <a:endParaRPr/>
          </a:p>
          <a:p xmlns:a="http://schemas.openxmlformats.org/drawingml/2006/main">
            <a:r>
              <a:t/>
            </a:r>
            <a:endParaRPr/>
          </a:p>
          <a:p xmlns:a="http://schemas.openxmlformats.org/drawingml/2006/main">
            <a:r>
              <a:t>**Total time:** about 7 hours of sessions, plus async reading and hands-on practice (roughly 8 hours in all)</a:t>
            </a:r>
            <a:endParaRPr/>
          </a:p>
          <a:p xmlns:a="http://schemas.openxmlformats.org/drawingml/2006/main">
            <a:r>
              <a:t>**Format:** Workshop + async reading + hands-on practice</a:t>
            </a:r>
            <a:endParaRPr/>
          </a:p>
          <a:p xmlns:a="http://schemas.openxmlformats.org/drawingml/2006/main">
            <a:r>
              <a:t>**Audience:** All People Team members</a:t>
            </a:r>
            <a:endParaRPr/>
          </a:p>
          <a:p xmlns:a="http://schemas.openxmlformats.org/drawingml/2006/main">
            <a:r>
              <a:t>**Prerequisite:** None</a:t>
            </a:r>
            <a:endParaRPr/>
          </a:p>
          <a:p xmlns:a="http://schemas.openxmlformats.org/drawingml/2006/main">
            <a:r>
              <a:t/>
            </a:r>
            <a:endParaRPr/>
          </a:p>
          <a:p xmlns:a="http://schemas.openxmlformats.org/drawingml/2006/main">
            <a:r>
              <a:t>**Lab prerequisite:** The facilitator confirms an organization-approved tool,</a:t>
            </a:r>
            <a:endParaRPr/>
          </a:p>
          <a:p xmlns:a="http://schemas.openxmlformats.org/drawingml/2006/main">
            <a:r>
              <a:t>provider handling, and a synthetic-only data boundary before any exercise.</a:t>
            </a:r>
            <a:endParaRPr/>
          </a:p>
          <a:p xmlns:a="http://schemas.openxmlformats.org/drawingml/2006/main">
            <a:r>
              <a:t>Modules 1-3 and the required governance approvals precede any real-work pilot.</a:t>
            </a:r>
            <a:endParaRPr/>
          </a:p>
          <a:p xmlns:a="http://schemas.openxmlformats.org/drawingml/2006/main">
            <a:r>
              <a:t>This curriculum does not authorize employee-data processing.</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Program overview</a:t>
            </a:r>
            <a:endParaRPr/>
          </a:p>
          <a:p xmlns:a="http://schemas.openxmlformats.org/drawingml/2006/main">
            <a:r>
              <a:t/>
            </a:r>
            <a:endParaRPr/>
          </a:p>
          <a:p xmlns:a="http://schemas.openxmlformats.org/drawingml/2006/main">
            <a:r>
              <a:t>| Module | Title | Duration | Format |</a:t>
            </a:r>
            <a:endParaRPr/>
          </a:p>
          <a:p xmlns:a="http://schemas.openxmlformats.org/drawingml/2006/main">
            <a:r>
              <a:t>|---|---|---|---|</a:t>
            </a:r>
            <a:endParaRPr/>
          </a:p>
          <a:p xmlns:a="http://schemas.openxmlformats.org/drawingml/2006/main">
            <a:r>
              <a:t>| 1 | How AI works, what HR professionals actually need to know | 90 min | Workshop |</a:t>
            </a:r>
            <a:endParaRPr/>
          </a:p>
          <a:p xmlns:a="http://schemas.openxmlformats.org/drawingml/2006/main">
            <a:r>
              <a:t>| 2 | Using AI in your daily HR work | 2 hours | Workshop + lab |</a:t>
            </a:r>
            <a:endParaRPr/>
          </a:p>
          <a:p xmlns:a="http://schemas.openxmlformats.org/drawingml/2006/main">
            <a:r>
              <a:t>| 3 | Governance, ethics, and responsible use | 90 min | Workshop |</a:t>
            </a:r>
            <a:endParaRPr/>
          </a:p>
          <a:p xmlns:a="http://schemas.openxmlformats.org/drawingml/2006/main">
            <a:r>
              <a:t>| 4 | Building and scaling AI use cases | 2 hours | Workshop + project |</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1: How AI works, what HR professionals actually need to know</a:t>
            </a:r>
            <a:endParaRPr/>
          </a:p>
          <a:p xmlns:a="http://schemas.openxmlformats.org/drawingml/2006/main">
            <a:r>
              <a:t/>
            </a:r>
            <a:endParaRPr/>
          </a:p>
          <a:p xmlns:a="http://schemas.openxmlformats.org/drawingml/2006/main">
            <a:r>
              <a:t>**Learning objectives:**</a:t>
            </a:r>
            <a:endParaRPr/>
          </a:p>
          <a:p xmlns:a="http://schemas.openxmlformats.org/drawingml/2006/main">
            <a:r>
              <a:t>- Explain the difference between traditional automation and generative AI</a:t>
            </a:r>
            <a:endParaRPr/>
          </a:p>
          <a:p xmlns:a="http://schemas.openxmlformats.org/drawingml/2006/main">
            <a:r>
              <a:t>- Describe why AI "hallucinates" and how to mitigate it in HR contexts</a:t>
            </a:r>
            <a:endParaRPr/>
          </a:p>
          <a:p xmlns:a="http://schemas.openxmlformats.org/drawingml/2006/main">
            <a:r>
              <a:t>- Identify which HR tasks are good candidates for AI assistance and which are not</a:t>
            </a:r>
            <a:endParaRPr/>
          </a:p>
          <a:p xmlns:a="http://schemas.openxmlformats.org/drawingml/2006/main">
            <a:r>
              <a:t/>
            </a:r>
            <a:endParaRPr/>
          </a:p>
          <a:p xmlns:a="http://schemas.openxmlformats.org/drawingml/2006/main">
            <a:r>
              <a:t>**Session outline (90 minutes):**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0:00–0:10 | Opening: What do you already believe about AI? (quick poll + discussion) |</a:t>
            </a:r>
            <a:endParaRPr/>
          </a:p>
          <a:p xmlns:a="http://schemas.openxmlformats.org/drawingml/2006/main">
            <a:r>
              <a:t>| 0:10–0:30 | Concept: How LLMs work, without the jargon (facilitator presentation) |</a:t>
            </a:r>
            <a:endParaRPr/>
          </a:p>
          <a:p xmlns:a="http://schemas.openxmlformats.org/drawingml/2006/main">
            <a:r>
              <a:t>| 0:30–0:45 | Concept: Hallucination, confidence, and why AI makes things up |</a:t>
            </a:r>
            <a:endParaRPr/>
          </a:p>
          <a:p xmlns:a="http://schemas.openxmlformats.org/drawingml/2006/main">
            <a:r>
              <a:t>| 0:45–1:05 | Exercise: Spot the hallucination (participants identify errors in AI-generated HR content) |</a:t>
            </a:r>
            <a:endParaRPr/>
          </a:p>
          <a:p xmlns:a="http://schemas.openxmlformats.org/drawingml/2006/main">
            <a:r>
              <a:t>| 1:05–1:20 | Discussion: Where should HR use AI? Where should we be cautious? |</a:t>
            </a:r>
            <a:endParaRPr/>
          </a:p>
          <a:p xmlns:a="http://schemas.openxmlformats.org/drawingml/2006/main">
            <a:r>
              <a:t>| 1:20–1:30 | Wrap-up + homework: Try one AI tool before next session |</a:t>
            </a:r>
            <a:endParaRPr/>
          </a:p>
          <a:p xmlns:a="http://schemas.openxmlformats.org/drawingml/2006/main">
            <a:r>
              <a:t/>
            </a:r>
            <a:endParaRPr/>
          </a:p>
          <a:p xmlns:a="http://schemas.openxmlformats.org/drawingml/2006/main">
            <a:r>
              <a:t>**Key concepts to cover:**</a:t>
            </a:r>
            <a:endParaRPr/>
          </a:p>
          <a:p xmlns:a="http://schemas.openxmlformats.org/drawingml/2006/main">
            <a:r>
              <a:t/>
            </a:r>
            <a:endParaRPr/>
          </a:p>
          <a:p xmlns:a="http://schemas.openxmlformats.org/drawingml/2006/main">
            <a:r>
              <a:t>*What LLMs actually are:*</a:t>
            </a:r>
            <a:endParaRPr/>
          </a:p>
          <a:p xmlns:a="http://schemas.openxmlformats.org/drawingml/2006/main">
            <a:r>
              <a:t>Large language models predict the next most likely word given context. They don't "know" things the way a database knows things, they pattern-match against training data. This is why they can sound authoritative while being wrong.</a:t>
            </a:r>
            <a:endParaRPr/>
          </a:p>
          <a:p xmlns:a="http://schemas.openxmlformats.org/drawingml/2006/main">
            <a:r>
              <a:t/>
            </a:r>
            <a:endParaRPr/>
          </a:p>
          <a:p xmlns:a="http://schemas.openxmlformats.org/drawingml/2006/main">
            <a:r>
              <a:t>*The spectrum from rules to agents:*</a:t>
            </a:r>
            <a:endParaRPr/>
          </a:p>
          <a:p xmlns:a="http://schemas.openxmlformats.org/drawingml/2006/main">
            <a:r>
              <a:t>```</a:t>
            </a:r>
            <a:endParaRPr/>
          </a:p>
          <a:p xmlns:a="http://schemas.openxmlformats.org/drawingml/2006/main">
            <a:r>
              <a:t>Rules            →  Assist / Augment              →  Agent</a:t>
            </a:r>
            <a:endParaRPr/>
          </a:p>
          <a:p xmlns:a="http://schemas.openxmlformats.org/drawingml/2006/main">
            <a:r>
              <a:t>(deterministic)     (a person decides or owns)       (a model acts across several steps)</a:t>
            </a:r>
            <a:endParaRPr/>
          </a:p>
          <a:p xmlns:a="http://schemas.openxmlformats.org/drawingml/2006/main">
            <a:r>
              <a:t>```</a:t>
            </a:r>
            <a:endParaRPr/>
          </a:p>
          <a:p xmlns:a="http://schemas.openxmlformats.org/drawingml/2006/main">
            <a:r>
              <a:t>Use rules when rules reliably give the right answer. Most HR uses of AI belong in the middle. An agent, where a model takes several actions through tools with limited review between them, has to earn that autonomy through evidence and brings new governance requirements.</a:t>
            </a:r>
            <a:endParaRPr/>
          </a:p>
          <a:p xmlns:a="http://schemas.openxmlformats.org/drawingml/2006/main">
            <a:r>
              <a:t/>
            </a:r>
            <a:endParaRPr/>
          </a:p>
          <a:p xmlns:a="http://schemas.openxmlformats.org/drawingml/2006/main">
            <a:r>
              <a:t>*Prompt quality drives output quality:*</a:t>
            </a:r>
            <a:endParaRPr/>
          </a:p>
          <a:p xmlns:a="http://schemas.openxmlformats.org/drawingml/2006/main">
            <a:r>
              <a:t>Clear prompts help define a task and its boundaries. Output quality also depends on the model, source material, workflow controls, and verification. A well-written prompt does not establish factual accuracy or safe HR judgment.</a:t>
            </a:r>
            <a:endParaRPr/>
          </a:p>
          <a:p xmlns:a="http://schemas.openxmlformats.org/drawingml/2006/main">
            <a:r>
              <a:t/>
            </a:r>
            <a:endParaRPr/>
          </a:p>
          <a:p xmlns:a="http://schemas.openxmlformats.org/drawingml/2006/main">
            <a:r>
              <a:t>**Pre-reading (assign before session):**</a:t>
            </a:r>
            <a:endParaRPr/>
          </a:p>
          <a:p xmlns:a="http://schemas.openxmlformats.org/drawingml/2006/main">
            <a:r>
              <a:t>- [Your organization's AI use policy](../03-governance/ai-use-policy.md)</a:t>
            </a:r>
            <a:endParaRPr/>
          </a:p>
          <a:p xmlns:a="http://schemas.openxmlformats.org/drawingml/2006/main">
            <a:r>
              <a:t>- One-page primer on generative AI for non-technical audiences (create or source)</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2: Using AI in your daily HR work</a:t>
            </a:r>
            <a:endParaRPr/>
          </a:p>
          <a:p xmlns:a="http://schemas.openxmlformats.org/drawingml/2006/main">
            <a:r>
              <a:t/>
            </a:r>
            <a:endParaRPr/>
          </a:p>
          <a:p xmlns:a="http://schemas.openxmlformats.org/drawingml/2006/main">
            <a:r>
              <a:t>**Learning objectives:**</a:t>
            </a:r>
            <a:endParaRPr/>
          </a:p>
          <a:p xmlns:a="http://schemas.openxmlformats.org/drawingml/2006/main">
            <a:r>
              <a:t>- Write effective prompts for HR use cases</a:t>
            </a:r>
            <a:endParaRPr/>
          </a:p>
          <a:p xmlns:a="http://schemas.openxmlformats.org/drawingml/2006/main">
            <a:r>
              <a:t>- Use the prompt library for at least 3 HR workflows</a:t>
            </a:r>
            <a:endParaRPr/>
          </a:p>
          <a:p xmlns:a="http://schemas.openxmlformats.org/drawingml/2006/main">
            <a:r>
              <a:t>- Identify when to use AI, when to verify AI output, and when not to use it</a:t>
            </a:r>
            <a:endParaRPr/>
          </a:p>
          <a:p xmlns:a="http://schemas.openxmlformats.org/drawingml/2006/main">
            <a:r>
              <a:t/>
            </a:r>
            <a:endParaRPr/>
          </a:p>
          <a:p xmlns:a="http://schemas.openxmlformats.org/drawingml/2006/main">
            <a:r>
              <a:t>**Session outline (2 hours including lab):**</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Share-back from Module 1 homework, what did you try, what happened? |</a:t>
            </a:r>
            <a:endParaRPr/>
          </a:p>
          <a:p xmlns:a="http://schemas.openxmlformats.org/drawingml/2006/main">
            <a:r>
              <a:t>| 0:15–0:45 | Prompt engineering for HR: the four elements of a good prompt |</a:t>
            </a:r>
            <a:endParaRPr/>
          </a:p>
          <a:p xmlns:a="http://schemas.openxmlformats.org/drawingml/2006/main">
            <a:r>
              <a:t>| 0:45–1:10 | Live demo: Onboarding plan, performance review draft, policy Q&amp;A |</a:t>
            </a:r>
            <a:endParaRPr/>
          </a:p>
          <a:p xmlns:a="http://schemas.openxmlformats.org/drawingml/2006/main">
            <a:r>
              <a:t>| 1:10–1:50 | Hands-on lab: Each participant works through 2 prompts using synthetic HR scenarios in organization-approved tools |</a:t>
            </a:r>
            <a:endParaRPr/>
          </a:p>
          <a:p xmlns:a="http://schemas.openxmlformats.org/drawingml/2006/main">
            <a:r>
              <a:t>| 1:50–2:00 | Debrief: What surprised you? What didn't work? |</a:t>
            </a:r>
            <a:endParaRPr/>
          </a:p>
          <a:p xmlns:a="http://schemas.openxmlformats.org/drawingml/2006/main">
            <a:r>
              <a:t/>
            </a:r>
            <a:endParaRPr/>
          </a:p>
          <a:p xmlns:a="http://schemas.openxmlformats.org/drawingml/2006/main">
            <a:r>
              <a:t>**The four elements of an effective HR prompt:**</a:t>
            </a:r>
            <a:endParaRPr/>
          </a:p>
          <a:p xmlns:a="http://schemas.openxmlformats.org/drawingml/2006/main">
            <a:r>
              <a:t/>
            </a:r>
            <a:endParaRPr/>
          </a:p>
          <a:p xmlns:a="http://schemas.openxmlformats.org/drawingml/2006/main">
            <a:r>
              <a:t>1. **Role**: Define the task perspective, such as drafting support for an HRBP. A role instruction does not give the model professional authority.</a:t>
            </a:r>
            <a:endParaRPr/>
          </a:p>
          <a:p xmlns:a="http://schemas.openxmlformats.org/drawingml/2006/main">
            <a:r>
              <a:t/>
            </a:r>
            <a:endParaRPr/>
          </a:p>
          <a:p xmlns:a="http://schemas.openxmlformats.org/drawingml/2006/main">
            <a:r>
              <a:t>2. **Context**: Provide the specific details the AI needs. Role, tenure, team size, situation. Don't make the AI guess.</a:t>
            </a:r>
            <a:endParaRPr/>
          </a:p>
          <a:p xmlns:a="http://schemas.openxmlformats.org/drawingml/2006/main">
            <a:r>
              <a:t/>
            </a:r>
            <a:endParaRPr/>
          </a:p>
          <a:p xmlns:a="http://schemas.openxmlformats.org/drawingml/2006/main">
            <a:r>
              <a:t>3. **Task**: State clearly what you want it to produce. One output per prompt. "Draft a..." is clearer than "Help me with..."</a:t>
            </a:r>
            <a:endParaRPr/>
          </a:p>
          <a:p xmlns:a="http://schemas.openxmlformats.org/drawingml/2006/main">
            <a:r>
              <a:t/>
            </a:r>
            <a:endParaRPr/>
          </a:p>
          <a:p xmlns:a="http://schemas.openxmlformats.org/drawingml/2006/main">
            <a:r>
              <a:t>4. **Constraints**: Define length, tone, format, exclusions, and the verification needed. Check whether the output follows them.</a:t>
            </a:r>
            <a:endParaRPr/>
          </a:p>
          <a:p xmlns:a="http://schemas.openxmlformats.org/drawingml/2006/main">
            <a:r>
              <a:t/>
            </a:r>
            <a:endParaRPr/>
          </a:p>
          <a:p xmlns:a="http://schemas.openxmlformats.org/drawingml/2006/main">
            <a:r>
              <a:t>**Lab instructions:**</a:t>
            </a:r>
            <a:endParaRPr/>
          </a:p>
          <a:p xmlns:a="http://schemas.openxmlformats.org/drawingml/2006/main">
            <a:r>
              <a:t/>
            </a:r>
            <a:endParaRPr/>
          </a:p>
          <a:p xmlns:a="http://schemas.openxmlformats.org/drawingml/2006/main">
            <a:r>
              <a:t>Participants choose 2 prompts from the library that are relevant to their current work:</a:t>
            </a:r>
            <a:endParaRPr/>
          </a:p>
          <a:p xmlns:a="http://schemas.openxmlformats.org/drawingml/2006/main">
            <a:r>
              <a:t>1. Run the prompt with a fictional HR scenario in an organization-approved tool. Do not upload real employee, candidate, compensation, or confidential employer information.</a:t>
            </a:r>
            <a:endParaRPr/>
          </a:p>
          <a:p xmlns:a="http://schemas.openxmlformats.org/drawingml/2006/main">
            <a:r>
              <a:t>2. Evaluate the output: What's useful? What's wrong or missing? What would you change before using it?</a:t>
            </a:r>
            <a:endParaRPr/>
          </a:p>
          <a:p xmlns:a="http://schemas.openxmlformats.org/drawingml/2006/main">
            <a:r>
              <a:t>3. Iterate: Modify the prompt once based on what you learned and run it again</a:t>
            </a:r>
            <a:endParaRPr/>
          </a:p>
          <a:p xmlns:a="http://schemas.openxmlformats.org/drawingml/2006/main">
            <a:r>
              <a:t>4. Note: What changed between run 1 and run 2?</a:t>
            </a:r>
            <a:endParaRPr/>
          </a:p>
          <a:p xmlns:a="http://schemas.openxmlformats.org/drawingml/2006/main">
            <a:r>
              <a:t/>
            </a:r>
            <a:endParaRPr/>
          </a:p>
          <a:p xmlns:a="http://schemas.openxmlformats.org/drawingml/2006/main">
            <a:r>
              <a:t>**The verify-before-use rule:**</a:t>
            </a:r>
            <a:endParaRPr/>
          </a:p>
          <a:p xmlns:a="http://schemas.openxmlformats.org/drawingml/2006/main">
            <a:r>
              <a:t/>
            </a:r>
            <a:endParaRPr/>
          </a:p>
          <a:p xmlns:a="http://schemas.openxmlformats.org/drawingml/2006/main">
            <a:r>
              <a:t>Introduce and reinforce this heuristic:</a:t>
            </a:r>
            <a:endParaRPr/>
          </a:p>
          <a:p xmlns:a="http://schemas.openxmlformats.org/drawingml/2006/main">
            <a:r>
              <a:t>- Policy details → always verify against source system before sharing</a:t>
            </a:r>
            <a:endParaRPr/>
          </a:p>
          <a:p xmlns:a="http://schemas.openxmlformats.org/drawingml/2006/main">
            <a:r>
              <a:t>- Legal requirements → always verify with Legal before relying on</a:t>
            </a:r>
            <a:endParaRPr/>
          </a:p>
          <a:p xmlns:a="http://schemas.openxmlformats.org/drawingml/2006/main">
            <a:r>
              <a:t>- Factual claims → spot-check against a known source</a:t>
            </a:r>
            <a:endParaRPr/>
          </a:p>
          <a:p xmlns:a="http://schemas.openxmlformats.org/drawingml/2006/main">
            <a:r>
              <a:t>- Tone and content → always read before sending; AI doesn't know your audience</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3: Governance, ethics, and responsible use</a:t>
            </a:r>
            <a:endParaRPr/>
          </a:p>
          <a:p xmlns:a="http://schemas.openxmlformats.org/drawingml/2006/main">
            <a:r>
              <a:t/>
            </a:r>
            <a:endParaRPr/>
          </a:p>
          <a:p xmlns:a="http://schemas.openxmlformats.org/drawingml/2006/main">
            <a:r>
              <a:t>**Learning objectives:**</a:t>
            </a:r>
            <a:endParaRPr/>
          </a:p>
          <a:p xmlns:a="http://schemas.openxmlformats.org/drawingml/2006/main">
            <a:r>
              <a:t>- Apply the organization's AI use policy to real HR scenarios</a:t>
            </a:r>
            <a:endParaRPr/>
          </a:p>
          <a:p xmlns:a="http://schemas.openxmlformats.org/drawingml/2006/main">
            <a:r>
              <a:t>- Identify the key legal risk areas in HR AI (bias, privacy, employment law)</a:t>
            </a:r>
            <a:endParaRPr/>
          </a:p>
          <a:p xmlns:a="http://schemas.openxmlformats.org/drawingml/2006/main">
            <a:r>
              <a:t>- Complete a basic risk assessment for a new use case</a:t>
            </a:r>
            <a:endParaRPr/>
          </a:p>
          <a:p xmlns:a="http://schemas.openxmlformats.org/drawingml/2006/main">
            <a:r>
              <a:t/>
            </a:r>
            <a:endParaRPr/>
          </a:p>
          <a:p xmlns:a="http://schemas.openxmlformats.org/drawingml/2006/main">
            <a:r>
              <a:t>**Session outline (90 minutes):**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Case study: Three HR AI failures and what we can learn (discussion) |</a:t>
            </a:r>
            <a:endParaRPr/>
          </a:p>
          <a:p xmlns:a="http://schemas.openxmlformats.org/drawingml/2006/main">
            <a:r>
              <a:t>| 0:15–0:40 | Framework: What makes AI use in HR risky? Legal and ethical dimensions |</a:t>
            </a:r>
            <a:endParaRPr/>
          </a:p>
          <a:p xmlns:a="http://schemas.openxmlformats.org/drawingml/2006/main">
            <a:r>
              <a:t>| 0:40–1:00 | Scenario practice: Is this use case okay? (small groups, 4 scenarios) |</a:t>
            </a:r>
            <a:endParaRPr/>
          </a:p>
          <a:p xmlns:a="http://schemas.openxmlformats.org/drawingml/2006/main">
            <a:r>
              <a:t>| 1:00–1:20 | Walk-through: The risk assessment template |</a:t>
            </a:r>
            <a:endParaRPr/>
          </a:p>
          <a:p xmlns:a="http://schemas.openxmlformats.org/drawingml/2006/main">
            <a:r>
              <a:t>| 1:20–1:30 | Q&amp;A + open discussion |</a:t>
            </a:r>
            <a:endParaRPr/>
          </a:p>
          <a:p xmlns:a="http://schemas.openxmlformats.org/drawingml/2006/main">
            <a:r>
              <a:t/>
            </a:r>
            <a:endParaRPr/>
          </a:p>
          <a:p xmlns:a="http://schemas.openxmlformats.org/drawingml/2006/main">
            <a:r>
              <a:t>&gt; **Note on regulatory currency:** Use the [Key dates for HR](../03-governance/README.md#key-dates-for-hr) and its linked primary sources as the dated reference. The slides summarize risk questions; they are not a complete legal reference. Have Legal verify jurisdiction, scope, obligations, and effective dates before delivery or adoption.</a:t>
            </a:r>
            <a:endParaRPr/>
          </a:p>
          <a:p xmlns:a="http://schemas.openxmlformats.org/drawingml/2006/main">
            <a:r>
              <a:t/>
            </a:r>
            <a:endParaRPr/>
          </a:p>
          <a:p xmlns:a="http://schemas.openxmlformats.org/drawingml/2006/main">
            <a:r>
              <a:t>**Key legal risk areas to cover:**</a:t>
            </a:r>
            <a:endParaRPr/>
          </a:p>
          <a:p xmlns:a="http://schemas.openxmlformats.org/drawingml/2006/main">
            <a:r>
              <a:t/>
            </a:r>
            <a:endParaRPr/>
          </a:p>
          <a:p xmlns:a="http://schemas.openxmlformats.org/drawingml/2006/main">
            <a:r>
              <a:t>*Bias and disparate impact:*</a:t>
            </a:r>
            <a:endParaRPr/>
          </a:p>
          <a:p xmlns:a="http://schemas.openxmlformats.org/drawingml/2006/main">
            <a:r>
              <a:t>AI trained on historical HR data can encode and amplify past discrimination. A history in which 80% of engineering hires were male is a reason to examine labels, features, selection effects, and group outcomes; that proportion alone does not determine how a model will score resumes. Adverse impact testing is a core control. It is required by law in some jurisdictions (NYC Local Law 144 mandates an annual bias audit for covered tools) and expected as evidence of reasonable care in many others. Confirm the cadence with Legal. See the [NIST AI RMF](https://www.nist.gov/itl/ai-risk-management-framework).</a:t>
            </a:r>
            <a:endParaRPr/>
          </a:p>
          <a:p xmlns:a="http://schemas.openxmlformats.org/drawingml/2006/main">
            <a:r>
              <a:t/>
            </a:r>
            <a:endParaRPr/>
          </a:p>
          <a:p xmlns:a="http://schemas.openxmlformats.org/drawingml/2006/main">
            <a:r>
              <a:t>*Illinois AI Video Interview Act, NYC Local Law 144, and emerging state laws:*</a:t>
            </a:r>
            <a:endParaRPr/>
          </a:p>
          <a:p xmlns:a="http://schemas.openxmlformats.org/drawingml/2006/main">
            <a:r>
              <a:t>Several jurisdictions now require disclosure, impact assessments, or consent for AI use in hiring. Illinois's AI Video Interview Act ([820 ILCS 42](https://www.ilga.gov/Legislation/ILCS/Articles?ActID=4015&amp;ChapterID=68)) governs AI analysis of recorded video interviews, including notice and consent before the interview. Confirm its current requirements against the statute before relying on them. Illinois also amended its Human Rights Act via HB 3773 (effective January 1, 2026) to broadly prohibit discriminatory AI use in hiring and promotion, not just video interviews. A companion law, Public Act 104-0425 (SB 2487, effective January 1, 2026), gives the Human Rights Commission tiered civil penalty authority for violations: up to $16,000 for a first offense, up to $42,500 with one prior violation within five years, up to $70,000 for two or more within seven years. The regulatory landscape is shifting quickly. Use cases involving hiring must be reviewed against current state law.</a:t>
            </a:r>
            <a:endParaRPr/>
          </a:p>
          <a:p xmlns:a="http://schemas.openxmlformats.org/drawingml/2006/main">
            <a:r>
              <a:t/>
            </a:r>
            <a:endParaRPr/>
          </a:p>
          <a:p xmlns:a="http://schemas.openxmlformats.org/drawingml/2006/main">
            <a:r>
              <a:t>NYC Local Law 144 enforcement is entering a stricter phase. A December 2025 NY State Comptroller audit found DCWP's enforcement "ineffective": DCWP's own review of 32 companies' bias-audit disclosures caught 1 likely non-compliance issue, where the Comptroller's review of the same 32 found at least 17. Expect more investigations and higher penalties as DCWP responds to the audit's recommendations, not just the disclosure-and-audit paperwork the law describes on paper.</a:t>
            </a:r>
            <a:endParaRPr/>
          </a:p>
          <a:p xmlns:a="http://schemas.openxmlformats.org/drawingml/2006/main">
            <a:r>
              <a:t/>
            </a:r>
            <a:endParaRPr/>
          </a:p>
          <a:p xmlns:a="http://schemas.openxmlformats.org/drawingml/2006/main">
            <a:r>
              <a:t>*Colorado's Automated Decision-Making Technology Act:*</a:t>
            </a:r>
            <a:endParaRPr/>
          </a:p>
          <a:p xmlns:a="http://schemas.openxmlformats.org/drawingml/2006/main">
            <a:r>
              <a:t>Colorado SB26-189 (signed 14 May 2026, Colo. Sess. Laws ch. 131) repeals and replaces the state's 2024 AI consumer protection law. It covers "consequential decisions," including employment, made using automated decision-making technology (ADMT) that materially influences the outcome. Starting January 1, 2027, developers must give deployers technical documentation on intended use, training data categories, known limitations, and human review instructions. Deployers will owe consumers notice at the point of interaction, and within 30 days of any adverse consequential decision, a plain-language explanation plus the right to request human review and reconsideration. Records must be retained 3 years. The attorney general enforces under the Colorado Consumer Protection Act, with a 60-day cure period through January 1, 2030.</a:t>
            </a:r>
            <a:endParaRPr/>
          </a:p>
          <a:p xmlns:a="http://schemas.openxmlformats.org/drawingml/2006/main">
            <a:r>
              <a:t/>
            </a:r>
            <a:endParaRPr/>
          </a:p>
          <a:p xmlns:a="http://schemas.openxmlformats.org/drawingml/2006/main">
            <a:r>
              <a:t>*Connecticut: AI Responsibility and Transparency Act (Public Act 26-15):*</a:t>
            </a:r>
            <a:endParaRPr/>
          </a:p>
          <a:p xmlns:a="http://schemas.openxmlformats.org/drawingml/2006/main">
            <a:r>
              <a:t>Connecticut's SB 5 became Public Act 26-15 in June 2026. It is the most comprehensive state AI employment statute enacted so far, and it phases in across two years. Read the dates carefully, because the parts that bite first are not the disclosure rules.</a:t>
            </a:r>
            <a:endParaRPr/>
          </a:p>
          <a:p xmlns:a="http://schemas.openxmlformats.org/drawingml/2006/main">
            <a:r>
              <a:t/>
            </a:r>
            <a:endParaRPr/>
          </a:p>
          <a:p xmlns:a="http://schemas.openxmlformats.org/drawingml/2006/main">
            <a:r>
              <a:t>Live October 1, 2026:</a:t>
            </a:r>
            <a:endParaRPr/>
          </a:p>
          <a:p xmlns:a="http://schemas.openxmlformats.org/drawingml/2006/main">
            <a:r>
              <a:t/>
            </a:r>
            <a:endParaRPr/>
          </a:p>
          <a:p xmlns:a="http://schemas.openxmlformats.org/drawingml/2006/main">
            <a:r>
              <a:t>- **AI is not a defense.** Sections 13 and 14 amend Conn. Gen. Stat. 46a-60 so that using an automated employment-related decision technology is not a defense against a discrimination complaint. The commission or court may consider the quality, efficacy, recency, and scope of anti-bias testing, its results, and the employer's response. This does not establish that a stale audit is always worse than no audit, or that testing guarantees a favorable legal outcome. Preserve the testing evidence and corrective actions for counsel review. Source: [Public Act 26-15](https://www.cga.ct.gov/2026/ACT/PA/PDF/2026PA-00015-R00SB-00005-PA.PDF).</a:t>
            </a:r>
            <a:endParaRPr/>
          </a:p>
          <a:p xmlns:a="http://schemas.openxmlformats.org/drawingml/2006/main">
            <a:r>
              <a:t>- **WARN notices.** Section 26 requires any employer serving a federal WARN notice under 29 USC 2102(a) to disclose to the Connecticut Labor Department whether the layoffs relate to the employer's use of AI or other technological change. Note the disclosure runs to the department, not to affected employees.</a:t>
            </a:r>
            <a:endParaRPr/>
          </a:p>
          <a:p xmlns:a="http://schemas.openxmlformats.org/drawingml/2006/main">
            <a:r>
              <a:t/>
            </a:r>
            <a:endParaRPr/>
          </a:p>
          <a:p xmlns:a="http://schemas.openxmlformats.org/drawingml/2006/main">
            <a:r>
              <a:t>Live October 1, 2027 (sections 7 to 12 take effect in 2026, but the duties attach only to technology deployed on or after October 1, 2027):</a:t>
            </a:r>
            <a:endParaRPr/>
          </a:p>
          <a:p xmlns:a="http://schemas.openxmlformats.org/drawingml/2006/main">
            <a:r>
              <a:t/>
            </a:r>
            <a:endParaRPr/>
          </a:p>
          <a:p xmlns:a="http://schemas.openxmlformats.org/drawingml/2006/main">
            <a:r>
              <a:t>- Scope is set by "substantial factor," defined as a factor that meaningfully alters the outcome of an employment-related decision. Covered decisions are hiring, promotion, discipline, discharge, renewal, selection for training or apprenticeship, and terms, privileges or conditions of employment. Carved out: nonmaterial changes to job tasks or hours, and decisions about workplace health and safety, scheduling, and productivity monitoring.</a:t>
            </a:r>
            <a:endParaRPr/>
          </a:p>
          <a:p xmlns:a="http://schemas.openxmlformats.org/drawingml/2006/main">
            <a:r>
              <a:t>- Developers must give deployers the information deployers need to meet their duties, but only where the tool was advertised, marketed, configured, contracted for, sold, or licensed to materially influence an employment decision.</a:t>
            </a:r>
            <a:endParaRPr/>
          </a:p>
          <a:p xmlns:a="http://schemas.openxmlformats.org/drawingml/2006/main">
            <a:r>
              <a:t>- Deployers must disclose in plain language when an employee or applicant is interacting with the technology, unless a reasonable person would find it obvious.</a:t>
            </a:r>
            <a:endParaRPr/>
          </a:p>
          <a:p xmlns:a="http://schemas.openxmlformats.org/drawingml/2006/main">
            <a:r>
              <a:t>- Before the decision is made, deployers must give written notice covering six specific points: that the technology was deployed, its purpose and the nature of the decision, the tool's trade name, the categories of personal data analyzed and how they will be assessed, the sources of that data, and deployer contact information.</a:t>
            </a:r>
            <a:endParaRPr/>
          </a:p>
          <a:p xmlns:a="http://schemas.openxmlformats.org/drawingml/2006/main">
            <a:r>
              <a:t>- Trade secrets can be withheld, but the withholding party must send notice saying what is being withheld and why.</a:t>
            </a:r>
            <a:endParaRPr/>
          </a:p>
          <a:p xmlns:a="http://schemas.openxmlformats.org/drawingml/2006/main">
            <a:r>
              <a:t/>
            </a:r>
            <a:endParaRPr/>
          </a:p>
          <a:p xmlns:a="http://schemas.openxmlformats.org/drawingml/2006/main">
            <a:r>
              <a:t>Enforcement is narrower than the obligations suggest: violations are unfair or deceptive trade practices under CUTPA, enforced **solely by the Attorney General**, with an explicit statement that the act creates **no private right of action**. Violations occurring on or before December 31, 2027 carry a 60-day cure period.</a:t>
            </a:r>
            <a:endParaRPr/>
          </a:p>
          <a:p xmlns:a="http://schemas.openxmlformats.org/drawingml/2006/main">
            <a:r>
              <a:t/>
            </a:r>
            <a:endParaRPr/>
          </a:p>
          <a:p xmlns:a="http://schemas.openxmlformats.org/drawingml/2006/main">
            <a:r>
              <a:t>One provision to catch in procurement: Section 8(c) lets a developer contract to assume the deployer's disclosure and notice duties, provided the contract is explicit about which duties transfer. That is a negotiating lever worth asking every vendor about. See the [vendor intake checklist](../03-governance/vendor-intake-checklist.md).</a:t>
            </a:r>
            <a:endParaRPr/>
          </a:p>
          <a:p xmlns:a="http://schemas.openxmlformats.org/drawingml/2006/main">
            <a:r>
              <a:t/>
            </a:r>
            <a:endParaRPr/>
          </a:p>
          <a:p xmlns:a="http://schemas.openxmlformats.org/drawingml/2006/main">
            <a:r>
              <a:t>*California: FEHA algorithmic discrimination rules and CPPA ADMT regulations:*</a:t>
            </a:r>
            <a:endParaRPr/>
          </a:p>
          <a:p xmlns:a="http://schemas.openxmlformats.org/drawingml/2006/main">
            <a:r>
              <a:t>The Civil Rights Council's FEHA regulations on automated decision systems took effect October 1, 2025: they prohibit AI-driven disparate treatment or disparate impact in employment decisions, require four years of recordkeeping, and hold employers liable for discriminatory outcomes even when the tool comes from a third-party vendor. Separately, the [CPPA regulation package](https://cppa.ca.gov/announcements/2025/20250923.html) took effect January 1, 2026. Covered businesses must begin risk-assessment compliance in 2026; ADMT notice and consumer-rights compliance begins January 1, 2027. These dates govern different duties. Review the [final regulations](https://cppa.ca.gov/regulations/ccpa_updates.html) for scope, opt-out exceptions, appeal conditions, and transition rules for processing already underway.</a:t>
            </a:r>
            <a:endParaRPr/>
          </a:p>
          <a:p xmlns:a="http://schemas.openxmlformats.org/drawingml/2006/main">
            <a:r>
              <a:t/>
            </a:r>
            <a:endParaRPr/>
          </a:p>
          <a:p xmlns:a="http://schemas.openxmlformats.org/drawingml/2006/main">
            <a:r>
              <a:t>Four California workplace bills were approved and chaptered on 30 September 2026. All four are enacted law, with obligations beginning in 2027. The chaptered texts were reviewed on 9 October 2026. AB 1883, SB 951, and AB 1331 take effect on 1 January 2027 under [California Constitution Article IV, section 8(c)(1)](https://leginfo.legislature.ca.gov/faces/codes_displayText.xhtml?lawCode=CONS&amp;division=&amp;title=&amp;part=&amp;chapter=&amp;article=IV); none contains an urgency clause or a later operative-date provision. SB 947 takes effect on that date but expressly makes its new Labor Code part operative on 1 July 2027. See the [source register](../03-governance/claims/california-workplace-laws.json) and the [Governor's signing announcement](https://www.gov.ca.gov/2026/09/30/californias-nation-leading-ai-framework-just-got-stronger-governor-newsom-signs-more-first-in-the-nation-worker-protections-and-more/).</a:t>
            </a:r>
            <a:endParaRPr/>
          </a:p>
          <a:p xmlns:a="http://schemas.openxmlformats.org/drawingml/2006/main">
            <a:r>
              <a:t/>
            </a:r>
            <a:endParaRPr/>
          </a:p>
          <a:p xmlns:a="http://schemas.openxmlformats.org/drawingml/2006/main">
            <a:r>
              <a:t>- **[AB 1883](https://leginfo.legislature.ca.gov/faces/billNavClient.xhtml?bill_id=202520260AB1883)** (workplace surveillance tools, Chapter 853, Statutes of 2026) adds Labor Code Part 5.8 to bar employers from using AI-driven surveillance tools to recognize or infer an employee's emotional state, or to collect neural data, meaning data measured from the central or peripheral nervous system and not inferred from nonneural information. Safety uses are preserved, and there is a narrow carve-out for federally mandated aerospace and national security work. Enforcement runs through the Labor Commissioner or a public prosecutor, with penalties up to $500 per violation. It was enrolled on 3 September 2026 and approved by the Governor on 30 September 2026. Some published summaries report 3 September as the signing date; that is the enrollment date.</a:t>
            </a:r>
            <a:endParaRPr/>
          </a:p>
          <a:p xmlns:a="http://schemas.openxmlformats.org/drawingml/2006/main">
            <a:r>
              <a:t>- **[SB 947](https://leginfo.legislature.ca.gov/faces/billTextClient.xhtml?bill_id=202520260SB947)** (the "No Robo Bosses Act," Chapter 859, Statutes of 2026) is **operative 1 July 2027**, under new Labor Code section 1526.7. It bars sole reliance on an ADS for discipline or termination. Primary reliance requires human corroboration and written post-use notice when the decision is communicated. If corroboration fails, or the reviewer finds the output inaccurate, incomplete, or misleading, the employer must not use that output for the decision. The employee may request a meaningful description of their own data used by the ADS. Check the collective bargaining and federal-operation exceptions in sections 1526.5 and 1526.6.</a:t>
            </a:r>
            <a:endParaRPr/>
          </a:p>
          <a:p xmlns:a="http://schemas.openxmlformats.org/drawingml/2006/main">
            <a:r>
              <a:t>- **[SB 951](https://leginfo.legislature.ca.gov/faces/billTextClient.xhtml?bill_id=202520260SB951)** (Chapter 860, Statutes of 2026), **effective 1 January 2027**, adds technology-displacement information to an otherwise required Cal/WARN notice when AI or automation causes the event wholly or substantially. New Labor Code section 1401(d) requires affected jobs and locations, functions being automated, the technology category, and a technology-displacement heading. It retains the existing 60-day notice period. It does not enact the earlier proposal for a 90-day notice or an employer hiring-freeze notice; section 1402.7 instead requires an EDD study by 1 January 2028. Assess Cal/WARN coverage and exceptions before applying the notice requirement.</a:t>
            </a:r>
            <a:endParaRPr/>
          </a:p>
          <a:p xmlns:a="http://schemas.openxmlformats.org/drawingml/2006/main">
            <a:r>
              <a:t>- **[AB 1331](https://leginfo.legislature.ca.gov/faces/billTextClient.xhtml?bill_id=202520260AB1331)** (Chapter 851, Statutes of 2026), **effective 1 January 2027**, limits workplace bathroom surveillance and lets employees leave surveillance tools behind when entering a bathroom. New Labor Code section 1561 includes exceptions for court orders, one-time entry/exit checks, voluntary possession, and certain identification or safety devices. The tool definition reaches beyond AI. Review the full exceptions in sections 1561, 1564, and 1565 before changing monitoring practices.</a:t>
            </a:r>
            <a:endParaRPr/>
          </a:p>
          <a:p xmlns:a="http://schemas.openxmlformats.org/drawingml/2006/main">
            <a:r>
              <a:t/>
            </a:r>
            <a:endParaRPr/>
          </a:p>
          <a:p xmlns:a="http://schemas.openxmlformats.org/drawingml/2006/main">
            <a:r>
              <a:t>*Texas: Responsible AI Governance Act (TRAIGA):*</a:t>
            </a:r>
            <a:endParaRPr/>
          </a:p>
          <a:p xmlns:a="http://schemas.openxmlformats.org/drawingml/2006/main">
            <a:r>
              <a:t>Effective January 1, 2026 (HB 149, signed June 22, 2025). Narrower than Illinois or Colorado: TRAIGA prohibits intentional AI-based discrimination but does not create disparate impact liability, and the Attorney General has exclusive enforcement authority with a 60-day cure period before action.</a:t>
            </a:r>
            <a:endParaRPr/>
          </a:p>
          <a:p xmlns:a="http://schemas.openxmlformats.org/drawingml/2006/main">
            <a:r>
              <a:t/>
            </a:r>
            <a:endParaRPr/>
          </a:p>
          <a:p xmlns:a="http://schemas.openxmlformats.org/drawingml/2006/main">
            <a:r>
              <a:t>*New Jersey: no AI statute, but existing discrimination law already reaches AI:*</a:t>
            </a:r>
            <a:endParaRPr/>
          </a:p>
          <a:p xmlns:a="http://schemas.openxmlformats.org/drawingml/2006/main">
            <a:r>
              <a:t>New Jersey is the case that breaks the habit of scanning for AI-specific bills. It has no AI hiring statute. In January 2025 the Office of the Attorney General and the Division on Civil Rights issued guidance stating that the Law Against Discrimination (N.J.S.A. 10:5-1 et seq.) applies to algorithmic discrimination the same way it has long applied to other discriminatory conduct, in employment among other contexts. Three points matter for HR practice:</a:t>
            </a:r>
            <a:endParaRPr/>
          </a:p>
          <a:p xmlns:a="http://schemas.openxmlformats.org/drawingml/2006/main">
            <a:r>
              <a:t/>
            </a:r>
            <a:endParaRPr/>
          </a:p>
          <a:p xmlns:a="http://schemas.openxmlformats.org/drawingml/2006/main">
            <a:r>
              <a:t>- **No intent required, and a vendor tool is not a defense.** The guidance states that a covered entity "is not shielded from liability for algorithmic discrimination that results from the entity's use of an automated decision-making tool simply because the tool was developed by a third party or because the entity does not understand the inner workings of the tool."</a:t>
            </a:r>
            <a:endParaRPr/>
          </a:p>
          <a:p xmlns:a="http://schemas.openxmlformats.org/drawingml/2006/main">
            <a:r>
              <a:t>- **Disparate impact is covered.** Use of a tool with a disproportionate effect on a protected class is prohibited unless it is necessary to achieve a substantial, legitimate, nondiscriminatory interest and there is no less discriminatory alternative. Whether the employer tested the tool for bias or evaluated alternatives may be weighed as relevant evidence, which is the same pattern as Connecticut: your fairness audit becomes evidence.</a:t>
            </a:r>
            <a:endParaRPr/>
          </a:p>
          <a:p xmlns:a="http://schemas.openxmlformats.org/drawingml/2006/main">
            <a:r>
              <a:t>- **Reasonable accommodations are in scope.** A tool can violate the LAD by being inaccessible or by penalizing someone who uses an accommodation. The guidance's example is a typing-speed screen that cannot read a non-traditional keyboard.</a:t>
            </a:r>
            <a:endParaRPr/>
          </a:p>
          <a:p xmlns:a="http://schemas.openxmlformats.org/drawingml/2006/main">
            <a:r>
              <a:t/>
            </a:r>
            <a:endParaRPr/>
          </a:p>
          <a:p xmlns:a="http://schemas.openxmlformats.org/drawingml/2006/main">
            <a:r>
              <a:t>Two limits to state accurately when you teach this. The guidance is interpretive: it says on its face that it imposes no requirements beyond the LAD and will not be enforced as a substitute for enforcing the LAD. And it carries no effective date, because the underlying statute has been in force for decades. Do not present it as a new obligation that switched on in 2025. The takeaway for the class is the general one: a state with no AI bill is not a state with no AI exposure.</a:t>
            </a:r>
            <a:endParaRPr/>
          </a:p>
          <a:p xmlns:a="http://schemas.openxmlformats.org/drawingml/2006/main">
            <a:r>
              <a:t/>
            </a:r>
            <a:endParaRPr/>
          </a:p>
          <a:p xmlns:a="http://schemas.openxmlformats.org/drawingml/2006/main">
            <a:r>
              <a:t>*GDPR and CCPA:*</a:t>
            </a:r>
            <a:endParaRPr/>
          </a:p>
          <a:p xmlns:a="http://schemas.openxmlformats.org/drawingml/2006/main">
            <a:r>
              <a:t>Employees in covered jurisdictions have rights regarding automated decision-making. Know which of your employees are covered and how your AI use cases interact with their rights. See the California-specific rules above for the current state of play there.</a:t>
            </a:r>
            <a:endParaRPr/>
          </a:p>
          <a:p xmlns:a="http://schemas.openxmlformats.org/drawingml/2006/main">
            <a:r>
              <a:t/>
            </a:r>
            <a:endParaRPr/>
          </a:p>
          <a:p xmlns:a="http://schemas.openxmlformats.org/drawingml/2006/main">
            <a:r>
              <a:t>*UK: Data (Use and Access) Act 2025 replaces GDPR Article 22:*</a:t>
            </a:r>
            <a:endParaRPr/>
          </a:p>
          <a:p xmlns:a="http://schemas.openxmlformats.org/drawingml/2006/main">
            <a:r>
              <a:t>Section 80 of the UK's Data (Use and Access) Act 2025 took effect February 5, 2026 (Commencement Regulations SI 2026/82) and substitutes Article 22 of the UK GDPR with new Articles 22A to 22D. The new regime permits solely automated "significant decisions," those with a legal or similarly significant effect, more broadly than before, but requires safeguards: notice to the individual, the ability to make representations, the right to human intervention, and the right to contest the decision. Stricter restrictions still apply where special category data is used. Treat this as a distinct regime from EU GDPR Article 22, not an equivalent, for any AI use case touching UK-based workers or candidates.</a:t>
            </a:r>
            <a:endParaRPr/>
          </a:p>
          <a:p xmlns:a="http://schemas.openxmlformats.org/drawingml/2006/main">
            <a:r>
              <a:t/>
            </a:r>
            <a:endParaRPr/>
          </a:p>
          <a:p xmlns:a="http://schemas.openxmlformats.org/drawingml/2006/main">
            <a:r>
              <a:t>The ICO is already signaling how it will police this in recruitment specifically. A March 2026 ICO report on automated decision-making in hiring found many employers don't recognize they're doing ADM at all, and that "human review" in practice often amounts to rubber-stamping rather than a reviewer with real authority to change the outcome. Following that report, the ICO opened a consultation on draft ADM guidance, worth checking for the final version before relying on the March findings alone. Build the oversight role description to survive that scrutiny, not just to check the box.</a:t>
            </a:r>
            <a:endParaRPr/>
          </a:p>
          <a:p xmlns:a="http://schemas.openxmlformats.org/drawingml/2006/main">
            <a:r>
              <a:t/>
            </a:r>
            <a:endParaRPr/>
          </a:p>
          <a:p xmlns:a="http://schemas.openxmlformats.org/drawingml/2006/main">
            <a:r>
              <a:t>*Canada: no federal AI employment law, but Ontario requires disclosure:*</a:t>
            </a:r>
            <a:endParaRPr/>
          </a:p>
          <a:p xmlns:a="http://schemas.openxmlformats.org/drawingml/2006/main">
            <a:r>
              <a:t>Canada's federal AI bill (AIDA, part of Bill C-27) died when Parliament prorogued in January 2025 and has not been revived. AI regulation there runs through existing privacy, human rights, and sector law instead. Ontario is the exception: since January 1, 2026, employers with 25+ employees must disclose in publicly advertised job postings whether AI is used to screen, assess, or select candidates (Employment Standards Act, 2000 amendment).</a:t>
            </a:r>
            <a:endParaRPr/>
          </a:p>
          <a:p xmlns:a="http://schemas.openxmlformats.org/drawingml/2006/main">
            <a:r>
              <a:t/>
            </a:r>
            <a:endParaRPr/>
          </a:p>
          <a:p xmlns:a="http://schemas.openxmlformats.org/drawingml/2006/main">
            <a:r>
              <a:t>*The "AI as a manager" trap:*</a:t>
            </a:r>
            <a:endParaRPr/>
          </a:p>
          <a:p xmlns:a="http://schemas.openxmlformats.org/drawingml/2006/main">
            <a:r>
              <a:t>AI that monitors, evaluates, or scores employees without their knowledge, even for legitimate purposes, creates legal and trust exposure. Transparency is not just ethical, it's protective.</a:t>
            </a:r>
            <a:endParaRPr/>
          </a:p>
          <a:p xmlns:a="http://schemas.openxmlformats.org/drawingml/2006/main">
            <a:r>
              <a:t/>
            </a:r>
            <a:endParaRPr/>
          </a:p>
          <a:p xmlns:a="http://schemas.openxmlformats.org/drawingml/2006/main">
            <a:r>
              <a:t>**Scenario practice cards:**</a:t>
            </a:r>
            <a:endParaRPr/>
          </a:p>
          <a:p xmlns:a="http://schemas.openxmlformats.org/drawingml/2006/main">
            <a:r>
              <a:t/>
            </a:r>
            <a:endParaRPr/>
          </a:p>
          <a:p xmlns:a="http://schemas.openxmlformats.org/drawingml/2006/main">
            <a:r>
              <a:t>Print or share these four scenarios. Groups of 3–4 discuss: Is this use appropriate? What are the risks? What would you change?</a:t>
            </a:r>
            <a:endParaRPr/>
          </a:p>
          <a:p xmlns:a="http://schemas.openxmlformats.org/drawingml/2006/main">
            <a:r>
              <a:t/>
            </a:r>
            <a:endParaRPr/>
          </a:p>
          <a:p xmlns:a="http://schemas.openxmlformats.org/drawingml/2006/main">
            <a:r>
              <a:t>&gt; **Scenario A:** An AI tool automatically rejects resumes with gaps of more than 6 months without showing them to a recruiter.</a:t>
            </a:r>
            <a:endParaRPr/>
          </a:p>
          <a:p xmlns:a="http://schemas.openxmlformats.org/drawingml/2006/main">
            <a:r>
              <a:t/>
            </a:r>
            <a:endParaRPr/>
          </a:p>
          <a:p xmlns:a="http://schemas.openxmlformats.org/drawingml/2006/main">
            <a:r>
              <a:t>&gt; **Scenario B:** An HRBP uses an AI writing assistant to draft a PIP for an employee, then reviews and edits it before sharing with the manager.</a:t>
            </a:r>
            <a:endParaRPr/>
          </a:p>
          <a:p xmlns:a="http://schemas.openxmlformats.org/drawingml/2006/main">
            <a:r>
              <a:t/>
            </a:r>
            <a:endParaRPr/>
          </a:p>
          <a:p xmlns:a="http://schemas.openxmlformats.org/drawingml/2006/main">
            <a:r>
              <a:t>&gt; **Scenario C:** People Analytics builds an attrition risk model that scores all employees monthly and shares the scores directly with managers.</a:t>
            </a:r>
            <a:endParaRPr/>
          </a:p>
          <a:p xmlns:a="http://schemas.openxmlformats.org/drawingml/2006/main">
            <a:r>
              <a:t/>
            </a:r>
            <a:endParaRPr/>
          </a:p>
          <a:p xmlns:a="http://schemas.openxmlformats.org/drawingml/2006/main">
            <a:r>
              <a:t>&gt; **Scenario D:** An AI chatbot answers benefits questions for employees. It sometimes gives incorrect information but flags that users should confirm with HR.</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4: Building and scaling AI use cases</a:t>
            </a:r>
            <a:endParaRPr/>
          </a:p>
          <a:p xmlns:a="http://schemas.openxmlformats.org/drawingml/2006/main">
            <a:r>
              <a:t/>
            </a:r>
            <a:endParaRPr/>
          </a:p>
          <a:p xmlns:a="http://schemas.openxmlformats.org/drawingml/2006/main">
            <a:r>
              <a:t>**Learning objectives:**</a:t>
            </a:r>
            <a:endParaRPr/>
          </a:p>
          <a:p xmlns:a="http://schemas.openxmlformats.org/drawingml/2006/main">
            <a:r>
              <a:t>- Apply the prioritization matrix to identify your team's highest-value AI use cases</a:t>
            </a:r>
            <a:endParaRPr/>
          </a:p>
          <a:p xmlns:a="http://schemas.openxmlformats.org/drawingml/2006/main">
            <a:r>
              <a:t>- Define a use case with clear success metrics and governance requirements</a:t>
            </a:r>
            <a:endParaRPr/>
          </a:p>
          <a:p xmlns:a="http://schemas.openxmlformats.org/drawingml/2006/main">
            <a:r>
              <a:t>- Draft a basic implementation plan for a low-complexity use case</a:t>
            </a:r>
            <a:endParaRPr/>
          </a:p>
          <a:p xmlns:a="http://schemas.openxmlformats.org/drawingml/2006/main">
            <a:r>
              <a:t/>
            </a:r>
            <a:endParaRPr/>
          </a:p>
          <a:p xmlns:a="http://schemas.openxmlformats.org/drawingml/2006/main">
            <a:r>
              <a:t>**Session outline (2 hours):**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Opening: What does "scaling AI in HR" actually mean? |</a:t>
            </a:r>
            <a:endParaRPr/>
          </a:p>
          <a:p xmlns:a="http://schemas.openxmlformats.org/drawingml/2006/main">
            <a:r>
              <a:t>| 0:15–0:45 | Framework: From idea to deployment, the use case lifecycle |</a:t>
            </a:r>
            <a:endParaRPr/>
          </a:p>
          <a:p xmlns:a="http://schemas.openxmlformats.org/drawingml/2006/main">
            <a:r>
              <a:t>| 0:45–1:15 | Team exercise: Prioritization matrix applied to your team's top 5 ideas |</a:t>
            </a:r>
            <a:endParaRPr/>
          </a:p>
          <a:p xmlns:a="http://schemas.openxmlformats.org/drawingml/2006/main">
            <a:r>
              <a:t>| 1:15–1:45 | Small group: Draft a one-page use case spec for your top-ranked idea |</a:t>
            </a:r>
            <a:endParaRPr/>
          </a:p>
          <a:p xmlns:a="http://schemas.openxmlformats.org/drawingml/2006/main">
            <a:r>
              <a:t>| 1:45–2:00 | Gallery walk + feedback |</a:t>
            </a:r>
            <a:endParaRPr/>
          </a:p>
          <a:p xmlns:a="http://schemas.openxmlformats.org/drawingml/2006/main">
            <a:r>
              <a:t/>
            </a:r>
            <a:endParaRPr/>
          </a:p>
          <a:p xmlns:a="http://schemas.openxmlformats.org/drawingml/2006/main">
            <a:r>
              <a:t>**Use case lifecycle:**</a:t>
            </a:r>
            <a:endParaRPr/>
          </a:p>
          <a:p xmlns:a="http://schemas.openxmlformats.org/drawingml/2006/main">
            <a:r>
              <a:t/>
            </a:r>
            <a:endParaRPr/>
          </a:p>
          <a:p xmlns:a="http://schemas.openxmlformats.org/drawingml/2006/main">
            <a:r>
              <a:t>```</a:t>
            </a:r>
            <a:endParaRPr/>
          </a:p>
          <a:p xmlns:a="http://schemas.openxmlformats.org/drawingml/2006/main">
            <a:r>
              <a:t>Discover → Prioritize → Design → Pilot → Evaluate → Scale</a:t>
            </a:r>
            <a:endParaRPr/>
          </a:p>
          <a:p xmlns:a="http://schemas.openxmlformats.org/drawingml/2006/main">
            <a:r>
              <a:t>   ↑                                          |</a:t>
            </a:r>
            <a:endParaRPr/>
          </a:p>
          <a:p xmlns:a="http://schemas.openxmlformats.org/drawingml/2006/main">
            <a:r>
              <a:t>   └──────────────── iterate ─────────────────┘</a:t>
            </a:r>
            <a:endParaRPr/>
          </a:p>
          <a:p xmlns:a="http://schemas.openxmlformats.org/drawingml/2006/main">
            <a:r>
              <a:t>```</a:t>
            </a:r>
            <a:endParaRPr/>
          </a:p>
          <a:p xmlns:a="http://schemas.openxmlformats.org/drawingml/2006/main">
            <a:r>
              <a:t/>
            </a:r>
            <a:endParaRPr/>
          </a:p>
          <a:p xmlns:a="http://schemas.openxmlformats.org/drawingml/2006/main">
            <a:r>
              <a:t>- **Discover:** What problem are we solving? Who feels it most?</a:t>
            </a:r>
            <a:endParaRPr/>
          </a:p>
          <a:p xmlns:a="http://schemas.openxmlformats.org/drawingml/2006/main">
            <a:r>
              <a:t>- **Prioritize:** Use the matrix. Don't skip this.</a:t>
            </a:r>
            <a:endParaRPr/>
          </a:p>
          <a:p xmlns:a="http://schemas.openxmlformats.org/drawingml/2006/main">
            <a:r>
              <a:t>- **Design:** Define inputs, outputs, human review gates, success metrics, and fallback</a:t>
            </a:r>
            <a:endParaRPr/>
          </a:p>
          <a:p xmlns:a="http://schemas.openxmlformats.org/drawingml/2006/main">
            <a:r>
              <a:t>- **Pilot:** Small scope, high observation. 4–8 weeks.</a:t>
            </a:r>
            <a:endParaRPr/>
          </a:p>
          <a:p xmlns:a="http://schemas.openxmlformats.org/drawingml/2006/main">
            <a:r>
              <a:t>- **Evaluate:** Did it work? For whom? What didn't?</a:t>
            </a:r>
            <a:endParaRPr/>
          </a:p>
          <a:p xmlns:a="http://schemas.openxmlformats.org/drawingml/2006/main">
            <a:r>
              <a:t>- **Scale:** Expand with the lessons from pilot baked in</a:t>
            </a:r>
            <a:endParaRPr/>
          </a:p>
          <a:p xmlns:a="http://schemas.openxmlformats.org/drawingml/2006/main">
            <a:r>
              <a:t/>
            </a:r>
            <a:endParaRPr/>
          </a:p>
          <a:p xmlns:a="http://schemas.openxmlformats.org/drawingml/2006/main">
            <a:r>
              <a:t>**One-page use case spec template:**</a:t>
            </a:r>
            <a:endParaRPr/>
          </a:p>
          <a:p xmlns:a="http://schemas.openxmlformats.org/drawingml/2006/main">
            <a:r>
              <a:t/>
            </a:r>
            <a:endParaRPr/>
          </a:p>
          <a:p xmlns:a="http://schemas.openxmlformats.org/drawingml/2006/main">
            <a:r>
              <a:t>Participants complete this for their team's top-ranked use case:</a:t>
            </a:r>
            <a:endParaRPr/>
          </a:p>
          <a:p xmlns:a="http://schemas.openxmlformats.org/drawingml/2006/main">
            <a:r>
              <a:t/>
            </a:r>
            <a:endParaRPr/>
          </a:p>
          <a:p xmlns:a="http://schemas.openxmlformats.org/drawingml/2006/main">
            <a:r>
              <a:t>```</a:t>
            </a:r>
            <a:endParaRPr/>
          </a:p>
          <a:p xmlns:a="http://schemas.openxmlformats.org/drawingml/2006/main">
            <a:r>
              <a:t>Use case name:</a:t>
            </a:r>
            <a:endParaRPr/>
          </a:p>
          <a:p xmlns:a="http://schemas.openxmlformats.org/drawingml/2006/main">
            <a:r>
              <a:t>Problem it solves (1 sentence):</a:t>
            </a:r>
            <a:endParaRPr/>
          </a:p>
          <a:p xmlns:a="http://schemas.openxmlformats.org/drawingml/2006/main">
            <a:r>
              <a:t>Who benefits and how:</a:t>
            </a:r>
            <a:endParaRPr/>
          </a:p>
          <a:p xmlns:a="http://schemas.openxmlformats.org/drawingml/2006/main">
            <a:r>
              <a:t>AI approach (Rules / Augment / Assist / Human-led / Analytics):</a:t>
            </a:r>
            <a:endParaRPr/>
          </a:p>
          <a:p xmlns:a="http://schemas.openxmlformats.org/drawingml/2006/main">
            <a:r>
              <a:t>Data needed:</a:t>
            </a:r>
            <a:endParaRPr/>
          </a:p>
          <a:p xmlns:a="http://schemas.openxmlformats.org/drawingml/2006/main">
            <a:r>
              <a:t>Human review gate:</a:t>
            </a:r>
            <a:endParaRPr/>
          </a:p>
          <a:p xmlns:a="http://schemas.openxmlformats.org/drawingml/2006/main">
            <a:r>
              <a:t>Success metric(s):</a:t>
            </a:r>
            <a:endParaRPr/>
          </a:p>
          <a:p xmlns:a="http://schemas.openxmlformats.org/drawingml/2006/main">
            <a:r>
              <a:t>What could go wrong:</a:t>
            </a:r>
            <a:endParaRPr/>
          </a:p>
          <a:p xmlns:a="http://schemas.openxmlformats.org/drawingml/2006/main">
            <a:r>
              <a:t>Governance requirements (from risk assessment):</a:t>
            </a:r>
            <a:endParaRPr/>
          </a:p>
          <a:p xmlns:a="http://schemas.openxmlformats.org/drawingml/2006/main">
            <a:r>
              <a:t>First step to move forward:</a:t>
            </a:r>
            <a:endParaRPr/>
          </a:p>
          <a:p xmlns:a="http://schemas.openxmlformats.org/drawingml/2006/main">
            <a:r>
              <a:t>```</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Assessment and certification</a:t>
            </a:r>
            <a:endParaRPr/>
          </a:p>
          <a:p xmlns:a="http://schemas.openxmlformats.org/drawingml/2006/main">
            <a:r>
              <a:t/>
            </a:r>
            <a:endParaRPr/>
          </a:p>
          <a:p xmlns:a="http://schemas.openxmlformats.org/drawingml/2006/main">
            <a:r>
              <a:t>An organization may choose to give participants who complete all four modules</a:t>
            </a:r>
            <a:endParaRPr/>
          </a:p>
          <a:p xmlns:a="http://schemas.openxmlformats.org/drawingml/2006/main">
            <a:r>
              <a:t>and the hands-on components an **HR AI Practitioner** acknowledgment. This is a</a:t>
            </a:r>
            <a:endParaRPr/>
          </a:p>
          <a:p xmlns:a="http://schemas.openxmlformats.org/drawingml/2006/main">
            <a:r>
              <a:t>proposed internal recognition, not an accredited certification or evidence of</a:t>
            </a:r>
            <a:endParaRPr/>
          </a:p>
          <a:p xmlns:a="http://schemas.openxmlformats.org/drawingml/2006/main">
            <a:r>
              <a:t>professional competence. No delivery or learning outcome is claimed here.</a:t>
            </a:r>
            <a:endParaRPr/>
          </a:p>
          <a:p xmlns:a="http://schemas.openxmlformats.org/drawingml/2006/main">
            <a:r>
              <a:t/>
            </a:r>
            <a:endParaRPr/>
          </a:p>
          <a:p xmlns:a="http://schemas.openxmlformats.org/drawingml/2006/main">
            <a:r>
              <a:t>Optional extension: Participants who complete a full use case spec and present it to the HR Technology team are recognized as **HR AI Champions**, an informal internal designation that supports peer enablement.</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Facilitator notes</a:t>
            </a:r>
            <a:endParaRPr/>
          </a:p>
          <a:p xmlns:a="http://schemas.openxmlformats.org/drawingml/2006/main">
            <a:r>
              <a:t/>
            </a:r>
            <a:endParaRPr/>
          </a:p>
          <a:p xmlns:a="http://schemas.openxmlformats.org/drawingml/2006/main">
            <a:r>
              <a:t>These are facilitation suggestions, not measured delivery findings. Use synthetic examples; removing names alone does not establish anonymity. Do not upload real employee, candidate, compensation, or employer-confidential information for a training exercise.</a:t>
            </a:r>
            <a:endParaRPr/>
          </a:p>
          <a:p xmlns:a="http://schemas.openxmlformats.org/drawingml/2006/main">
            <a:r>
              <a:t/>
            </a:r>
            <a:endParaRPr/>
          </a:p>
          <a:p xmlns:a="http://schemas.openxmlformats.org/drawingml/2006/main">
            <a:r>
              <a:t>- Budget flex time in Module 3 for questions and disagreement about risk.</a:t>
            </a:r>
            <a:endParaRPr/>
          </a:p>
          <a:p xmlns:a="http://schemas.openxmlformats.org/drawingml/2006/main">
            <a:r>
              <a:t>- Protect time for the Module 2 lab, and check whether participants can identify errors and verify outputs afterward.</a:t>
            </a:r>
            <a:endParaRPr/>
          </a:p>
          <a:p xmlns:a="http://schemas.openxmlformats.org/drawingml/2006/main">
            <a:r>
              <a:t>- Adapt synthetic scenarios to familiar workflows, without identifiable employee cases or confidential documents.</a:t>
            </a:r>
            <a:endParaRPr/>
          </a:p>
          <a:p xmlns:a="http://schemas.openxmlformats.org/drawingml/2006/main">
            <a:r>
              <a:t>- Keep an AI skeptic on the facilitation team if possible. The best discussions happen when the room has range.</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snapshot: 13 October 2026. Curriculum SHA-256: 5ee769258ac9b95a3c514b64dcd5b22215e40bac8621054ffb452bffc244827a. This deck summarizes the source; no human evaluation, delivery outcome or legal approval is claimed.</a:t>
            </a:r>
            <a:endParaRPr/>
          </a:p>
          <a:p xmlns:a="http://schemas.openxmlformats.org/drawingml/2006/main">
            <a:r>
              <a:t/>
            </a:r>
            <a:endParaRPr/>
          </a:p>
          <a:p xmlns:a="http://schemas.openxmlformats.org/drawingml/2006/main">
            <a:r>
              <a:t># HR AI literacy curriculum</a:t>
            </a:r>
            <a:endParaRPr/>
          </a:p>
          <a:p xmlns:a="http://schemas.openxmlformats.org/drawingml/2006/main">
            <a:r>
              <a:t/>
            </a:r>
            <a:endParaRPr/>
          </a:p>
          <a:p xmlns:a="http://schemas.openxmlformats.org/drawingml/2006/main">
            <a:r>
              <a:t>A 4-module learning program for HR professionals at all experience levels. Designed to be delivered as a facilitated series over 4–6 weeks, or adapted for self-paced completion.</a:t>
            </a:r>
            <a:endParaRPr/>
          </a:p>
          <a:p xmlns:a="http://schemas.openxmlformats.org/drawingml/2006/main">
            <a:r>
              <a:t/>
            </a:r>
            <a:endParaRPr/>
          </a:p>
          <a:p xmlns:a="http://schemas.openxmlformats.org/drawingml/2006/main">
            <a:r>
              <a:t>**Total time:** about 7 hours of sessions, plus async reading and hands-on practice (roughly 8 hours in all)</a:t>
            </a:r>
            <a:endParaRPr/>
          </a:p>
          <a:p xmlns:a="http://schemas.openxmlformats.org/drawingml/2006/main">
            <a:r>
              <a:t>**Format:** Workshop + async reading + hands-on practice</a:t>
            </a:r>
            <a:endParaRPr/>
          </a:p>
          <a:p xmlns:a="http://schemas.openxmlformats.org/drawingml/2006/main">
            <a:r>
              <a:t>**Audience:** All People Team members</a:t>
            </a:r>
            <a:endParaRPr/>
          </a:p>
          <a:p xmlns:a="http://schemas.openxmlformats.org/drawingml/2006/main">
            <a:r>
              <a:t>**Prerequisite:** None</a:t>
            </a:r>
            <a:endParaRPr/>
          </a:p>
          <a:p xmlns:a="http://schemas.openxmlformats.org/drawingml/2006/main">
            <a:r>
              <a:t/>
            </a:r>
            <a:endParaRPr/>
          </a:p>
          <a:p xmlns:a="http://schemas.openxmlformats.org/drawingml/2006/main">
            <a:r>
              <a:t>**Lab prerequisite:** The facilitator confirms an organization-approved tool,</a:t>
            </a:r>
            <a:endParaRPr/>
          </a:p>
          <a:p xmlns:a="http://schemas.openxmlformats.org/drawingml/2006/main">
            <a:r>
              <a:t>provider handling, and a synthetic-only data boundary before any exercise.</a:t>
            </a:r>
            <a:endParaRPr/>
          </a:p>
          <a:p xmlns:a="http://schemas.openxmlformats.org/drawingml/2006/main">
            <a:r>
              <a:t>Modules 1-3 and the required governance approvals precede any real-work pilot.</a:t>
            </a:r>
            <a:endParaRPr/>
          </a:p>
          <a:p xmlns:a="http://schemas.openxmlformats.org/drawingml/2006/main">
            <a:r>
              <a:t>This curriculum does not authorize employee-data processing.</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Program overview</a:t>
            </a:r>
            <a:endParaRPr/>
          </a:p>
          <a:p xmlns:a="http://schemas.openxmlformats.org/drawingml/2006/main">
            <a:r>
              <a:t/>
            </a:r>
            <a:endParaRPr/>
          </a:p>
          <a:p xmlns:a="http://schemas.openxmlformats.org/drawingml/2006/main">
            <a:r>
              <a:t>| Module | Title | Duration | Format |</a:t>
            </a:r>
            <a:endParaRPr/>
          </a:p>
          <a:p xmlns:a="http://schemas.openxmlformats.org/drawingml/2006/main">
            <a:r>
              <a:t>|---|---|---|---|</a:t>
            </a:r>
            <a:endParaRPr/>
          </a:p>
          <a:p xmlns:a="http://schemas.openxmlformats.org/drawingml/2006/main">
            <a:r>
              <a:t>| 1 | How AI works, what HR professionals actually need to know | 90 min | Workshop |</a:t>
            </a:r>
            <a:endParaRPr/>
          </a:p>
          <a:p xmlns:a="http://schemas.openxmlformats.org/drawingml/2006/main">
            <a:r>
              <a:t>| 2 | Using AI in your daily HR work | 2 hours | Workshop + lab |</a:t>
            </a:r>
            <a:endParaRPr/>
          </a:p>
          <a:p xmlns:a="http://schemas.openxmlformats.org/drawingml/2006/main">
            <a:r>
              <a:t>| 3 | Governance, ethics, and responsible use | 90 min | Workshop |</a:t>
            </a:r>
            <a:endParaRPr/>
          </a:p>
          <a:p xmlns:a="http://schemas.openxmlformats.org/drawingml/2006/main">
            <a:r>
              <a:t>| 4 | Building and scaling AI use cases | 2 hours | Workshop + project |</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1: How AI works, what HR professionals actually need to know</a:t>
            </a:r>
            <a:endParaRPr/>
          </a:p>
          <a:p xmlns:a="http://schemas.openxmlformats.org/drawingml/2006/main">
            <a:r>
              <a:t/>
            </a:r>
            <a:endParaRPr/>
          </a:p>
          <a:p xmlns:a="http://schemas.openxmlformats.org/drawingml/2006/main">
            <a:r>
              <a:t>**Learning objectives:**</a:t>
            </a:r>
            <a:endParaRPr/>
          </a:p>
          <a:p xmlns:a="http://schemas.openxmlformats.org/drawingml/2006/main">
            <a:r>
              <a:t>- Explain the difference between traditional automation and generative AI</a:t>
            </a:r>
            <a:endParaRPr/>
          </a:p>
          <a:p xmlns:a="http://schemas.openxmlformats.org/drawingml/2006/main">
            <a:r>
              <a:t>- Describe why AI "hallucinates" and how to mitigate it in HR contexts</a:t>
            </a:r>
            <a:endParaRPr/>
          </a:p>
          <a:p xmlns:a="http://schemas.openxmlformats.org/drawingml/2006/main">
            <a:r>
              <a:t>- Identify which HR tasks are good candidates for AI assistance and which are not</a:t>
            </a:r>
            <a:endParaRPr/>
          </a:p>
          <a:p xmlns:a="http://schemas.openxmlformats.org/drawingml/2006/main">
            <a:r>
              <a:t/>
            </a:r>
            <a:endParaRPr/>
          </a:p>
          <a:p xmlns:a="http://schemas.openxmlformats.org/drawingml/2006/main">
            <a:r>
              <a:t>**Session outline (90 minutes):**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0:00–0:10 | Opening: What do you already believe about AI? (quick poll + discussion) |</a:t>
            </a:r>
            <a:endParaRPr/>
          </a:p>
          <a:p xmlns:a="http://schemas.openxmlformats.org/drawingml/2006/main">
            <a:r>
              <a:t>| 0:10–0:30 | Concept: How LLMs work, without the jargon (facilitator presentation) |</a:t>
            </a:r>
            <a:endParaRPr/>
          </a:p>
          <a:p xmlns:a="http://schemas.openxmlformats.org/drawingml/2006/main">
            <a:r>
              <a:t>| 0:30–0:45 | Concept: Hallucination, confidence, and why AI makes things up |</a:t>
            </a:r>
            <a:endParaRPr/>
          </a:p>
          <a:p xmlns:a="http://schemas.openxmlformats.org/drawingml/2006/main">
            <a:r>
              <a:t>| 0:45–1:05 | Exercise: Spot the hallucination (participants identify errors in AI-generated HR content) |</a:t>
            </a:r>
            <a:endParaRPr/>
          </a:p>
          <a:p xmlns:a="http://schemas.openxmlformats.org/drawingml/2006/main">
            <a:r>
              <a:t>| 1:05–1:20 | Discussion: Where should HR use AI? Where should we be cautious? |</a:t>
            </a:r>
            <a:endParaRPr/>
          </a:p>
          <a:p xmlns:a="http://schemas.openxmlformats.org/drawingml/2006/main">
            <a:r>
              <a:t>| 1:20–1:30 | Wrap-up + homework: Try one AI tool before next session |</a:t>
            </a:r>
            <a:endParaRPr/>
          </a:p>
          <a:p xmlns:a="http://schemas.openxmlformats.org/drawingml/2006/main">
            <a:r>
              <a:t/>
            </a:r>
            <a:endParaRPr/>
          </a:p>
          <a:p xmlns:a="http://schemas.openxmlformats.org/drawingml/2006/main">
            <a:r>
              <a:t>**Key concepts to cover:**</a:t>
            </a:r>
            <a:endParaRPr/>
          </a:p>
          <a:p xmlns:a="http://schemas.openxmlformats.org/drawingml/2006/main">
            <a:r>
              <a:t/>
            </a:r>
            <a:endParaRPr/>
          </a:p>
          <a:p xmlns:a="http://schemas.openxmlformats.org/drawingml/2006/main">
            <a:r>
              <a:t>*What LLMs actually are:*</a:t>
            </a:r>
            <a:endParaRPr/>
          </a:p>
          <a:p xmlns:a="http://schemas.openxmlformats.org/drawingml/2006/main">
            <a:r>
              <a:t>Large language models predict the next most likely word given context. They don't "know" things the way a database knows things, they pattern-match against training data. This is why they can sound authoritative while being wrong.</a:t>
            </a:r>
            <a:endParaRPr/>
          </a:p>
          <a:p xmlns:a="http://schemas.openxmlformats.org/drawingml/2006/main">
            <a:r>
              <a:t/>
            </a:r>
            <a:endParaRPr/>
          </a:p>
          <a:p xmlns:a="http://schemas.openxmlformats.org/drawingml/2006/main">
            <a:r>
              <a:t>*The spectrum from rules to agents:*</a:t>
            </a:r>
            <a:endParaRPr/>
          </a:p>
          <a:p xmlns:a="http://schemas.openxmlformats.org/drawingml/2006/main">
            <a:r>
              <a:t>```</a:t>
            </a:r>
            <a:endParaRPr/>
          </a:p>
          <a:p xmlns:a="http://schemas.openxmlformats.org/drawingml/2006/main">
            <a:r>
              <a:t>Rules            →  Assist / Augment              →  Agent</a:t>
            </a:r>
            <a:endParaRPr/>
          </a:p>
          <a:p xmlns:a="http://schemas.openxmlformats.org/drawingml/2006/main">
            <a:r>
              <a:t>(deterministic)     (a person decides or owns)       (a model acts across several steps)</a:t>
            </a:r>
            <a:endParaRPr/>
          </a:p>
          <a:p xmlns:a="http://schemas.openxmlformats.org/drawingml/2006/main">
            <a:r>
              <a:t>```</a:t>
            </a:r>
            <a:endParaRPr/>
          </a:p>
          <a:p xmlns:a="http://schemas.openxmlformats.org/drawingml/2006/main">
            <a:r>
              <a:t>Use rules when rules reliably give the right answer. Most HR uses of AI belong in the middle. An agent, where a model takes several actions through tools with limited review between them, has to earn that autonomy through evidence and brings new governance requirements.</a:t>
            </a:r>
            <a:endParaRPr/>
          </a:p>
          <a:p xmlns:a="http://schemas.openxmlformats.org/drawingml/2006/main">
            <a:r>
              <a:t/>
            </a:r>
            <a:endParaRPr/>
          </a:p>
          <a:p xmlns:a="http://schemas.openxmlformats.org/drawingml/2006/main">
            <a:r>
              <a:t>*Prompt quality drives output quality:*</a:t>
            </a:r>
            <a:endParaRPr/>
          </a:p>
          <a:p xmlns:a="http://schemas.openxmlformats.org/drawingml/2006/main">
            <a:r>
              <a:t>Clear prompts help define a task and its boundaries. Output quality also depends on the model, source material, workflow controls, and verification. A well-written prompt does not establish factual accuracy or safe HR judgment.</a:t>
            </a:r>
            <a:endParaRPr/>
          </a:p>
          <a:p xmlns:a="http://schemas.openxmlformats.org/drawingml/2006/main">
            <a:r>
              <a:t/>
            </a:r>
            <a:endParaRPr/>
          </a:p>
          <a:p xmlns:a="http://schemas.openxmlformats.org/drawingml/2006/main">
            <a:r>
              <a:t>**Pre-reading (assign before session):**</a:t>
            </a:r>
            <a:endParaRPr/>
          </a:p>
          <a:p xmlns:a="http://schemas.openxmlformats.org/drawingml/2006/main">
            <a:r>
              <a:t>- [Your organization's AI use policy](../03-governance/ai-use-policy.md)</a:t>
            </a:r>
            <a:endParaRPr/>
          </a:p>
          <a:p xmlns:a="http://schemas.openxmlformats.org/drawingml/2006/main">
            <a:r>
              <a:t>- One-page primer on generative AI for non-technical audiences (create or source)</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2: Using AI in your daily HR work</a:t>
            </a:r>
            <a:endParaRPr/>
          </a:p>
          <a:p xmlns:a="http://schemas.openxmlformats.org/drawingml/2006/main">
            <a:r>
              <a:t/>
            </a:r>
            <a:endParaRPr/>
          </a:p>
          <a:p xmlns:a="http://schemas.openxmlformats.org/drawingml/2006/main">
            <a:r>
              <a:t>**Learning objectives:**</a:t>
            </a:r>
            <a:endParaRPr/>
          </a:p>
          <a:p xmlns:a="http://schemas.openxmlformats.org/drawingml/2006/main">
            <a:r>
              <a:t>- Write effective prompts for HR use cases</a:t>
            </a:r>
            <a:endParaRPr/>
          </a:p>
          <a:p xmlns:a="http://schemas.openxmlformats.org/drawingml/2006/main">
            <a:r>
              <a:t>- Use the prompt library for at least 3 HR workflows</a:t>
            </a:r>
            <a:endParaRPr/>
          </a:p>
          <a:p xmlns:a="http://schemas.openxmlformats.org/drawingml/2006/main">
            <a:r>
              <a:t>- Identify when to use AI, when to verify AI output, and when not to use it</a:t>
            </a:r>
            <a:endParaRPr/>
          </a:p>
          <a:p xmlns:a="http://schemas.openxmlformats.org/drawingml/2006/main">
            <a:r>
              <a:t/>
            </a:r>
            <a:endParaRPr/>
          </a:p>
          <a:p xmlns:a="http://schemas.openxmlformats.org/drawingml/2006/main">
            <a:r>
              <a:t>**Session outline (2 hours including lab):**</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Share-back from Module 1 homework, what did you try, what happened? |</a:t>
            </a:r>
            <a:endParaRPr/>
          </a:p>
          <a:p xmlns:a="http://schemas.openxmlformats.org/drawingml/2006/main">
            <a:r>
              <a:t>| 0:15–0:45 | Prompt engineering for HR: the four elements of a good prompt |</a:t>
            </a:r>
            <a:endParaRPr/>
          </a:p>
          <a:p xmlns:a="http://schemas.openxmlformats.org/drawingml/2006/main">
            <a:r>
              <a:t>| 0:45–1:10 | Live demo: Onboarding plan, performance review draft, policy Q&amp;A |</a:t>
            </a:r>
            <a:endParaRPr/>
          </a:p>
          <a:p xmlns:a="http://schemas.openxmlformats.org/drawingml/2006/main">
            <a:r>
              <a:t>| 1:10–1:50 | Hands-on lab: Each participant works through 2 prompts using synthetic HR scenarios in organization-approved tools |</a:t>
            </a:r>
            <a:endParaRPr/>
          </a:p>
          <a:p xmlns:a="http://schemas.openxmlformats.org/drawingml/2006/main">
            <a:r>
              <a:t>| 1:50–2:00 | Debrief: What surprised you? What didn't work? |</a:t>
            </a:r>
            <a:endParaRPr/>
          </a:p>
          <a:p xmlns:a="http://schemas.openxmlformats.org/drawingml/2006/main">
            <a:r>
              <a:t/>
            </a:r>
            <a:endParaRPr/>
          </a:p>
          <a:p xmlns:a="http://schemas.openxmlformats.org/drawingml/2006/main">
            <a:r>
              <a:t>**The four elements of an effective HR prompt:**</a:t>
            </a:r>
            <a:endParaRPr/>
          </a:p>
          <a:p xmlns:a="http://schemas.openxmlformats.org/drawingml/2006/main">
            <a:r>
              <a:t/>
            </a:r>
            <a:endParaRPr/>
          </a:p>
          <a:p xmlns:a="http://schemas.openxmlformats.org/drawingml/2006/main">
            <a:r>
              <a:t>1. **Role**: Define the task perspective, such as drafting support for an HRBP. A role instruction does not give the model professional authority.</a:t>
            </a:r>
            <a:endParaRPr/>
          </a:p>
          <a:p xmlns:a="http://schemas.openxmlformats.org/drawingml/2006/main">
            <a:r>
              <a:t/>
            </a:r>
            <a:endParaRPr/>
          </a:p>
          <a:p xmlns:a="http://schemas.openxmlformats.org/drawingml/2006/main">
            <a:r>
              <a:t>2. **Context**: Provide the specific details the AI needs. Role, tenure, team size, situation. Don't make the AI guess.</a:t>
            </a:r>
            <a:endParaRPr/>
          </a:p>
          <a:p xmlns:a="http://schemas.openxmlformats.org/drawingml/2006/main">
            <a:r>
              <a:t/>
            </a:r>
            <a:endParaRPr/>
          </a:p>
          <a:p xmlns:a="http://schemas.openxmlformats.org/drawingml/2006/main">
            <a:r>
              <a:t>3. **Task**: State clearly what you want it to produce. One output per prompt. "Draft a..." is clearer than "Help me with..."</a:t>
            </a:r>
            <a:endParaRPr/>
          </a:p>
          <a:p xmlns:a="http://schemas.openxmlformats.org/drawingml/2006/main">
            <a:r>
              <a:t/>
            </a:r>
            <a:endParaRPr/>
          </a:p>
          <a:p xmlns:a="http://schemas.openxmlformats.org/drawingml/2006/main">
            <a:r>
              <a:t>4. **Constraints**: Define length, tone, format, exclusions, and the verification needed. Check whether the output follows them.</a:t>
            </a:r>
            <a:endParaRPr/>
          </a:p>
          <a:p xmlns:a="http://schemas.openxmlformats.org/drawingml/2006/main">
            <a:r>
              <a:t/>
            </a:r>
            <a:endParaRPr/>
          </a:p>
          <a:p xmlns:a="http://schemas.openxmlformats.org/drawingml/2006/main">
            <a:r>
              <a:t>**Lab instructions:**</a:t>
            </a:r>
            <a:endParaRPr/>
          </a:p>
          <a:p xmlns:a="http://schemas.openxmlformats.org/drawingml/2006/main">
            <a:r>
              <a:t/>
            </a:r>
            <a:endParaRPr/>
          </a:p>
          <a:p xmlns:a="http://schemas.openxmlformats.org/drawingml/2006/main">
            <a:r>
              <a:t>Participants choose 2 prompts from the library that are relevant to their current work:</a:t>
            </a:r>
            <a:endParaRPr/>
          </a:p>
          <a:p xmlns:a="http://schemas.openxmlformats.org/drawingml/2006/main">
            <a:r>
              <a:t>1. Run the prompt with a fictional HR scenario in an organization-approved tool. Do not upload real employee, candidate, compensation, or confidential employer information.</a:t>
            </a:r>
            <a:endParaRPr/>
          </a:p>
          <a:p xmlns:a="http://schemas.openxmlformats.org/drawingml/2006/main">
            <a:r>
              <a:t>2. Evaluate the output: What's useful? What's wrong or missing? What would you change before using it?</a:t>
            </a:r>
            <a:endParaRPr/>
          </a:p>
          <a:p xmlns:a="http://schemas.openxmlformats.org/drawingml/2006/main">
            <a:r>
              <a:t>3. Iterate: Modify the prompt once based on what you learned and run it again</a:t>
            </a:r>
            <a:endParaRPr/>
          </a:p>
          <a:p xmlns:a="http://schemas.openxmlformats.org/drawingml/2006/main">
            <a:r>
              <a:t>4. Note: What changed between run 1 and run 2?</a:t>
            </a:r>
            <a:endParaRPr/>
          </a:p>
          <a:p xmlns:a="http://schemas.openxmlformats.org/drawingml/2006/main">
            <a:r>
              <a:t/>
            </a:r>
            <a:endParaRPr/>
          </a:p>
          <a:p xmlns:a="http://schemas.openxmlformats.org/drawingml/2006/main">
            <a:r>
              <a:t>**The verify-before-use rule:**</a:t>
            </a:r>
            <a:endParaRPr/>
          </a:p>
          <a:p xmlns:a="http://schemas.openxmlformats.org/drawingml/2006/main">
            <a:r>
              <a:t/>
            </a:r>
            <a:endParaRPr/>
          </a:p>
          <a:p xmlns:a="http://schemas.openxmlformats.org/drawingml/2006/main">
            <a:r>
              <a:t>Introduce and reinforce this heuristic:</a:t>
            </a:r>
            <a:endParaRPr/>
          </a:p>
          <a:p xmlns:a="http://schemas.openxmlformats.org/drawingml/2006/main">
            <a:r>
              <a:t>- Policy details → always verify against source system before sharing</a:t>
            </a:r>
            <a:endParaRPr/>
          </a:p>
          <a:p xmlns:a="http://schemas.openxmlformats.org/drawingml/2006/main">
            <a:r>
              <a:t>- Legal requirements → always verify with Legal before relying on</a:t>
            </a:r>
            <a:endParaRPr/>
          </a:p>
          <a:p xmlns:a="http://schemas.openxmlformats.org/drawingml/2006/main">
            <a:r>
              <a:t>- Factual claims → spot-check against a known source</a:t>
            </a:r>
            <a:endParaRPr/>
          </a:p>
          <a:p xmlns:a="http://schemas.openxmlformats.org/drawingml/2006/main">
            <a:r>
              <a:t>- Tone and content → always read before sending; AI doesn't know your audience</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3: Governance, ethics, and responsible use</a:t>
            </a:r>
            <a:endParaRPr/>
          </a:p>
          <a:p xmlns:a="http://schemas.openxmlformats.org/drawingml/2006/main">
            <a:r>
              <a:t/>
            </a:r>
            <a:endParaRPr/>
          </a:p>
          <a:p xmlns:a="http://schemas.openxmlformats.org/drawingml/2006/main">
            <a:r>
              <a:t>**Learning objectives:**</a:t>
            </a:r>
            <a:endParaRPr/>
          </a:p>
          <a:p xmlns:a="http://schemas.openxmlformats.org/drawingml/2006/main">
            <a:r>
              <a:t>- Apply the organization's AI use policy to real HR scenarios</a:t>
            </a:r>
            <a:endParaRPr/>
          </a:p>
          <a:p xmlns:a="http://schemas.openxmlformats.org/drawingml/2006/main">
            <a:r>
              <a:t>- Identify the key legal risk areas in HR AI (bias, privacy, employment law)</a:t>
            </a:r>
            <a:endParaRPr/>
          </a:p>
          <a:p xmlns:a="http://schemas.openxmlformats.org/drawingml/2006/main">
            <a:r>
              <a:t>- Complete a basic risk assessment for a new use case</a:t>
            </a:r>
            <a:endParaRPr/>
          </a:p>
          <a:p xmlns:a="http://schemas.openxmlformats.org/drawingml/2006/main">
            <a:r>
              <a:t/>
            </a:r>
            <a:endParaRPr/>
          </a:p>
          <a:p xmlns:a="http://schemas.openxmlformats.org/drawingml/2006/main">
            <a:r>
              <a:t>**Session outline (90 minutes):**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Case study: Three HR AI failures and what we can learn (discussion) |</a:t>
            </a:r>
            <a:endParaRPr/>
          </a:p>
          <a:p xmlns:a="http://schemas.openxmlformats.org/drawingml/2006/main">
            <a:r>
              <a:t>| 0:15–0:40 | Framework: What makes AI use in HR risky? Legal and ethical dimensions |</a:t>
            </a:r>
            <a:endParaRPr/>
          </a:p>
          <a:p xmlns:a="http://schemas.openxmlformats.org/drawingml/2006/main">
            <a:r>
              <a:t>| 0:40–1:00 | Scenario practice: Is this use case okay? (small groups, 4 scenarios) |</a:t>
            </a:r>
            <a:endParaRPr/>
          </a:p>
          <a:p xmlns:a="http://schemas.openxmlformats.org/drawingml/2006/main">
            <a:r>
              <a:t>| 1:00–1:20 | Walk-through: The risk assessment template |</a:t>
            </a:r>
            <a:endParaRPr/>
          </a:p>
          <a:p xmlns:a="http://schemas.openxmlformats.org/drawingml/2006/main">
            <a:r>
              <a:t>| 1:20–1:30 | Q&amp;A + open discussion |</a:t>
            </a:r>
            <a:endParaRPr/>
          </a:p>
          <a:p xmlns:a="http://schemas.openxmlformats.org/drawingml/2006/main">
            <a:r>
              <a:t/>
            </a:r>
            <a:endParaRPr/>
          </a:p>
          <a:p xmlns:a="http://schemas.openxmlformats.org/drawingml/2006/main">
            <a:r>
              <a:t>&gt; **Note on regulatory currency:** Use the [Key dates for HR](../03-governance/README.md#key-dates-for-hr) and its linked primary sources as the dated reference. The slides summarize risk questions; they are not a complete legal reference. Have Legal verify jurisdiction, scope, obligations, and effective dates before delivery or adoption.</a:t>
            </a:r>
            <a:endParaRPr/>
          </a:p>
          <a:p xmlns:a="http://schemas.openxmlformats.org/drawingml/2006/main">
            <a:r>
              <a:t/>
            </a:r>
            <a:endParaRPr/>
          </a:p>
          <a:p xmlns:a="http://schemas.openxmlformats.org/drawingml/2006/main">
            <a:r>
              <a:t>**Key legal risk areas to cover:**</a:t>
            </a:r>
            <a:endParaRPr/>
          </a:p>
          <a:p xmlns:a="http://schemas.openxmlformats.org/drawingml/2006/main">
            <a:r>
              <a:t/>
            </a:r>
            <a:endParaRPr/>
          </a:p>
          <a:p xmlns:a="http://schemas.openxmlformats.org/drawingml/2006/main">
            <a:r>
              <a:t>*Bias and disparate impact:*</a:t>
            </a:r>
            <a:endParaRPr/>
          </a:p>
          <a:p xmlns:a="http://schemas.openxmlformats.org/drawingml/2006/main">
            <a:r>
              <a:t>AI trained on historical HR data can encode and amplify past discrimination. A history in which 80% of engineering hires were male is a reason to examine labels, features, selection effects, and group outcomes; that proportion alone does not determine how a model will score resumes. Adverse impact testing is a core control. It is required by law in some jurisdictions (NYC Local Law 144 mandates an annual bias audit for covered tools) and expected as evidence of reasonable care in many others. Confirm the cadence with Legal. See the [NIST AI RMF](https://www.nist.gov/itl/ai-risk-management-framework).</a:t>
            </a:r>
            <a:endParaRPr/>
          </a:p>
          <a:p xmlns:a="http://schemas.openxmlformats.org/drawingml/2006/main">
            <a:r>
              <a:t/>
            </a:r>
            <a:endParaRPr/>
          </a:p>
          <a:p xmlns:a="http://schemas.openxmlformats.org/drawingml/2006/main">
            <a:r>
              <a:t>*Illinois AI Video Interview Act, NYC Local Law 144, and emerging state laws:*</a:t>
            </a:r>
            <a:endParaRPr/>
          </a:p>
          <a:p xmlns:a="http://schemas.openxmlformats.org/drawingml/2006/main">
            <a:r>
              <a:t>Several jurisdictions now require disclosure, impact assessments, or consent for AI use in hiring. Illinois's AI Video Interview Act ([820 ILCS 42](https://www.ilga.gov/Legislation/ILCS/Articles?ActID=4015&amp;ChapterID=68)) governs AI analysis of recorded video interviews, including notice and consent before the interview. Confirm its current requirements against the statute before relying on them. Illinois also amended its Human Rights Act via HB 3773 (effective January 1, 2026) to broadly prohibit discriminatory AI use in hiring and promotion, not just video interviews. A companion law, Public Act 104-0425 (SB 2487, effective January 1, 2026), gives the Human Rights Commission tiered civil penalty authority for violations: up to $16,000 for a first offense, up to $42,500 with one prior violation within five years, up to $70,000 for two or more within seven years. The regulatory landscape is shifting quickly. Use cases involving hiring must be reviewed against current state law.</a:t>
            </a:r>
            <a:endParaRPr/>
          </a:p>
          <a:p xmlns:a="http://schemas.openxmlformats.org/drawingml/2006/main">
            <a:r>
              <a:t/>
            </a:r>
            <a:endParaRPr/>
          </a:p>
          <a:p xmlns:a="http://schemas.openxmlformats.org/drawingml/2006/main">
            <a:r>
              <a:t>NYC Local Law 144 enforcement is entering a stricter phase. A December 2025 NY State Comptroller audit found DCWP's enforcement "ineffective": DCWP's own review of 32 companies' bias-audit disclosures caught 1 likely non-compliance issue, where the Comptroller's review of the same 32 found at least 17. Expect more investigations and higher penalties as DCWP responds to the audit's recommendations, not just the disclosure-and-audit paperwork the law describes on paper.</a:t>
            </a:r>
            <a:endParaRPr/>
          </a:p>
          <a:p xmlns:a="http://schemas.openxmlformats.org/drawingml/2006/main">
            <a:r>
              <a:t/>
            </a:r>
            <a:endParaRPr/>
          </a:p>
          <a:p xmlns:a="http://schemas.openxmlformats.org/drawingml/2006/main">
            <a:r>
              <a:t>*Colorado's Automated Decision-Making Technology Act:*</a:t>
            </a:r>
            <a:endParaRPr/>
          </a:p>
          <a:p xmlns:a="http://schemas.openxmlformats.org/drawingml/2006/main">
            <a:r>
              <a:t>Colorado SB26-189 (signed 14 May 2026, Colo. Sess. Laws ch. 131) repeals and replaces the state's 2024 AI consumer protection law. It covers "consequential decisions," including employment, made using automated decision-making technology (ADMT) that materially influences the outcome. Starting January 1, 2027, developers must give deployers technical documentation on intended use, training data categories, known limitations, and human review instructions. Deployers will owe consumers notice at the point of interaction, and within 30 days of any adverse consequential decision, a plain-language explanation plus the right to request human review and reconsideration. Records must be retained 3 years. The attorney general enforces under the Colorado Consumer Protection Act, with a 60-day cure period through January 1, 2030.</a:t>
            </a:r>
            <a:endParaRPr/>
          </a:p>
          <a:p xmlns:a="http://schemas.openxmlformats.org/drawingml/2006/main">
            <a:r>
              <a:t/>
            </a:r>
            <a:endParaRPr/>
          </a:p>
          <a:p xmlns:a="http://schemas.openxmlformats.org/drawingml/2006/main">
            <a:r>
              <a:t>*Connecticut: AI Responsibility and Transparency Act (Public Act 26-15):*</a:t>
            </a:r>
            <a:endParaRPr/>
          </a:p>
          <a:p xmlns:a="http://schemas.openxmlformats.org/drawingml/2006/main">
            <a:r>
              <a:t>Connecticut's SB 5 became Public Act 26-15 in June 2026. It is the most comprehensive state AI employment statute enacted so far, and it phases in across two years. Read the dates carefully, because the parts that bite first are not the disclosure rules.</a:t>
            </a:r>
            <a:endParaRPr/>
          </a:p>
          <a:p xmlns:a="http://schemas.openxmlformats.org/drawingml/2006/main">
            <a:r>
              <a:t/>
            </a:r>
            <a:endParaRPr/>
          </a:p>
          <a:p xmlns:a="http://schemas.openxmlformats.org/drawingml/2006/main">
            <a:r>
              <a:t>Live October 1, 2026:</a:t>
            </a:r>
            <a:endParaRPr/>
          </a:p>
          <a:p xmlns:a="http://schemas.openxmlformats.org/drawingml/2006/main">
            <a:r>
              <a:t/>
            </a:r>
            <a:endParaRPr/>
          </a:p>
          <a:p xmlns:a="http://schemas.openxmlformats.org/drawingml/2006/main">
            <a:r>
              <a:t>- **AI is not a defense.** Sections 13 and 14 amend Conn. Gen. Stat. 46a-60 so that using an automated employment-related decision technology is not a defense against a discrimination complaint. The commission or court may consider the quality, efficacy, recency, and scope of anti-bias testing, its results, and the employer's response. This does not establish that a stale audit is always worse than no audit, or that testing guarantees a favorable legal outcome. Preserve the testing evidence and corrective actions for counsel review. Source: [Public Act 26-15](https://www.cga.ct.gov/2026/ACT/PA/PDF/2026PA-00015-R00SB-00005-PA.PDF).</a:t>
            </a:r>
            <a:endParaRPr/>
          </a:p>
          <a:p xmlns:a="http://schemas.openxmlformats.org/drawingml/2006/main">
            <a:r>
              <a:t>- **WARN notices.** Section 26 requires any employer serving a federal WARN notice under 29 USC 2102(a) to disclose to the Connecticut Labor Department whether the layoffs relate to the employer's use of AI or other technological change. Note the disclosure runs to the department, not to affected employees.</a:t>
            </a:r>
            <a:endParaRPr/>
          </a:p>
          <a:p xmlns:a="http://schemas.openxmlformats.org/drawingml/2006/main">
            <a:r>
              <a:t/>
            </a:r>
            <a:endParaRPr/>
          </a:p>
          <a:p xmlns:a="http://schemas.openxmlformats.org/drawingml/2006/main">
            <a:r>
              <a:t>Live October 1, 2027 (sections 7 to 12 take effect in 2026, but the duties attach only to technology deployed on or after October 1, 2027):</a:t>
            </a:r>
            <a:endParaRPr/>
          </a:p>
          <a:p xmlns:a="http://schemas.openxmlformats.org/drawingml/2006/main">
            <a:r>
              <a:t/>
            </a:r>
            <a:endParaRPr/>
          </a:p>
          <a:p xmlns:a="http://schemas.openxmlformats.org/drawingml/2006/main">
            <a:r>
              <a:t>- Scope is set by "substantial factor," defined as a factor that meaningfully alters the outcome of an employment-related decision. Covered decisions are hiring, promotion, discipline, discharge, renewal, selection for training or apprenticeship, and terms, privileges or conditions of employment. Carved out: nonmaterial changes to job tasks or hours, and decisions about workplace health and safety, scheduling, and productivity monitoring.</a:t>
            </a:r>
            <a:endParaRPr/>
          </a:p>
          <a:p xmlns:a="http://schemas.openxmlformats.org/drawingml/2006/main">
            <a:r>
              <a:t>- Developers must give deployers the information deployers need to meet their duties, but only where the tool was advertised, marketed, configured, contracted for, sold, or licensed to materially influence an employment decision.</a:t>
            </a:r>
            <a:endParaRPr/>
          </a:p>
          <a:p xmlns:a="http://schemas.openxmlformats.org/drawingml/2006/main">
            <a:r>
              <a:t>- Deployers must disclose in plain language when an employee or applicant is interacting with the technology, unless a reasonable person would find it obvious.</a:t>
            </a:r>
            <a:endParaRPr/>
          </a:p>
          <a:p xmlns:a="http://schemas.openxmlformats.org/drawingml/2006/main">
            <a:r>
              <a:t>- Before the decision is made, deployers must give written notice covering six specific points: that the technology was deployed, its purpose and the nature of the decision, the tool's trade name, the categories of personal data analyzed and how they will be assessed, the sources of that data, and deployer contact information.</a:t>
            </a:r>
            <a:endParaRPr/>
          </a:p>
          <a:p xmlns:a="http://schemas.openxmlformats.org/drawingml/2006/main">
            <a:r>
              <a:t>- Trade secrets can be withheld, but the withholding party must send notice saying what is being withheld and why.</a:t>
            </a:r>
            <a:endParaRPr/>
          </a:p>
          <a:p xmlns:a="http://schemas.openxmlformats.org/drawingml/2006/main">
            <a:r>
              <a:t/>
            </a:r>
            <a:endParaRPr/>
          </a:p>
          <a:p xmlns:a="http://schemas.openxmlformats.org/drawingml/2006/main">
            <a:r>
              <a:t>Enforcement is narrower than the obligations suggest: violations are unfair or deceptive trade practices under CUTPA, enforced **solely by the Attorney General**, with an explicit statement that the act creates **no private right of action**. Violations occurring on or before December 31, 2027 carry a 60-day cure period.</a:t>
            </a:r>
            <a:endParaRPr/>
          </a:p>
          <a:p xmlns:a="http://schemas.openxmlformats.org/drawingml/2006/main">
            <a:r>
              <a:t/>
            </a:r>
            <a:endParaRPr/>
          </a:p>
          <a:p xmlns:a="http://schemas.openxmlformats.org/drawingml/2006/main">
            <a:r>
              <a:t>One provision to catch in procurement: Section 8(c) lets a developer contract to assume the deployer's disclosure and notice duties, provided the contract is explicit about which duties transfer. That is a negotiating lever worth asking every vendor about. See the [vendor intake checklist](../03-governance/vendor-intake-checklist.md).</a:t>
            </a:r>
            <a:endParaRPr/>
          </a:p>
          <a:p xmlns:a="http://schemas.openxmlformats.org/drawingml/2006/main">
            <a:r>
              <a:t/>
            </a:r>
            <a:endParaRPr/>
          </a:p>
          <a:p xmlns:a="http://schemas.openxmlformats.org/drawingml/2006/main">
            <a:r>
              <a:t>*California: FEHA algorithmic discrimination rules and CPPA ADMT regulations:*</a:t>
            </a:r>
            <a:endParaRPr/>
          </a:p>
          <a:p xmlns:a="http://schemas.openxmlformats.org/drawingml/2006/main">
            <a:r>
              <a:t>The Civil Rights Council's FEHA regulations on automated decision systems took effect October 1, 2025: they prohibit AI-driven disparate treatment or disparate impact in employment decisions, require four years of recordkeeping, and hold employers liable for discriminatory outcomes even when the tool comes from a third-party vendor. Separately, the [CPPA regulation package](https://cppa.ca.gov/announcements/2025/20250923.html) took effect January 1, 2026. Covered businesses must begin risk-assessment compliance in 2026; ADMT notice and consumer-rights compliance begins January 1, 2027. These dates govern different duties. Review the [final regulations](https://cppa.ca.gov/regulations/ccpa_updates.html) for scope, opt-out exceptions, appeal conditions, and transition rules for processing already underway.</a:t>
            </a:r>
            <a:endParaRPr/>
          </a:p>
          <a:p xmlns:a="http://schemas.openxmlformats.org/drawingml/2006/main">
            <a:r>
              <a:t/>
            </a:r>
            <a:endParaRPr/>
          </a:p>
          <a:p xmlns:a="http://schemas.openxmlformats.org/drawingml/2006/main">
            <a:r>
              <a:t>Four California workplace bills were approved and chaptered on 30 September 2026. All four are enacted law, with obligations beginning in 2027. The chaptered texts were reviewed on 9 October 2026. AB 1883, SB 951, and AB 1331 take effect on 1 January 2027 under [California Constitution Article IV, section 8(c)(1)](https://leginfo.legislature.ca.gov/faces/codes_displayText.xhtml?lawCode=CONS&amp;division=&amp;title=&amp;part=&amp;chapter=&amp;article=IV); none contains an urgency clause or a later operative-date provision. SB 947 takes effect on that date but expressly makes its new Labor Code part operative on 1 July 2027. See the [source register](../03-governance/claims/california-workplace-laws.json) and the [Governor's signing announcement](https://www.gov.ca.gov/2026/09/30/californias-nation-leading-ai-framework-just-got-stronger-governor-newsom-signs-more-first-in-the-nation-worker-protections-and-more/).</a:t>
            </a:r>
            <a:endParaRPr/>
          </a:p>
          <a:p xmlns:a="http://schemas.openxmlformats.org/drawingml/2006/main">
            <a:r>
              <a:t/>
            </a:r>
            <a:endParaRPr/>
          </a:p>
          <a:p xmlns:a="http://schemas.openxmlformats.org/drawingml/2006/main">
            <a:r>
              <a:t>- **[AB 1883](https://leginfo.legislature.ca.gov/faces/billNavClient.xhtml?bill_id=202520260AB1883)** (workplace surveillance tools, Chapter 853, Statutes of 2026) adds Labor Code Part 5.8 to bar employers from using AI-driven surveillance tools to recognize or infer an employee's emotional state, or to collect neural data, meaning data measured from the central or peripheral nervous system and not inferred from nonneural information. Safety uses are preserved, and there is a narrow carve-out for federally mandated aerospace and national security work. Enforcement runs through the Labor Commissioner or a public prosecutor, with penalties up to $500 per violation. It was enrolled on 3 September 2026 and approved by the Governor on 30 September 2026. Some published summaries report 3 September as the signing date; that is the enrollment date.</a:t>
            </a:r>
            <a:endParaRPr/>
          </a:p>
          <a:p xmlns:a="http://schemas.openxmlformats.org/drawingml/2006/main">
            <a:r>
              <a:t>- **[SB 947](https://leginfo.legislature.ca.gov/faces/billTextClient.xhtml?bill_id=202520260SB947)** (the "No Robo Bosses Act," Chapter 859, Statutes of 2026) is **operative 1 July 2027**, under new Labor Code section 1526.7. It bars sole reliance on an ADS for discipline or termination. Primary reliance requires human corroboration and written post-use notice when the decision is communicated. If corroboration fails, or the reviewer finds the output inaccurate, incomplete, or misleading, the employer must not use that output for the decision. The employee may request a meaningful description of their own data used by the ADS. Check the collective bargaining and federal-operation exceptions in sections 1526.5 and 1526.6.</a:t>
            </a:r>
            <a:endParaRPr/>
          </a:p>
          <a:p xmlns:a="http://schemas.openxmlformats.org/drawingml/2006/main">
            <a:r>
              <a:t>- **[SB 951](https://leginfo.legislature.ca.gov/faces/billTextClient.xhtml?bill_id=202520260SB951)** (Chapter 860, Statutes of 2026), **effective 1 January 2027**, adds technology-displacement information to an otherwise required Cal/WARN notice when AI or automation causes the event wholly or substantially. New Labor Code section 1401(d) requires affected jobs and locations, functions being automated, the technology category, and a technology-displacement heading. It retains the existing 60-day notice period. It does not enact the earlier proposal for a 90-day notice or an employer hiring-freeze notice; section 1402.7 instead requires an EDD study by 1 January 2028. Assess Cal/WARN coverage and exceptions before applying the notice requirement.</a:t>
            </a:r>
            <a:endParaRPr/>
          </a:p>
          <a:p xmlns:a="http://schemas.openxmlformats.org/drawingml/2006/main">
            <a:r>
              <a:t>- **[AB 1331](https://leginfo.legislature.ca.gov/faces/billTextClient.xhtml?bill_id=202520260AB1331)** (Chapter 851, Statutes of 2026), **effective 1 January 2027**, limits workplace bathroom surveillance and lets employees leave surveillance tools behind when entering a bathroom. New Labor Code section 1561 includes exceptions for court orders, one-time entry/exit checks, voluntary possession, and certain identification or safety devices. The tool definition reaches beyond AI. Review the full exceptions in sections 1561, 1564, and 1565 before changing monitoring practices.</a:t>
            </a:r>
            <a:endParaRPr/>
          </a:p>
          <a:p xmlns:a="http://schemas.openxmlformats.org/drawingml/2006/main">
            <a:r>
              <a:t/>
            </a:r>
            <a:endParaRPr/>
          </a:p>
          <a:p xmlns:a="http://schemas.openxmlformats.org/drawingml/2006/main">
            <a:r>
              <a:t>*Texas: Responsible AI Governance Act (TRAIGA):*</a:t>
            </a:r>
            <a:endParaRPr/>
          </a:p>
          <a:p xmlns:a="http://schemas.openxmlformats.org/drawingml/2006/main">
            <a:r>
              <a:t>Effective January 1, 2026 (HB 149, signed June 22, 2025). Narrower than Illinois or Colorado: TRAIGA prohibits intentional AI-based discrimination but does not create disparate impact liability, and the Attorney General has exclusive enforcement authority with a 60-day cure period before action.</a:t>
            </a:r>
            <a:endParaRPr/>
          </a:p>
          <a:p xmlns:a="http://schemas.openxmlformats.org/drawingml/2006/main">
            <a:r>
              <a:t/>
            </a:r>
            <a:endParaRPr/>
          </a:p>
          <a:p xmlns:a="http://schemas.openxmlformats.org/drawingml/2006/main">
            <a:r>
              <a:t>*New Jersey: no AI statute, but existing discrimination law already reaches AI:*</a:t>
            </a:r>
            <a:endParaRPr/>
          </a:p>
          <a:p xmlns:a="http://schemas.openxmlformats.org/drawingml/2006/main">
            <a:r>
              <a:t>New Jersey is the case that breaks the habit of scanning for AI-specific bills. It has no AI hiring statute. In January 2025 the Office of the Attorney General and the Division on Civil Rights issued guidance stating that the Law Against Discrimination (N.J.S.A. 10:5-1 et seq.) applies to algorithmic discrimination the same way it has long applied to other discriminatory conduct, in employment among other contexts. Three points matter for HR practice:</a:t>
            </a:r>
            <a:endParaRPr/>
          </a:p>
          <a:p xmlns:a="http://schemas.openxmlformats.org/drawingml/2006/main">
            <a:r>
              <a:t/>
            </a:r>
            <a:endParaRPr/>
          </a:p>
          <a:p xmlns:a="http://schemas.openxmlformats.org/drawingml/2006/main">
            <a:r>
              <a:t>- **No intent required, and a vendor tool is not a defense.** The guidance states that a covered entity "is not shielded from liability for algorithmic discrimination that results from the entity's use of an automated decision-making tool simply because the tool was developed by a third party or because the entity does not understand the inner workings of the tool."</a:t>
            </a:r>
            <a:endParaRPr/>
          </a:p>
          <a:p xmlns:a="http://schemas.openxmlformats.org/drawingml/2006/main">
            <a:r>
              <a:t>- **Disparate impact is covered.** Use of a tool with a disproportionate effect on a protected class is prohibited unless it is necessary to achieve a substantial, legitimate, nondiscriminatory interest and there is no less discriminatory alternative. Whether the employer tested the tool for bias or evaluated alternatives may be weighed as relevant evidence, which is the same pattern as Connecticut: your fairness audit becomes evidence.</a:t>
            </a:r>
            <a:endParaRPr/>
          </a:p>
          <a:p xmlns:a="http://schemas.openxmlformats.org/drawingml/2006/main">
            <a:r>
              <a:t>- **Reasonable accommodations are in scope.** A tool can violate the LAD by being inaccessible or by penalizing someone who uses an accommodation. The guidance's example is a typing-speed screen that cannot read a non-traditional keyboard.</a:t>
            </a:r>
            <a:endParaRPr/>
          </a:p>
          <a:p xmlns:a="http://schemas.openxmlformats.org/drawingml/2006/main">
            <a:r>
              <a:t/>
            </a:r>
            <a:endParaRPr/>
          </a:p>
          <a:p xmlns:a="http://schemas.openxmlformats.org/drawingml/2006/main">
            <a:r>
              <a:t>Two limits to state accurately when you teach this. The guidance is interpretive: it says on its face that it imposes no requirements beyond the LAD and will not be enforced as a substitute for enforcing the LAD. And it carries no effective date, because the underlying statute has been in force for decades. Do not present it as a new obligation that switched on in 2025. The takeaway for the class is the general one: a state with no AI bill is not a state with no AI exposure.</a:t>
            </a:r>
            <a:endParaRPr/>
          </a:p>
          <a:p xmlns:a="http://schemas.openxmlformats.org/drawingml/2006/main">
            <a:r>
              <a:t/>
            </a:r>
            <a:endParaRPr/>
          </a:p>
          <a:p xmlns:a="http://schemas.openxmlformats.org/drawingml/2006/main">
            <a:r>
              <a:t>*GDPR and CCPA:*</a:t>
            </a:r>
            <a:endParaRPr/>
          </a:p>
          <a:p xmlns:a="http://schemas.openxmlformats.org/drawingml/2006/main">
            <a:r>
              <a:t>Employees in covered jurisdictions have rights regarding automated decision-making. Know which of your employees are covered and how your AI use cases interact with their rights. See the California-specific rules above for the current state of play there.</a:t>
            </a:r>
            <a:endParaRPr/>
          </a:p>
          <a:p xmlns:a="http://schemas.openxmlformats.org/drawingml/2006/main">
            <a:r>
              <a:t/>
            </a:r>
            <a:endParaRPr/>
          </a:p>
          <a:p xmlns:a="http://schemas.openxmlformats.org/drawingml/2006/main">
            <a:r>
              <a:t>*UK: Data (Use and Access) Act 2025 replaces GDPR Article 22:*</a:t>
            </a:r>
            <a:endParaRPr/>
          </a:p>
          <a:p xmlns:a="http://schemas.openxmlformats.org/drawingml/2006/main">
            <a:r>
              <a:t>Section 80 of the UK's Data (Use and Access) Act 2025 took effect February 5, 2026 (Commencement Regulations SI 2026/82) and substitutes Article 22 of the UK GDPR with new Articles 22A to 22D. The new regime permits solely automated "significant decisions," those with a legal or similarly significant effect, more broadly than before, but requires safeguards: notice to the individual, the ability to make representations, the right to human intervention, and the right to contest the decision. Stricter restrictions still apply where special category data is used. Treat this as a distinct regime from EU GDPR Article 22, not an equivalent, for any AI use case touching UK-based workers or candidates.</a:t>
            </a:r>
            <a:endParaRPr/>
          </a:p>
          <a:p xmlns:a="http://schemas.openxmlformats.org/drawingml/2006/main">
            <a:r>
              <a:t/>
            </a:r>
            <a:endParaRPr/>
          </a:p>
          <a:p xmlns:a="http://schemas.openxmlformats.org/drawingml/2006/main">
            <a:r>
              <a:t>The ICO is already signaling how it will police this in recruitment specifically. A March 2026 ICO report on automated decision-making in hiring found many employers don't recognize they're doing ADM at all, and that "human review" in practice often amounts to rubber-stamping rather than a reviewer with real authority to change the outcome. Following that report, the ICO opened a consultation on draft ADM guidance, worth checking for the final version before relying on the March findings alone. Build the oversight role description to survive that scrutiny, not just to check the box.</a:t>
            </a:r>
            <a:endParaRPr/>
          </a:p>
          <a:p xmlns:a="http://schemas.openxmlformats.org/drawingml/2006/main">
            <a:r>
              <a:t/>
            </a:r>
            <a:endParaRPr/>
          </a:p>
          <a:p xmlns:a="http://schemas.openxmlformats.org/drawingml/2006/main">
            <a:r>
              <a:t>*Canada: no federal AI employment law, but Ontario requires disclosure:*</a:t>
            </a:r>
            <a:endParaRPr/>
          </a:p>
          <a:p xmlns:a="http://schemas.openxmlformats.org/drawingml/2006/main">
            <a:r>
              <a:t>Canada's federal AI bill (AIDA, part of Bill C-27) died when Parliament prorogued in January 2025 and has not been revived. AI regulation there runs through existing privacy, human rights, and sector law instead. Ontario is the exception: since January 1, 2026, employers with 25+ employees must disclose in publicly advertised job postings whether AI is used to screen, assess, or select candidates (Employment Standards Act, 2000 amendment).</a:t>
            </a:r>
            <a:endParaRPr/>
          </a:p>
          <a:p xmlns:a="http://schemas.openxmlformats.org/drawingml/2006/main">
            <a:r>
              <a:t/>
            </a:r>
            <a:endParaRPr/>
          </a:p>
          <a:p xmlns:a="http://schemas.openxmlformats.org/drawingml/2006/main">
            <a:r>
              <a:t>*The "AI as a manager" trap:*</a:t>
            </a:r>
            <a:endParaRPr/>
          </a:p>
          <a:p xmlns:a="http://schemas.openxmlformats.org/drawingml/2006/main">
            <a:r>
              <a:t>AI that monitors, evaluates, or scores employees without their knowledge, even for legitimate purposes, creates legal and trust exposure. Transparency is not just ethical, it's protective.</a:t>
            </a:r>
            <a:endParaRPr/>
          </a:p>
          <a:p xmlns:a="http://schemas.openxmlformats.org/drawingml/2006/main">
            <a:r>
              <a:t/>
            </a:r>
            <a:endParaRPr/>
          </a:p>
          <a:p xmlns:a="http://schemas.openxmlformats.org/drawingml/2006/main">
            <a:r>
              <a:t>**Scenario practice cards:**</a:t>
            </a:r>
            <a:endParaRPr/>
          </a:p>
          <a:p xmlns:a="http://schemas.openxmlformats.org/drawingml/2006/main">
            <a:r>
              <a:t/>
            </a:r>
            <a:endParaRPr/>
          </a:p>
          <a:p xmlns:a="http://schemas.openxmlformats.org/drawingml/2006/main">
            <a:r>
              <a:t>Print or share these four scenarios. Groups of 3–4 discuss: Is this use appropriate? What are the risks? What would you change?</a:t>
            </a:r>
            <a:endParaRPr/>
          </a:p>
          <a:p xmlns:a="http://schemas.openxmlformats.org/drawingml/2006/main">
            <a:r>
              <a:t/>
            </a:r>
            <a:endParaRPr/>
          </a:p>
          <a:p xmlns:a="http://schemas.openxmlformats.org/drawingml/2006/main">
            <a:r>
              <a:t>&gt; **Scenario A:** An AI tool automatically rejects resumes with gaps of more than 6 months without showing them to a recruiter.</a:t>
            </a:r>
            <a:endParaRPr/>
          </a:p>
          <a:p xmlns:a="http://schemas.openxmlformats.org/drawingml/2006/main">
            <a:r>
              <a:t/>
            </a:r>
            <a:endParaRPr/>
          </a:p>
          <a:p xmlns:a="http://schemas.openxmlformats.org/drawingml/2006/main">
            <a:r>
              <a:t>&gt; **Scenario B:** An HRBP uses an AI writing assistant to draft a PIP for an employee, then reviews and edits it before sharing with the manager.</a:t>
            </a:r>
            <a:endParaRPr/>
          </a:p>
          <a:p xmlns:a="http://schemas.openxmlformats.org/drawingml/2006/main">
            <a:r>
              <a:t/>
            </a:r>
            <a:endParaRPr/>
          </a:p>
          <a:p xmlns:a="http://schemas.openxmlformats.org/drawingml/2006/main">
            <a:r>
              <a:t>&gt; **Scenario C:** People Analytics builds an attrition risk model that scores all employees monthly and shares the scores directly with managers.</a:t>
            </a:r>
            <a:endParaRPr/>
          </a:p>
          <a:p xmlns:a="http://schemas.openxmlformats.org/drawingml/2006/main">
            <a:r>
              <a:t/>
            </a:r>
            <a:endParaRPr/>
          </a:p>
          <a:p xmlns:a="http://schemas.openxmlformats.org/drawingml/2006/main">
            <a:r>
              <a:t>&gt; **Scenario D:** An AI chatbot answers benefits questions for employees. It sometimes gives incorrect information but flags that users should confirm with HR.</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4: Building and scaling AI use cases</a:t>
            </a:r>
            <a:endParaRPr/>
          </a:p>
          <a:p xmlns:a="http://schemas.openxmlformats.org/drawingml/2006/main">
            <a:r>
              <a:t/>
            </a:r>
            <a:endParaRPr/>
          </a:p>
          <a:p xmlns:a="http://schemas.openxmlformats.org/drawingml/2006/main">
            <a:r>
              <a:t>**Learning objectives:**</a:t>
            </a:r>
            <a:endParaRPr/>
          </a:p>
          <a:p xmlns:a="http://schemas.openxmlformats.org/drawingml/2006/main">
            <a:r>
              <a:t>- Apply the prioritization matrix to identify your team's highest-value AI use cases</a:t>
            </a:r>
            <a:endParaRPr/>
          </a:p>
          <a:p xmlns:a="http://schemas.openxmlformats.org/drawingml/2006/main">
            <a:r>
              <a:t>- Define a use case with clear success metrics and governance requirements</a:t>
            </a:r>
            <a:endParaRPr/>
          </a:p>
          <a:p xmlns:a="http://schemas.openxmlformats.org/drawingml/2006/main">
            <a:r>
              <a:t>- Draft a basic implementation plan for a low-complexity use case</a:t>
            </a:r>
            <a:endParaRPr/>
          </a:p>
          <a:p xmlns:a="http://schemas.openxmlformats.org/drawingml/2006/main">
            <a:r>
              <a:t/>
            </a:r>
            <a:endParaRPr/>
          </a:p>
          <a:p xmlns:a="http://schemas.openxmlformats.org/drawingml/2006/main">
            <a:r>
              <a:t>**Session outline (2 hours):**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Opening: What does "scaling AI in HR" actually mean? |</a:t>
            </a:r>
            <a:endParaRPr/>
          </a:p>
          <a:p xmlns:a="http://schemas.openxmlformats.org/drawingml/2006/main">
            <a:r>
              <a:t>| 0:15–0:45 | Framework: From idea to deployment, the use case lifecycle |</a:t>
            </a:r>
            <a:endParaRPr/>
          </a:p>
          <a:p xmlns:a="http://schemas.openxmlformats.org/drawingml/2006/main">
            <a:r>
              <a:t>| 0:45–1:15 | Team exercise: Prioritization matrix applied to your team's top 5 ideas |</a:t>
            </a:r>
            <a:endParaRPr/>
          </a:p>
          <a:p xmlns:a="http://schemas.openxmlformats.org/drawingml/2006/main">
            <a:r>
              <a:t>| 1:15–1:45 | Small group: Draft a one-page use case spec for your top-ranked idea |</a:t>
            </a:r>
            <a:endParaRPr/>
          </a:p>
          <a:p xmlns:a="http://schemas.openxmlformats.org/drawingml/2006/main">
            <a:r>
              <a:t>| 1:45–2:00 | Gallery walk + feedback |</a:t>
            </a:r>
            <a:endParaRPr/>
          </a:p>
          <a:p xmlns:a="http://schemas.openxmlformats.org/drawingml/2006/main">
            <a:r>
              <a:t/>
            </a:r>
            <a:endParaRPr/>
          </a:p>
          <a:p xmlns:a="http://schemas.openxmlformats.org/drawingml/2006/main">
            <a:r>
              <a:t>**Use case lifecycle:**</a:t>
            </a:r>
            <a:endParaRPr/>
          </a:p>
          <a:p xmlns:a="http://schemas.openxmlformats.org/drawingml/2006/main">
            <a:r>
              <a:t/>
            </a:r>
            <a:endParaRPr/>
          </a:p>
          <a:p xmlns:a="http://schemas.openxmlformats.org/drawingml/2006/main">
            <a:r>
              <a:t>```</a:t>
            </a:r>
            <a:endParaRPr/>
          </a:p>
          <a:p xmlns:a="http://schemas.openxmlformats.org/drawingml/2006/main">
            <a:r>
              <a:t>Discover → Prioritize → Design → Pilot → Evaluate → Scale</a:t>
            </a:r>
            <a:endParaRPr/>
          </a:p>
          <a:p xmlns:a="http://schemas.openxmlformats.org/drawingml/2006/main">
            <a:r>
              <a:t>   ↑                                          |</a:t>
            </a:r>
            <a:endParaRPr/>
          </a:p>
          <a:p xmlns:a="http://schemas.openxmlformats.org/drawingml/2006/main">
            <a:r>
              <a:t>   └──────────────── iterate ─────────────────┘</a:t>
            </a:r>
            <a:endParaRPr/>
          </a:p>
          <a:p xmlns:a="http://schemas.openxmlformats.org/drawingml/2006/main">
            <a:r>
              <a:t>```</a:t>
            </a:r>
            <a:endParaRPr/>
          </a:p>
          <a:p xmlns:a="http://schemas.openxmlformats.org/drawingml/2006/main">
            <a:r>
              <a:t/>
            </a:r>
            <a:endParaRPr/>
          </a:p>
          <a:p xmlns:a="http://schemas.openxmlformats.org/drawingml/2006/main">
            <a:r>
              <a:t>- **Discover:** What problem are we solving? Who feels it most?</a:t>
            </a:r>
            <a:endParaRPr/>
          </a:p>
          <a:p xmlns:a="http://schemas.openxmlformats.org/drawingml/2006/main">
            <a:r>
              <a:t>- **Prioritize:** Use the matrix. Don't skip this.</a:t>
            </a:r>
            <a:endParaRPr/>
          </a:p>
          <a:p xmlns:a="http://schemas.openxmlformats.org/drawingml/2006/main">
            <a:r>
              <a:t>- **Design:** Define inputs, outputs, human review gates, success metrics, and fallback</a:t>
            </a:r>
            <a:endParaRPr/>
          </a:p>
          <a:p xmlns:a="http://schemas.openxmlformats.org/drawingml/2006/main">
            <a:r>
              <a:t>- **Pilot:** Small scope, high observation. 4–8 weeks.</a:t>
            </a:r>
            <a:endParaRPr/>
          </a:p>
          <a:p xmlns:a="http://schemas.openxmlformats.org/drawingml/2006/main">
            <a:r>
              <a:t>- **Evaluate:** Did it work? For whom? What didn't?</a:t>
            </a:r>
            <a:endParaRPr/>
          </a:p>
          <a:p xmlns:a="http://schemas.openxmlformats.org/drawingml/2006/main">
            <a:r>
              <a:t>- **Scale:** Expand with the lessons from pilot baked in</a:t>
            </a:r>
            <a:endParaRPr/>
          </a:p>
          <a:p xmlns:a="http://schemas.openxmlformats.org/drawingml/2006/main">
            <a:r>
              <a:t/>
            </a:r>
            <a:endParaRPr/>
          </a:p>
          <a:p xmlns:a="http://schemas.openxmlformats.org/drawingml/2006/main">
            <a:r>
              <a:t>**One-page use case spec template:**</a:t>
            </a:r>
            <a:endParaRPr/>
          </a:p>
          <a:p xmlns:a="http://schemas.openxmlformats.org/drawingml/2006/main">
            <a:r>
              <a:t/>
            </a:r>
            <a:endParaRPr/>
          </a:p>
          <a:p xmlns:a="http://schemas.openxmlformats.org/drawingml/2006/main">
            <a:r>
              <a:t>Participants complete this for their team's top-ranked use case:</a:t>
            </a:r>
            <a:endParaRPr/>
          </a:p>
          <a:p xmlns:a="http://schemas.openxmlformats.org/drawingml/2006/main">
            <a:r>
              <a:t/>
            </a:r>
            <a:endParaRPr/>
          </a:p>
          <a:p xmlns:a="http://schemas.openxmlformats.org/drawingml/2006/main">
            <a:r>
              <a:t>```</a:t>
            </a:r>
            <a:endParaRPr/>
          </a:p>
          <a:p xmlns:a="http://schemas.openxmlformats.org/drawingml/2006/main">
            <a:r>
              <a:t>Use case name:</a:t>
            </a:r>
            <a:endParaRPr/>
          </a:p>
          <a:p xmlns:a="http://schemas.openxmlformats.org/drawingml/2006/main">
            <a:r>
              <a:t>Problem it solves (1 sentence):</a:t>
            </a:r>
            <a:endParaRPr/>
          </a:p>
          <a:p xmlns:a="http://schemas.openxmlformats.org/drawingml/2006/main">
            <a:r>
              <a:t>Who benefits and how:</a:t>
            </a:r>
            <a:endParaRPr/>
          </a:p>
          <a:p xmlns:a="http://schemas.openxmlformats.org/drawingml/2006/main">
            <a:r>
              <a:t>AI approach (Rules / Augment / Assist / Human-led / Analytics):</a:t>
            </a:r>
            <a:endParaRPr/>
          </a:p>
          <a:p xmlns:a="http://schemas.openxmlformats.org/drawingml/2006/main">
            <a:r>
              <a:t>Data needed:</a:t>
            </a:r>
            <a:endParaRPr/>
          </a:p>
          <a:p xmlns:a="http://schemas.openxmlformats.org/drawingml/2006/main">
            <a:r>
              <a:t>Human review gate:</a:t>
            </a:r>
            <a:endParaRPr/>
          </a:p>
          <a:p xmlns:a="http://schemas.openxmlformats.org/drawingml/2006/main">
            <a:r>
              <a:t>Success metric(s):</a:t>
            </a:r>
            <a:endParaRPr/>
          </a:p>
          <a:p xmlns:a="http://schemas.openxmlformats.org/drawingml/2006/main">
            <a:r>
              <a:t>What could go wrong:</a:t>
            </a:r>
            <a:endParaRPr/>
          </a:p>
          <a:p xmlns:a="http://schemas.openxmlformats.org/drawingml/2006/main">
            <a:r>
              <a:t>Governance requirements (from risk assessment):</a:t>
            </a:r>
            <a:endParaRPr/>
          </a:p>
          <a:p xmlns:a="http://schemas.openxmlformats.org/drawingml/2006/main">
            <a:r>
              <a:t>First step to move forward:</a:t>
            </a:r>
            <a:endParaRPr/>
          </a:p>
          <a:p xmlns:a="http://schemas.openxmlformats.org/drawingml/2006/main">
            <a:r>
              <a:t>```</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Assessment and certification</a:t>
            </a:r>
            <a:endParaRPr/>
          </a:p>
          <a:p xmlns:a="http://schemas.openxmlformats.org/drawingml/2006/main">
            <a:r>
              <a:t/>
            </a:r>
            <a:endParaRPr/>
          </a:p>
          <a:p xmlns:a="http://schemas.openxmlformats.org/drawingml/2006/main">
            <a:r>
              <a:t>An organization may choose to give participants who complete all four modules</a:t>
            </a:r>
            <a:endParaRPr/>
          </a:p>
          <a:p xmlns:a="http://schemas.openxmlformats.org/drawingml/2006/main">
            <a:r>
              <a:t>and the hands-on components an **HR AI Practitioner** acknowledgment. This is a</a:t>
            </a:r>
            <a:endParaRPr/>
          </a:p>
          <a:p xmlns:a="http://schemas.openxmlformats.org/drawingml/2006/main">
            <a:r>
              <a:t>proposed internal recognition, not an accredited certification or evidence of</a:t>
            </a:r>
            <a:endParaRPr/>
          </a:p>
          <a:p xmlns:a="http://schemas.openxmlformats.org/drawingml/2006/main">
            <a:r>
              <a:t>professional competence. No delivery or learning outcome is claimed here.</a:t>
            </a:r>
            <a:endParaRPr/>
          </a:p>
          <a:p xmlns:a="http://schemas.openxmlformats.org/drawingml/2006/main">
            <a:r>
              <a:t/>
            </a:r>
            <a:endParaRPr/>
          </a:p>
          <a:p xmlns:a="http://schemas.openxmlformats.org/drawingml/2006/main">
            <a:r>
              <a:t>Optional extension: Participants who complete a full use case spec and present it to the HR Technology team are recognized as **HR AI Champions**, an informal internal designation that supports peer enablement.</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Facilitator notes</a:t>
            </a:r>
            <a:endParaRPr/>
          </a:p>
          <a:p xmlns:a="http://schemas.openxmlformats.org/drawingml/2006/main">
            <a:r>
              <a:t/>
            </a:r>
            <a:endParaRPr/>
          </a:p>
          <a:p xmlns:a="http://schemas.openxmlformats.org/drawingml/2006/main">
            <a:r>
              <a:t>These are facilitation suggestions, not measured delivery findings. Use synthetic examples; removing names alone does not establish anonymity. Do not upload real employee, candidate, compensation, or employer-confidential information for a training exercise.</a:t>
            </a:r>
            <a:endParaRPr/>
          </a:p>
          <a:p xmlns:a="http://schemas.openxmlformats.org/drawingml/2006/main">
            <a:r>
              <a:t/>
            </a:r>
            <a:endParaRPr/>
          </a:p>
          <a:p xmlns:a="http://schemas.openxmlformats.org/drawingml/2006/main">
            <a:r>
              <a:t>- Budget flex time in Module 3 for questions and disagreement about risk.</a:t>
            </a:r>
            <a:endParaRPr/>
          </a:p>
          <a:p xmlns:a="http://schemas.openxmlformats.org/drawingml/2006/main">
            <a:r>
              <a:t>- Protect time for the Module 2 lab, and check whether participants can identify errors and verify outputs afterward.</a:t>
            </a:r>
            <a:endParaRPr/>
          </a:p>
          <a:p xmlns:a="http://schemas.openxmlformats.org/drawingml/2006/main">
            <a:r>
              <a:t>- Adapt synthetic scenarios to familiar workflows, without identifiable employee cases or confidential documents.</a:t>
            </a:r>
            <a:endParaRPr/>
          </a:p>
          <a:p xmlns:a="http://schemas.openxmlformats.org/drawingml/2006/main">
            <a:r>
              <a:t>- Keep an AI skeptic on the facilitation team if possible. The best discussions happen when the room has range.</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snapshot: 13 October 2026. Curriculum SHA-256: 5ee769258ac9b95a3c514b64dcd5b22215e40bac8621054ffb452bffc244827a. This deck summarizes the source; no human evaluation, delivery outcome or legal approval is claimed.</a:t>
            </a:r>
            <a:endParaRPr/>
          </a:p>
          <a:p xmlns:a="http://schemas.openxmlformats.org/drawingml/2006/main">
            <a:r>
              <a:t/>
            </a:r>
            <a:endParaRPr/>
          </a:p>
          <a:p xmlns:a="http://schemas.openxmlformats.org/drawingml/2006/main">
            <a:r>
              <a:t># HR AI literacy curriculum</a:t>
            </a:r>
            <a:endParaRPr/>
          </a:p>
          <a:p xmlns:a="http://schemas.openxmlformats.org/drawingml/2006/main">
            <a:r>
              <a:t/>
            </a:r>
            <a:endParaRPr/>
          </a:p>
          <a:p xmlns:a="http://schemas.openxmlformats.org/drawingml/2006/main">
            <a:r>
              <a:t>A 4-module learning program for HR professionals at all experience levels. Designed to be delivered as a facilitated series over 4–6 weeks, or adapted for self-paced completion.</a:t>
            </a:r>
            <a:endParaRPr/>
          </a:p>
          <a:p xmlns:a="http://schemas.openxmlformats.org/drawingml/2006/main">
            <a:r>
              <a:t/>
            </a:r>
            <a:endParaRPr/>
          </a:p>
          <a:p xmlns:a="http://schemas.openxmlformats.org/drawingml/2006/main">
            <a:r>
              <a:t>**Total time:** about 7 hours of sessions, plus async reading and hands-on practice (roughly 8 hours in all)</a:t>
            </a:r>
            <a:endParaRPr/>
          </a:p>
          <a:p xmlns:a="http://schemas.openxmlformats.org/drawingml/2006/main">
            <a:r>
              <a:t>**Format:** Workshop + async reading + hands-on practice</a:t>
            </a:r>
            <a:endParaRPr/>
          </a:p>
          <a:p xmlns:a="http://schemas.openxmlformats.org/drawingml/2006/main">
            <a:r>
              <a:t>**Audience:** All People Team members</a:t>
            </a:r>
            <a:endParaRPr/>
          </a:p>
          <a:p xmlns:a="http://schemas.openxmlformats.org/drawingml/2006/main">
            <a:r>
              <a:t>**Prerequisite:** None</a:t>
            </a:r>
            <a:endParaRPr/>
          </a:p>
          <a:p xmlns:a="http://schemas.openxmlformats.org/drawingml/2006/main">
            <a:r>
              <a:t/>
            </a:r>
            <a:endParaRPr/>
          </a:p>
          <a:p xmlns:a="http://schemas.openxmlformats.org/drawingml/2006/main">
            <a:r>
              <a:t>**Lab prerequisite:** The facilitator confirms an organization-approved tool,</a:t>
            </a:r>
            <a:endParaRPr/>
          </a:p>
          <a:p xmlns:a="http://schemas.openxmlformats.org/drawingml/2006/main">
            <a:r>
              <a:t>provider handling, and a synthetic-only data boundary before any exercise.</a:t>
            </a:r>
            <a:endParaRPr/>
          </a:p>
          <a:p xmlns:a="http://schemas.openxmlformats.org/drawingml/2006/main">
            <a:r>
              <a:t>Modules 1-3 and the required governance approvals precede any real-work pilot.</a:t>
            </a:r>
            <a:endParaRPr/>
          </a:p>
          <a:p xmlns:a="http://schemas.openxmlformats.org/drawingml/2006/main">
            <a:r>
              <a:t>This curriculum does not authorize employee-data processing.</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Program overview</a:t>
            </a:r>
            <a:endParaRPr/>
          </a:p>
          <a:p xmlns:a="http://schemas.openxmlformats.org/drawingml/2006/main">
            <a:r>
              <a:t/>
            </a:r>
            <a:endParaRPr/>
          </a:p>
          <a:p xmlns:a="http://schemas.openxmlformats.org/drawingml/2006/main">
            <a:r>
              <a:t>| Module | Title | Duration | Format |</a:t>
            </a:r>
            <a:endParaRPr/>
          </a:p>
          <a:p xmlns:a="http://schemas.openxmlformats.org/drawingml/2006/main">
            <a:r>
              <a:t>|---|---|---|---|</a:t>
            </a:r>
            <a:endParaRPr/>
          </a:p>
          <a:p xmlns:a="http://schemas.openxmlformats.org/drawingml/2006/main">
            <a:r>
              <a:t>| 1 | How AI works, what HR professionals actually need to know | 90 min | Workshop |</a:t>
            </a:r>
            <a:endParaRPr/>
          </a:p>
          <a:p xmlns:a="http://schemas.openxmlformats.org/drawingml/2006/main">
            <a:r>
              <a:t>| 2 | Using AI in your daily HR work | 2 hours | Workshop + lab |</a:t>
            </a:r>
            <a:endParaRPr/>
          </a:p>
          <a:p xmlns:a="http://schemas.openxmlformats.org/drawingml/2006/main">
            <a:r>
              <a:t>| 3 | Governance, ethics, and responsible use | 90 min | Workshop |</a:t>
            </a:r>
            <a:endParaRPr/>
          </a:p>
          <a:p xmlns:a="http://schemas.openxmlformats.org/drawingml/2006/main">
            <a:r>
              <a:t>| 4 | Building and scaling AI use cases | 2 hours | Workshop + project |</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1: How AI works, what HR professionals actually need to know</a:t>
            </a:r>
            <a:endParaRPr/>
          </a:p>
          <a:p xmlns:a="http://schemas.openxmlformats.org/drawingml/2006/main">
            <a:r>
              <a:t/>
            </a:r>
            <a:endParaRPr/>
          </a:p>
          <a:p xmlns:a="http://schemas.openxmlformats.org/drawingml/2006/main">
            <a:r>
              <a:t>**Learning objectives:**</a:t>
            </a:r>
            <a:endParaRPr/>
          </a:p>
          <a:p xmlns:a="http://schemas.openxmlformats.org/drawingml/2006/main">
            <a:r>
              <a:t>- Explain the difference between traditional automation and generative AI</a:t>
            </a:r>
            <a:endParaRPr/>
          </a:p>
          <a:p xmlns:a="http://schemas.openxmlformats.org/drawingml/2006/main">
            <a:r>
              <a:t>- Describe why AI "hallucinates" and how to mitigate it in HR contexts</a:t>
            </a:r>
            <a:endParaRPr/>
          </a:p>
          <a:p xmlns:a="http://schemas.openxmlformats.org/drawingml/2006/main">
            <a:r>
              <a:t>- Identify which HR tasks are good candidates for AI assistance and which are not</a:t>
            </a:r>
            <a:endParaRPr/>
          </a:p>
          <a:p xmlns:a="http://schemas.openxmlformats.org/drawingml/2006/main">
            <a:r>
              <a:t/>
            </a:r>
            <a:endParaRPr/>
          </a:p>
          <a:p xmlns:a="http://schemas.openxmlformats.org/drawingml/2006/main">
            <a:r>
              <a:t>**Session outline (90 minutes):**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0:00–0:10 | Opening: What do you already believe about AI? (quick poll + discussion) |</a:t>
            </a:r>
            <a:endParaRPr/>
          </a:p>
          <a:p xmlns:a="http://schemas.openxmlformats.org/drawingml/2006/main">
            <a:r>
              <a:t>| 0:10–0:30 | Concept: How LLMs work, without the jargon (facilitator presentation) |</a:t>
            </a:r>
            <a:endParaRPr/>
          </a:p>
          <a:p xmlns:a="http://schemas.openxmlformats.org/drawingml/2006/main">
            <a:r>
              <a:t>| 0:30–0:45 | Concept: Hallucination, confidence, and why AI makes things up |</a:t>
            </a:r>
            <a:endParaRPr/>
          </a:p>
          <a:p xmlns:a="http://schemas.openxmlformats.org/drawingml/2006/main">
            <a:r>
              <a:t>| 0:45–1:05 | Exercise: Spot the hallucination (participants identify errors in AI-generated HR content) |</a:t>
            </a:r>
            <a:endParaRPr/>
          </a:p>
          <a:p xmlns:a="http://schemas.openxmlformats.org/drawingml/2006/main">
            <a:r>
              <a:t>| 1:05–1:20 | Discussion: Where should HR use AI? Where should we be cautious? |</a:t>
            </a:r>
            <a:endParaRPr/>
          </a:p>
          <a:p xmlns:a="http://schemas.openxmlformats.org/drawingml/2006/main">
            <a:r>
              <a:t>| 1:20–1:30 | Wrap-up + homework: Try one AI tool before next session |</a:t>
            </a:r>
            <a:endParaRPr/>
          </a:p>
          <a:p xmlns:a="http://schemas.openxmlformats.org/drawingml/2006/main">
            <a:r>
              <a:t/>
            </a:r>
            <a:endParaRPr/>
          </a:p>
          <a:p xmlns:a="http://schemas.openxmlformats.org/drawingml/2006/main">
            <a:r>
              <a:t>**Key concepts to cover:**</a:t>
            </a:r>
            <a:endParaRPr/>
          </a:p>
          <a:p xmlns:a="http://schemas.openxmlformats.org/drawingml/2006/main">
            <a:r>
              <a:t/>
            </a:r>
            <a:endParaRPr/>
          </a:p>
          <a:p xmlns:a="http://schemas.openxmlformats.org/drawingml/2006/main">
            <a:r>
              <a:t>*What LLMs actually are:*</a:t>
            </a:r>
            <a:endParaRPr/>
          </a:p>
          <a:p xmlns:a="http://schemas.openxmlformats.org/drawingml/2006/main">
            <a:r>
              <a:t>Large language models predict the next most likely word given context. They don't "know" things the way a database knows things, they pattern-match against training data. This is why they can sound authoritative while being wrong.</a:t>
            </a:r>
            <a:endParaRPr/>
          </a:p>
          <a:p xmlns:a="http://schemas.openxmlformats.org/drawingml/2006/main">
            <a:r>
              <a:t/>
            </a:r>
            <a:endParaRPr/>
          </a:p>
          <a:p xmlns:a="http://schemas.openxmlformats.org/drawingml/2006/main">
            <a:r>
              <a:t>*The spectrum from rules to agents:*</a:t>
            </a:r>
            <a:endParaRPr/>
          </a:p>
          <a:p xmlns:a="http://schemas.openxmlformats.org/drawingml/2006/main">
            <a:r>
              <a:t>```</a:t>
            </a:r>
            <a:endParaRPr/>
          </a:p>
          <a:p xmlns:a="http://schemas.openxmlformats.org/drawingml/2006/main">
            <a:r>
              <a:t>Rules            →  Assist / Augment              →  Agent</a:t>
            </a:r>
            <a:endParaRPr/>
          </a:p>
          <a:p xmlns:a="http://schemas.openxmlformats.org/drawingml/2006/main">
            <a:r>
              <a:t>(deterministic)     (a person decides or owns)       (a model acts across several steps)</a:t>
            </a:r>
            <a:endParaRPr/>
          </a:p>
          <a:p xmlns:a="http://schemas.openxmlformats.org/drawingml/2006/main">
            <a:r>
              <a:t>```</a:t>
            </a:r>
            <a:endParaRPr/>
          </a:p>
          <a:p xmlns:a="http://schemas.openxmlformats.org/drawingml/2006/main">
            <a:r>
              <a:t>Use rules when rules reliably give the right answer. Most HR uses of AI belong in the middle. An agent, where a model takes several actions through tools with limited review between them, has to earn that autonomy through evidence and brings new governance requirements.</a:t>
            </a:r>
            <a:endParaRPr/>
          </a:p>
          <a:p xmlns:a="http://schemas.openxmlformats.org/drawingml/2006/main">
            <a:r>
              <a:t/>
            </a:r>
            <a:endParaRPr/>
          </a:p>
          <a:p xmlns:a="http://schemas.openxmlformats.org/drawingml/2006/main">
            <a:r>
              <a:t>*Prompt quality drives output quality:*</a:t>
            </a:r>
            <a:endParaRPr/>
          </a:p>
          <a:p xmlns:a="http://schemas.openxmlformats.org/drawingml/2006/main">
            <a:r>
              <a:t>Clear prompts help define a task and its boundaries. Output quality also depends on the model, source material, workflow controls, and verification. A well-written prompt does not establish factual accuracy or safe HR judgment.</a:t>
            </a:r>
            <a:endParaRPr/>
          </a:p>
          <a:p xmlns:a="http://schemas.openxmlformats.org/drawingml/2006/main">
            <a:r>
              <a:t/>
            </a:r>
            <a:endParaRPr/>
          </a:p>
          <a:p xmlns:a="http://schemas.openxmlformats.org/drawingml/2006/main">
            <a:r>
              <a:t>**Pre-reading (assign before session):**</a:t>
            </a:r>
            <a:endParaRPr/>
          </a:p>
          <a:p xmlns:a="http://schemas.openxmlformats.org/drawingml/2006/main">
            <a:r>
              <a:t>- [Your organization's AI use policy](../03-governance/ai-use-policy.md)</a:t>
            </a:r>
            <a:endParaRPr/>
          </a:p>
          <a:p xmlns:a="http://schemas.openxmlformats.org/drawingml/2006/main">
            <a:r>
              <a:t>- One-page primer on generative AI for non-technical audiences (create or source)</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2: Using AI in your daily HR work</a:t>
            </a:r>
            <a:endParaRPr/>
          </a:p>
          <a:p xmlns:a="http://schemas.openxmlformats.org/drawingml/2006/main">
            <a:r>
              <a:t/>
            </a:r>
            <a:endParaRPr/>
          </a:p>
          <a:p xmlns:a="http://schemas.openxmlformats.org/drawingml/2006/main">
            <a:r>
              <a:t>**Learning objectives:**</a:t>
            </a:r>
            <a:endParaRPr/>
          </a:p>
          <a:p xmlns:a="http://schemas.openxmlformats.org/drawingml/2006/main">
            <a:r>
              <a:t>- Write effective prompts for HR use cases</a:t>
            </a:r>
            <a:endParaRPr/>
          </a:p>
          <a:p xmlns:a="http://schemas.openxmlformats.org/drawingml/2006/main">
            <a:r>
              <a:t>- Use the prompt library for at least 3 HR workflows</a:t>
            </a:r>
            <a:endParaRPr/>
          </a:p>
          <a:p xmlns:a="http://schemas.openxmlformats.org/drawingml/2006/main">
            <a:r>
              <a:t>- Identify when to use AI, when to verify AI output, and when not to use it</a:t>
            </a:r>
            <a:endParaRPr/>
          </a:p>
          <a:p xmlns:a="http://schemas.openxmlformats.org/drawingml/2006/main">
            <a:r>
              <a:t/>
            </a:r>
            <a:endParaRPr/>
          </a:p>
          <a:p xmlns:a="http://schemas.openxmlformats.org/drawingml/2006/main">
            <a:r>
              <a:t>**Session outline (2 hours including lab):**</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Share-back from Module 1 homework, what did you try, what happened? |</a:t>
            </a:r>
            <a:endParaRPr/>
          </a:p>
          <a:p xmlns:a="http://schemas.openxmlformats.org/drawingml/2006/main">
            <a:r>
              <a:t>| 0:15–0:45 | Prompt engineering for HR: the four elements of a good prompt |</a:t>
            </a:r>
            <a:endParaRPr/>
          </a:p>
          <a:p xmlns:a="http://schemas.openxmlformats.org/drawingml/2006/main">
            <a:r>
              <a:t>| 0:45–1:10 | Live demo: Onboarding plan, performance review draft, policy Q&amp;A |</a:t>
            </a:r>
            <a:endParaRPr/>
          </a:p>
          <a:p xmlns:a="http://schemas.openxmlformats.org/drawingml/2006/main">
            <a:r>
              <a:t>| 1:10–1:50 | Hands-on lab: Each participant works through 2 prompts using synthetic HR scenarios in organization-approved tools |</a:t>
            </a:r>
            <a:endParaRPr/>
          </a:p>
          <a:p xmlns:a="http://schemas.openxmlformats.org/drawingml/2006/main">
            <a:r>
              <a:t>| 1:50–2:00 | Debrief: What surprised you? What didn't work? |</a:t>
            </a:r>
            <a:endParaRPr/>
          </a:p>
          <a:p xmlns:a="http://schemas.openxmlformats.org/drawingml/2006/main">
            <a:r>
              <a:t/>
            </a:r>
            <a:endParaRPr/>
          </a:p>
          <a:p xmlns:a="http://schemas.openxmlformats.org/drawingml/2006/main">
            <a:r>
              <a:t>**The four elements of an effective HR prompt:**</a:t>
            </a:r>
            <a:endParaRPr/>
          </a:p>
          <a:p xmlns:a="http://schemas.openxmlformats.org/drawingml/2006/main">
            <a:r>
              <a:t/>
            </a:r>
            <a:endParaRPr/>
          </a:p>
          <a:p xmlns:a="http://schemas.openxmlformats.org/drawingml/2006/main">
            <a:r>
              <a:t>1. **Role**: Define the task perspective, such as drafting support for an HRBP. A role instruction does not give the model professional authority.</a:t>
            </a:r>
            <a:endParaRPr/>
          </a:p>
          <a:p xmlns:a="http://schemas.openxmlformats.org/drawingml/2006/main">
            <a:r>
              <a:t/>
            </a:r>
            <a:endParaRPr/>
          </a:p>
          <a:p xmlns:a="http://schemas.openxmlformats.org/drawingml/2006/main">
            <a:r>
              <a:t>2. **Context**: Provide the specific details the AI needs. Role, tenure, team size, situation. Don't make the AI guess.</a:t>
            </a:r>
            <a:endParaRPr/>
          </a:p>
          <a:p xmlns:a="http://schemas.openxmlformats.org/drawingml/2006/main">
            <a:r>
              <a:t/>
            </a:r>
            <a:endParaRPr/>
          </a:p>
          <a:p xmlns:a="http://schemas.openxmlformats.org/drawingml/2006/main">
            <a:r>
              <a:t>3. **Task**: State clearly what you want it to produce. One output per prompt. "Draft a..." is clearer than "Help me with..."</a:t>
            </a:r>
            <a:endParaRPr/>
          </a:p>
          <a:p xmlns:a="http://schemas.openxmlformats.org/drawingml/2006/main">
            <a:r>
              <a:t/>
            </a:r>
            <a:endParaRPr/>
          </a:p>
          <a:p xmlns:a="http://schemas.openxmlformats.org/drawingml/2006/main">
            <a:r>
              <a:t>4. **Constraints**: Define length, tone, format, exclusions, and the verification needed. Check whether the output follows them.</a:t>
            </a:r>
            <a:endParaRPr/>
          </a:p>
          <a:p xmlns:a="http://schemas.openxmlformats.org/drawingml/2006/main">
            <a:r>
              <a:t/>
            </a:r>
            <a:endParaRPr/>
          </a:p>
          <a:p xmlns:a="http://schemas.openxmlformats.org/drawingml/2006/main">
            <a:r>
              <a:t>**Lab instructions:**</a:t>
            </a:r>
            <a:endParaRPr/>
          </a:p>
          <a:p xmlns:a="http://schemas.openxmlformats.org/drawingml/2006/main">
            <a:r>
              <a:t/>
            </a:r>
            <a:endParaRPr/>
          </a:p>
          <a:p xmlns:a="http://schemas.openxmlformats.org/drawingml/2006/main">
            <a:r>
              <a:t>Participants choose 2 prompts from the library that are relevant to their current work:</a:t>
            </a:r>
            <a:endParaRPr/>
          </a:p>
          <a:p xmlns:a="http://schemas.openxmlformats.org/drawingml/2006/main">
            <a:r>
              <a:t>1. Run the prompt with a fictional HR scenario in an organization-approved tool. Do not upload real employee, candidate, compensation, or confidential employer information.</a:t>
            </a:r>
            <a:endParaRPr/>
          </a:p>
          <a:p xmlns:a="http://schemas.openxmlformats.org/drawingml/2006/main">
            <a:r>
              <a:t>2. Evaluate the output: What's useful? What's wrong or missing? What would you change before using it?</a:t>
            </a:r>
            <a:endParaRPr/>
          </a:p>
          <a:p xmlns:a="http://schemas.openxmlformats.org/drawingml/2006/main">
            <a:r>
              <a:t>3. Iterate: Modify the prompt once based on what you learned and run it again</a:t>
            </a:r>
            <a:endParaRPr/>
          </a:p>
          <a:p xmlns:a="http://schemas.openxmlformats.org/drawingml/2006/main">
            <a:r>
              <a:t>4. Note: What changed between run 1 and run 2?</a:t>
            </a:r>
            <a:endParaRPr/>
          </a:p>
          <a:p xmlns:a="http://schemas.openxmlformats.org/drawingml/2006/main">
            <a:r>
              <a:t/>
            </a:r>
            <a:endParaRPr/>
          </a:p>
          <a:p xmlns:a="http://schemas.openxmlformats.org/drawingml/2006/main">
            <a:r>
              <a:t>**The verify-before-use rule:**</a:t>
            </a:r>
            <a:endParaRPr/>
          </a:p>
          <a:p xmlns:a="http://schemas.openxmlformats.org/drawingml/2006/main">
            <a:r>
              <a:t/>
            </a:r>
            <a:endParaRPr/>
          </a:p>
          <a:p xmlns:a="http://schemas.openxmlformats.org/drawingml/2006/main">
            <a:r>
              <a:t>Introduce and reinforce this heuristic:</a:t>
            </a:r>
            <a:endParaRPr/>
          </a:p>
          <a:p xmlns:a="http://schemas.openxmlformats.org/drawingml/2006/main">
            <a:r>
              <a:t>- Policy details → always verify against source system before sharing</a:t>
            </a:r>
            <a:endParaRPr/>
          </a:p>
          <a:p xmlns:a="http://schemas.openxmlformats.org/drawingml/2006/main">
            <a:r>
              <a:t>- Legal requirements → always verify with Legal before relying on</a:t>
            </a:r>
            <a:endParaRPr/>
          </a:p>
          <a:p xmlns:a="http://schemas.openxmlformats.org/drawingml/2006/main">
            <a:r>
              <a:t>- Factual claims → spot-check against a known source</a:t>
            </a:r>
            <a:endParaRPr/>
          </a:p>
          <a:p xmlns:a="http://schemas.openxmlformats.org/drawingml/2006/main">
            <a:r>
              <a:t>- Tone and content → always read before sending; AI doesn't know your audience</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3: Governance, ethics, and responsible use</a:t>
            </a:r>
            <a:endParaRPr/>
          </a:p>
          <a:p xmlns:a="http://schemas.openxmlformats.org/drawingml/2006/main">
            <a:r>
              <a:t/>
            </a:r>
            <a:endParaRPr/>
          </a:p>
          <a:p xmlns:a="http://schemas.openxmlformats.org/drawingml/2006/main">
            <a:r>
              <a:t>**Learning objectives:**</a:t>
            </a:r>
            <a:endParaRPr/>
          </a:p>
          <a:p xmlns:a="http://schemas.openxmlformats.org/drawingml/2006/main">
            <a:r>
              <a:t>- Apply the organization's AI use policy to real HR scenarios</a:t>
            </a:r>
            <a:endParaRPr/>
          </a:p>
          <a:p xmlns:a="http://schemas.openxmlformats.org/drawingml/2006/main">
            <a:r>
              <a:t>- Identify the key legal risk areas in HR AI (bias, privacy, employment law)</a:t>
            </a:r>
            <a:endParaRPr/>
          </a:p>
          <a:p xmlns:a="http://schemas.openxmlformats.org/drawingml/2006/main">
            <a:r>
              <a:t>- Complete a basic risk assessment for a new use case</a:t>
            </a:r>
            <a:endParaRPr/>
          </a:p>
          <a:p xmlns:a="http://schemas.openxmlformats.org/drawingml/2006/main">
            <a:r>
              <a:t/>
            </a:r>
            <a:endParaRPr/>
          </a:p>
          <a:p xmlns:a="http://schemas.openxmlformats.org/drawingml/2006/main">
            <a:r>
              <a:t>**Session outline (90 minutes):**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Case study: Three HR AI failures and what we can learn (discussion) |</a:t>
            </a:r>
            <a:endParaRPr/>
          </a:p>
          <a:p xmlns:a="http://schemas.openxmlformats.org/drawingml/2006/main">
            <a:r>
              <a:t>| 0:15–0:40 | Framework: What makes AI use in HR risky? Legal and ethical dimensions |</a:t>
            </a:r>
            <a:endParaRPr/>
          </a:p>
          <a:p xmlns:a="http://schemas.openxmlformats.org/drawingml/2006/main">
            <a:r>
              <a:t>| 0:40–1:00 | Scenario practice: Is this use case okay? (small groups, 4 scenarios) |</a:t>
            </a:r>
            <a:endParaRPr/>
          </a:p>
          <a:p xmlns:a="http://schemas.openxmlformats.org/drawingml/2006/main">
            <a:r>
              <a:t>| 1:00–1:20 | Walk-through: The risk assessment template |</a:t>
            </a:r>
            <a:endParaRPr/>
          </a:p>
          <a:p xmlns:a="http://schemas.openxmlformats.org/drawingml/2006/main">
            <a:r>
              <a:t>| 1:20–1:30 | Q&amp;A + open discussion |</a:t>
            </a:r>
            <a:endParaRPr/>
          </a:p>
          <a:p xmlns:a="http://schemas.openxmlformats.org/drawingml/2006/main">
            <a:r>
              <a:t/>
            </a:r>
            <a:endParaRPr/>
          </a:p>
          <a:p xmlns:a="http://schemas.openxmlformats.org/drawingml/2006/main">
            <a:r>
              <a:t>&gt; **Note on regulatory currency:** Use the [Key dates for HR](../03-governance/README.md#key-dates-for-hr) and its linked primary sources as the dated reference. The slides summarize risk questions; they are not a complete legal reference. Have Legal verify jurisdiction, scope, obligations, and effective dates before delivery or adoption.</a:t>
            </a:r>
            <a:endParaRPr/>
          </a:p>
          <a:p xmlns:a="http://schemas.openxmlformats.org/drawingml/2006/main">
            <a:r>
              <a:t/>
            </a:r>
            <a:endParaRPr/>
          </a:p>
          <a:p xmlns:a="http://schemas.openxmlformats.org/drawingml/2006/main">
            <a:r>
              <a:t>**Key legal risk areas to cover:**</a:t>
            </a:r>
            <a:endParaRPr/>
          </a:p>
          <a:p xmlns:a="http://schemas.openxmlformats.org/drawingml/2006/main">
            <a:r>
              <a:t/>
            </a:r>
            <a:endParaRPr/>
          </a:p>
          <a:p xmlns:a="http://schemas.openxmlformats.org/drawingml/2006/main">
            <a:r>
              <a:t>*Bias and disparate impact:*</a:t>
            </a:r>
            <a:endParaRPr/>
          </a:p>
          <a:p xmlns:a="http://schemas.openxmlformats.org/drawingml/2006/main">
            <a:r>
              <a:t>AI trained on historical HR data can encode and amplify past discrimination. A history in which 80% of engineering hires were male is a reason to examine labels, features, selection effects, and group outcomes; that proportion alone does not determine how a model will score resumes. Adverse impact testing is a core control. It is required by law in some jurisdictions (NYC Local Law 144 mandates an annual bias audit for covered tools) and expected as evidence of reasonable care in many others. Confirm the cadence with Legal. See the [NIST AI RMF](https://www.nist.gov/itl/ai-risk-management-framework).</a:t>
            </a:r>
            <a:endParaRPr/>
          </a:p>
          <a:p xmlns:a="http://schemas.openxmlformats.org/drawingml/2006/main">
            <a:r>
              <a:t/>
            </a:r>
            <a:endParaRPr/>
          </a:p>
          <a:p xmlns:a="http://schemas.openxmlformats.org/drawingml/2006/main">
            <a:r>
              <a:t>*Illinois AI Video Interview Act, NYC Local Law 144, and emerging state laws:*</a:t>
            </a:r>
            <a:endParaRPr/>
          </a:p>
          <a:p xmlns:a="http://schemas.openxmlformats.org/drawingml/2006/main">
            <a:r>
              <a:t>Several jurisdictions now require disclosure, impact assessments, or consent for AI use in hiring. Illinois's AI Video Interview Act ([820 ILCS 42](https://www.ilga.gov/Legislation/ILCS/Articles?ActID=4015&amp;ChapterID=68)) governs AI analysis of recorded video interviews, including notice and consent before the interview. Confirm its current requirements against the statute before relying on them. Illinois also amended its Human Rights Act via HB 3773 (effective January 1, 2026) to broadly prohibit discriminatory AI use in hiring and promotion, not just video interviews. A companion law, Public Act 104-0425 (SB 2487, effective January 1, 2026), gives the Human Rights Commission tiered civil penalty authority for violations: up to $16,000 for a first offense, up to $42,500 with one prior violation within five years, up to $70,000 for two or more within seven years. The regulatory landscape is shifting quickly. Use cases involving hiring must be reviewed against current state law.</a:t>
            </a:r>
            <a:endParaRPr/>
          </a:p>
          <a:p xmlns:a="http://schemas.openxmlformats.org/drawingml/2006/main">
            <a:r>
              <a:t/>
            </a:r>
            <a:endParaRPr/>
          </a:p>
          <a:p xmlns:a="http://schemas.openxmlformats.org/drawingml/2006/main">
            <a:r>
              <a:t>NYC Local Law 144 enforcement is entering a stricter phase. A December 2025 NY State Comptroller audit found DCWP's enforcement "ineffective": DCWP's own review of 32 companies' bias-audit disclosures caught 1 likely non-compliance issue, where the Comptroller's review of the same 32 found at least 17. Expect more investigations and higher penalties as DCWP responds to the audit's recommendations, not just the disclosure-and-audit paperwork the law describes on paper.</a:t>
            </a:r>
            <a:endParaRPr/>
          </a:p>
          <a:p xmlns:a="http://schemas.openxmlformats.org/drawingml/2006/main">
            <a:r>
              <a:t/>
            </a:r>
            <a:endParaRPr/>
          </a:p>
          <a:p xmlns:a="http://schemas.openxmlformats.org/drawingml/2006/main">
            <a:r>
              <a:t>*Colorado's Automated Decision-Making Technology Act:*</a:t>
            </a:r>
            <a:endParaRPr/>
          </a:p>
          <a:p xmlns:a="http://schemas.openxmlformats.org/drawingml/2006/main">
            <a:r>
              <a:t>Colorado SB26-189 (signed 14 May 2026, Colo. Sess. Laws ch. 131) repeals and replaces the state's 2024 AI consumer protection law. It covers "consequential decisions," including employment, made using automated decision-making technology (ADMT) that materially influences the outcome. Starting January 1, 2027, developers must give deployers technical documentation on intended use, training data categories, known limitations, and human review instructions. Deployers will owe consumers notice at the point of interaction, and within 30 days of any adverse consequential decision, a plain-language explanation plus the right to request human review and reconsideration. Records must be retained 3 years. The attorney general enforces under the Colorado Consumer Protection Act, with a 60-day cure period through January 1, 2030.</a:t>
            </a:r>
            <a:endParaRPr/>
          </a:p>
          <a:p xmlns:a="http://schemas.openxmlformats.org/drawingml/2006/main">
            <a:r>
              <a:t/>
            </a:r>
            <a:endParaRPr/>
          </a:p>
          <a:p xmlns:a="http://schemas.openxmlformats.org/drawingml/2006/main">
            <a:r>
              <a:t>*Connecticut: AI Responsibility and Transparency Act (Public Act 26-15):*</a:t>
            </a:r>
            <a:endParaRPr/>
          </a:p>
          <a:p xmlns:a="http://schemas.openxmlformats.org/drawingml/2006/main">
            <a:r>
              <a:t>Connecticut's SB 5 became Public Act 26-15 in June 2026. It is the most comprehensive state AI employment statute enacted so far, and it phases in across two years. Read the dates carefully, because the parts that bite first are not the disclosure rules.</a:t>
            </a:r>
            <a:endParaRPr/>
          </a:p>
          <a:p xmlns:a="http://schemas.openxmlformats.org/drawingml/2006/main">
            <a:r>
              <a:t/>
            </a:r>
            <a:endParaRPr/>
          </a:p>
          <a:p xmlns:a="http://schemas.openxmlformats.org/drawingml/2006/main">
            <a:r>
              <a:t>Live October 1, 2026:</a:t>
            </a:r>
            <a:endParaRPr/>
          </a:p>
          <a:p xmlns:a="http://schemas.openxmlformats.org/drawingml/2006/main">
            <a:r>
              <a:t/>
            </a:r>
            <a:endParaRPr/>
          </a:p>
          <a:p xmlns:a="http://schemas.openxmlformats.org/drawingml/2006/main">
            <a:r>
              <a:t>- **AI is not a defense.** Sections 13 and 14 amend Conn. Gen. Stat. 46a-60 so that using an automated employment-related decision technology is not a defense against a discrimination complaint. The commission or court may consider the quality, efficacy, recency, and scope of anti-bias testing, its results, and the employer's response. This does not establish that a stale audit is always worse than no audit, or that testing guarantees a favorable legal outcome. Preserve the testing evidence and corrective actions for counsel review. Source: [Public Act 26-15](https://www.cga.ct.gov/2026/ACT/PA/PDF/2026PA-00015-R00SB-00005-PA.PDF).</a:t>
            </a:r>
            <a:endParaRPr/>
          </a:p>
          <a:p xmlns:a="http://schemas.openxmlformats.org/drawingml/2006/main">
            <a:r>
              <a:t>- **WARN notices.** Section 26 requires any employer serving a federal WARN notice under 29 USC 2102(a) to disclose to the Connecticut Labor Department whether the layoffs relate to the employer's use of AI or other technological change. Note the disclosure runs to the department, not to affected employees.</a:t>
            </a:r>
            <a:endParaRPr/>
          </a:p>
          <a:p xmlns:a="http://schemas.openxmlformats.org/drawingml/2006/main">
            <a:r>
              <a:t/>
            </a:r>
            <a:endParaRPr/>
          </a:p>
          <a:p xmlns:a="http://schemas.openxmlformats.org/drawingml/2006/main">
            <a:r>
              <a:t>Live October 1, 2027 (sections 7 to 12 take effect in 2026, but the duties attach only to technology deployed on or after October 1, 2027):</a:t>
            </a:r>
            <a:endParaRPr/>
          </a:p>
          <a:p xmlns:a="http://schemas.openxmlformats.org/drawingml/2006/main">
            <a:r>
              <a:t/>
            </a:r>
            <a:endParaRPr/>
          </a:p>
          <a:p xmlns:a="http://schemas.openxmlformats.org/drawingml/2006/main">
            <a:r>
              <a:t>- Scope is set by "substantial factor," defined as a factor that meaningfully alters the outcome of an employment-related decision. Covered decisions are hiring, promotion, discipline, discharge, renewal, selection for training or apprenticeship, and terms, privileges or conditions of employment. Carved out: nonmaterial changes to job tasks or hours, and decisions about workplace health and safety, scheduling, and productivity monitoring.</a:t>
            </a:r>
            <a:endParaRPr/>
          </a:p>
          <a:p xmlns:a="http://schemas.openxmlformats.org/drawingml/2006/main">
            <a:r>
              <a:t>- Developers must give deployers the information deployers need to meet their duties, but only where the tool was advertised, marketed, configured, contracted for, sold, or licensed to materially influence an employment decision.</a:t>
            </a:r>
            <a:endParaRPr/>
          </a:p>
          <a:p xmlns:a="http://schemas.openxmlformats.org/drawingml/2006/main">
            <a:r>
              <a:t>- Deployers must disclose in plain language when an employee or applicant is interacting with the technology, unless a reasonable person would find it obvious.</a:t>
            </a:r>
            <a:endParaRPr/>
          </a:p>
          <a:p xmlns:a="http://schemas.openxmlformats.org/drawingml/2006/main">
            <a:r>
              <a:t>- Before the decision is made, deployers must give written notice covering six specific points: that the technology was deployed, its purpose and the nature of the decision, the tool's trade name, the categories of personal data analyzed and how they will be assessed, the sources of that data, and deployer contact information.</a:t>
            </a:r>
            <a:endParaRPr/>
          </a:p>
          <a:p xmlns:a="http://schemas.openxmlformats.org/drawingml/2006/main">
            <a:r>
              <a:t>- Trade secrets can be withheld, but the withholding party must send notice saying what is being withheld and why.</a:t>
            </a:r>
            <a:endParaRPr/>
          </a:p>
          <a:p xmlns:a="http://schemas.openxmlformats.org/drawingml/2006/main">
            <a:r>
              <a:t/>
            </a:r>
            <a:endParaRPr/>
          </a:p>
          <a:p xmlns:a="http://schemas.openxmlformats.org/drawingml/2006/main">
            <a:r>
              <a:t>Enforcement is narrower than the obligations suggest: violations are unfair or deceptive trade practices under CUTPA, enforced **solely by the Attorney General**, with an explicit statement that the act creates **no private right of action**. Violations occurring on or before December 31, 2027 carry a 60-day cure period.</a:t>
            </a:r>
            <a:endParaRPr/>
          </a:p>
          <a:p xmlns:a="http://schemas.openxmlformats.org/drawingml/2006/main">
            <a:r>
              <a:t/>
            </a:r>
            <a:endParaRPr/>
          </a:p>
          <a:p xmlns:a="http://schemas.openxmlformats.org/drawingml/2006/main">
            <a:r>
              <a:t>One provision to catch in procurement: Section 8(c) lets a developer contract to assume the deployer's disclosure and notice duties, provided the contract is explicit about which duties transfer. That is a negotiating lever worth asking every vendor about. See the [vendor intake checklist](../03-governance/vendor-intake-checklist.md).</a:t>
            </a:r>
            <a:endParaRPr/>
          </a:p>
          <a:p xmlns:a="http://schemas.openxmlformats.org/drawingml/2006/main">
            <a:r>
              <a:t/>
            </a:r>
            <a:endParaRPr/>
          </a:p>
          <a:p xmlns:a="http://schemas.openxmlformats.org/drawingml/2006/main">
            <a:r>
              <a:t>*California: FEHA algorithmic discrimination rules and CPPA ADMT regulations:*</a:t>
            </a:r>
            <a:endParaRPr/>
          </a:p>
          <a:p xmlns:a="http://schemas.openxmlformats.org/drawingml/2006/main">
            <a:r>
              <a:t>The Civil Rights Council's FEHA regulations on automated decision systems took effect October 1, 2025: they prohibit AI-driven disparate treatment or disparate impact in employment decisions, require four years of recordkeeping, and hold employers liable for discriminatory outcomes even when the tool comes from a third-party vendor. Separately, the [CPPA regulation package](https://cppa.ca.gov/announcements/2025/20250923.html) took effect January 1, 2026. Covered businesses must begin risk-assessment compliance in 2026; ADMT notice and consumer-rights compliance begins January 1, 2027. These dates govern different duties. Review the [final regulations](https://cppa.ca.gov/regulations/ccpa_updates.html) for scope, opt-out exceptions, appeal conditions, and transition rules for processing already underway.</a:t>
            </a:r>
            <a:endParaRPr/>
          </a:p>
          <a:p xmlns:a="http://schemas.openxmlformats.org/drawingml/2006/main">
            <a:r>
              <a:t/>
            </a:r>
            <a:endParaRPr/>
          </a:p>
          <a:p xmlns:a="http://schemas.openxmlformats.org/drawingml/2006/main">
            <a:r>
              <a:t>Four California workplace bills were approved and chaptered on 30 September 2026. All four are enacted law, with obligations beginning in 2027. The chaptered texts were reviewed on 9 October 2026. AB 1883, SB 951, and AB 1331 take effect on 1 January 2027 under [California Constitution Article IV, section 8(c)(1)](https://leginfo.legislature.ca.gov/faces/codes_displayText.xhtml?lawCode=CONS&amp;division=&amp;title=&amp;part=&amp;chapter=&amp;article=IV); none contains an urgency clause or a later operative-date provision. SB 947 takes effect on that date but expressly makes its new Labor Code part operative on 1 July 2027. See the [source register](../03-governance/claims/california-workplace-laws.json) and the [Governor's signing announcement](https://www.gov.ca.gov/2026/09/30/californias-nation-leading-ai-framework-just-got-stronger-governor-newsom-signs-more-first-in-the-nation-worker-protections-and-more/).</a:t>
            </a:r>
            <a:endParaRPr/>
          </a:p>
          <a:p xmlns:a="http://schemas.openxmlformats.org/drawingml/2006/main">
            <a:r>
              <a:t/>
            </a:r>
            <a:endParaRPr/>
          </a:p>
          <a:p xmlns:a="http://schemas.openxmlformats.org/drawingml/2006/main">
            <a:r>
              <a:t>- **[AB 1883](https://leginfo.legislature.ca.gov/faces/billNavClient.xhtml?bill_id=202520260AB1883)** (workplace surveillance tools, Chapter 853, Statutes of 2026) adds Labor Code Part 5.8 to bar employers from using AI-driven surveillance tools to recognize or infer an employee's emotional state, or to collect neural data, meaning data measured from the central or peripheral nervous system and not inferred from nonneural information. Safety uses are preserved, and there is a narrow carve-out for federally mandated aerospace and national security work. Enforcement runs through the Labor Commissioner or a public prosecutor, with penalties up to $500 per violation. It was enrolled on 3 September 2026 and approved by the Governor on 30 September 2026. Some published summaries report 3 September as the signing date; that is the enrollment date.</a:t>
            </a:r>
            <a:endParaRPr/>
          </a:p>
          <a:p xmlns:a="http://schemas.openxmlformats.org/drawingml/2006/main">
            <a:r>
              <a:t>- **[SB 947](https://leginfo.legislature.ca.gov/faces/billTextClient.xhtml?bill_id=202520260SB947)** (the "No Robo Bosses Act," Chapter 859, Statutes of 2026) is **operative 1 July 2027**, under new Labor Code section 1526.7. It bars sole reliance on an ADS for discipline or termination. Primary reliance requires human corroboration and written post-use notice when the decision is communicated. If corroboration fails, or the reviewer finds the output inaccurate, incomplete, or misleading, the employer must not use that output for the decision. The employee may request a meaningful description of their own data used by the ADS. Check the collective bargaining and federal-operation exceptions in sections 1526.5 and 1526.6.</a:t>
            </a:r>
            <a:endParaRPr/>
          </a:p>
          <a:p xmlns:a="http://schemas.openxmlformats.org/drawingml/2006/main">
            <a:r>
              <a:t>- **[SB 951](https://leginfo.legislature.ca.gov/faces/billTextClient.xhtml?bill_id=202520260SB951)** (Chapter 860, Statutes of 2026), **effective 1 January 2027**, adds technology-displacement information to an otherwise required Cal/WARN notice when AI or automation causes the event wholly or substantially. New Labor Code section 1401(d) requires affected jobs and locations, functions being automated, the technology category, and a technology-displacement heading. It retains the existing 60-day notice period. It does not enact the earlier proposal for a 90-day notice or an employer hiring-freeze notice; section 1402.7 instead requires an EDD study by 1 January 2028. Assess Cal/WARN coverage and exceptions before applying the notice requirement.</a:t>
            </a:r>
            <a:endParaRPr/>
          </a:p>
          <a:p xmlns:a="http://schemas.openxmlformats.org/drawingml/2006/main">
            <a:r>
              <a:t>- **[AB 1331](https://leginfo.legislature.ca.gov/faces/billTextClient.xhtml?bill_id=202520260AB1331)** (Chapter 851, Statutes of 2026), **effective 1 January 2027**, limits workplace bathroom surveillance and lets employees leave surveillance tools behind when entering a bathroom. New Labor Code section 1561 includes exceptions for court orders, one-time entry/exit checks, voluntary possession, and certain identification or safety devices. The tool definition reaches beyond AI. Review the full exceptions in sections 1561, 1564, and 1565 before changing monitoring practices.</a:t>
            </a:r>
            <a:endParaRPr/>
          </a:p>
          <a:p xmlns:a="http://schemas.openxmlformats.org/drawingml/2006/main">
            <a:r>
              <a:t/>
            </a:r>
            <a:endParaRPr/>
          </a:p>
          <a:p xmlns:a="http://schemas.openxmlformats.org/drawingml/2006/main">
            <a:r>
              <a:t>*Texas: Responsible AI Governance Act (TRAIGA):*</a:t>
            </a:r>
            <a:endParaRPr/>
          </a:p>
          <a:p xmlns:a="http://schemas.openxmlformats.org/drawingml/2006/main">
            <a:r>
              <a:t>Effective January 1, 2026 (HB 149, signed June 22, 2025). Narrower than Illinois or Colorado: TRAIGA prohibits intentional AI-based discrimination but does not create disparate impact liability, and the Attorney General has exclusive enforcement authority with a 60-day cure period before action.</a:t>
            </a:r>
            <a:endParaRPr/>
          </a:p>
          <a:p xmlns:a="http://schemas.openxmlformats.org/drawingml/2006/main">
            <a:r>
              <a:t/>
            </a:r>
            <a:endParaRPr/>
          </a:p>
          <a:p xmlns:a="http://schemas.openxmlformats.org/drawingml/2006/main">
            <a:r>
              <a:t>*New Jersey: no AI statute, but existing discrimination law already reaches AI:*</a:t>
            </a:r>
            <a:endParaRPr/>
          </a:p>
          <a:p xmlns:a="http://schemas.openxmlformats.org/drawingml/2006/main">
            <a:r>
              <a:t>New Jersey is the case that breaks the habit of scanning for AI-specific bills. It has no AI hiring statute. In January 2025 the Office of the Attorney General and the Division on Civil Rights issued guidance stating that the Law Against Discrimination (N.J.S.A. 10:5-1 et seq.) applies to algorithmic discrimination the same way it has long applied to other discriminatory conduct, in employment among other contexts. Three points matter for HR practice:</a:t>
            </a:r>
            <a:endParaRPr/>
          </a:p>
          <a:p xmlns:a="http://schemas.openxmlformats.org/drawingml/2006/main">
            <a:r>
              <a:t/>
            </a:r>
            <a:endParaRPr/>
          </a:p>
          <a:p xmlns:a="http://schemas.openxmlformats.org/drawingml/2006/main">
            <a:r>
              <a:t>- **No intent required, and a vendor tool is not a defense.** The guidance states that a covered entity "is not shielded from liability for algorithmic discrimination that results from the entity's use of an automated decision-making tool simply because the tool was developed by a third party or because the entity does not understand the inner workings of the tool."</a:t>
            </a:r>
            <a:endParaRPr/>
          </a:p>
          <a:p xmlns:a="http://schemas.openxmlformats.org/drawingml/2006/main">
            <a:r>
              <a:t>- **Disparate impact is covered.** Use of a tool with a disproportionate effect on a protected class is prohibited unless it is necessary to achieve a substantial, legitimate, nondiscriminatory interest and there is no less discriminatory alternative. Whether the employer tested the tool for bias or evaluated alternatives may be weighed as relevant evidence, which is the same pattern as Connecticut: your fairness audit becomes evidence.</a:t>
            </a:r>
            <a:endParaRPr/>
          </a:p>
          <a:p xmlns:a="http://schemas.openxmlformats.org/drawingml/2006/main">
            <a:r>
              <a:t>- **Reasonable accommodations are in scope.** A tool can violate the LAD by being inaccessible or by penalizing someone who uses an accommodation. The guidance's example is a typing-speed screen that cannot read a non-traditional keyboard.</a:t>
            </a:r>
            <a:endParaRPr/>
          </a:p>
          <a:p xmlns:a="http://schemas.openxmlformats.org/drawingml/2006/main">
            <a:r>
              <a:t/>
            </a:r>
            <a:endParaRPr/>
          </a:p>
          <a:p xmlns:a="http://schemas.openxmlformats.org/drawingml/2006/main">
            <a:r>
              <a:t>Two limits to state accurately when you teach this. The guidance is interpretive: it says on its face that it imposes no requirements beyond the LAD and will not be enforced as a substitute for enforcing the LAD. And it carries no effective date, because the underlying statute has been in force for decades. Do not present it as a new obligation that switched on in 2025. The takeaway for the class is the general one: a state with no AI bill is not a state with no AI exposure.</a:t>
            </a:r>
            <a:endParaRPr/>
          </a:p>
          <a:p xmlns:a="http://schemas.openxmlformats.org/drawingml/2006/main">
            <a:r>
              <a:t/>
            </a:r>
            <a:endParaRPr/>
          </a:p>
          <a:p xmlns:a="http://schemas.openxmlformats.org/drawingml/2006/main">
            <a:r>
              <a:t>*GDPR and CCPA:*</a:t>
            </a:r>
            <a:endParaRPr/>
          </a:p>
          <a:p xmlns:a="http://schemas.openxmlformats.org/drawingml/2006/main">
            <a:r>
              <a:t>Employees in covered jurisdictions have rights regarding automated decision-making. Know which of your employees are covered and how your AI use cases interact with their rights. See the California-specific rules above for the current state of play there.</a:t>
            </a:r>
            <a:endParaRPr/>
          </a:p>
          <a:p xmlns:a="http://schemas.openxmlformats.org/drawingml/2006/main">
            <a:r>
              <a:t/>
            </a:r>
            <a:endParaRPr/>
          </a:p>
          <a:p xmlns:a="http://schemas.openxmlformats.org/drawingml/2006/main">
            <a:r>
              <a:t>*UK: Data (Use and Access) Act 2025 replaces GDPR Article 22:*</a:t>
            </a:r>
            <a:endParaRPr/>
          </a:p>
          <a:p xmlns:a="http://schemas.openxmlformats.org/drawingml/2006/main">
            <a:r>
              <a:t>Section 80 of the UK's Data (Use and Access) Act 2025 took effect February 5, 2026 (Commencement Regulations SI 2026/82) and substitutes Article 22 of the UK GDPR with new Articles 22A to 22D. The new regime permits solely automated "significant decisions," those with a legal or similarly significant effect, more broadly than before, but requires safeguards: notice to the individual, the ability to make representations, the right to human intervention, and the right to contest the decision. Stricter restrictions still apply where special category data is used. Treat this as a distinct regime from EU GDPR Article 22, not an equivalent, for any AI use case touching UK-based workers or candidates.</a:t>
            </a:r>
            <a:endParaRPr/>
          </a:p>
          <a:p xmlns:a="http://schemas.openxmlformats.org/drawingml/2006/main">
            <a:r>
              <a:t/>
            </a:r>
            <a:endParaRPr/>
          </a:p>
          <a:p xmlns:a="http://schemas.openxmlformats.org/drawingml/2006/main">
            <a:r>
              <a:t>The ICO is already signaling how it will police this in recruitment specifically. A March 2026 ICO report on automated decision-making in hiring found many employers don't recognize they're doing ADM at all, and that "human review" in practice often amounts to rubber-stamping rather than a reviewer with real authority to change the outcome. Following that report, the ICO opened a consultation on draft ADM guidance, worth checking for the final version before relying on the March findings alone. Build the oversight role description to survive that scrutiny, not just to check the box.</a:t>
            </a:r>
            <a:endParaRPr/>
          </a:p>
          <a:p xmlns:a="http://schemas.openxmlformats.org/drawingml/2006/main">
            <a:r>
              <a:t/>
            </a:r>
            <a:endParaRPr/>
          </a:p>
          <a:p xmlns:a="http://schemas.openxmlformats.org/drawingml/2006/main">
            <a:r>
              <a:t>*Canada: no federal AI employment law, but Ontario requires disclosure:*</a:t>
            </a:r>
            <a:endParaRPr/>
          </a:p>
          <a:p xmlns:a="http://schemas.openxmlformats.org/drawingml/2006/main">
            <a:r>
              <a:t>Canada's federal AI bill (AIDA, part of Bill C-27) died when Parliament prorogued in January 2025 and has not been revived. AI regulation there runs through existing privacy, human rights, and sector law instead. Ontario is the exception: since January 1, 2026, employers with 25+ employees must disclose in publicly advertised job postings whether AI is used to screen, assess, or select candidates (Employment Standards Act, 2000 amendment).</a:t>
            </a:r>
            <a:endParaRPr/>
          </a:p>
          <a:p xmlns:a="http://schemas.openxmlformats.org/drawingml/2006/main">
            <a:r>
              <a:t/>
            </a:r>
            <a:endParaRPr/>
          </a:p>
          <a:p xmlns:a="http://schemas.openxmlformats.org/drawingml/2006/main">
            <a:r>
              <a:t>*The "AI as a manager" trap:*</a:t>
            </a:r>
            <a:endParaRPr/>
          </a:p>
          <a:p xmlns:a="http://schemas.openxmlformats.org/drawingml/2006/main">
            <a:r>
              <a:t>AI that monitors, evaluates, or scores employees without their knowledge, even for legitimate purposes, creates legal and trust exposure. Transparency is not just ethical, it's protective.</a:t>
            </a:r>
            <a:endParaRPr/>
          </a:p>
          <a:p xmlns:a="http://schemas.openxmlformats.org/drawingml/2006/main">
            <a:r>
              <a:t/>
            </a:r>
            <a:endParaRPr/>
          </a:p>
          <a:p xmlns:a="http://schemas.openxmlformats.org/drawingml/2006/main">
            <a:r>
              <a:t>**Scenario practice cards:**</a:t>
            </a:r>
            <a:endParaRPr/>
          </a:p>
          <a:p xmlns:a="http://schemas.openxmlformats.org/drawingml/2006/main">
            <a:r>
              <a:t/>
            </a:r>
            <a:endParaRPr/>
          </a:p>
          <a:p xmlns:a="http://schemas.openxmlformats.org/drawingml/2006/main">
            <a:r>
              <a:t>Print or share these four scenarios. Groups of 3–4 discuss: Is this use appropriate? What are the risks? What would you change?</a:t>
            </a:r>
            <a:endParaRPr/>
          </a:p>
          <a:p xmlns:a="http://schemas.openxmlformats.org/drawingml/2006/main">
            <a:r>
              <a:t/>
            </a:r>
            <a:endParaRPr/>
          </a:p>
          <a:p xmlns:a="http://schemas.openxmlformats.org/drawingml/2006/main">
            <a:r>
              <a:t>&gt; **Scenario A:** An AI tool automatically rejects resumes with gaps of more than 6 months without showing them to a recruiter.</a:t>
            </a:r>
            <a:endParaRPr/>
          </a:p>
          <a:p xmlns:a="http://schemas.openxmlformats.org/drawingml/2006/main">
            <a:r>
              <a:t/>
            </a:r>
            <a:endParaRPr/>
          </a:p>
          <a:p xmlns:a="http://schemas.openxmlformats.org/drawingml/2006/main">
            <a:r>
              <a:t>&gt; **Scenario B:** An HRBP uses an AI writing assistant to draft a PIP for an employee, then reviews and edits it before sharing with the manager.</a:t>
            </a:r>
            <a:endParaRPr/>
          </a:p>
          <a:p xmlns:a="http://schemas.openxmlformats.org/drawingml/2006/main">
            <a:r>
              <a:t/>
            </a:r>
            <a:endParaRPr/>
          </a:p>
          <a:p xmlns:a="http://schemas.openxmlformats.org/drawingml/2006/main">
            <a:r>
              <a:t>&gt; **Scenario C:** People Analytics builds an attrition risk model that scores all employees monthly and shares the scores directly with managers.</a:t>
            </a:r>
            <a:endParaRPr/>
          </a:p>
          <a:p xmlns:a="http://schemas.openxmlformats.org/drawingml/2006/main">
            <a:r>
              <a:t/>
            </a:r>
            <a:endParaRPr/>
          </a:p>
          <a:p xmlns:a="http://schemas.openxmlformats.org/drawingml/2006/main">
            <a:r>
              <a:t>&gt; **Scenario D:** An AI chatbot answers benefits questions for employees. It sometimes gives incorrect information but flags that users should confirm with HR.</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4: Building and scaling AI use cases</a:t>
            </a:r>
            <a:endParaRPr/>
          </a:p>
          <a:p xmlns:a="http://schemas.openxmlformats.org/drawingml/2006/main">
            <a:r>
              <a:t/>
            </a:r>
            <a:endParaRPr/>
          </a:p>
          <a:p xmlns:a="http://schemas.openxmlformats.org/drawingml/2006/main">
            <a:r>
              <a:t>**Learning objectives:**</a:t>
            </a:r>
            <a:endParaRPr/>
          </a:p>
          <a:p xmlns:a="http://schemas.openxmlformats.org/drawingml/2006/main">
            <a:r>
              <a:t>- Apply the prioritization matrix to identify your team's highest-value AI use cases</a:t>
            </a:r>
            <a:endParaRPr/>
          </a:p>
          <a:p xmlns:a="http://schemas.openxmlformats.org/drawingml/2006/main">
            <a:r>
              <a:t>- Define a use case with clear success metrics and governance requirements</a:t>
            </a:r>
            <a:endParaRPr/>
          </a:p>
          <a:p xmlns:a="http://schemas.openxmlformats.org/drawingml/2006/main">
            <a:r>
              <a:t>- Draft a basic implementation plan for a low-complexity use case</a:t>
            </a:r>
            <a:endParaRPr/>
          </a:p>
          <a:p xmlns:a="http://schemas.openxmlformats.org/drawingml/2006/main">
            <a:r>
              <a:t/>
            </a:r>
            <a:endParaRPr/>
          </a:p>
          <a:p xmlns:a="http://schemas.openxmlformats.org/drawingml/2006/main">
            <a:r>
              <a:t>**Session outline (2 hours):**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Opening: What does "scaling AI in HR" actually mean? |</a:t>
            </a:r>
            <a:endParaRPr/>
          </a:p>
          <a:p xmlns:a="http://schemas.openxmlformats.org/drawingml/2006/main">
            <a:r>
              <a:t>| 0:15–0:45 | Framework: From idea to deployment, the use case lifecycle |</a:t>
            </a:r>
            <a:endParaRPr/>
          </a:p>
          <a:p xmlns:a="http://schemas.openxmlformats.org/drawingml/2006/main">
            <a:r>
              <a:t>| 0:45–1:15 | Team exercise: Prioritization matrix applied to your team's top 5 ideas |</a:t>
            </a:r>
            <a:endParaRPr/>
          </a:p>
          <a:p xmlns:a="http://schemas.openxmlformats.org/drawingml/2006/main">
            <a:r>
              <a:t>| 1:15–1:45 | Small group: Draft a one-page use case spec for your top-ranked idea |</a:t>
            </a:r>
            <a:endParaRPr/>
          </a:p>
          <a:p xmlns:a="http://schemas.openxmlformats.org/drawingml/2006/main">
            <a:r>
              <a:t>| 1:45–2:00 | Gallery walk + feedback |</a:t>
            </a:r>
            <a:endParaRPr/>
          </a:p>
          <a:p xmlns:a="http://schemas.openxmlformats.org/drawingml/2006/main">
            <a:r>
              <a:t/>
            </a:r>
            <a:endParaRPr/>
          </a:p>
          <a:p xmlns:a="http://schemas.openxmlformats.org/drawingml/2006/main">
            <a:r>
              <a:t>**Use case lifecycle:**</a:t>
            </a:r>
            <a:endParaRPr/>
          </a:p>
          <a:p xmlns:a="http://schemas.openxmlformats.org/drawingml/2006/main">
            <a:r>
              <a:t/>
            </a:r>
            <a:endParaRPr/>
          </a:p>
          <a:p xmlns:a="http://schemas.openxmlformats.org/drawingml/2006/main">
            <a:r>
              <a:t>```</a:t>
            </a:r>
            <a:endParaRPr/>
          </a:p>
          <a:p xmlns:a="http://schemas.openxmlformats.org/drawingml/2006/main">
            <a:r>
              <a:t>Discover → Prioritize → Design → Pilot → Evaluate → Scale</a:t>
            </a:r>
            <a:endParaRPr/>
          </a:p>
          <a:p xmlns:a="http://schemas.openxmlformats.org/drawingml/2006/main">
            <a:r>
              <a:t>   ↑                                          |</a:t>
            </a:r>
            <a:endParaRPr/>
          </a:p>
          <a:p xmlns:a="http://schemas.openxmlformats.org/drawingml/2006/main">
            <a:r>
              <a:t>   └──────────────── iterate ─────────────────┘</a:t>
            </a:r>
            <a:endParaRPr/>
          </a:p>
          <a:p xmlns:a="http://schemas.openxmlformats.org/drawingml/2006/main">
            <a:r>
              <a:t>```</a:t>
            </a:r>
            <a:endParaRPr/>
          </a:p>
          <a:p xmlns:a="http://schemas.openxmlformats.org/drawingml/2006/main">
            <a:r>
              <a:t/>
            </a:r>
            <a:endParaRPr/>
          </a:p>
          <a:p xmlns:a="http://schemas.openxmlformats.org/drawingml/2006/main">
            <a:r>
              <a:t>- **Discover:** What problem are we solving? Who feels it most?</a:t>
            </a:r>
            <a:endParaRPr/>
          </a:p>
          <a:p xmlns:a="http://schemas.openxmlformats.org/drawingml/2006/main">
            <a:r>
              <a:t>- **Prioritize:** Use the matrix. Don't skip this.</a:t>
            </a:r>
            <a:endParaRPr/>
          </a:p>
          <a:p xmlns:a="http://schemas.openxmlformats.org/drawingml/2006/main">
            <a:r>
              <a:t>- **Design:** Define inputs, outputs, human review gates, success metrics, and fallback</a:t>
            </a:r>
            <a:endParaRPr/>
          </a:p>
          <a:p xmlns:a="http://schemas.openxmlformats.org/drawingml/2006/main">
            <a:r>
              <a:t>- **Pilot:** Small scope, high observation. 4–8 weeks.</a:t>
            </a:r>
            <a:endParaRPr/>
          </a:p>
          <a:p xmlns:a="http://schemas.openxmlformats.org/drawingml/2006/main">
            <a:r>
              <a:t>- **Evaluate:** Did it work? For whom? What didn't?</a:t>
            </a:r>
            <a:endParaRPr/>
          </a:p>
          <a:p xmlns:a="http://schemas.openxmlformats.org/drawingml/2006/main">
            <a:r>
              <a:t>- **Scale:** Expand with the lessons from pilot baked in</a:t>
            </a:r>
            <a:endParaRPr/>
          </a:p>
          <a:p xmlns:a="http://schemas.openxmlformats.org/drawingml/2006/main">
            <a:r>
              <a:t/>
            </a:r>
            <a:endParaRPr/>
          </a:p>
          <a:p xmlns:a="http://schemas.openxmlformats.org/drawingml/2006/main">
            <a:r>
              <a:t>**One-page use case spec template:**</a:t>
            </a:r>
            <a:endParaRPr/>
          </a:p>
          <a:p xmlns:a="http://schemas.openxmlformats.org/drawingml/2006/main">
            <a:r>
              <a:t/>
            </a:r>
            <a:endParaRPr/>
          </a:p>
          <a:p xmlns:a="http://schemas.openxmlformats.org/drawingml/2006/main">
            <a:r>
              <a:t>Participants complete this for their team's top-ranked use case:</a:t>
            </a:r>
            <a:endParaRPr/>
          </a:p>
          <a:p xmlns:a="http://schemas.openxmlformats.org/drawingml/2006/main">
            <a:r>
              <a:t/>
            </a:r>
            <a:endParaRPr/>
          </a:p>
          <a:p xmlns:a="http://schemas.openxmlformats.org/drawingml/2006/main">
            <a:r>
              <a:t>```</a:t>
            </a:r>
            <a:endParaRPr/>
          </a:p>
          <a:p xmlns:a="http://schemas.openxmlformats.org/drawingml/2006/main">
            <a:r>
              <a:t>Use case name:</a:t>
            </a:r>
            <a:endParaRPr/>
          </a:p>
          <a:p xmlns:a="http://schemas.openxmlformats.org/drawingml/2006/main">
            <a:r>
              <a:t>Problem it solves (1 sentence):</a:t>
            </a:r>
            <a:endParaRPr/>
          </a:p>
          <a:p xmlns:a="http://schemas.openxmlformats.org/drawingml/2006/main">
            <a:r>
              <a:t>Who benefits and how:</a:t>
            </a:r>
            <a:endParaRPr/>
          </a:p>
          <a:p xmlns:a="http://schemas.openxmlformats.org/drawingml/2006/main">
            <a:r>
              <a:t>AI approach (Rules / Augment / Assist / Human-led / Analytics):</a:t>
            </a:r>
            <a:endParaRPr/>
          </a:p>
          <a:p xmlns:a="http://schemas.openxmlformats.org/drawingml/2006/main">
            <a:r>
              <a:t>Data needed:</a:t>
            </a:r>
            <a:endParaRPr/>
          </a:p>
          <a:p xmlns:a="http://schemas.openxmlformats.org/drawingml/2006/main">
            <a:r>
              <a:t>Human review gate:</a:t>
            </a:r>
            <a:endParaRPr/>
          </a:p>
          <a:p xmlns:a="http://schemas.openxmlformats.org/drawingml/2006/main">
            <a:r>
              <a:t>Success metric(s):</a:t>
            </a:r>
            <a:endParaRPr/>
          </a:p>
          <a:p xmlns:a="http://schemas.openxmlformats.org/drawingml/2006/main">
            <a:r>
              <a:t>What could go wrong:</a:t>
            </a:r>
            <a:endParaRPr/>
          </a:p>
          <a:p xmlns:a="http://schemas.openxmlformats.org/drawingml/2006/main">
            <a:r>
              <a:t>Governance requirements (from risk assessment):</a:t>
            </a:r>
            <a:endParaRPr/>
          </a:p>
          <a:p xmlns:a="http://schemas.openxmlformats.org/drawingml/2006/main">
            <a:r>
              <a:t>First step to move forward:</a:t>
            </a:r>
            <a:endParaRPr/>
          </a:p>
          <a:p xmlns:a="http://schemas.openxmlformats.org/drawingml/2006/main">
            <a:r>
              <a:t>```</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Assessment and certification</a:t>
            </a:r>
            <a:endParaRPr/>
          </a:p>
          <a:p xmlns:a="http://schemas.openxmlformats.org/drawingml/2006/main">
            <a:r>
              <a:t/>
            </a:r>
            <a:endParaRPr/>
          </a:p>
          <a:p xmlns:a="http://schemas.openxmlformats.org/drawingml/2006/main">
            <a:r>
              <a:t>An organization may choose to give participants who complete all four modules</a:t>
            </a:r>
            <a:endParaRPr/>
          </a:p>
          <a:p xmlns:a="http://schemas.openxmlformats.org/drawingml/2006/main">
            <a:r>
              <a:t>and the hands-on components an **HR AI Practitioner** acknowledgment. This is a</a:t>
            </a:r>
            <a:endParaRPr/>
          </a:p>
          <a:p xmlns:a="http://schemas.openxmlformats.org/drawingml/2006/main">
            <a:r>
              <a:t>proposed internal recognition, not an accredited certification or evidence of</a:t>
            </a:r>
            <a:endParaRPr/>
          </a:p>
          <a:p xmlns:a="http://schemas.openxmlformats.org/drawingml/2006/main">
            <a:r>
              <a:t>professional competence. No delivery or learning outcome is claimed here.</a:t>
            </a:r>
            <a:endParaRPr/>
          </a:p>
          <a:p xmlns:a="http://schemas.openxmlformats.org/drawingml/2006/main">
            <a:r>
              <a:t/>
            </a:r>
            <a:endParaRPr/>
          </a:p>
          <a:p xmlns:a="http://schemas.openxmlformats.org/drawingml/2006/main">
            <a:r>
              <a:t>Optional extension: Participants who complete a full use case spec and present it to the HR Technology team are recognized as **HR AI Champions**, an informal internal designation that supports peer enablement.</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Facilitator notes</a:t>
            </a:r>
            <a:endParaRPr/>
          </a:p>
          <a:p xmlns:a="http://schemas.openxmlformats.org/drawingml/2006/main">
            <a:r>
              <a:t/>
            </a:r>
            <a:endParaRPr/>
          </a:p>
          <a:p xmlns:a="http://schemas.openxmlformats.org/drawingml/2006/main">
            <a:r>
              <a:t>These are facilitation suggestions, not measured delivery findings. Use synthetic examples; removing names alone does not establish anonymity. Do not upload real employee, candidate, compensation, or employer-confidential information for a training exercise.</a:t>
            </a:r>
            <a:endParaRPr/>
          </a:p>
          <a:p xmlns:a="http://schemas.openxmlformats.org/drawingml/2006/main">
            <a:r>
              <a:t/>
            </a:r>
            <a:endParaRPr/>
          </a:p>
          <a:p xmlns:a="http://schemas.openxmlformats.org/drawingml/2006/main">
            <a:r>
              <a:t>- Budget flex time in Module 3 for questions and disagreement about risk.</a:t>
            </a:r>
            <a:endParaRPr/>
          </a:p>
          <a:p xmlns:a="http://schemas.openxmlformats.org/drawingml/2006/main">
            <a:r>
              <a:t>- Protect time for the Module 2 lab, and check whether participants can identify errors and verify outputs afterward.</a:t>
            </a:r>
            <a:endParaRPr/>
          </a:p>
          <a:p xmlns:a="http://schemas.openxmlformats.org/drawingml/2006/main">
            <a:r>
              <a:t>- Adapt synthetic scenarios to familiar workflows, without identifiable employee cases or confidential documents.</a:t>
            </a:r>
            <a:endParaRPr/>
          </a:p>
          <a:p xmlns:a="http://schemas.openxmlformats.org/drawingml/2006/main">
            <a:r>
              <a:t>- Keep an AI skeptic on the facilitation team if possible. The best discussions happen when the room has range.</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snapshot: 13 October 2026. Curriculum SHA-256: 5ee769258ac9b95a3c514b64dcd5b22215e40bac8621054ffb452bffc244827a. This deck summarizes the source; no human evaluation, delivery outcome or legal approval is claimed.</a:t>
            </a:r>
            <a:endParaRPr/>
          </a:p>
          <a:p xmlns:a="http://schemas.openxmlformats.org/drawingml/2006/main">
            <a:r>
              <a:t/>
            </a:r>
            <a:endParaRPr/>
          </a:p>
          <a:p xmlns:a="http://schemas.openxmlformats.org/drawingml/2006/main">
            <a:r>
              <a:t># HR AI literacy curriculum</a:t>
            </a:r>
            <a:endParaRPr/>
          </a:p>
          <a:p xmlns:a="http://schemas.openxmlformats.org/drawingml/2006/main">
            <a:r>
              <a:t/>
            </a:r>
            <a:endParaRPr/>
          </a:p>
          <a:p xmlns:a="http://schemas.openxmlformats.org/drawingml/2006/main">
            <a:r>
              <a:t>A 4-module learning program for HR professionals at all experience levels. Designed to be delivered as a facilitated series over 4–6 weeks, or adapted for self-paced completion.</a:t>
            </a:r>
            <a:endParaRPr/>
          </a:p>
          <a:p xmlns:a="http://schemas.openxmlformats.org/drawingml/2006/main">
            <a:r>
              <a:t/>
            </a:r>
            <a:endParaRPr/>
          </a:p>
          <a:p xmlns:a="http://schemas.openxmlformats.org/drawingml/2006/main">
            <a:r>
              <a:t>**Total time:** about 7 hours of sessions, plus async reading and hands-on practice (roughly 8 hours in all)</a:t>
            </a:r>
            <a:endParaRPr/>
          </a:p>
          <a:p xmlns:a="http://schemas.openxmlformats.org/drawingml/2006/main">
            <a:r>
              <a:t>**Format:** Workshop + async reading + hands-on practice</a:t>
            </a:r>
            <a:endParaRPr/>
          </a:p>
          <a:p xmlns:a="http://schemas.openxmlformats.org/drawingml/2006/main">
            <a:r>
              <a:t>**Audience:** All People Team members</a:t>
            </a:r>
            <a:endParaRPr/>
          </a:p>
          <a:p xmlns:a="http://schemas.openxmlformats.org/drawingml/2006/main">
            <a:r>
              <a:t>**Prerequisite:** None</a:t>
            </a:r>
            <a:endParaRPr/>
          </a:p>
          <a:p xmlns:a="http://schemas.openxmlformats.org/drawingml/2006/main">
            <a:r>
              <a:t/>
            </a:r>
            <a:endParaRPr/>
          </a:p>
          <a:p xmlns:a="http://schemas.openxmlformats.org/drawingml/2006/main">
            <a:r>
              <a:t>**Lab prerequisite:** The facilitator confirms an organization-approved tool,</a:t>
            </a:r>
            <a:endParaRPr/>
          </a:p>
          <a:p xmlns:a="http://schemas.openxmlformats.org/drawingml/2006/main">
            <a:r>
              <a:t>provider handling, and a synthetic-only data boundary before any exercise.</a:t>
            </a:r>
            <a:endParaRPr/>
          </a:p>
          <a:p xmlns:a="http://schemas.openxmlformats.org/drawingml/2006/main">
            <a:r>
              <a:t>Modules 1-3 and the required governance approvals precede any real-work pilot.</a:t>
            </a:r>
            <a:endParaRPr/>
          </a:p>
          <a:p xmlns:a="http://schemas.openxmlformats.org/drawingml/2006/main">
            <a:r>
              <a:t>This curriculum does not authorize employee-data processing.</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Program overview</a:t>
            </a:r>
            <a:endParaRPr/>
          </a:p>
          <a:p xmlns:a="http://schemas.openxmlformats.org/drawingml/2006/main">
            <a:r>
              <a:t/>
            </a:r>
            <a:endParaRPr/>
          </a:p>
          <a:p xmlns:a="http://schemas.openxmlformats.org/drawingml/2006/main">
            <a:r>
              <a:t>| Module | Title | Duration | Format |</a:t>
            </a:r>
            <a:endParaRPr/>
          </a:p>
          <a:p xmlns:a="http://schemas.openxmlformats.org/drawingml/2006/main">
            <a:r>
              <a:t>|---|---|---|---|</a:t>
            </a:r>
            <a:endParaRPr/>
          </a:p>
          <a:p xmlns:a="http://schemas.openxmlformats.org/drawingml/2006/main">
            <a:r>
              <a:t>| 1 | How AI works, what HR professionals actually need to know | 90 min | Workshop |</a:t>
            </a:r>
            <a:endParaRPr/>
          </a:p>
          <a:p xmlns:a="http://schemas.openxmlformats.org/drawingml/2006/main">
            <a:r>
              <a:t>| 2 | Using AI in your daily HR work | 2 hours | Workshop + lab |</a:t>
            </a:r>
            <a:endParaRPr/>
          </a:p>
          <a:p xmlns:a="http://schemas.openxmlformats.org/drawingml/2006/main">
            <a:r>
              <a:t>| 3 | Governance, ethics, and responsible use | 90 min | Workshop |</a:t>
            </a:r>
            <a:endParaRPr/>
          </a:p>
          <a:p xmlns:a="http://schemas.openxmlformats.org/drawingml/2006/main">
            <a:r>
              <a:t>| 4 | Building and scaling AI use cases | 2 hours | Workshop + project |</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1: How AI works, what HR professionals actually need to know</a:t>
            </a:r>
            <a:endParaRPr/>
          </a:p>
          <a:p xmlns:a="http://schemas.openxmlformats.org/drawingml/2006/main">
            <a:r>
              <a:t/>
            </a:r>
            <a:endParaRPr/>
          </a:p>
          <a:p xmlns:a="http://schemas.openxmlformats.org/drawingml/2006/main">
            <a:r>
              <a:t>**Learning objectives:**</a:t>
            </a:r>
            <a:endParaRPr/>
          </a:p>
          <a:p xmlns:a="http://schemas.openxmlformats.org/drawingml/2006/main">
            <a:r>
              <a:t>- Explain the difference between traditional automation and generative AI</a:t>
            </a:r>
            <a:endParaRPr/>
          </a:p>
          <a:p xmlns:a="http://schemas.openxmlformats.org/drawingml/2006/main">
            <a:r>
              <a:t>- Describe why AI "hallucinates" and how to mitigate it in HR contexts</a:t>
            </a:r>
            <a:endParaRPr/>
          </a:p>
          <a:p xmlns:a="http://schemas.openxmlformats.org/drawingml/2006/main">
            <a:r>
              <a:t>- Identify which HR tasks are good candidates for AI assistance and which are not</a:t>
            </a:r>
            <a:endParaRPr/>
          </a:p>
          <a:p xmlns:a="http://schemas.openxmlformats.org/drawingml/2006/main">
            <a:r>
              <a:t/>
            </a:r>
            <a:endParaRPr/>
          </a:p>
          <a:p xmlns:a="http://schemas.openxmlformats.org/drawingml/2006/main">
            <a:r>
              <a:t>**Session outline (90 minutes):**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0:00–0:10 | Opening: What do you already believe about AI? (quick poll + discussion) |</a:t>
            </a:r>
            <a:endParaRPr/>
          </a:p>
          <a:p xmlns:a="http://schemas.openxmlformats.org/drawingml/2006/main">
            <a:r>
              <a:t>| 0:10–0:30 | Concept: How LLMs work, without the jargon (facilitator presentation) |</a:t>
            </a:r>
            <a:endParaRPr/>
          </a:p>
          <a:p xmlns:a="http://schemas.openxmlformats.org/drawingml/2006/main">
            <a:r>
              <a:t>| 0:30–0:45 | Concept: Hallucination, confidence, and why AI makes things up |</a:t>
            </a:r>
            <a:endParaRPr/>
          </a:p>
          <a:p xmlns:a="http://schemas.openxmlformats.org/drawingml/2006/main">
            <a:r>
              <a:t>| 0:45–1:05 | Exercise: Spot the hallucination (participants identify errors in AI-generated HR content) |</a:t>
            </a:r>
            <a:endParaRPr/>
          </a:p>
          <a:p xmlns:a="http://schemas.openxmlformats.org/drawingml/2006/main">
            <a:r>
              <a:t>| 1:05–1:20 | Discussion: Where should HR use AI? Where should we be cautious? |</a:t>
            </a:r>
            <a:endParaRPr/>
          </a:p>
          <a:p xmlns:a="http://schemas.openxmlformats.org/drawingml/2006/main">
            <a:r>
              <a:t>| 1:20–1:30 | Wrap-up + homework: Try one AI tool before next session |</a:t>
            </a:r>
            <a:endParaRPr/>
          </a:p>
          <a:p xmlns:a="http://schemas.openxmlformats.org/drawingml/2006/main">
            <a:r>
              <a:t/>
            </a:r>
            <a:endParaRPr/>
          </a:p>
          <a:p xmlns:a="http://schemas.openxmlformats.org/drawingml/2006/main">
            <a:r>
              <a:t>**Key concepts to cover:**</a:t>
            </a:r>
            <a:endParaRPr/>
          </a:p>
          <a:p xmlns:a="http://schemas.openxmlformats.org/drawingml/2006/main">
            <a:r>
              <a:t/>
            </a:r>
            <a:endParaRPr/>
          </a:p>
          <a:p xmlns:a="http://schemas.openxmlformats.org/drawingml/2006/main">
            <a:r>
              <a:t>*What LLMs actually are:*</a:t>
            </a:r>
            <a:endParaRPr/>
          </a:p>
          <a:p xmlns:a="http://schemas.openxmlformats.org/drawingml/2006/main">
            <a:r>
              <a:t>Large language models predict the next most likely word given context. They don't "know" things the way a database knows things, they pattern-match against training data. This is why they can sound authoritative while being wrong.</a:t>
            </a:r>
            <a:endParaRPr/>
          </a:p>
          <a:p xmlns:a="http://schemas.openxmlformats.org/drawingml/2006/main">
            <a:r>
              <a:t/>
            </a:r>
            <a:endParaRPr/>
          </a:p>
          <a:p xmlns:a="http://schemas.openxmlformats.org/drawingml/2006/main">
            <a:r>
              <a:t>*The spectrum from rules to agents:*</a:t>
            </a:r>
            <a:endParaRPr/>
          </a:p>
          <a:p xmlns:a="http://schemas.openxmlformats.org/drawingml/2006/main">
            <a:r>
              <a:t>```</a:t>
            </a:r>
            <a:endParaRPr/>
          </a:p>
          <a:p xmlns:a="http://schemas.openxmlformats.org/drawingml/2006/main">
            <a:r>
              <a:t>Rules            →  Assist / Augment              →  Agent</a:t>
            </a:r>
            <a:endParaRPr/>
          </a:p>
          <a:p xmlns:a="http://schemas.openxmlformats.org/drawingml/2006/main">
            <a:r>
              <a:t>(deterministic)     (a person decides or owns)       (a model acts across several steps)</a:t>
            </a:r>
            <a:endParaRPr/>
          </a:p>
          <a:p xmlns:a="http://schemas.openxmlformats.org/drawingml/2006/main">
            <a:r>
              <a:t>```</a:t>
            </a:r>
            <a:endParaRPr/>
          </a:p>
          <a:p xmlns:a="http://schemas.openxmlformats.org/drawingml/2006/main">
            <a:r>
              <a:t>Use rules when rules reliably give the right answer. Most HR uses of AI belong in the middle. An agent, where a model takes several actions through tools with limited review between them, has to earn that autonomy through evidence and brings new governance requirements.</a:t>
            </a:r>
            <a:endParaRPr/>
          </a:p>
          <a:p xmlns:a="http://schemas.openxmlformats.org/drawingml/2006/main">
            <a:r>
              <a:t/>
            </a:r>
            <a:endParaRPr/>
          </a:p>
          <a:p xmlns:a="http://schemas.openxmlformats.org/drawingml/2006/main">
            <a:r>
              <a:t>*Prompt quality drives output quality:*</a:t>
            </a:r>
            <a:endParaRPr/>
          </a:p>
          <a:p xmlns:a="http://schemas.openxmlformats.org/drawingml/2006/main">
            <a:r>
              <a:t>Clear prompts help define a task and its boundaries. Output quality also depends on the model, source material, workflow controls, and verification. A well-written prompt does not establish factual accuracy or safe HR judgment.</a:t>
            </a:r>
            <a:endParaRPr/>
          </a:p>
          <a:p xmlns:a="http://schemas.openxmlformats.org/drawingml/2006/main">
            <a:r>
              <a:t/>
            </a:r>
            <a:endParaRPr/>
          </a:p>
          <a:p xmlns:a="http://schemas.openxmlformats.org/drawingml/2006/main">
            <a:r>
              <a:t>**Pre-reading (assign before session):**</a:t>
            </a:r>
            <a:endParaRPr/>
          </a:p>
          <a:p xmlns:a="http://schemas.openxmlformats.org/drawingml/2006/main">
            <a:r>
              <a:t>- [Your organization's AI use policy](../03-governance/ai-use-policy.md)</a:t>
            </a:r>
            <a:endParaRPr/>
          </a:p>
          <a:p xmlns:a="http://schemas.openxmlformats.org/drawingml/2006/main">
            <a:r>
              <a:t>- One-page primer on generative AI for non-technical audiences (create or source)</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2: Using AI in your daily HR work</a:t>
            </a:r>
            <a:endParaRPr/>
          </a:p>
          <a:p xmlns:a="http://schemas.openxmlformats.org/drawingml/2006/main">
            <a:r>
              <a:t/>
            </a:r>
            <a:endParaRPr/>
          </a:p>
          <a:p xmlns:a="http://schemas.openxmlformats.org/drawingml/2006/main">
            <a:r>
              <a:t>**Learning objectives:**</a:t>
            </a:r>
            <a:endParaRPr/>
          </a:p>
          <a:p xmlns:a="http://schemas.openxmlformats.org/drawingml/2006/main">
            <a:r>
              <a:t>- Write effective prompts for HR use cases</a:t>
            </a:r>
            <a:endParaRPr/>
          </a:p>
          <a:p xmlns:a="http://schemas.openxmlformats.org/drawingml/2006/main">
            <a:r>
              <a:t>- Use the prompt library for at least 3 HR workflows</a:t>
            </a:r>
            <a:endParaRPr/>
          </a:p>
          <a:p xmlns:a="http://schemas.openxmlformats.org/drawingml/2006/main">
            <a:r>
              <a:t>- Identify when to use AI, when to verify AI output, and when not to use it</a:t>
            </a:r>
            <a:endParaRPr/>
          </a:p>
          <a:p xmlns:a="http://schemas.openxmlformats.org/drawingml/2006/main">
            <a:r>
              <a:t/>
            </a:r>
            <a:endParaRPr/>
          </a:p>
          <a:p xmlns:a="http://schemas.openxmlformats.org/drawingml/2006/main">
            <a:r>
              <a:t>**Session outline (2 hours including lab):**</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Share-back from Module 1 homework, what did you try, what happened? |</a:t>
            </a:r>
            <a:endParaRPr/>
          </a:p>
          <a:p xmlns:a="http://schemas.openxmlformats.org/drawingml/2006/main">
            <a:r>
              <a:t>| 0:15–0:45 | Prompt engineering for HR: the four elements of a good prompt |</a:t>
            </a:r>
            <a:endParaRPr/>
          </a:p>
          <a:p xmlns:a="http://schemas.openxmlformats.org/drawingml/2006/main">
            <a:r>
              <a:t>| 0:45–1:10 | Live demo: Onboarding plan, performance review draft, policy Q&amp;A |</a:t>
            </a:r>
            <a:endParaRPr/>
          </a:p>
          <a:p xmlns:a="http://schemas.openxmlformats.org/drawingml/2006/main">
            <a:r>
              <a:t>| 1:10–1:50 | Hands-on lab: Each participant works through 2 prompts using synthetic HR scenarios in organization-approved tools |</a:t>
            </a:r>
            <a:endParaRPr/>
          </a:p>
          <a:p xmlns:a="http://schemas.openxmlformats.org/drawingml/2006/main">
            <a:r>
              <a:t>| 1:50–2:00 | Debrief: What surprised you? What didn't work? |</a:t>
            </a:r>
            <a:endParaRPr/>
          </a:p>
          <a:p xmlns:a="http://schemas.openxmlformats.org/drawingml/2006/main">
            <a:r>
              <a:t/>
            </a:r>
            <a:endParaRPr/>
          </a:p>
          <a:p xmlns:a="http://schemas.openxmlformats.org/drawingml/2006/main">
            <a:r>
              <a:t>**The four elements of an effective HR prompt:**</a:t>
            </a:r>
            <a:endParaRPr/>
          </a:p>
          <a:p xmlns:a="http://schemas.openxmlformats.org/drawingml/2006/main">
            <a:r>
              <a:t/>
            </a:r>
            <a:endParaRPr/>
          </a:p>
          <a:p xmlns:a="http://schemas.openxmlformats.org/drawingml/2006/main">
            <a:r>
              <a:t>1. **Role**: Define the task perspective, such as drafting support for an HRBP. A role instruction does not give the model professional authority.</a:t>
            </a:r>
            <a:endParaRPr/>
          </a:p>
          <a:p xmlns:a="http://schemas.openxmlformats.org/drawingml/2006/main">
            <a:r>
              <a:t/>
            </a:r>
            <a:endParaRPr/>
          </a:p>
          <a:p xmlns:a="http://schemas.openxmlformats.org/drawingml/2006/main">
            <a:r>
              <a:t>2. **Context**: Provide the specific details the AI needs. Role, tenure, team size, situation. Don't make the AI guess.</a:t>
            </a:r>
            <a:endParaRPr/>
          </a:p>
          <a:p xmlns:a="http://schemas.openxmlformats.org/drawingml/2006/main">
            <a:r>
              <a:t/>
            </a:r>
            <a:endParaRPr/>
          </a:p>
          <a:p xmlns:a="http://schemas.openxmlformats.org/drawingml/2006/main">
            <a:r>
              <a:t>3. **Task**: State clearly what you want it to produce. One output per prompt. "Draft a..." is clearer than "Help me with..."</a:t>
            </a:r>
            <a:endParaRPr/>
          </a:p>
          <a:p xmlns:a="http://schemas.openxmlformats.org/drawingml/2006/main">
            <a:r>
              <a:t/>
            </a:r>
            <a:endParaRPr/>
          </a:p>
          <a:p xmlns:a="http://schemas.openxmlformats.org/drawingml/2006/main">
            <a:r>
              <a:t>4. **Constraints**: Define length, tone, format, exclusions, and the verification needed. Check whether the output follows them.</a:t>
            </a:r>
            <a:endParaRPr/>
          </a:p>
          <a:p xmlns:a="http://schemas.openxmlformats.org/drawingml/2006/main">
            <a:r>
              <a:t/>
            </a:r>
            <a:endParaRPr/>
          </a:p>
          <a:p xmlns:a="http://schemas.openxmlformats.org/drawingml/2006/main">
            <a:r>
              <a:t>**Lab instructions:**</a:t>
            </a:r>
            <a:endParaRPr/>
          </a:p>
          <a:p xmlns:a="http://schemas.openxmlformats.org/drawingml/2006/main">
            <a:r>
              <a:t/>
            </a:r>
            <a:endParaRPr/>
          </a:p>
          <a:p xmlns:a="http://schemas.openxmlformats.org/drawingml/2006/main">
            <a:r>
              <a:t>Participants choose 2 prompts from the library that are relevant to their current work:</a:t>
            </a:r>
            <a:endParaRPr/>
          </a:p>
          <a:p xmlns:a="http://schemas.openxmlformats.org/drawingml/2006/main">
            <a:r>
              <a:t>1. Run the prompt with a fictional HR scenario in an organization-approved tool. Do not upload real employee, candidate, compensation, or confidential employer information.</a:t>
            </a:r>
            <a:endParaRPr/>
          </a:p>
          <a:p xmlns:a="http://schemas.openxmlformats.org/drawingml/2006/main">
            <a:r>
              <a:t>2. Evaluate the output: What's useful? What's wrong or missing? What would you change before using it?</a:t>
            </a:r>
            <a:endParaRPr/>
          </a:p>
          <a:p xmlns:a="http://schemas.openxmlformats.org/drawingml/2006/main">
            <a:r>
              <a:t>3. Iterate: Modify the prompt once based on what you learned and run it again</a:t>
            </a:r>
            <a:endParaRPr/>
          </a:p>
          <a:p xmlns:a="http://schemas.openxmlformats.org/drawingml/2006/main">
            <a:r>
              <a:t>4. Note: What changed between run 1 and run 2?</a:t>
            </a:r>
            <a:endParaRPr/>
          </a:p>
          <a:p xmlns:a="http://schemas.openxmlformats.org/drawingml/2006/main">
            <a:r>
              <a:t/>
            </a:r>
            <a:endParaRPr/>
          </a:p>
          <a:p xmlns:a="http://schemas.openxmlformats.org/drawingml/2006/main">
            <a:r>
              <a:t>**The verify-before-use rule:**</a:t>
            </a:r>
            <a:endParaRPr/>
          </a:p>
          <a:p xmlns:a="http://schemas.openxmlformats.org/drawingml/2006/main">
            <a:r>
              <a:t/>
            </a:r>
            <a:endParaRPr/>
          </a:p>
          <a:p xmlns:a="http://schemas.openxmlformats.org/drawingml/2006/main">
            <a:r>
              <a:t>Introduce and reinforce this heuristic:</a:t>
            </a:r>
            <a:endParaRPr/>
          </a:p>
          <a:p xmlns:a="http://schemas.openxmlformats.org/drawingml/2006/main">
            <a:r>
              <a:t>- Policy details → always verify against source system before sharing</a:t>
            </a:r>
            <a:endParaRPr/>
          </a:p>
          <a:p xmlns:a="http://schemas.openxmlformats.org/drawingml/2006/main">
            <a:r>
              <a:t>- Legal requirements → always verify with Legal before relying on</a:t>
            </a:r>
            <a:endParaRPr/>
          </a:p>
          <a:p xmlns:a="http://schemas.openxmlformats.org/drawingml/2006/main">
            <a:r>
              <a:t>- Factual claims → spot-check against a known source</a:t>
            </a:r>
            <a:endParaRPr/>
          </a:p>
          <a:p xmlns:a="http://schemas.openxmlformats.org/drawingml/2006/main">
            <a:r>
              <a:t>- Tone and content → always read before sending; AI doesn't know your audience</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3: Governance, ethics, and responsible use</a:t>
            </a:r>
            <a:endParaRPr/>
          </a:p>
          <a:p xmlns:a="http://schemas.openxmlformats.org/drawingml/2006/main">
            <a:r>
              <a:t/>
            </a:r>
            <a:endParaRPr/>
          </a:p>
          <a:p xmlns:a="http://schemas.openxmlformats.org/drawingml/2006/main">
            <a:r>
              <a:t>**Learning objectives:**</a:t>
            </a:r>
            <a:endParaRPr/>
          </a:p>
          <a:p xmlns:a="http://schemas.openxmlformats.org/drawingml/2006/main">
            <a:r>
              <a:t>- Apply the organization's AI use policy to real HR scenarios</a:t>
            </a:r>
            <a:endParaRPr/>
          </a:p>
          <a:p xmlns:a="http://schemas.openxmlformats.org/drawingml/2006/main">
            <a:r>
              <a:t>- Identify the key legal risk areas in HR AI (bias, privacy, employment law)</a:t>
            </a:r>
            <a:endParaRPr/>
          </a:p>
          <a:p xmlns:a="http://schemas.openxmlformats.org/drawingml/2006/main">
            <a:r>
              <a:t>- Complete a basic risk assessment for a new use case</a:t>
            </a:r>
            <a:endParaRPr/>
          </a:p>
          <a:p xmlns:a="http://schemas.openxmlformats.org/drawingml/2006/main">
            <a:r>
              <a:t/>
            </a:r>
            <a:endParaRPr/>
          </a:p>
          <a:p xmlns:a="http://schemas.openxmlformats.org/drawingml/2006/main">
            <a:r>
              <a:t>**Session outline (90 minutes):**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Case study: Three HR AI failures and what we can learn (discussion) |</a:t>
            </a:r>
            <a:endParaRPr/>
          </a:p>
          <a:p xmlns:a="http://schemas.openxmlformats.org/drawingml/2006/main">
            <a:r>
              <a:t>| 0:15–0:40 | Framework: What makes AI use in HR risky? Legal and ethical dimensions |</a:t>
            </a:r>
            <a:endParaRPr/>
          </a:p>
          <a:p xmlns:a="http://schemas.openxmlformats.org/drawingml/2006/main">
            <a:r>
              <a:t>| 0:40–1:00 | Scenario practice: Is this use case okay? (small groups, 4 scenarios) |</a:t>
            </a:r>
            <a:endParaRPr/>
          </a:p>
          <a:p xmlns:a="http://schemas.openxmlformats.org/drawingml/2006/main">
            <a:r>
              <a:t>| 1:00–1:20 | Walk-through: The risk assessment template |</a:t>
            </a:r>
            <a:endParaRPr/>
          </a:p>
          <a:p xmlns:a="http://schemas.openxmlformats.org/drawingml/2006/main">
            <a:r>
              <a:t>| 1:20–1:30 | Q&amp;A + open discussion |</a:t>
            </a:r>
            <a:endParaRPr/>
          </a:p>
          <a:p xmlns:a="http://schemas.openxmlformats.org/drawingml/2006/main">
            <a:r>
              <a:t/>
            </a:r>
            <a:endParaRPr/>
          </a:p>
          <a:p xmlns:a="http://schemas.openxmlformats.org/drawingml/2006/main">
            <a:r>
              <a:t>&gt; **Note on regulatory currency:** Use the [Key dates for HR](../03-governance/README.md#key-dates-for-hr) and its linked primary sources as the dated reference. The slides summarize risk questions; they are not a complete legal reference. Have Legal verify jurisdiction, scope, obligations, and effective dates before delivery or adoption.</a:t>
            </a:r>
            <a:endParaRPr/>
          </a:p>
          <a:p xmlns:a="http://schemas.openxmlformats.org/drawingml/2006/main">
            <a:r>
              <a:t/>
            </a:r>
            <a:endParaRPr/>
          </a:p>
          <a:p xmlns:a="http://schemas.openxmlformats.org/drawingml/2006/main">
            <a:r>
              <a:t>**Key legal risk areas to cover:**</a:t>
            </a:r>
            <a:endParaRPr/>
          </a:p>
          <a:p xmlns:a="http://schemas.openxmlformats.org/drawingml/2006/main">
            <a:r>
              <a:t/>
            </a:r>
            <a:endParaRPr/>
          </a:p>
          <a:p xmlns:a="http://schemas.openxmlformats.org/drawingml/2006/main">
            <a:r>
              <a:t>*Bias and disparate impact:*</a:t>
            </a:r>
            <a:endParaRPr/>
          </a:p>
          <a:p xmlns:a="http://schemas.openxmlformats.org/drawingml/2006/main">
            <a:r>
              <a:t>AI trained on historical HR data can encode and amplify past discrimination. A history in which 80% of engineering hires were male is a reason to examine labels, features, selection effects, and group outcomes; that proportion alone does not determine how a model will score resumes. Adverse impact testing is a core control. It is required by law in some jurisdictions (NYC Local Law 144 mandates an annual bias audit for covered tools) and expected as evidence of reasonable care in many others. Confirm the cadence with Legal. See the [NIST AI RMF](https://www.nist.gov/itl/ai-risk-management-framework).</a:t>
            </a:r>
            <a:endParaRPr/>
          </a:p>
          <a:p xmlns:a="http://schemas.openxmlformats.org/drawingml/2006/main">
            <a:r>
              <a:t/>
            </a:r>
            <a:endParaRPr/>
          </a:p>
          <a:p xmlns:a="http://schemas.openxmlformats.org/drawingml/2006/main">
            <a:r>
              <a:t>*Illinois AI Video Interview Act, NYC Local Law 144, and emerging state laws:*</a:t>
            </a:r>
            <a:endParaRPr/>
          </a:p>
          <a:p xmlns:a="http://schemas.openxmlformats.org/drawingml/2006/main">
            <a:r>
              <a:t>Several jurisdictions now require disclosure, impact assessments, or consent for AI use in hiring. Illinois's AI Video Interview Act ([820 ILCS 42](https://www.ilga.gov/Legislation/ILCS/Articles?ActID=4015&amp;ChapterID=68)) governs AI analysis of recorded video interviews, including notice and consent before the interview. Confirm its current requirements against the statute before relying on them. Illinois also amended its Human Rights Act via HB 3773 (effective January 1, 2026) to broadly prohibit discriminatory AI use in hiring and promotion, not just video interviews. A companion law, Public Act 104-0425 (SB 2487, effective January 1, 2026), gives the Human Rights Commission tiered civil penalty authority for violations: up to $16,000 for a first offense, up to $42,500 with one prior violation within five years, up to $70,000 for two or more within seven years. The regulatory landscape is shifting quickly. Use cases involving hiring must be reviewed against current state law.</a:t>
            </a:r>
            <a:endParaRPr/>
          </a:p>
          <a:p xmlns:a="http://schemas.openxmlformats.org/drawingml/2006/main">
            <a:r>
              <a:t/>
            </a:r>
            <a:endParaRPr/>
          </a:p>
          <a:p xmlns:a="http://schemas.openxmlformats.org/drawingml/2006/main">
            <a:r>
              <a:t>NYC Local Law 144 enforcement is entering a stricter phase. A December 2025 NY State Comptroller audit found DCWP's enforcement "ineffective": DCWP's own review of 32 companies' bias-audit disclosures caught 1 likely non-compliance issue, where the Comptroller's review of the same 32 found at least 17. Expect more investigations and higher penalties as DCWP responds to the audit's recommendations, not just the disclosure-and-audit paperwork the law describes on paper.</a:t>
            </a:r>
            <a:endParaRPr/>
          </a:p>
          <a:p xmlns:a="http://schemas.openxmlformats.org/drawingml/2006/main">
            <a:r>
              <a:t/>
            </a:r>
            <a:endParaRPr/>
          </a:p>
          <a:p xmlns:a="http://schemas.openxmlformats.org/drawingml/2006/main">
            <a:r>
              <a:t>*Colorado's Automated Decision-Making Technology Act:*</a:t>
            </a:r>
            <a:endParaRPr/>
          </a:p>
          <a:p xmlns:a="http://schemas.openxmlformats.org/drawingml/2006/main">
            <a:r>
              <a:t>Colorado SB26-189 (signed 14 May 2026, Colo. Sess. Laws ch. 131) repeals and replaces the state's 2024 AI consumer protection law. It covers "consequential decisions," including employment, made using automated decision-making technology (ADMT) that materially influences the outcome. Starting January 1, 2027, developers must give deployers technical documentation on intended use, training data categories, known limitations, and human review instructions. Deployers will owe consumers notice at the point of interaction, and within 30 days of any adverse consequential decision, a plain-language explanation plus the right to request human review and reconsideration. Records must be retained 3 years. The attorney general enforces under the Colorado Consumer Protection Act, with a 60-day cure period through January 1, 2030.</a:t>
            </a:r>
            <a:endParaRPr/>
          </a:p>
          <a:p xmlns:a="http://schemas.openxmlformats.org/drawingml/2006/main">
            <a:r>
              <a:t/>
            </a:r>
            <a:endParaRPr/>
          </a:p>
          <a:p xmlns:a="http://schemas.openxmlformats.org/drawingml/2006/main">
            <a:r>
              <a:t>*Connecticut: AI Responsibility and Transparency Act (Public Act 26-15):*</a:t>
            </a:r>
            <a:endParaRPr/>
          </a:p>
          <a:p xmlns:a="http://schemas.openxmlformats.org/drawingml/2006/main">
            <a:r>
              <a:t>Connecticut's SB 5 became Public Act 26-15 in June 2026. It is the most comprehensive state AI employment statute enacted so far, and it phases in across two years. Read the dates carefully, because the parts that bite first are not the disclosure rules.</a:t>
            </a:r>
            <a:endParaRPr/>
          </a:p>
          <a:p xmlns:a="http://schemas.openxmlformats.org/drawingml/2006/main">
            <a:r>
              <a:t/>
            </a:r>
            <a:endParaRPr/>
          </a:p>
          <a:p xmlns:a="http://schemas.openxmlformats.org/drawingml/2006/main">
            <a:r>
              <a:t>Live October 1, 2026:</a:t>
            </a:r>
            <a:endParaRPr/>
          </a:p>
          <a:p xmlns:a="http://schemas.openxmlformats.org/drawingml/2006/main">
            <a:r>
              <a:t/>
            </a:r>
            <a:endParaRPr/>
          </a:p>
          <a:p xmlns:a="http://schemas.openxmlformats.org/drawingml/2006/main">
            <a:r>
              <a:t>- **AI is not a defense.** Sections 13 and 14 amend Conn. Gen. Stat. 46a-60 so that using an automated employment-related decision technology is not a defense against a discrimination complaint. The commission or court may consider the quality, efficacy, recency, and scope of anti-bias testing, its results, and the employer's response. This does not establish that a stale audit is always worse than no audit, or that testing guarantees a favorable legal outcome. Preserve the testing evidence and corrective actions for counsel review. Source: [Public Act 26-15](https://www.cga.ct.gov/2026/ACT/PA/PDF/2026PA-00015-R00SB-00005-PA.PDF).</a:t>
            </a:r>
            <a:endParaRPr/>
          </a:p>
          <a:p xmlns:a="http://schemas.openxmlformats.org/drawingml/2006/main">
            <a:r>
              <a:t>- **WARN notices.** Section 26 requires any employer serving a federal WARN notice under 29 USC 2102(a) to disclose to the Connecticut Labor Department whether the layoffs relate to the employer's use of AI or other technological change. Note the disclosure runs to the department, not to affected employees.</a:t>
            </a:r>
            <a:endParaRPr/>
          </a:p>
          <a:p xmlns:a="http://schemas.openxmlformats.org/drawingml/2006/main">
            <a:r>
              <a:t/>
            </a:r>
            <a:endParaRPr/>
          </a:p>
          <a:p xmlns:a="http://schemas.openxmlformats.org/drawingml/2006/main">
            <a:r>
              <a:t>Live October 1, 2027 (sections 7 to 12 take effect in 2026, but the duties attach only to technology deployed on or after October 1, 2027):</a:t>
            </a:r>
            <a:endParaRPr/>
          </a:p>
          <a:p xmlns:a="http://schemas.openxmlformats.org/drawingml/2006/main">
            <a:r>
              <a:t/>
            </a:r>
            <a:endParaRPr/>
          </a:p>
          <a:p xmlns:a="http://schemas.openxmlformats.org/drawingml/2006/main">
            <a:r>
              <a:t>- Scope is set by "substantial factor," defined as a factor that meaningfully alters the outcome of an employment-related decision. Covered decisions are hiring, promotion, discipline, discharge, renewal, selection for training or apprenticeship, and terms, privileges or conditions of employment. Carved out: nonmaterial changes to job tasks or hours, and decisions about workplace health and safety, scheduling, and productivity monitoring.</a:t>
            </a:r>
            <a:endParaRPr/>
          </a:p>
          <a:p xmlns:a="http://schemas.openxmlformats.org/drawingml/2006/main">
            <a:r>
              <a:t>- Developers must give deployers the information deployers need to meet their duties, but only where the tool was advertised, marketed, configured, contracted for, sold, or licensed to materially influence an employment decision.</a:t>
            </a:r>
            <a:endParaRPr/>
          </a:p>
          <a:p xmlns:a="http://schemas.openxmlformats.org/drawingml/2006/main">
            <a:r>
              <a:t>- Deployers must disclose in plain language when an employee or applicant is interacting with the technology, unless a reasonable person would find it obvious.</a:t>
            </a:r>
            <a:endParaRPr/>
          </a:p>
          <a:p xmlns:a="http://schemas.openxmlformats.org/drawingml/2006/main">
            <a:r>
              <a:t>- Before the decision is made, deployers must give written notice covering six specific points: that the technology was deployed, its purpose and the nature of the decision, the tool's trade name, the categories of personal data analyzed and how they will be assessed, the sources of that data, and deployer contact information.</a:t>
            </a:r>
            <a:endParaRPr/>
          </a:p>
          <a:p xmlns:a="http://schemas.openxmlformats.org/drawingml/2006/main">
            <a:r>
              <a:t>- Trade secrets can be withheld, but the withholding party must send notice saying what is being withheld and why.</a:t>
            </a:r>
            <a:endParaRPr/>
          </a:p>
          <a:p xmlns:a="http://schemas.openxmlformats.org/drawingml/2006/main">
            <a:r>
              <a:t/>
            </a:r>
            <a:endParaRPr/>
          </a:p>
          <a:p xmlns:a="http://schemas.openxmlformats.org/drawingml/2006/main">
            <a:r>
              <a:t>Enforcement is narrower than the obligations suggest: violations are unfair or deceptive trade practices under CUTPA, enforced **solely by the Attorney General**, with an explicit statement that the act creates **no private right of action**. Violations occurring on or before December 31, 2027 carry a 60-day cure period.</a:t>
            </a:r>
            <a:endParaRPr/>
          </a:p>
          <a:p xmlns:a="http://schemas.openxmlformats.org/drawingml/2006/main">
            <a:r>
              <a:t/>
            </a:r>
            <a:endParaRPr/>
          </a:p>
          <a:p xmlns:a="http://schemas.openxmlformats.org/drawingml/2006/main">
            <a:r>
              <a:t>One provision to catch in procurement: Section 8(c) lets a developer contract to assume the deployer's disclosure and notice duties, provided the contract is explicit about which duties transfer. That is a negotiating lever worth asking every vendor about. See the [vendor intake checklist](../03-governance/vendor-intake-checklist.md).</a:t>
            </a:r>
            <a:endParaRPr/>
          </a:p>
          <a:p xmlns:a="http://schemas.openxmlformats.org/drawingml/2006/main">
            <a:r>
              <a:t/>
            </a:r>
            <a:endParaRPr/>
          </a:p>
          <a:p xmlns:a="http://schemas.openxmlformats.org/drawingml/2006/main">
            <a:r>
              <a:t>*California: FEHA algorithmic discrimination rules and CPPA ADMT regulations:*</a:t>
            </a:r>
            <a:endParaRPr/>
          </a:p>
          <a:p xmlns:a="http://schemas.openxmlformats.org/drawingml/2006/main">
            <a:r>
              <a:t>The Civil Rights Council's FEHA regulations on automated decision systems took effect October 1, 2025: they prohibit AI-driven disparate treatment or disparate impact in employment decisions, require four years of recordkeeping, and hold employers liable for discriminatory outcomes even when the tool comes from a third-party vendor. Separately, the [CPPA regulation package](https://cppa.ca.gov/announcements/2025/20250923.html) took effect January 1, 2026. Covered businesses must begin risk-assessment compliance in 2026; ADMT notice and consumer-rights compliance begins January 1, 2027. These dates govern different duties. Review the [final regulations](https://cppa.ca.gov/regulations/ccpa_updates.html) for scope, opt-out exceptions, appeal conditions, and transition rules for processing already underway.</a:t>
            </a:r>
            <a:endParaRPr/>
          </a:p>
          <a:p xmlns:a="http://schemas.openxmlformats.org/drawingml/2006/main">
            <a:r>
              <a:t/>
            </a:r>
            <a:endParaRPr/>
          </a:p>
          <a:p xmlns:a="http://schemas.openxmlformats.org/drawingml/2006/main">
            <a:r>
              <a:t>Four California workplace bills were approved and chaptered on 30 September 2026. All four are enacted law, with obligations beginning in 2027. The chaptered texts were reviewed on 9 October 2026. AB 1883, SB 951, and AB 1331 take effect on 1 January 2027 under [California Constitution Article IV, section 8(c)(1)](https://leginfo.legislature.ca.gov/faces/codes_displayText.xhtml?lawCode=CONS&amp;division=&amp;title=&amp;part=&amp;chapter=&amp;article=IV); none contains an urgency clause or a later operative-date provision. SB 947 takes effect on that date but expressly makes its new Labor Code part operative on 1 July 2027. See the [source register](../03-governance/claims/california-workplace-laws.json) and the [Governor's signing announcement](https://www.gov.ca.gov/2026/09/30/californias-nation-leading-ai-framework-just-got-stronger-governor-newsom-signs-more-first-in-the-nation-worker-protections-and-more/).</a:t>
            </a:r>
            <a:endParaRPr/>
          </a:p>
          <a:p xmlns:a="http://schemas.openxmlformats.org/drawingml/2006/main">
            <a:r>
              <a:t/>
            </a:r>
            <a:endParaRPr/>
          </a:p>
          <a:p xmlns:a="http://schemas.openxmlformats.org/drawingml/2006/main">
            <a:r>
              <a:t>- **[AB 1883](https://leginfo.legislature.ca.gov/faces/billNavClient.xhtml?bill_id=202520260AB1883)** (workplace surveillance tools, Chapter 853, Statutes of 2026) adds Labor Code Part 5.8 to bar employers from using AI-driven surveillance tools to recognize or infer an employee's emotional state, or to collect neural data, meaning data measured from the central or peripheral nervous system and not inferred from nonneural information. Safety uses are preserved, and there is a narrow carve-out for federally mandated aerospace and national security work. Enforcement runs through the Labor Commissioner or a public prosecutor, with penalties up to $500 per violation. It was enrolled on 3 September 2026 and approved by the Governor on 30 September 2026. Some published summaries report 3 September as the signing date; that is the enrollment date.</a:t>
            </a:r>
            <a:endParaRPr/>
          </a:p>
          <a:p xmlns:a="http://schemas.openxmlformats.org/drawingml/2006/main">
            <a:r>
              <a:t>- **[SB 947](https://leginfo.legislature.ca.gov/faces/billTextClient.xhtml?bill_id=202520260SB947)** (the "No Robo Bosses Act," Chapter 859, Statutes of 2026) is **operative 1 July 2027**, under new Labor Code section 1526.7. It bars sole reliance on an ADS for discipline or termination. Primary reliance requires human corroboration and written post-use notice when the decision is communicated. If corroboration fails, or the reviewer finds the output inaccurate, incomplete, or misleading, the employer must not use that output for the decision. The employee may request a meaningful description of their own data used by the ADS. Check the collective bargaining and federal-operation exceptions in sections 1526.5 and 1526.6.</a:t>
            </a:r>
            <a:endParaRPr/>
          </a:p>
          <a:p xmlns:a="http://schemas.openxmlformats.org/drawingml/2006/main">
            <a:r>
              <a:t>- **[SB 951](https://leginfo.legislature.ca.gov/faces/billTextClient.xhtml?bill_id=202520260SB951)** (Chapter 860, Statutes of 2026), **effective 1 January 2027**, adds technology-displacement information to an otherwise required Cal/WARN notice when AI or automation causes the event wholly or substantially. New Labor Code section 1401(d) requires affected jobs and locations, functions being automated, the technology category, and a technology-displacement heading. It retains the existing 60-day notice period. It does not enact the earlier proposal for a 90-day notice or an employer hiring-freeze notice; section 1402.7 instead requires an EDD study by 1 January 2028. Assess Cal/WARN coverage and exceptions before applying the notice requirement.</a:t>
            </a:r>
            <a:endParaRPr/>
          </a:p>
          <a:p xmlns:a="http://schemas.openxmlformats.org/drawingml/2006/main">
            <a:r>
              <a:t>- **[AB 1331](https://leginfo.legislature.ca.gov/faces/billTextClient.xhtml?bill_id=202520260AB1331)** (Chapter 851, Statutes of 2026), **effective 1 January 2027**, limits workplace bathroom surveillance and lets employees leave surveillance tools behind when entering a bathroom. New Labor Code section 1561 includes exceptions for court orders, one-time entry/exit checks, voluntary possession, and certain identification or safety devices. The tool definition reaches beyond AI. Review the full exceptions in sections 1561, 1564, and 1565 before changing monitoring practices.</a:t>
            </a:r>
            <a:endParaRPr/>
          </a:p>
          <a:p xmlns:a="http://schemas.openxmlformats.org/drawingml/2006/main">
            <a:r>
              <a:t/>
            </a:r>
            <a:endParaRPr/>
          </a:p>
          <a:p xmlns:a="http://schemas.openxmlformats.org/drawingml/2006/main">
            <a:r>
              <a:t>*Texas: Responsible AI Governance Act (TRAIGA):*</a:t>
            </a:r>
            <a:endParaRPr/>
          </a:p>
          <a:p xmlns:a="http://schemas.openxmlformats.org/drawingml/2006/main">
            <a:r>
              <a:t>Effective January 1, 2026 (HB 149, signed June 22, 2025). Narrower than Illinois or Colorado: TRAIGA prohibits intentional AI-based discrimination but does not create disparate impact liability, and the Attorney General has exclusive enforcement authority with a 60-day cure period before action.</a:t>
            </a:r>
            <a:endParaRPr/>
          </a:p>
          <a:p xmlns:a="http://schemas.openxmlformats.org/drawingml/2006/main">
            <a:r>
              <a:t/>
            </a:r>
            <a:endParaRPr/>
          </a:p>
          <a:p xmlns:a="http://schemas.openxmlformats.org/drawingml/2006/main">
            <a:r>
              <a:t>*New Jersey: no AI statute, but existing discrimination law already reaches AI:*</a:t>
            </a:r>
            <a:endParaRPr/>
          </a:p>
          <a:p xmlns:a="http://schemas.openxmlformats.org/drawingml/2006/main">
            <a:r>
              <a:t>New Jersey is the case that breaks the habit of scanning for AI-specific bills. It has no AI hiring statute. In January 2025 the Office of the Attorney General and the Division on Civil Rights issued guidance stating that the Law Against Discrimination (N.J.S.A. 10:5-1 et seq.) applies to algorithmic discrimination the same way it has long applied to other discriminatory conduct, in employment among other contexts. Three points matter for HR practice:</a:t>
            </a:r>
            <a:endParaRPr/>
          </a:p>
          <a:p xmlns:a="http://schemas.openxmlformats.org/drawingml/2006/main">
            <a:r>
              <a:t/>
            </a:r>
            <a:endParaRPr/>
          </a:p>
          <a:p xmlns:a="http://schemas.openxmlformats.org/drawingml/2006/main">
            <a:r>
              <a:t>- **No intent required, and a vendor tool is not a defense.** The guidance states that a covered entity "is not shielded from liability for algorithmic discrimination that results from the entity's use of an automated decision-making tool simply because the tool was developed by a third party or because the entity does not understand the inner workings of the tool."</a:t>
            </a:r>
            <a:endParaRPr/>
          </a:p>
          <a:p xmlns:a="http://schemas.openxmlformats.org/drawingml/2006/main">
            <a:r>
              <a:t>- **Disparate impact is covered.** Use of a tool with a disproportionate effect on a protected class is prohibited unless it is necessary to achieve a substantial, legitimate, nondiscriminatory interest and there is no less discriminatory alternative. Whether the employer tested the tool for bias or evaluated alternatives may be weighed as relevant evidence, which is the same pattern as Connecticut: your fairness audit becomes evidence.</a:t>
            </a:r>
            <a:endParaRPr/>
          </a:p>
          <a:p xmlns:a="http://schemas.openxmlformats.org/drawingml/2006/main">
            <a:r>
              <a:t>- **Reasonable accommodations are in scope.** A tool can violate the LAD by being inaccessible or by penalizing someone who uses an accommodation. The guidance's example is a typing-speed screen that cannot read a non-traditional keyboard.</a:t>
            </a:r>
            <a:endParaRPr/>
          </a:p>
          <a:p xmlns:a="http://schemas.openxmlformats.org/drawingml/2006/main">
            <a:r>
              <a:t/>
            </a:r>
            <a:endParaRPr/>
          </a:p>
          <a:p xmlns:a="http://schemas.openxmlformats.org/drawingml/2006/main">
            <a:r>
              <a:t>Two limits to state accurately when you teach this. The guidance is interpretive: it says on its face that it imposes no requirements beyond the LAD and will not be enforced as a substitute for enforcing the LAD. And it carries no effective date, because the underlying statute has been in force for decades. Do not present it as a new obligation that switched on in 2025. The takeaway for the class is the general one: a state with no AI bill is not a state with no AI exposure.</a:t>
            </a:r>
            <a:endParaRPr/>
          </a:p>
          <a:p xmlns:a="http://schemas.openxmlformats.org/drawingml/2006/main">
            <a:r>
              <a:t/>
            </a:r>
            <a:endParaRPr/>
          </a:p>
          <a:p xmlns:a="http://schemas.openxmlformats.org/drawingml/2006/main">
            <a:r>
              <a:t>*GDPR and CCPA:*</a:t>
            </a:r>
            <a:endParaRPr/>
          </a:p>
          <a:p xmlns:a="http://schemas.openxmlformats.org/drawingml/2006/main">
            <a:r>
              <a:t>Employees in covered jurisdictions have rights regarding automated decision-making. Know which of your employees are covered and how your AI use cases interact with their rights. See the California-specific rules above for the current state of play there.</a:t>
            </a:r>
            <a:endParaRPr/>
          </a:p>
          <a:p xmlns:a="http://schemas.openxmlformats.org/drawingml/2006/main">
            <a:r>
              <a:t/>
            </a:r>
            <a:endParaRPr/>
          </a:p>
          <a:p xmlns:a="http://schemas.openxmlformats.org/drawingml/2006/main">
            <a:r>
              <a:t>*UK: Data (Use and Access) Act 2025 replaces GDPR Article 22:*</a:t>
            </a:r>
            <a:endParaRPr/>
          </a:p>
          <a:p xmlns:a="http://schemas.openxmlformats.org/drawingml/2006/main">
            <a:r>
              <a:t>Section 80 of the UK's Data (Use and Access) Act 2025 took effect February 5, 2026 (Commencement Regulations SI 2026/82) and substitutes Article 22 of the UK GDPR with new Articles 22A to 22D. The new regime permits solely automated "significant decisions," those with a legal or similarly significant effect, more broadly than before, but requires safeguards: notice to the individual, the ability to make representations, the right to human intervention, and the right to contest the decision. Stricter restrictions still apply where special category data is used. Treat this as a distinct regime from EU GDPR Article 22, not an equivalent, for any AI use case touching UK-based workers or candidates.</a:t>
            </a:r>
            <a:endParaRPr/>
          </a:p>
          <a:p xmlns:a="http://schemas.openxmlformats.org/drawingml/2006/main">
            <a:r>
              <a:t/>
            </a:r>
            <a:endParaRPr/>
          </a:p>
          <a:p xmlns:a="http://schemas.openxmlformats.org/drawingml/2006/main">
            <a:r>
              <a:t>The ICO is already signaling how it will police this in recruitment specifically. A March 2026 ICO report on automated decision-making in hiring found many employers don't recognize they're doing ADM at all, and that "human review" in practice often amounts to rubber-stamping rather than a reviewer with real authority to change the outcome. Following that report, the ICO opened a consultation on draft ADM guidance, worth checking for the final version before relying on the March findings alone. Build the oversight role description to survive that scrutiny, not just to check the box.</a:t>
            </a:r>
            <a:endParaRPr/>
          </a:p>
          <a:p xmlns:a="http://schemas.openxmlformats.org/drawingml/2006/main">
            <a:r>
              <a:t/>
            </a:r>
            <a:endParaRPr/>
          </a:p>
          <a:p xmlns:a="http://schemas.openxmlformats.org/drawingml/2006/main">
            <a:r>
              <a:t>*Canada: no federal AI employment law, but Ontario requires disclosure:*</a:t>
            </a:r>
            <a:endParaRPr/>
          </a:p>
          <a:p xmlns:a="http://schemas.openxmlformats.org/drawingml/2006/main">
            <a:r>
              <a:t>Canada's federal AI bill (AIDA, part of Bill C-27) died when Parliament prorogued in January 2025 and has not been revived. AI regulation there runs through existing privacy, human rights, and sector law instead. Ontario is the exception: since January 1, 2026, employers with 25+ employees must disclose in publicly advertised job postings whether AI is used to screen, assess, or select candidates (Employment Standards Act, 2000 amendment).</a:t>
            </a:r>
            <a:endParaRPr/>
          </a:p>
          <a:p xmlns:a="http://schemas.openxmlformats.org/drawingml/2006/main">
            <a:r>
              <a:t/>
            </a:r>
            <a:endParaRPr/>
          </a:p>
          <a:p xmlns:a="http://schemas.openxmlformats.org/drawingml/2006/main">
            <a:r>
              <a:t>*The "AI as a manager" trap:*</a:t>
            </a:r>
            <a:endParaRPr/>
          </a:p>
          <a:p xmlns:a="http://schemas.openxmlformats.org/drawingml/2006/main">
            <a:r>
              <a:t>AI that monitors, evaluates, or scores employees without their knowledge, even for legitimate purposes, creates legal and trust exposure. Transparency is not just ethical, it's protective.</a:t>
            </a:r>
            <a:endParaRPr/>
          </a:p>
          <a:p xmlns:a="http://schemas.openxmlformats.org/drawingml/2006/main">
            <a:r>
              <a:t/>
            </a:r>
            <a:endParaRPr/>
          </a:p>
          <a:p xmlns:a="http://schemas.openxmlformats.org/drawingml/2006/main">
            <a:r>
              <a:t>**Scenario practice cards:**</a:t>
            </a:r>
            <a:endParaRPr/>
          </a:p>
          <a:p xmlns:a="http://schemas.openxmlformats.org/drawingml/2006/main">
            <a:r>
              <a:t/>
            </a:r>
            <a:endParaRPr/>
          </a:p>
          <a:p xmlns:a="http://schemas.openxmlformats.org/drawingml/2006/main">
            <a:r>
              <a:t>Print or share these four scenarios. Groups of 3–4 discuss: Is this use appropriate? What are the risks? What would you change?</a:t>
            </a:r>
            <a:endParaRPr/>
          </a:p>
          <a:p xmlns:a="http://schemas.openxmlformats.org/drawingml/2006/main">
            <a:r>
              <a:t/>
            </a:r>
            <a:endParaRPr/>
          </a:p>
          <a:p xmlns:a="http://schemas.openxmlformats.org/drawingml/2006/main">
            <a:r>
              <a:t>&gt; **Scenario A:** An AI tool automatically rejects resumes with gaps of more than 6 months without showing them to a recruiter.</a:t>
            </a:r>
            <a:endParaRPr/>
          </a:p>
          <a:p xmlns:a="http://schemas.openxmlformats.org/drawingml/2006/main">
            <a:r>
              <a:t/>
            </a:r>
            <a:endParaRPr/>
          </a:p>
          <a:p xmlns:a="http://schemas.openxmlformats.org/drawingml/2006/main">
            <a:r>
              <a:t>&gt; **Scenario B:** An HRBP uses an AI writing assistant to draft a PIP for an employee, then reviews and edits it before sharing with the manager.</a:t>
            </a:r>
            <a:endParaRPr/>
          </a:p>
          <a:p xmlns:a="http://schemas.openxmlformats.org/drawingml/2006/main">
            <a:r>
              <a:t/>
            </a:r>
            <a:endParaRPr/>
          </a:p>
          <a:p xmlns:a="http://schemas.openxmlformats.org/drawingml/2006/main">
            <a:r>
              <a:t>&gt; **Scenario C:** People Analytics builds an attrition risk model that scores all employees monthly and shares the scores directly with managers.</a:t>
            </a:r>
            <a:endParaRPr/>
          </a:p>
          <a:p xmlns:a="http://schemas.openxmlformats.org/drawingml/2006/main">
            <a:r>
              <a:t/>
            </a:r>
            <a:endParaRPr/>
          </a:p>
          <a:p xmlns:a="http://schemas.openxmlformats.org/drawingml/2006/main">
            <a:r>
              <a:t>&gt; **Scenario D:** An AI chatbot answers benefits questions for employees. It sometimes gives incorrect information but flags that users should confirm with HR.</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4: Building and scaling AI use cases</a:t>
            </a:r>
            <a:endParaRPr/>
          </a:p>
          <a:p xmlns:a="http://schemas.openxmlformats.org/drawingml/2006/main">
            <a:r>
              <a:t/>
            </a:r>
            <a:endParaRPr/>
          </a:p>
          <a:p xmlns:a="http://schemas.openxmlformats.org/drawingml/2006/main">
            <a:r>
              <a:t>**Learning objectives:**</a:t>
            </a:r>
            <a:endParaRPr/>
          </a:p>
          <a:p xmlns:a="http://schemas.openxmlformats.org/drawingml/2006/main">
            <a:r>
              <a:t>- Apply the prioritization matrix to identify your team's highest-value AI use cases</a:t>
            </a:r>
            <a:endParaRPr/>
          </a:p>
          <a:p xmlns:a="http://schemas.openxmlformats.org/drawingml/2006/main">
            <a:r>
              <a:t>- Define a use case with clear success metrics and governance requirements</a:t>
            </a:r>
            <a:endParaRPr/>
          </a:p>
          <a:p xmlns:a="http://schemas.openxmlformats.org/drawingml/2006/main">
            <a:r>
              <a:t>- Draft a basic implementation plan for a low-complexity use case</a:t>
            </a:r>
            <a:endParaRPr/>
          </a:p>
          <a:p xmlns:a="http://schemas.openxmlformats.org/drawingml/2006/main">
            <a:r>
              <a:t/>
            </a:r>
            <a:endParaRPr/>
          </a:p>
          <a:p xmlns:a="http://schemas.openxmlformats.org/drawingml/2006/main">
            <a:r>
              <a:t>**Session outline (2 hours):**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Opening: What does "scaling AI in HR" actually mean? |</a:t>
            </a:r>
            <a:endParaRPr/>
          </a:p>
          <a:p xmlns:a="http://schemas.openxmlformats.org/drawingml/2006/main">
            <a:r>
              <a:t>| 0:15–0:45 | Framework: From idea to deployment, the use case lifecycle |</a:t>
            </a:r>
            <a:endParaRPr/>
          </a:p>
          <a:p xmlns:a="http://schemas.openxmlformats.org/drawingml/2006/main">
            <a:r>
              <a:t>| 0:45–1:15 | Team exercise: Prioritization matrix applied to your team's top 5 ideas |</a:t>
            </a:r>
            <a:endParaRPr/>
          </a:p>
          <a:p xmlns:a="http://schemas.openxmlformats.org/drawingml/2006/main">
            <a:r>
              <a:t>| 1:15–1:45 | Small group: Draft a one-page use case spec for your top-ranked idea |</a:t>
            </a:r>
            <a:endParaRPr/>
          </a:p>
          <a:p xmlns:a="http://schemas.openxmlformats.org/drawingml/2006/main">
            <a:r>
              <a:t>| 1:45–2:00 | Gallery walk + feedback |</a:t>
            </a:r>
            <a:endParaRPr/>
          </a:p>
          <a:p xmlns:a="http://schemas.openxmlformats.org/drawingml/2006/main">
            <a:r>
              <a:t/>
            </a:r>
            <a:endParaRPr/>
          </a:p>
          <a:p xmlns:a="http://schemas.openxmlformats.org/drawingml/2006/main">
            <a:r>
              <a:t>**Use case lifecycle:**</a:t>
            </a:r>
            <a:endParaRPr/>
          </a:p>
          <a:p xmlns:a="http://schemas.openxmlformats.org/drawingml/2006/main">
            <a:r>
              <a:t/>
            </a:r>
            <a:endParaRPr/>
          </a:p>
          <a:p xmlns:a="http://schemas.openxmlformats.org/drawingml/2006/main">
            <a:r>
              <a:t>```</a:t>
            </a:r>
            <a:endParaRPr/>
          </a:p>
          <a:p xmlns:a="http://schemas.openxmlformats.org/drawingml/2006/main">
            <a:r>
              <a:t>Discover → Prioritize → Design → Pilot → Evaluate → Scale</a:t>
            </a:r>
            <a:endParaRPr/>
          </a:p>
          <a:p xmlns:a="http://schemas.openxmlformats.org/drawingml/2006/main">
            <a:r>
              <a:t>   ↑                                          |</a:t>
            </a:r>
            <a:endParaRPr/>
          </a:p>
          <a:p xmlns:a="http://schemas.openxmlformats.org/drawingml/2006/main">
            <a:r>
              <a:t>   └──────────────── iterate ─────────────────┘</a:t>
            </a:r>
            <a:endParaRPr/>
          </a:p>
          <a:p xmlns:a="http://schemas.openxmlformats.org/drawingml/2006/main">
            <a:r>
              <a:t>```</a:t>
            </a:r>
            <a:endParaRPr/>
          </a:p>
          <a:p xmlns:a="http://schemas.openxmlformats.org/drawingml/2006/main">
            <a:r>
              <a:t/>
            </a:r>
            <a:endParaRPr/>
          </a:p>
          <a:p xmlns:a="http://schemas.openxmlformats.org/drawingml/2006/main">
            <a:r>
              <a:t>- **Discover:** What problem are we solving? Who feels it most?</a:t>
            </a:r>
            <a:endParaRPr/>
          </a:p>
          <a:p xmlns:a="http://schemas.openxmlformats.org/drawingml/2006/main">
            <a:r>
              <a:t>- **Prioritize:** Use the matrix. Don't skip this.</a:t>
            </a:r>
            <a:endParaRPr/>
          </a:p>
          <a:p xmlns:a="http://schemas.openxmlformats.org/drawingml/2006/main">
            <a:r>
              <a:t>- **Design:** Define inputs, outputs, human review gates, success metrics, and fallback</a:t>
            </a:r>
            <a:endParaRPr/>
          </a:p>
          <a:p xmlns:a="http://schemas.openxmlformats.org/drawingml/2006/main">
            <a:r>
              <a:t>- **Pilot:** Small scope, high observation. 4–8 weeks.</a:t>
            </a:r>
            <a:endParaRPr/>
          </a:p>
          <a:p xmlns:a="http://schemas.openxmlformats.org/drawingml/2006/main">
            <a:r>
              <a:t>- **Evaluate:** Did it work? For whom? What didn't?</a:t>
            </a:r>
            <a:endParaRPr/>
          </a:p>
          <a:p xmlns:a="http://schemas.openxmlformats.org/drawingml/2006/main">
            <a:r>
              <a:t>- **Scale:** Expand with the lessons from pilot baked in</a:t>
            </a:r>
            <a:endParaRPr/>
          </a:p>
          <a:p xmlns:a="http://schemas.openxmlformats.org/drawingml/2006/main">
            <a:r>
              <a:t/>
            </a:r>
            <a:endParaRPr/>
          </a:p>
          <a:p xmlns:a="http://schemas.openxmlformats.org/drawingml/2006/main">
            <a:r>
              <a:t>**One-page use case spec template:**</a:t>
            </a:r>
            <a:endParaRPr/>
          </a:p>
          <a:p xmlns:a="http://schemas.openxmlformats.org/drawingml/2006/main">
            <a:r>
              <a:t/>
            </a:r>
            <a:endParaRPr/>
          </a:p>
          <a:p xmlns:a="http://schemas.openxmlformats.org/drawingml/2006/main">
            <a:r>
              <a:t>Participants complete this for their team's top-ranked use case:</a:t>
            </a:r>
            <a:endParaRPr/>
          </a:p>
          <a:p xmlns:a="http://schemas.openxmlformats.org/drawingml/2006/main">
            <a:r>
              <a:t/>
            </a:r>
            <a:endParaRPr/>
          </a:p>
          <a:p xmlns:a="http://schemas.openxmlformats.org/drawingml/2006/main">
            <a:r>
              <a:t>```</a:t>
            </a:r>
            <a:endParaRPr/>
          </a:p>
          <a:p xmlns:a="http://schemas.openxmlformats.org/drawingml/2006/main">
            <a:r>
              <a:t>Use case name:</a:t>
            </a:r>
            <a:endParaRPr/>
          </a:p>
          <a:p xmlns:a="http://schemas.openxmlformats.org/drawingml/2006/main">
            <a:r>
              <a:t>Problem it solves (1 sentence):</a:t>
            </a:r>
            <a:endParaRPr/>
          </a:p>
          <a:p xmlns:a="http://schemas.openxmlformats.org/drawingml/2006/main">
            <a:r>
              <a:t>Who benefits and how:</a:t>
            </a:r>
            <a:endParaRPr/>
          </a:p>
          <a:p xmlns:a="http://schemas.openxmlformats.org/drawingml/2006/main">
            <a:r>
              <a:t>AI approach (Rules / Augment / Assist / Human-led / Analytics):</a:t>
            </a:r>
            <a:endParaRPr/>
          </a:p>
          <a:p xmlns:a="http://schemas.openxmlformats.org/drawingml/2006/main">
            <a:r>
              <a:t>Data needed:</a:t>
            </a:r>
            <a:endParaRPr/>
          </a:p>
          <a:p xmlns:a="http://schemas.openxmlformats.org/drawingml/2006/main">
            <a:r>
              <a:t>Human review gate:</a:t>
            </a:r>
            <a:endParaRPr/>
          </a:p>
          <a:p xmlns:a="http://schemas.openxmlformats.org/drawingml/2006/main">
            <a:r>
              <a:t>Success metric(s):</a:t>
            </a:r>
            <a:endParaRPr/>
          </a:p>
          <a:p xmlns:a="http://schemas.openxmlformats.org/drawingml/2006/main">
            <a:r>
              <a:t>What could go wrong:</a:t>
            </a:r>
            <a:endParaRPr/>
          </a:p>
          <a:p xmlns:a="http://schemas.openxmlformats.org/drawingml/2006/main">
            <a:r>
              <a:t>Governance requirements (from risk assessment):</a:t>
            </a:r>
            <a:endParaRPr/>
          </a:p>
          <a:p xmlns:a="http://schemas.openxmlformats.org/drawingml/2006/main">
            <a:r>
              <a:t>First step to move forward:</a:t>
            </a:r>
            <a:endParaRPr/>
          </a:p>
          <a:p xmlns:a="http://schemas.openxmlformats.org/drawingml/2006/main">
            <a:r>
              <a:t>```</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Assessment and certification</a:t>
            </a:r>
            <a:endParaRPr/>
          </a:p>
          <a:p xmlns:a="http://schemas.openxmlformats.org/drawingml/2006/main">
            <a:r>
              <a:t/>
            </a:r>
            <a:endParaRPr/>
          </a:p>
          <a:p xmlns:a="http://schemas.openxmlformats.org/drawingml/2006/main">
            <a:r>
              <a:t>An organization may choose to give participants who complete all four modules</a:t>
            </a:r>
            <a:endParaRPr/>
          </a:p>
          <a:p xmlns:a="http://schemas.openxmlformats.org/drawingml/2006/main">
            <a:r>
              <a:t>and the hands-on components an **HR AI Practitioner** acknowledgment. This is a</a:t>
            </a:r>
            <a:endParaRPr/>
          </a:p>
          <a:p xmlns:a="http://schemas.openxmlformats.org/drawingml/2006/main">
            <a:r>
              <a:t>proposed internal recognition, not an accredited certification or evidence of</a:t>
            </a:r>
            <a:endParaRPr/>
          </a:p>
          <a:p xmlns:a="http://schemas.openxmlformats.org/drawingml/2006/main">
            <a:r>
              <a:t>professional competence. No delivery or learning outcome is claimed here.</a:t>
            </a:r>
            <a:endParaRPr/>
          </a:p>
          <a:p xmlns:a="http://schemas.openxmlformats.org/drawingml/2006/main">
            <a:r>
              <a:t/>
            </a:r>
            <a:endParaRPr/>
          </a:p>
          <a:p xmlns:a="http://schemas.openxmlformats.org/drawingml/2006/main">
            <a:r>
              <a:t>Optional extension: Participants who complete a full use case spec and present it to the HR Technology team are recognized as **HR AI Champions**, an informal internal designation that supports peer enablement.</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Facilitator notes</a:t>
            </a:r>
            <a:endParaRPr/>
          </a:p>
          <a:p xmlns:a="http://schemas.openxmlformats.org/drawingml/2006/main">
            <a:r>
              <a:t/>
            </a:r>
            <a:endParaRPr/>
          </a:p>
          <a:p xmlns:a="http://schemas.openxmlformats.org/drawingml/2006/main">
            <a:r>
              <a:t>These are facilitation suggestions, not measured delivery findings. Use synthetic examples; removing names alone does not establish anonymity. Do not upload real employee, candidate, compensation, or employer-confidential information for a training exercise.</a:t>
            </a:r>
            <a:endParaRPr/>
          </a:p>
          <a:p xmlns:a="http://schemas.openxmlformats.org/drawingml/2006/main">
            <a:r>
              <a:t/>
            </a:r>
            <a:endParaRPr/>
          </a:p>
          <a:p xmlns:a="http://schemas.openxmlformats.org/drawingml/2006/main">
            <a:r>
              <a:t>- Budget flex time in Module 3 for questions and disagreement about risk.</a:t>
            </a:r>
            <a:endParaRPr/>
          </a:p>
          <a:p xmlns:a="http://schemas.openxmlformats.org/drawingml/2006/main">
            <a:r>
              <a:t>- Protect time for the Module 2 lab, and check whether participants can identify errors and verify outputs afterward.</a:t>
            </a:r>
            <a:endParaRPr/>
          </a:p>
          <a:p xmlns:a="http://schemas.openxmlformats.org/drawingml/2006/main">
            <a:r>
              <a:t>- Adapt synthetic scenarios to familiar workflows, without identifiable employee cases or confidential documents.</a:t>
            </a:r>
            <a:endParaRPr/>
          </a:p>
          <a:p xmlns:a="http://schemas.openxmlformats.org/drawingml/2006/main">
            <a:r>
              <a:t>- Keep an AI skeptic on the facilitation team if possible. The best discussions happen when the room has range.</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snapshot: 13 October 2026. Curriculum SHA-256: 5ee769258ac9b95a3c514b64dcd5b22215e40bac8621054ffb452bffc244827a. This deck summarizes the source; no human evaluation, delivery outcome or legal approval is claimed.</a:t>
            </a:r>
            <a:endParaRPr/>
          </a:p>
          <a:p xmlns:a="http://schemas.openxmlformats.org/drawingml/2006/main">
            <a:r>
              <a:t/>
            </a:r>
            <a:endParaRPr/>
          </a:p>
          <a:p xmlns:a="http://schemas.openxmlformats.org/drawingml/2006/main">
            <a:r>
              <a:t># HR AI literacy curriculum</a:t>
            </a:r>
            <a:endParaRPr/>
          </a:p>
          <a:p xmlns:a="http://schemas.openxmlformats.org/drawingml/2006/main">
            <a:r>
              <a:t/>
            </a:r>
            <a:endParaRPr/>
          </a:p>
          <a:p xmlns:a="http://schemas.openxmlformats.org/drawingml/2006/main">
            <a:r>
              <a:t>A 4-module learning program for HR professionals at all experience levels. Designed to be delivered as a facilitated series over 4–6 weeks, or adapted for self-paced completion.</a:t>
            </a:r>
            <a:endParaRPr/>
          </a:p>
          <a:p xmlns:a="http://schemas.openxmlformats.org/drawingml/2006/main">
            <a:r>
              <a:t/>
            </a:r>
            <a:endParaRPr/>
          </a:p>
          <a:p xmlns:a="http://schemas.openxmlformats.org/drawingml/2006/main">
            <a:r>
              <a:t>**Total time:** about 7 hours of sessions, plus async reading and hands-on practice (roughly 8 hours in all)</a:t>
            </a:r>
            <a:endParaRPr/>
          </a:p>
          <a:p xmlns:a="http://schemas.openxmlformats.org/drawingml/2006/main">
            <a:r>
              <a:t>**Format:** Workshop + async reading + hands-on practice</a:t>
            </a:r>
            <a:endParaRPr/>
          </a:p>
          <a:p xmlns:a="http://schemas.openxmlformats.org/drawingml/2006/main">
            <a:r>
              <a:t>**Audience:** All People Team members</a:t>
            </a:r>
            <a:endParaRPr/>
          </a:p>
          <a:p xmlns:a="http://schemas.openxmlformats.org/drawingml/2006/main">
            <a:r>
              <a:t>**Prerequisite:** None</a:t>
            </a:r>
            <a:endParaRPr/>
          </a:p>
          <a:p xmlns:a="http://schemas.openxmlformats.org/drawingml/2006/main">
            <a:r>
              <a:t/>
            </a:r>
            <a:endParaRPr/>
          </a:p>
          <a:p xmlns:a="http://schemas.openxmlformats.org/drawingml/2006/main">
            <a:r>
              <a:t>**Lab prerequisite:** The facilitator confirms an organization-approved tool,</a:t>
            </a:r>
            <a:endParaRPr/>
          </a:p>
          <a:p xmlns:a="http://schemas.openxmlformats.org/drawingml/2006/main">
            <a:r>
              <a:t>provider handling, and a synthetic-only data boundary before any exercise.</a:t>
            </a:r>
            <a:endParaRPr/>
          </a:p>
          <a:p xmlns:a="http://schemas.openxmlformats.org/drawingml/2006/main">
            <a:r>
              <a:t>Modules 1-3 and the required governance approvals precede any real-work pilot.</a:t>
            </a:r>
            <a:endParaRPr/>
          </a:p>
          <a:p xmlns:a="http://schemas.openxmlformats.org/drawingml/2006/main">
            <a:r>
              <a:t>This curriculum does not authorize employee-data processing.</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Program overview</a:t>
            </a:r>
            <a:endParaRPr/>
          </a:p>
          <a:p xmlns:a="http://schemas.openxmlformats.org/drawingml/2006/main">
            <a:r>
              <a:t/>
            </a:r>
            <a:endParaRPr/>
          </a:p>
          <a:p xmlns:a="http://schemas.openxmlformats.org/drawingml/2006/main">
            <a:r>
              <a:t>| Module | Title | Duration | Format |</a:t>
            </a:r>
            <a:endParaRPr/>
          </a:p>
          <a:p xmlns:a="http://schemas.openxmlformats.org/drawingml/2006/main">
            <a:r>
              <a:t>|---|---|---|---|</a:t>
            </a:r>
            <a:endParaRPr/>
          </a:p>
          <a:p xmlns:a="http://schemas.openxmlformats.org/drawingml/2006/main">
            <a:r>
              <a:t>| 1 | How AI works, what HR professionals actually need to know | 90 min | Workshop |</a:t>
            </a:r>
            <a:endParaRPr/>
          </a:p>
          <a:p xmlns:a="http://schemas.openxmlformats.org/drawingml/2006/main">
            <a:r>
              <a:t>| 2 | Using AI in your daily HR work | 2 hours | Workshop + lab |</a:t>
            </a:r>
            <a:endParaRPr/>
          </a:p>
          <a:p xmlns:a="http://schemas.openxmlformats.org/drawingml/2006/main">
            <a:r>
              <a:t>| 3 | Governance, ethics, and responsible use | 90 min | Workshop |</a:t>
            </a:r>
            <a:endParaRPr/>
          </a:p>
          <a:p xmlns:a="http://schemas.openxmlformats.org/drawingml/2006/main">
            <a:r>
              <a:t>| 4 | Building and scaling AI use cases | 2 hours | Workshop + project |</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1: How AI works, what HR professionals actually need to know</a:t>
            </a:r>
            <a:endParaRPr/>
          </a:p>
          <a:p xmlns:a="http://schemas.openxmlformats.org/drawingml/2006/main">
            <a:r>
              <a:t/>
            </a:r>
            <a:endParaRPr/>
          </a:p>
          <a:p xmlns:a="http://schemas.openxmlformats.org/drawingml/2006/main">
            <a:r>
              <a:t>**Learning objectives:**</a:t>
            </a:r>
            <a:endParaRPr/>
          </a:p>
          <a:p xmlns:a="http://schemas.openxmlformats.org/drawingml/2006/main">
            <a:r>
              <a:t>- Explain the difference between traditional automation and generative AI</a:t>
            </a:r>
            <a:endParaRPr/>
          </a:p>
          <a:p xmlns:a="http://schemas.openxmlformats.org/drawingml/2006/main">
            <a:r>
              <a:t>- Describe why AI "hallucinates" and how to mitigate it in HR contexts</a:t>
            </a:r>
            <a:endParaRPr/>
          </a:p>
          <a:p xmlns:a="http://schemas.openxmlformats.org/drawingml/2006/main">
            <a:r>
              <a:t>- Identify which HR tasks are good candidates for AI assistance and which are not</a:t>
            </a:r>
            <a:endParaRPr/>
          </a:p>
          <a:p xmlns:a="http://schemas.openxmlformats.org/drawingml/2006/main">
            <a:r>
              <a:t/>
            </a:r>
            <a:endParaRPr/>
          </a:p>
          <a:p xmlns:a="http://schemas.openxmlformats.org/drawingml/2006/main">
            <a:r>
              <a:t>**Session outline (90 minutes):**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0:00–0:10 | Opening: What do you already believe about AI? (quick poll + discussion) |</a:t>
            </a:r>
            <a:endParaRPr/>
          </a:p>
          <a:p xmlns:a="http://schemas.openxmlformats.org/drawingml/2006/main">
            <a:r>
              <a:t>| 0:10–0:30 | Concept: How LLMs work, without the jargon (facilitator presentation) |</a:t>
            </a:r>
            <a:endParaRPr/>
          </a:p>
          <a:p xmlns:a="http://schemas.openxmlformats.org/drawingml/2006/main">
            <a:r>
              <a:t>| 0:30–0:45 | Concept: Hallucination, confidence, and why AI makes things up |</a:t>
            </a:r>
            <a:endParaRPr/>
          </a:p>
          <a:p xmlns:a="http://schemas.openxmlformats.org/drawingml/2006/main">
            <a:r>
              <a:t>| 0:45–1:05 | Exercise: Spot the hallucination (participants identify errors in AI-generated HR content) |</a:t>
            </a:r>
            <a:endParaRPr/>
          </a:p>
          <a:p xmlns:a="http://schemas.openxmlformats.org/drawingml/2006/main">
            <a:r>
              <a:t>| 1:05–1:20 | Discussion: Where should HR use AI? Where should we be cautious? |</a:t>
            </a:r>
            <a:endParaRPr/>
          </a:p>
          <a:p xmlns:a="http://schemas.openxmlformats.org/drawingml/2006/main">
            <a:r>
              <a:t>| 1:20–1:30 | Wrap-up + homework: Try one AI tool before next session |</a:t>
            </a:r>
            <a:endParaRPr/>
          </a:p>
          <a:p xmlns:a="http://schemas.openxmlformats.org/drawingml/2006/main">
            <a:r>
              <a:t/>
            </a:r>
            <a:endParaRPr/>
          </a:p>
          <a:p xmlns:a="http://schemas.openxmlformats.org/drawingml/2006/main">
            <a:r>
              <a:t>**Key concepts to cover:**</a:t>
            </a:r>
            <a:endParaRPr/>
          </a:p>
          <a:p xmlns:a="http://schemas.openxmlformats.org/drawingml/2006/main">
            <a:r>
              <a:t/>
            </a:r>
            <a:endParaRPr/>
          </a:p>
          <a:p xmlns:a="http://schemas.openxmlformats.org/drawingml/2006/main">
            <a:r>
              <a:t>*What LLMs actually are:*</a:t>
            </a:r>
            <a:endParaRPr/>
          </a:p>
          <a:p xmlns:a="http://schemas.openxmlformats.org/drawingml/2006/main">
            <a:r>
              <a:t>Large language models predict the next most likely word given context. They don't "know" things the way a database knows things, they pattern-match against training data. This is why they can sound authoritative while being wrong.</a:t>
            </a:r>
            <a:endParaRPr/>
          </a:p>
          <a:p xmlns:a="http://schemas.openxmlformats.org/drawingml/2006/main">
            <a:r>
              <a:t/>
            </a:r>
            <a:endParaRPr/>
          </a:p>
          <a:p xmlns:a="http://schemas.openxmlformats.org/drawingml/2006/main">
            <a:r>
              <a:t>*The spectrum from rules to agents:*</a:t>
            </a:r>
            <a:endParaRPr/>
          </a:p>
          <a:p xmlns:a="http://schemas.openxmlformats.org/drawingml/2006/main">
            <a:r>
              <a:t>```</a:t>
            </a:r>
            <a:endParaRPr/>
          </a:p>
          <a:p xmlns:a="http://schemas.openxmlformats.org/drawingml/2006/main">
            <a:r>
              <a:t>Rules            →  Assist / Augment              →  Agent</a:t>
            </a:r>
            <a:endParaRPr/>
          </a:p>
          <a:p xmlns:a="http://schemas.openxmlformats.org/drawingml/2006/main">
            <a:r>
              <a:t>(deterministic)     (a person decides or owns)       (a model acts across several steps)</a:t>
            </a:r>
            <a:endParaRPr/>
          </a:p>
          <a:p xmlns:a="http://schemas.openxmlformats.org/drawingml/2006/main">
            <a:r>
              <a:t>```</a:t>
            </a:r>
            <a:endParaRPr/>
          </a:p>
          <a:p xmlns:a="http://schemas.openxmlformats.org/drawingml/2006/main">
            <a:r>
              <a:t>Use rules when rules reliably give the right answer. Most HR uses of AI belong in the middle. An agent, where a model takes several actions through tools with limited review between them, has to earn that autonomy through evidence and brings new governance requirements.</a:t>
            </a:r>
            <a:endParaRPr/>
          </a:p>
          <a:p xmlns:a="http://schemas.openxmlformats.org/drawingml/2006/main">
            <a:r>
              <a:t/>
            </a:r>
            <a:endParaRPr/>
          </a:p>
          <a:p xmlns:a="http://schemas.openxmlformats.org/drawingml/2006/main">
            <a:r>
              <a:t>*Prompt quality drives output quality:*</a:t>
            </a:r>
            <a:endParaRPr/>
          </a:p>
          <a:p xmlns:a="http://schemas.openxmlformats.org/drawingml/2006/main">
            <a:r>
              <a:t>Clear prompts help define a task and its boundaries. Output quality also depends on the model, source material, workflow controls, and verification. A well-written prompt does not establish factual accuracy or safe HR judgment.</a:t>
            </a:r>
            <a:endParaRPr/>
          </a:p>
          <a:p xmlns:a="http://schemas.openxmlformats.org/drawingml/2006/main">
            <a:r>
              <a:t/>
            </a:r>
            <a:endParaRPr/>
          </a:p>
          <a:p xmlns:a="http://schemas.openxmlformats.org/drawingml/2006/main">
            <a:r>
              <a:t>**Pre-reading (assign before session):**</a:t>
            </a:r>
            <a:endParaRPr/>
          </a:p>
          <a:p xmlns:a="http://schemas.openxmlformats.org/drawingml/2006/main">
            <a:r>
              <a:t>- [Your organization's AI use policy](../03-governance/ai-use-policy.md)</a:t>
            </a:r>
            <a:endParaRPr/>
          </a:p>
          <a:p xmlns:a="http://schemas.openxmlformats.org/drawingml/2006/main">
            <a:r>
              <a:t>- One-page primer on generative AI for non-technical audiences (create or source)</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2: Using AI in your daily HR work</a:t>
            </a:r>
            <a:endParaRPr/>
          </a:p>
          <a:p xmlns:a="http://schemas.openxmlformats.org/drawingml/2006/main">
            <a:r>
              <a:t/>
            </a:r>
            <a:endParaRPr/>
          </a:p>
          <a:p xmlns:a="http://schemas.openxmlformats.org/drawingml/2006/main">
            <a:r>
              <a:t>**Learning objectives:**</a:t>
            </a:r>
            <a:endParaRPr/>
          </a:p>
          <a:p xmlns:a="http://schemas.openxmlformats.org/drawingml/2006/main">
            <a:r>
              <a:t>- Write effective prompts for HR use cases</a:t>
            </a:r>
            <a:endParaRPr/>
          </a:p>
          <a:p xmlns:a="http://schemas.openxmlformats.org/drawingml/2006/main">
            <a:r>
              <a:t>- Use the prompt library for at least 3 HR workflows</a:t>
            </a:r>
            <a:endParaRPr/>
          </a:p>
          <a:p xmlns:a="http://schemas.openxmlformats.org/drawingml/2006/main">
            <a:r>
              <a:t>- Identify when to use AI, when to verify AI output, and when not to use it</a:t>
            </a:r>
            <a:endParaRPr/>
          </a:p>
          <a:p xmlns:a="http://schemas.openxmlformats.org/drawingml/2006/main">
            <a:r>
              <a:t/>
            </a:r>
            <a:endParaRPr/>
          </a:p>
          <a:p xmlns:a="http://schemas.openxmlformats.org/drawingml/2006/main">
            <a:r>
              <a:t>**Session outline (2 hours including lab):**</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Share-back from Module 1 homework, what did you try, what happened? |</a:t>
            </a:r>
            <a:endParaRPr/>
          </a:p>
          <a:p xmlns:a="http://schemas.openxmlformats.org/drawingml/2006/main">
            <a:r>
              <a:t>| 0:15–0:45 | Prompt engineering for HR: the four elements of a good prompt |</a:t>
            </a:r>
            <a:endParaRPr/>
          </a:p>
          <a:p xmlns:a="http://schemas.openxmlformats.org/drawingml/2006/main">
            <a:r>
              <a:t>| 0:45–1:10 | Live demo: Onboarding plan, performance review draft, policy Q&amp;A |</a:t>
            </a:r>
            <a:endParaRPr/>
          </a:p>
          <a:p xmlns:a="http://schemas.openxmlformats.org/drawingml/2006/main">
            <a:r>
              <a:t>| 1:10–1:50 | Hands-on lab: Each participant works through 2 prompts using synthetic HR scenarios in organization-approved tools |</a:t>
            </a:r>
            <a:endParaRPr/>
          </a:p>
          <a:p xmlns:a="http://schemas.openxmlformats.org/drawingml/2006/main">
            <a:r>
              <a:t>| 1:50–2:00 | Debrief: What surprised you? What didn't work? |</a:t>
            </a:r>
            <a:endParaRPr/>
          </a:p>
          <a:p xmlns:a="http://schemas.openxmlformats.org/drawingml/2006/main">
            <a:r>
              <a:t/>
            </a:r>
            <a:endParaRPr/>
          </a:p>
          <a:p xmlns:a="http://schemas.openxmlformats.org/drawingml/2006/main">
            <a:r>
              <a:t>**The four elements of an effective HR prompt:**</a:t>
            </a:r>
            <a:endParaRPr/>
          </a:p>
          <a:p xmlns:a="http://schemas.openxmlformats.org/drawingml/2006/main">
            <a:r>
              <a:t/>
            </a:r>
            <a:endParaRPr/>
          </a:p>
          <a:p xmlns:a="http://schemas.openxmlformats.org/drawingml/2006/main">
            <a:r>
              <a:t>1. **Role**: Define the task perspective, such as drafting support for an HRBP. A role instruction does not give the model professional authority.</a:t>
            </a:r>
            <a:endParaRPr/>
          </a:p>
          <a:p xmlns:a="http://schemas.openxmlformats.org/drawingml/2006/main">
            <a:r>
              <a:t/>
            </a:r>
            <a:endParaRPr/>
          </a:p>
          <a:p xmlns:a="http://schemas.openxmlformats.org/drawingml/2006/main">
            <a:r>
              <a:t>2. **Context**: Provide the specific details the AI needs. Role, tenure, team size, situation. Don't make the AI guess.</a:t>
            </a:r>
            <a:endParaRPr/>
          </a:p>
          <a:p xmlns:a="http://schemas.openxmlformats.org/drawingml/2006/main">
            <a:r>
              <a:t/>
            </a:r>
            <a:endParaRPr/>
          </a:p>
          <a:p xmlns:a="http://schemas.openxmlformats.org/drawingml/2006/main">
            <a:r>
              <a:t>3. **Task**: State clearly what you want it to produce. One output per prompt. "Draft a..." is clearer than "Help me with..."</a:t>
            </a:r>
            <a:endParaRPr/>
          </a:p>
          <a:p xmlns:a="http://schemas.openxmlformats.org/drawingml/2006/main">
            <a:r>
              <a:t/>
            </a:r>
            <a:endParaRPr/>
          </a:p>
          <a:p xmlns:a="http://schemas.openxmlformats.org/drawingml/2006/main">
            <a:r>
              <a:t>4. **Constraints**: Define length, tone, format, exclusions, and the verification needed. Check whether the output follows them.</a:t>
            </a:r>
            <a:endParaRPr/>
          </a:p>
          <a:p xmlns:a="http://schemas.openxmlformats.org/drawingml/2006/main">
            <a:r>
              <a:t/>
            </a:r>
            <a:endParaRPr/>
          </a:p>
          <a:p xmlns:a="http://schemas.openxmlformats.org/drawingml/2006/main">
            <a:r>
              <a:t>**Lab instructions:**</a:t>
            </a:r>
            <a:endParaRPr/>
          </a:p>
          <a:p xmlns:a="http://schemas.openxmlformats.org/drawingml/2006/main">
            <a:r>
              <a:t/>
            </a:r>
            <a:endParaRPr/>
          </a:p>
          <a:p xmlns:a="http://schemas.openxmlformats.org/drawingml/2006/main">
            <a:r>
              <a:t>Participants choose 2 prompts from the library that are relevant to their current work:</a:t>
            </a:r>
            <a:endParaRPr/>
          </a:p>
          <a:p xmlns:a="http://schemas.openxmlformats.org/drawingml/2006/main">
            <a:r>
              <a:t>1. Run the prompt with a fictional HR scenario in an organization-approved tool. Do not upload real employee, candidate, compensation, or confidential employer information.</a:t>
            </a:r>
            <a:endParaRPr/>
          </a:p>
          <a:p xmlns:a="http://schemas.openxmlformats.org/drawingml/2006/main">
            <a:r>
              <a:t>2. Evaluate the output: What's useful? What's wrong or missing? What would you change before using it?</a:t>
            </a:r>
            <a:endParaRPr/>
          </a:p>
          <a:p xmlns:a="http://schemas.openxmlformats.org/drawingml/2006/main">
            <a:r>
              <a:t>3. Iterate: Modify the prompt once based on what you learned and run it again</a:t>
            </a:r>
            <a:endParaRPr/>
          </a:p>
          <a:p xmlns:a="http://schemas.openxmlformats.org/drawingml/2006/main">
            <a:r>
              <a:t>4. Note: What changed between run 1 and run 2?</a:t>
            </a:r>
            <a:endParaRPr/>
          </a:p>
          <a:p xmlns:a="http://schemas.openxmlformats.org/drawingml/2006/main">
            <a:r>
              <a:t/>
            </a:r>
            <a:endParaRPr/>
          </a:p>
          <a:p xmlns:a="http://schemas.openxmlformats.org/drawingml/2006/main">
            <a:r>
              <a:t>**The verify-before-use rule:**</a:t>
            </a:r>
            <a:endParaRPr/>
          </a:p>
          <a:p xmlns:a="http://schemas.openxmlformats.org/drawingml/2006/main">
            <a:r>
              <a:t/>
            </a:r>
            <a:endParaRPr/>
          </a:p>
          <a:p xmlns:a="http://schemas.openxmlformats.org/drawingml/2006/main">
            <a:r>
              <a:t>Introduce and reinforce this heuristic:</a:t>
            </a:r>
            <a:endParaRPr/>
          </a:p>
          <a:p xmlns:a="http://schemas.openxmlformats.org/drawingml/2006/main">
            <a:r>
              <a:t>- Policy details → always verify against source system before sharing</a:t>
            </a:r>
            <a:endParaRPr/>
          </a:p>
          <a:p xmlns:a="http://schemas.openxmlformats.org/drawingml/2006/main">
            <a:r>
              <a:t>- Legal requirements → always verify with Legal before relying on</a:t>
            </a:r>
            <a:endParaRPr/>
          </a:p>
          <a:p xmlns:a="http://schemas.openxmlformats.org/drawingml/2006/main">
            <a:r>
              <a:t>- Factual claims → spot-check against a known source</a:t>
            </a:r>
            <a:endParaRPr/>
          </a:p>
          <a:p xmlns:a="http://schemas.openxmlformats.org/drawingml/2006/main">
            <a:r>
              <a:t>- Tone and content → always read before sending; AI doesn't know your audience</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3: Governance, ethics, and responsible use</a:t>
            </a:r>
            <a:endParaRPr/>
          </a:p>
          <a:p xmlns:a="http://schemas.openxmlformats.org/drawingml/2006/main">
            <a:r>
              <a:t/>
            </a:r>
            <a:endParaRPr/>
          </a:p>
          <a:p xmlns:a="http://schemas.openxmlformats.org/drawingml/2006/main">
            <a:r>
              <a:t>**Learning objectives:**</a:t>
            </a:r>
            <a:endParaRPr/>
          </a:p>
          <a:p xmlns:a="http://schemas.openxmlformats.org/drawingml/2006/main">
            <a:r>
              <a:t>- Apply the organization's AI use policy to real HR scenarios</a:t>
            </a:r>
            <a:endParaRPr/>
          </a:p>
          <a:p xmlns:a="http://schemas.openxmlformats.org/drawingml/2006/main">
            <a:r>
              <a:t>- Identify the key legal risk areas in HR AI (bias, privacy, employment law)</a:t>
            </a:r>
            <a:endParaRPr/>
          </a:p>
          <a:p xmlns:a="http://schemas.openxmlformats.org/drawingml/2006/main">
            <a:r>
              <a:t>- Complete a basic risk assessment for a new use case</a:t>
            </a:r>
            <a:endParaRPr/>
          </a:p>
          <a:p xmlns:a="http://schemas.openxmlformats.org/drawingml/2006/main">
            <a:r>
              <a:t/>
            </a:r>
            <a:endParaRPr/>
          </a:p>
          <a:p xmlns:a="http://schemas.openxmlformats.org/drawingml/2006/main">
            <a:r>
              <a:t>**Session outline (90 minutes):**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Case study: Three HR AI failures and what we can learn (discussion) |</a:t>
            </a:r>
            <a:endParaRPr/>
          </a:p>
          <a:p xmlns:a="http://schemas.openxmlformats.org/drawingml/2006/main">
            <a:r>
              <a:t>| 0:15–0:40 | Framework: What makes AI use in HR risky? Legal and ethical dimensions |</a:t>
            </a:r>
            <a:endParaRPr/>
          </a:p>
          <a:p xmlns:a="http://schemas.openxmlformats.org/drawingml/2006/main">
            <a:r>
              <a:t>| 0:40–1:00 | Scenario practice: Is this use case okay? (small groups, 4 scenarios) |</a:t>
            </a:r>
            <a:endParaRPr/>
          </a:p>
          <a:p xmlns:a="http://schemas.openxmlformats.org/drawingml/2006/main">
            <a:r>
              <a:t>| 1:00–1:20 | Walk-through: The risk assessment template |</a:t>
            </a:r>
            <a:endParaRPr/>
          </a:p>
          <a:p xmlns:a="http://schemas.openxmlformats.org/drawingml/2006/main">
            <a:r>
              <a:t>| 1:20–1:30 | Q&amp;A + open discussion |</a:t>
            </a:r>
            <a:endParaRPr/>
          </a:p>
          <a:p xmlns:a="http://schemas.openxmlformats.org/drawingml/2006/main">
            <a:r>
              <a:t/>
            </a:r>
            <a:endParaRPr/>
          </a:p>
          <a:p xmlns:a="http://schemas.openxmlformats.org/drawingml/2006/main">
            <a:r>
              <a:t>&gt; **Note on regulatory currency:** Use the [Key dates for HR](../03-governance/README.md#key-dates-for-hr) and its linked primary sources as the dated reference. The slides summarize risk questions; they are not a complete legal reference. Have Legal verify jurisdiction, scope, obligations, and effective dates before delivery or adoption.</a:t>
            </a:r>
            <a:endParaRPr/>
          </a:p>
          <a:p xmlns:a="http://schemas.openxmlformats.org/drawingml/2006/main">
            <a:r>
              <a:t/>
            </a:r>
            <a:endParaRPr/>
          </a:p>
          <a:p xmlns:a="http://schemas.openxmlformats.org/drawingml/2006/main">
            <a:r>
              <a:t>**Key legal risk areas to cover:**</a:t>
            </a:r>
            <a:endParaRPr/>
          </a:p>
          <a:p xmlns:a="http://schemas.openxmlformats.org/drawingml/2006/main">
            <a:r>
              <a:t/>
            </a:r>
            <a:endParaRPr/>
          </a:p>
          <a:p xmlns:a="http://schemas.openxmlformats.org/drawingml/2006/main">
            <a:r>
              <a:t>*Bias and disparate impact:*</a:t>
            </a:r>
            <a:endParaRPr/>
          </a:p>
          <a:p xmlns:a="http://schemas.openxmlformats.org/drawingml/2006/main">
            <a:r>
              <a:t>AI trained on historical HR data can encode and amplify past discrimination. A history in which 80% of engineering hires were male is a reason to examine labels, features, selection effects, and group outcomes; that proportion alone does not determine how a model will score resumes. Adverse impact testing is a core control. It is required by law in some jurisdictions (NYC Local Law 144 mandates an annual bias audit for covered tools) and expected as evidence of reasonable care in many others. Confirm the cadence with Legal. See the [NIST AI RMF](https://www.nist.gov/itl/ai-risk-management-framework).</a:t>
            </a:r>
            <a:endParaRPr/>
          </a:p>
          <a:p xmlns:a="http://schemas.openxmlformats.org/drawingml/2006/main">
            <a:r>
              <a:t/>
            </a:r>
            <a:endParaRPr/>
          </a:p>
          <a:p xmlns:a="http://schemas.openxmlformats.org/drawingml/2006/main">
            <a:r>
              <a:t>*Illinois AI Video Interview Act, NYC Local Law 144, and emerging state laws:*</a:t>
            </a:r>
            <a:endParaRPr/>
          </a:p>
          <a:p xmlns:a="http://schemas.openxmlformats.org/drawingml/2006/main">
            <a:r>
              <a:t>Several jurisdictions now require disclosure, impact assessments, or consent for AI use in hiring. Illinois's AI Video Interview Act ([820 ILCS 42](https://www.ilga.gov/Legislation/ILCS/Articles?ActID=4015&amp;ChapterID=68)) governs AI analysis of recorded video interviews, including notice and consent before the interview. Confirm its current requirements against the statute before relying on them. Illinois also amended its Human Rights Act via HB 3773 (effective January 1, 2026) to broadly prohibit discriminatory AI use in hiring and promotion, not just video interviews. A companion law, Public Act 104-0425 (SB 2487, effective January 1, 2026), gives the Human Rights Commission tiered civil penalty authority for violations: up to $16,000 for a first offense, up to $42,500 with one prior violation within five years, up to $70,000 for two or more within seven years. The regulatory landscape is shifting quickly. Use cases involving hiring must be reviewed against current state law.</a:t>
            </a:r>
            <a:endParaRPr/>
          </a:p>
          <a:p xmlns:a="http://schemas.openxmlformats.org/drawingml/2006/main">
            <a:r>
              <a:t/>
            </a:r>
            <a:endParaRPr/>
          </a:p>
          <a:p xmlns:a="http://schemas.openxmlformats.org/drawingml/2006/main">
            <a:r>
              <a:t>NYC Local Law 144 enforcement is entering a stricter phase. A December 2025 NY State Comptroller audit found DCWP's enforcement "ineffective": DCWP's own review of 32 companies' bias-audit disclosures caught 1 likely non-compliance issue, where the Comptroller's review of the same 32 found at least 17. Expect more investigations and higher penalties as DCWP responds to the audit's recommendations, not just the disclosure-and-audit paperwork the law describes on paper.</a:t>
            </a:r>
            <a:endParaRPr/>
          </a:p>
          <a:p xmlns:a="http://schemas.openxmlformats.org/drawingml/2006/main">
            <a:r>
              <a:t/>
            </a:r>
            <a:endParaRPr/>
          </a:p>
          <a:p xmlns:a="http://schemas.openxmlformats.org/drawingml/2006/main">
            <a:r>
              <a:t>*Colorado's Automated Decision-Making Technology Act:*</a:t>
            </a:r>
            <a:endParaRPr/>
          </a:p>
          <a:p xmlns:a="http://schemas.openxmlformats.org/drawingml/2006/main">
            <a:r>
              <a:t>Colorado SB26-189 (signed 14 May 2026, Colo. Sess. Laws ch. 131) repeals and replaces the state's 2024 AI consumer protection law. It covers "consequential decisions," including employment, made using automated decision-making technology (ADMT) that materially influences the outcome. Starting January 1, 2027, developers must give deployers technical documentation on intended use, training data categories, known limitations, and human review instructions. Deployers will owe consumers notice at the point of interaction, and within 30 days of any adverse consequential decision, a plain-language explanation plus the right to request human review and reconsideration. Records must be retained 3 years. The attorney general enforces under the Colorado Consumer Protection Act, with a 60-day cure period through January 1, 2030.</a:t>
            </a:r>
            <a:endParaRPr/>
          </a:p>
          <a:p xmlns:a="http://schemas.openxmlformats.org/drawingml/2006/main">
            <a:r>
              <a:t/>
            </a:r>
            <a:endParaRPr/>
          </a:p>
          <a:p xmlns:a="http://schemas.openxmlformats.org/drawingml/2006/main">
            <a:r>
              <a:t>*Connecticut: AI Responsibility and Transparency Act (Public Act 26-15):*</a:t>
            </a:r>
            <a:endParaRPr/>
          </a:p>
          <a:p xmlns:a="http://schemas.openxmlformats.org/drawingml/2006/main">
            <a:r>
              <a:t>Connecticut's SB 5 became Public Act 26-15 in June 2026. It is the most comprehensive state AI employment statute enacted so far, and it phases in across two years. Read the dates carefully, because the parts that bite first are not the disclosure rules.</a:t>
            </a:r>
            <a:endParaRPr/>
          </a:p>
          <a:p xmlns:a="http://schemas.openxmlformats.org/drawingml/2006/main">
            <a:r>
              <a:t/>
            </a:r>
            <a:endParaRPr/>
          </a:p>
          <a:p xmlns:a="http://schemas.openxmlformats.org/drawingml/2006/main">
            <a:r>
              <a:t>Live October 1, 2026:</a:t>
            </a:r>
            <a:endParaRPr/>
          </a:p>
          <a:p xmlns:a="http://schemas.openxmlformats.org/drawingml/2006/main">
            <a:r>
              <a:t/>
            </a:r>
            <a:endParaRPr/>
          </a:p>
          <a:p xmlns:a="http://schemas.openxmlformats.org/drawingml/2006/main">
            <a:r>
              <a:t>- **AI is not a defense.** Sections 13 and 14 amend Conn. Gen. Stat. 46a-60 so that using an automated employment-related decision technology is not a defense against a discrimination complaint. The commission or court may consider the quality, efficacy, recency, and scope of anti-bias testing, its results, and the employer's response. This does not establish that a stale audit is always worse than no audit, or that testing guarantees a favorable legal outcome. Preserve the testing evidence and corrective actions for counsel review. Source: [Public Act 26-15](https://www.cga.ct.gov/2026/ACT/PA/PDF/2026PA-00015-R00SB-00005-PA.PDF).</a:t>
            </a:r>
            <a:endParaRPr/>
          </a:p>
          <a:p xmlns:a="http://schemas.openxmlformats.org/drawingml/2006/main">
            <a:r>
              <a:t>- **WARN notices.** Section 26 requires any employer serving a federal WARN notice under 29 USC 2102(a) to disclose to the Connecticut Labor Department whether the layoffs relate to the employer's use of AI or other technological change. Note the disclosure runs to the department, not to affected employees.</a:t>
            </a:r>
            <a:endParaRPr/>
          </a:p>
          <a:p xmlns:a="http://schemas.openxmlformats.org/drawingml/2006/main">
            <a:r>
              <a:t/>
            </a:r>
            <a:endParaRPr/>
          </a:p>
          <a:p xmlns:a="http://schemas.openxmlformats.org/drawingml/2006/main">
            <a:r>
              <a:t>Live October 1, 2027 (sections 7 to 12 take effect in 2026, but the duties attach only to technology deployed on or after October 1, 2027):</a:t>
            </a:r>
            <a:endParaRPr/>
          </a:p>
          <a:p xmlns:a="http://schemas.openxmlformats.org/drawingml/2006/main">
            <a:r>
              <a:t/>
            </a:r>
            <a:endParaRPr/>
          </a:p>
          <a:p xmlns:a="http://schemas.openxmlformats.org/drawingml/2006/main">
            <a:r>
              <a:t>- Scope is set by "substantial factor," defined as a factor that meaningfully alters the outcome of an employment-related decision. Covered decisions are hiring, promotion, discipline, discharge, renewal, selection for training or apprenticeship, and terms, privileges or conditions of employment. Carved out: nonmaterial changes to job tasks or hours, and decisions about workplace health and safety, scheduling, and productivity monitoring.</a:t>
            </a:r>
            <a:endParaRPr/>
          </a:p>
          <a:p xmlns:a="http://schemas.openxmlformats.org/drawingml/2006/main">
            <a:r>
              <a:t>- Developers must give deployers the information deployers need to meet their duties, but only where the tool was advertised, marketed, configured, contracted for, sold, or licensed to materially influence an employment decision.</a:t>
            </a:r>
            <a:endParaRPr/>
          </a:p>
          <a:p xmlns:a="http://schemas.openxmlformats.org/drawingml/2006/main">
            <a:r>
              <a:t>- Deployers must disclose in plain language when an employee or applicant is interacting with the technology, unless a reasonable person would find it obvious.</a:t>
            </a:r>
            <a:endParaRPr/>
          </a:p>
          <a:p xmlns:a="http://schemas.openxmlformats.org/drawingml/2006/main">
            <a:r>
              <a:t>- Before the decision is made, deployers must give written notice covering six specific points: that the technology was deployed, its purpose and the nature of the decision, the tool's trade name, the categories of personal data analyzed and how they will be assessed, the sources of that data, and deployer contact information.</a:t>
            </a:r>
            <a:endParaRPr/>
          </a:p>
          <a:p xmlns:a="http://schemas.openxmlformats.org/drawingml/2006/main">
            <a:r>
              <a:t>- Trade secrets can be withheld, but the withholding party must send notice saying what is being withheld and why.</a:t>
            </a:r>
            <a:endParaRPr/>
          </a:p>
          <a:p xmlns:a="http://schemas.openxmlformats.org/drawingml/2006/main">
            <a:r>
              <a:t/>
            </a:r>
            <a:endParaRPr/>
          </a:p>
          <a:p xmlns:a="http://schemas.openxmlformats.org/drawingml/2006/main">
            <a:r>
              <a:t>Enforcement is narrower than the obligations suggest: violations are unfair or deceptive trade practices under CUTPA, enforced **solely by the Attorney General**, with an explicit statement that the act creates **no private right of action**. Violations occurring on or before December 31, 2027 carry a 60-day cure period.</a:t>
            </a:r>
            <a:endParaRPr/>
          </a:p>
          <a:p xmlns:a="http://schemas.openxmlformats.org/drawingml/2006/main">
            <a:r>
              <a:t/>
            </a:r>
            <a:endParaRPr/>
          </a:p>
          <a:p xmlns:a="http://schemas.openxmlformats.org/drawingml/2006/main">
            <a:r>
              <a:t>One provision to catch in procurement: Section 8(c) lets a developer contract to assume the deployer's disclosure and notice duties, provided the contract is explicit about which duties transfer. That is a negotiating lever worth asking every vendor about. See the [vendor intake checklist](../03-governance/vendor-intake-checklist.md).</a:t>
            </a:r>
            <a:endParaRPr/>
          </a:p>
          <a:p xmlns:a="http://schemas.openxmlformats.org/drawingml/2006/main">
            <a:r>
              <a:t/>
            </a:r>
            <a:endParaRPr/>
          </a:p>
          <a:p xmlns:a="http://schemas.openxmlformats.org/drawingml/2006/main">
            <a:r>
              <a:t>*California: FEHA algorithmic discrimination rules and CPPA ADMT regulations:*</a:t>
            </a:r>
            <a:endParaRPr/>
          </a:p>
          <a:p xmlns:a="http://schemas.openxmlformats.org/drawingml/2006/main">
            <a:r>
              <a:t>The Civil Rights Council's FEHA regulations on automated decision systems took effect October 1, 2025: they prohibit AI-driven disparate treatment or disparate impact in employment decisions, require four years of recordkeeping, and hold employers liable for discriminatory outcomes even when the tool comes from a third-party vendor. Separately, the [CPPA regulation package](https://cppa.ca.gov/announcements/2025/20250923.html) took effect January 1, 2026. Covered businesses must begin risk-assessment compliance in 2026; ADMT notice and consumer-rights compliance begins January 1, 2027. These dates govern different duties. Review the [final regulations](https://cppa.ca.gov/regulations/ccpa_updates.html) for scope, opt-out exceptions, appeal conditions, and transition rules for processing already underway.</a:t>
            </a:r>
            <a:endParaRPr/>
          </a:p>
          <a:p xmlns:a="http://schemas.openxmlformats.org/drawingml/2006/main">
            <a:r>
              <a:t/>
            </a:r>
            <a:endParaRPr/>
          </a:p>
          <a:p xmlns:a="http://schemas.openxmlformats.org/drawingml/2006/main">
            <a:r>
              <a:t>Four California workplace bills were approved and chaptered on 30 September 2026. All four are enacted law, with obligations beginning in 2027. The chaptered texts were reviewed on 9 October 2026. AB 1883, SB 951, and AB 1331 take effect on 1 January 2027 under [California Constitution Article IV, section 8(c)(1)](https://leginfo.legislature.ca.gov/faces/codes_displayText.xhtml?lawCode=CONS&amp;division=&amp;title=&amp;part=&amp;chapter=&amp;article=IV); none contains an urgency clause or a later operative-date provision. SB 947 takes effect on that date but expressly makes its new Labor Code part operative on 1 July 2027. See the [source register](../03-governance/claims/california-workplace-laws.json) and the [Governor's signing announcement](https://www.gov.ca.gov/2026/09/30/californias-nation-leading-ai-framework-just-got-stronger-governor-newsom-signs-more-first-in-the-nation-worker-protections-and-more/).</a:t>
            </a:r>
            <a:endParaRPr/>
          </a:p>
          <a:p xmlns:a="http://schemas.openxmlformats.org/drawingml/2006/main">
            <a:r>
              <a:t/>
            </a:r>
            <a:endParaRPr/>
          </a:p>
          <a:p xmlns:a="http://schemas.openxmlformats.org/drawingml/2006/main">
            <a:r>
              <a:t>- **[AB 1883](https://leginfo.legislature.ca.gov/faces/billNavClient.xhtml?bill_id=202520260AB1883)** (workplace surveillance tools, Chapter 853, Statutes of 2026) adds Labor Code Part 5.8 to bar employers from using AI-driven surveillance tools to recognize or infer an employee's emotional state, or to collect neural data, meaning data measured from the central or peripheral nervous system and not inferred from nonneural information. Safety uses are preserved, and there is a narrow carve-out for federally mandated aerospace and national security work. Enforcement runs through the Labor Commissioner or a public prosecutor, with penalties up to $500 per violation. It was enrolled on 3 September 2026 and approved by the Governor on 30 September 2026. Some published summaries report 3 September as the signing date; that is the enrollment date.</a:t>
            </a:r>
            <a:endParaRPr/>
          </a:p>
          <a:p xmlns:a="http://schemas.openxmlformats.org/drawingml/2006/main">
            <a:r>
              <a:t>- **[SB 947](https://leginfo.legislature.ca.gov/faces/billTextClient.xhtml?bill_id=202520260SB947)** (the "No Robo Bosses Act," Chapter 859, Statutes of 2026) is **operative 1 July 2027**, under new Labor Code section 1526.7. It bars sole reliance on an ADS for discipline or termination. Primary reliance requires human corroboration and written post-use notice when the decision is communicated. If corroboration fails, or the reviewer finds the output inaccurate, incomplete, or misleading, the employer must not use that output for the decision. The employee may request a meaningful description of their own data used by the ADS. Check the collective bargaining and federal-operation exceptions in sections 1526.5 and 1526.6.</a:t>
            </a:r>
            <a:endParaRPr/>
          </a:p>
          <a:p xmlns:a="http://schemas.openxmlformats.org/drawingml/2006/main">
            <a:r>
              <a:t>- **[SB 951](https://leginfo.legislature.ca.gov/faces/billTextClient.xhtml?bill_id=202520260SB951)** (Chapter 860, Statutes of 2026), **effective 1 January 2027**, adds technology-displacement information to an otherwise required Cal/WARN notice when AI or automation causes the event wholly or substantially. New Labor Code section 1401(d) requires affected jobs and locations, functions being automated, the technology category, and a technology-displacement heading. It retains the existing 60-day notice period. It does not enact the earlier proposal for a 90-day notice or an employer hiring-freeze notice; section 1402.7 instead requires an EDD study by 1 January 2028. Assess Cal/WARN coverage and exceptions before applying the notice requirement.</a:t>
            </a:r>
            <a:endParaRPr/>
          </a:p>
          <a:p xmlns:a="http://schemas.openxmlformats.org/drawingml/2006/main">
            <a:r>
              <a:t>- **[AB 1331](https://leginfo.legislature.ca.gov/faces/billTextClient.xhtml?bill_id=202520260AB1331)** (Chapter 851, Statutes of 2026), **effective 1 January 2027**, limits workplace bathroom surveillance and lets employees leave surveillance tools behind when entering a bathroom. New Labor Code section 1561 includes exceptions for court orders, one-time entry/exit checks, voluntary possession, and certain identification or safety devices. The tool definition reaches beyond AI. Review the full exceptions in sections 1561, 1564, and 1565 before changing monitoring practices.</a:t>
            </a:r>
            <a:endParaRPr/>
          </a:p>
          <a:p xmlns:a="http://schemas.openxmlformats.org/drawingml/2006/main">
            <a:r>
              <a:t/>
            </a:r>
            <a:endParaRPr/>
          </a:p>
          <a:p xmlns:a="http://schemas.openxmlformats.org/drawingml/2006/main">
            <a:r>
              <a:t>*Texas: Responsible AI Governance Act (TRAIGA):*</a:t>
            </a:r>
            <a:endParaRPr/>
          </a:p>
          <a:p xmlns:a="http://schemas.openxmlformats.org/drawingml/2006/main">
            <a:r>
              <a:t>Effective January 1, 2026 (HB 149, signed June 22, 2025). Narrower than Illinois or Colorado: TRAIGA prohibits intentional AI-based discrimination but does not create disparate impact liability, and the Attorney General has exclusive enforcement authority with a 60-day cure period before action.</a:t>
            </a:r>
            <a:endParaRPr/>
          </a:p>
          <a:p xmlns:a="http://schemas.openxmlformats.org/drawingml/2006/main">
            <a:r>
              <a:t/>
            </a:r>
            <a:endParaRPr/>
          </a:p>
          <a:p xmlns:a="http://schemas.openxmlformats.org/drawingml/2006/main">
            <a:r>
              <a:t>*New Jersey: no AI statute, but existing discrimination law already reaches AI:*</a:t>
            </a:r>
            <a:endParaRPr/>
          </a:p>
          <a:p xmlns:a="http://schemas.openxmlformats.org/drawingml/2006/main">
            <a:r>
              <a:t>New Jersey is the case that breaks the habit of scanning for AI-specific bills. It has no AI hiring statute. In January 2025 the Office of the Attorney General and the Division on Civil Rights issued guidance stating that the Law Against Discrimination (N.J.S.A. 10:5-1 et seq.) applies to algorithmic discrimination the same way it has long applied to other discriminatory conduct, in employment among other contexts. Three points matter for HR practice:</a:t>
            </a:r>
            <a:endParaRPr/>
          </a:p>
          <a:p xmlns:a="http://schemas.openxmlformats.org/drawingml/2006/main">
            <a:r>
              <a:t/>
            </a:r>
            <a:endParaRPr/>
          </a:p>
          <a:p xmlns:a="http://schemas.openxmlformats.org/drawingml/2006/main">
            <a:r>
              <a:t>- **No intent required, and a vendor tool is not a defense.** The guidance states that a covered entity "is not shielded from liability for algorithmic discrimination that results from the entity's use of an automated decision-making tool simply because the tool was developed by a third party or because the entity does not understand the inner workings of the tool."</a:t>
            </a:r>
            <a:endParaRPr/>
          </a:p>
          <a:p xmlns:a="http://schemas.openxmlformats.org/drawingml/2006/main">
            <a:r>
              <a:t>- **Disparate impact is covered.** Use of a tool with a disproportionate effect on a protected class is prohibited unless it is necessary to achieve a substantial, legitimate, nondiscriminatory interest and there is no less discriminatory alternative. Whether the employer tested the tool for bias or evaluated alternatives may be weighed as relevant evidence, which is the same pattern as Connecticut: your fairness audit becomes evidence.</a:t>
            </a:r>
            <a:endParaRPr/>
          </a:p>
          <a:p xmlns:a="http://schemas.openxmlformats.org/drawingml/2006/main">
            <a:r>
              <a:t>- **Reasonable accommodations are in scope.** A tool can violate the LAD by being inaccessible or by penalizing someone who uses an accommodation. The guidance's example is a typing-speed screen that cannot read a non-traditional keyboard.</a:t>
            </a:r>
            <a:endParaRPr/>
          </a:p>
          <a:p xmlns:a="http://schemas.openxmlformats.org/drawingml/2006/main">
            <a:r>
              <a:t/>
            </a:r>
            <a:endParaRPr/>
          </a:p>
          <a:p xmlns:a="http://schemas.openxmlformats.org/drawingml/2006/main">
            <a:r>
              <a:t>Two limits to state accurately when you teach this. The guidance is interpretive: it says on its face that it imposes no requirements beyond the LAD and will not be enforced as a substitute for enforcing the LAD. And it carries no effective date, because the underlying statute has been in force for decades. Do not present it as a new obligation that switched on in 2025. The takeaway for the class is the general one: a state with no AI bill is not a state with no AI exposure.</a:t>
            </a:r>
            <a:endParaRPr/>
          </a:p>
          <a:p xmlns:a="http://schemas.openxmlformats.org/drawingml/2006/main">
            <a:r>
              <a:t/>
            </a:r>
            <a:endParaRPr/>
          </a:p>
          <a:p xmlns:a="http://schemas.openxmlformats.org/drawingml/2006/main">
            <a:r>
              <a:t>*GDPR and CCPA:*</a:t>
            </a:r>
            <a:endParaRPr/>
          </a:p>
          <a:p xmlns:a="http://schemas.openxmlformats.org/drawingml/2006/main">
            <a:r>
              <a:t>Employees in covered jurisdictions have rights regarding automated decision-making. Know which of your employees are covered and how your AI use cases interact with their rights. See the California-specific rules above for the current state of play there.</a:t>
            </a:r>
            <a:endParaRPr/>
          </a:p>
          <a:p xmlns:a="http://schemas.openxmlformats.org/drawingml/2006/main">
            <a:r>
              <a:t/>
            </a:r>
            <a:endParaRPr/>
          </a:p>
          <a:p xmlns:a="http://schemas.openxmlformats.org/drawingml/2006/main">
            <a:r>
              <a:t>*UK: Data (Use and Access) Act 2025 replaces GDPR Article 22:*</a:t>
            </a:r>
            <a:endParaRPr/>
          </a:p>
          <a:p xmlns:a="http://schemas.openxmlformats.org/drawingml/2006/main">
            <a:r>
              <a:t>Section 80 of the UK's Data (Use and Access) Act 2025 took effect February 5, 2026 (Commencement Regulations SI 2026/82) and substitutes Article 22 of the UK GDPR with new Articles 22A to 22D. The new regime permits solely automated "significant decisions," those with a legal or similarly significant effect, more broadly than before, but requires safeguards: notice to the individual, the ability to make representations, the right to human intervention, and the right to contest the decision. Stricter restrictions still apply where special category data is used. Treat this as a distinct regime from EU GDPR Article 22, not an equivalent, for any AI use case touching UK-based workers or candidates.</a:t>
            </a:r>
            <a:endParaRPr/>
          </a:p>
          <a:p xmlns:a="http://schemas.openxmlformats.org/drawingml/2006/main">
            <a:r>
              <a:t/>
            </a:r>
            <a:endParaRPr/>
          </a:p>
          <a:p xmlns:a="http://schemas.openxmlformats.org/drawingml/2006/main">
            <a:r>
              <a:t>The ICO is already signaling how it will police this in recruitment specifically. A March 2026 ICO report on automated decision-making in hiring found many employers don't recognize they're doing ADM at all, and that "human review" in practice often amounts to rubber-stamping rather than a reviewer with real authority to change the outcome. Following that report, the ICO opened a consultation on draft ADM guidance, worth checking for the final version before relying on the March findings alone. Build the oversight role description to survive that scrutiny, not just to check the box.</a:t>
            </a:r>
            <a:endParaRPr/>
          </a:p>
          <a:p xmlns:a="http://schemas.openxmlformats.org/drawingml/2006/main">
            <a:r>
              <a:t/>
            </a:r>
            <a:endParaRPr/>
          </a:p>
          <a:p xmlns:a="http://schemas.openxmlformats.org/drawingml/2006/main">
            <a:r>
              <a:t>*Canada: no federal AI employment law, but Ontario requires disclosure:*</a:t>
            </a:r>
            <a:endParaRPr/>
          </a:p>
          <a:p xmlns:a="http://schemas.openxmlformats.org/drawingml/2006/main">
            <a:r>
              <a:t>Canada's federal AI bill (AIDA, part of Bill C-27) died when Parliament prorogued in January 2025 and has not been revived. AI regulation there runs through existing privacy, human rights, and sector law instead. Ontario is the exception: since January 1, 2026, employers with 25+ employees must disclose in publicly advertised job postings whether AI is used to screen, assess, or select candidates (Employment Standards Act, 2000 amendment).</a:t>
            </a:r>
            <a:endParaRPr/>
          </a:p>
          <a:p xmlns:a="http://schemas.openxmlformats.org/drawingml/2006/main">
            <a:r>
              <a:t/>
            </a:r>
            <a:endParaRPr/>
          </a:p>
          <a:p xmlns:a="http://schemas.openxmlformats.org/drawingml/2006/main">
            <a:r>
              <a:t>*The "AI as a manager" trap:*</a:t>
            </a:r>
            <a:endParaRPr/>
          </a:p>
          <a:p xmlns:a="http://schemas.openxmlformats.org/drawingml/2006/main">
            <a:r>
              <a:t>AI that monitors, evaluates, or scores employees without their knowledge, even for legitimate purposes, creates legal and trust exposure. Transparency is not just ethical, it's protective.</a:t>
            </a:r>
            <a:endParaRPr/>
          </a:p>
          <a:p xmlns:a="http://schemas.openxmlformats.org/drawingml/2006/main">
            <a:r>
              <a:t/>
            </a:r>
            <a:endParaRPr/>
          </a:p>
          <a:p xmlns:a="http://schemas.openxmlformats.org/drawingml/2006/main">
            <a:r>
              <a:t>**Scenario practice cards:**</a:t>
            </a:r>
            <a:endParaRPr/>
          </a:p>
          <a:p xmlns:a="http://schemas.openxmlformats.org/drawingml/2006/main">
            <a:r>
              <a:t/>
            </a:r>
            <a:endParaRPr/>
          </a:p>
          <a:p xmlns:a="http://schemas.openxmlformats.org/drawingml/2006/main">
            <a:r>
              <a:t>Print or share these four scenarios. Groups of 3–4 discuss: Is this use appropriate? What are the risks? What would you change?</a:t>
            </a:r>
            <a:endParaRPr/>
          </a:p>
          <a:p xmlns:a="http://schemas.openxmlformats.org/drawingml/2006/main">
            <a:r>
              <a:t/>
            </a:r>
            <a:endParaRPr/>
          </a:p>
          <a:p xmlns:a="http://schemas.openxmlformats.org/drawingml/2006/main">
            <a:r>
              <a:t>&gt; **Scenario A:** An AI tool automatically rejects resumes with gaps of more than 6 months without showing them to a recruiter.</a:t>
            </a:r>
            <a:endParaRPr/>
          </a:p>
          <a:p xmlns:a="http://schemas.openxmlformats.org/drawingml/2006/main">
            <a:r>
              <a:t/>
            </a:r>
            <a:endParaRPr/>
          </a:p>
          <a:p xmlns:a="http://schemas.openxmlformats.org/drawingml/2006/main">
            <a:r>
              <a:t>&gt; **Scenario B:** An HRBP uses an AI writing assistant to draft a PIP for an employee, then reviews and edits it before sharing with the manager.</a:t>
            </a:r>
            <a:endParaRPr/>
          </a:p>
          <a:p xmlns:a="http://schemas.openxmlformats.org/drawingml/2006/main">
            <a:r>
              <a:t/>
            </a:r>
            <a:endParaRPr/>
          </a:p>
          <a:p xmlns:a="http://schemas.openxmlformats.org/drawingml/2006/main">
            <a:r>
              <a:t>&gt; **Scenario C:** People Analytics builds an attrition risk model that scores all employees monthly and shares the scores directly with managers.</a:t>
            </a:r>
            <a:endParaRPr/>
          </a:p>
          <a:p xmlns:a="http://schemas.openxmlformats.org/drawingml/2006/main">
            <a:r>
              <a:t/>
            </a:r>
            <a:endParaRPr/>
          </a:p>
          <a:p xmlns:a="http://schemas.openxmlformats.org/drawingml/2006/main">
            <a:r>
              <a:t>&gt; **Scenario D:** An AI chatbot answers benefits questions for employees. It sometimes gives incorrect information but flags that users should confirm with HR.</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4: Building and scaling AI use cases</a:t>
            </a:r>
            <a:endParaRPr/>
          </a:p>
          <a:p xmlns:a="http://schemas.openxmlformats.org/drawingml/2006/main">
            <a:r>
              <a:t/>
            </a:r>
            <a:endParaRPr/>
          </a:p>
          <a:p xmlns:a="http://schemas.openxmlformats.org/drawingml/2006/main">
            <a:r>
              <a:t>**Learning objectives:**</a:t>
            </a:r>
            <a:endParaRPr/>
          </a:p>
          <a:p xmlns:a="http://schemas.openxmlformats.org/drawingml/2006/main">
            <a:r>
              <a:t>- Apply the prioritization matrix to identify your team's highest-value AI use cases</a:t>
            </a:r>
            <a:endParaRPr/>
          </a:p>
          <a:p xmlns:a="http://schemas.openxmlformats.org/drawingml/2006/main">
            <a:r>
              <a:t>- Define a use case with clear success metrics and governance requirements</a:t>
            </a:r>
            <a:endParaRPr/>
          </a:p>
          <a:p xmlns:a="http://schemas.openxmlformats.org/drawingml/2006/main">
            <a:r>
              <a:t>- Draft a basic implementation plan for a low-complexity use case</a:t>
            </a:r>
            <a:endParaRPr/>
          </a:p>
          <a:p xmlns:a="http://schemas.openxmlformats.org/drawingml/2006/main">
            <a:r>
              <a:t/>
            </a:r>
            <a:endParaRPr/>
          </a:p>
          <a:p xmlns:a="http://schemas.openxmlformats.org/drawingml/2006/main">
            <a:r>
              <a:t>**Session outline (2 hours):**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Opening: What does "scaling AI in HR" actually mean? |</a:t>
            </a:r>
            <a:endParaRPr/>
          </a:p>
          <a:p xmlns:a="http://schemas.openxmlformats.org/drawingml/2006/main">
            <a:r>
              <a:t>| 0:15–0:45 | Framework: From idea to deployment, the use case lifecycle |</a:t>
            </a:r>
            <a:endParaRPr/>
          </a:p>
          <a:p xmlns:a="http://schemas.openxmlformats.org/drawingml/2006/main">
            <a:r>
              <a:t>| 0:45–1:15 | Team exercise: Prioritization matrix applied to your team's top 5 ideas |</a:t>
            </a:r>
            <a:endParaRPr/>
          </a:p>
          <a:p xmlns:a="http://schemas.openxmlformats.org/drawingml/2006/main">
            <a:r>
              <a:t>| 1:15–1:45 | Small group: Draft a one-page use case spec for your top-ranked idea |</a:t>
            </a:r>
            <a:endParaRPr/>
          </a:p>
          <a:p xmlns:a="http://schemas.openxmlformats.org/drawingml/2006/main">
            <a:r>
              <a:t>| 1:45–2:00 | Gallery walk + feedback |</a:t>
            </a:r>
            <a:endParaRPr/>
          </a:p>
          <a:p xmlns:a="http://schemas.openxmlformats.org/drawingml/2006/main">
            <a:r>
              <a:t/>
            </a:r>
            <a:endParaRPr/>
          </a:p>
          <a:p xmlns:a="http://schemas.openxmlformats.org/drawingml/2006/main">
            <a:r>
              <a:t>**Use case lifecycle:**</a:t>
            </a:r>
            <a:endParaRPr/>
          </a:p>
          <a:p xmlns:a="http://schemas.openxmlformats.org/drawingml/2006/main">
            <a:r>
              <a:t/>
            </a:r>
            <a:endParaRPr/>
          </a:p>
          <a:p xmlns:a="http://schemas.openxmlformats.org/drawingml/2006/main">
            <a:r>
              <a:t>```</a:t>
            </a:r>
            <a:endParaRPr/>
          </a:p>
          <a:p xmlns:a="http://schemas.openxmlformats.org/drawingml/2006/main">
            <a:r>
              <a:t>Discover → Prioritize → Design → Pilot → Evaluate → Scale</a:t>
            </a:r>
            <a:endParaRPr/>
          </a:p>
          <a:p xmlns:a="http://schemas.openxmlformats.org/drawingml/2006/main">
            <a:r>
              <a:t>   ↑                                          |</a:t>
            </a:r>
            <a:endParaRPr/>
          </a:p>
          <a:p xmlns:a="http://schemas.openxmlformats.org/drawingml/2006/main">
            <a:r>
              <a:t>   └──────────────── iterate ─────────────────┘</a:t>
            </a:r>
            <a:endParaRPr/>
          </a:p>
          <a:p xmlns:a="http://schemas.openxmlformats.org/drawingml/2006/main">
            <a:r>
              <a:t>```</a:t>
            </a:r>
            <a:endParaRPr/>
          </a:p>
          <a:p xmlns:a="http://schemas.openxmlformats.org/drawingml/2006/main">
            <a:r>
              <a:t/>
            </a:r>
            <a:endParaRPr/>
          </a:p>
          <a:p xmlns:a="http://schemas.openxmlformats.org/drawingml/2006/main">
            <a:r>
              <a:t>- **Discover:** What problem are we solving? Who feels it most?</a:t>
            </a:r>
            <a:endParaRPr/>
          </a:p>
          <a:p xmlns:a="http://schemas.openxmlformats.org/drawingml/2006/main">
            <a:r>
              <a:t>- **Prioritize:** Use the matrix. Don't skip this.</a:t>
            </a:r>
            <a:endParaRPr/>
          </a:p>
          <a:p xmlns:a="http://schemas.openxmlformats.org/drawingml/2006/main">
            <a:r>
              <a:t>- **Design:** Define inputs, outputs, human review gates, success metrics, and fallback</a:t>
            </a:r>
            <a:endParaRPr/>
          </a:p>
          <a:p xmlns:a="http://schemas.openxmlformats.org/drawingml/2006/main">
            <a:r>
              <a:t>- **Pilot:** Small scope, high observation. 4–8 weeks.</a:t>
            </a:r>
            <a:endParaRPr/>
          </a:p>
          <a:p xmlns:a="http://schemas.openxmlformats.org/drawingml/2006/main">
            <a:r>
              <a:t>- **Evaluate:** Did it work? For whom? What didn't?</a:t>
            </a:r>
            <a:endParaRPr/>
          </a:p>
          <a:p xmlns:a="http://schemas.openxmlformats.org/drawingml/2006/main">
            <a:r>
              <a:t>- **Scale:** Expand with the lessons from pilot baked in</a:t>
            </a:r>
            <a:endParaRPr/>
          </a:p>
          <a:p xmlns:a="http://schemas.openxmlformats.org/drawingml/2006/main">
            <a:r>
              <a:t/>
            </a:r>
            <a:endParaRPr/>
          </a:p>
          <a:p xmlns:a="http://schemas.openxmlformats.org/drawingml/2006/main">
            <a:r>
              <a:t>**One-page use case spec template:**</a:t>
            </a:r>
            <a:endParaRPr/>
          </a:p>
          <a:p xmlns:a="http://schemas.openxmlformats.org/drawingml/2006/main">
            <a:r>
              <a:t/>
            </a:r>
            <a:endParaRPr/>
          </a:p>
          <a:p xmlns:a="http://schemas.openxmlformats.org/drawingml/2006/main">
            <a:r>
              <a:t>Participants complete this for their team's top-ranked use case:</a:t>
            </a:r>
            <a:endParaRPr/>
          </a:p>
          <a:p xmlns:a="http://schemas.openxmlformats.org/drawingml/2006/main">
            <a:r>
              <a:t/>
            </a:r>
            <a:endParaRPr/>
          </a:p>
          <a:p xmlns:a="http://schemas.openxmlformats.org/drawingml/2006/main">
            <a:r>
              <a:t>```</a:t>
            </a:r>
            <a:endParaRPr/>
          </a:p>
          <a:p xmlns:a="http://schemas.openxmlformats.org/drawingml/2006/main">
            <a:r>
              <a:t>Use case name:</a:t>
            </a:r>
            <a:endParaRPr/>
          </a:p>
          <a:p xmlns:a="http://schemas.openxmlformats.org/drawingml/2006/main">
            <a:r>
              <a:t>Problem it solves (1 sentence):</a:t>
            </a:r>
            <a:endParaRPr/>
          </a:p>
          <a:p xmlns:a="http://schemas.openxmlformats.org/drawingml/2006/main">
            <a:r>
              <a:t>Who benefits and how:</a:t>
            </a:r>
            <a:endParaRPr/>
          </a:p>
          <a:p xmlns:a="http://schemas.openxmlformats.org/drawingml/2006/main">
            <a:r>
              <a:t>AI approach (Rules / Augment / Assist / Human-led / Analytics):</a:t>
            </a:r>
            <a:endParaRPr/>
          </a:p>
          <a:p xmlns:a="http://schemas.openxmlformats.org/drawingml/2006/main">
            <a:r>
              <a:t>Data needed:</a:t>
            </a:r>
            <a:endParaRPr/>
          </a:p>
          <a:p xmlns:a="http://schemas.openxmlformats.org/drawingml/2006/main">
            <a:r>
              <a:t>Human review gate:</a:t>
            </a:r>
            <a:endParaRPr/>
          </a:p>
          <a:p xmlns:a="http://schemas.openxmlformats.org/drawingml/2006/main">
            <a:r>
              <a:t>Success metric(s):</a:t>
            </a:r>
            <a:endParaRPr/>
          </a:p>
          <a:p xmlns:a="http://schemas.openxmlformats.org/drawingml/2006/main">
            <a:r>
              <a:t>What could go wrong:</a:t>
            </a:r>
            <a:endParaRPr/>
          </a:p>
          <a:p xmlns:a="http://schemas.openxmlformats.org/drawingml/2006/main">
            <a:r>
              <a:t>Governance requirements (from risk assessment):</a:t>
            </a:r>
            <a:endParaRPr/>
          </a:p>
          <a:p xmlns:a="http://schemas.openxmlformats.org/drawingml/2006/main">
            <a:r>
              <a:t>First step to move forward:</a:t>
            </a:r>
            <a:endParaRPr/>
          </a:p>
          <a:p xmlns:a="http://schemas.openxmlformats.org/drawingml/2006/main">
            <a:r>
              <a:t>```</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Assessment and certification</a:t>
            </a:r>
            <a:endParaRPr/>
          </a:p>
          <a:p xmlns:a="http://schemas.openxmlformats.org/drawingml/2006/main">
            <a:r>
              <a:t/>
            </a:r>
            <a:endParaRPr/>
          </a:p>
          <a:p xmlns:a="http://schemas.openxmlformats.org/drawingml/2006/main">
            <a:r>
              <a:t>An organization may choose to give participants who complete all four modules</a:t>
            </a:r>
            <a:endParaRPr/>
          </a:p>
          <a:p xmlns:a="http://schemas.openxmlformats.org/drawingml/2006/main">
            <a:r>
              <a:t>and the hands-on components an **HR AI Practitioner** acknowledgment. This is a</a:t>
            </a:r>
            <a:endParaRPr/>
          </a:p>
          <a:p xmlns:a="http://schemas.openxmlformats.org/drawingml/2006/main">
            <a:r>
              <a:t>proposed internal recognition, not an accredited certification or evidence of</a:t>
            </a:r>
            <a:endParaRPr/>
          </a:p>
          <a:p xmlns:a="http://schemas.openxmlformats.org/drawingml/2006/main">
            <a:r>
              <a:t>professional competence. No delivery or learning outcome is claimed here.</a:t>
            </a:r>
            <a:endParaRPr/>
          </a:p>
          <a:p xmlns:a="http://schemas.openxmlformats.org/drawingml/2006/main">
            <a:r>
              <a:t/>
            </a:r>
            <a:endParaRPr/>
          </a:p>
          <a:p xmlns:a="http://schemas.openxmlformats.org/drawingml/2006/main">
            <a:r>
              <a:t>Optional extension: Participants who complete a full use case spec and present it to the HR Technology team are recognized as **HR AI Champions**, an informal internal designation that supports peer enablement.</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Facilitator notes</a:t>
            </a:r>
            <a:endParaRPr/>
          </a:p>
          <a:p xmlns:a="http://schemas.openxmlformats.org/drawingml/2006/main">
            <a:r>
              <a:t/>
            </a:r>
            <a:endParaRPr/>
          </a:p>
          <a:p xmlns:a="http://schemas.openxmlformats.org/drawingml/2006/main">
            <a:r>
              <a:t>These are facilitation suggestions, not measured delivery findings. Use synthetic examples; removing names alone does not establish anonymity. Do not upload real employee, candidate, compensation, or employer-confidential information for a training exercise.</a:t>
            </a:r>
            <a:endParaRPr/>
          </a:p>
          <a:p xmlns:a="http://schemas.openxmlformats.org/drawingml/2006/main">
            <a:r>
              <a:t/>
            </a:r>
            <a:endParaRPr/>
          </a:p>
          <a:p xmlns:a="http://schemas.openxmlformats.org/drawingml/2006/main">
            <a:r>
              <a:t>- Budget flex time in Module 3 for questions and disagreement about risk.</a:t>
            </a:r>
            <a:endParaRPr/>
          </a:p>
          <a:p xmlns:a="http://schemas.openxmlformats.org/drawingml/2006/main">
            <a:r>
              <a:t>- Protect time for the Module 2 lab, and check whether participants can identify errors and verify outputs afterward.</a:t>
            </a:r>
            <a:endParaRPr/>
          </a:p>
          <a:p xmlns:a="http://schemas.openxmlformats.org/drawingml/2006/main">
            <a:r>
              <a:t>- Adapt synthetic scenarios to familiar workflows, without identifiable employee cases or confidential documents.</a:t>
            </a:r>
            <a:endParaRPr/>
          </a:p>
          <a:p xmlns:a="http://schemas.openxmlformats.org/drawingml/2006/main">
            <a:r>
              <a:t>- Keep an AI skeptic on the facilitation team if possible. The best discussions happen when the room has range.</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snapshot: 13 October 2026. Curriculum SHA-256: 5ee769258ac9b95a3c514b64dcd5b22215e40bac8621054ffb452bffc244827a. This deck summarizes the source; no human evaluation, delivery outcome or legal approval is claimed.</a:t>
            </a:r>
            <a:endParaRPr/>
          </a:p>
          <a:p xmlns:a="http://schemas.openxmlformats.org/drawingml/2006/main">
            <a:r>
              <a:t/>
            </a:r>
            <a:endParaRPr/>
          </a:p>
          <a:p xmlns:a="http://schemas.openxmlformats.org/drawingml/2006/main">
            <a:r>
              <a:t># HR AI literacy curriculum</a:t>
            </a:r>
            <a:endParaRPr/>
          </a:p>
          <a:p xmlns:a="http://schemas.openxmlformats.org/drawingml/2006/main">
            <a:r>
              <a:t/>
            </a:r>
            <a:endParaRPr/>
          </a:p>
          <a:p xmlns:a="http://schemas.openxmlformats.org/drawingml/2006/main">
            <a:r>
              <a:t>A 4-module learning program for HR professionals at all experience levels. Designed to be delivered as a facilitated series over 4–6 weeks, or adapted for self-paced completion.</a:t>
            </a:r>
            <a:endParaRPr/>
          </a:p>
          <a:p xmlns:a="http://schemas.openxmlformats.org/drawingml/2006/main">
            <a:r>
              <a:t/>
            </a:r>
            <a:endParaRPr/>
          </a:p>
          <a:p xmlns:a="http://schemas.openxmlformats.org/drawingml/2006/main">
            <a:r>
              <a:t>**Total time:** about 7 hours of sessions, plus async reading and hands-on practice (roughly 8 hours in all)</a:t>
            </a:r>
            <a:endParaRPr/>
          </a:p>
          <a:p xmlns:a="http://schemas.openxmlformats.org/drawingml/2006/main">
            <a:r>
              <a:t>**Format:** Workshop + async reading + hands-on practice</a:t>
            </a:r>
            <a:endParaRPr/>
          </a:p>
          <a:p xmlns:a="http://schemas.openxmlformats.org/drawingml/2006/main">
            <a:r>
              <a:t>**Audience:** All People Team members</a:t>
            </a:r>
            <a:endParaRPr/>
          </a:p>
          <a:p xmlns:a="http://schemas.openxmlformats.org/drawingml/2006/main">
            <a:r>
              <a:t>**Prerequisite:** None</a:t>
            </a:r>
            <a:endParaRPr/>
          </a:p>
          <a:p xmlns:a="http://schemas.openxmlformats.org/drawingml/2006/main">
            <a:r>
              <a:t/>
            </a:r>
            <a:endParaRPr/>
          </a:p>
          <a:p xmlns:a="http://schemas.openxmlformats.org/drawingml/2006/main">
            <a:r>
              <a:t>**Lab prerequisite:** The facilitator confirms an organization-approved tool,</a:t>
            </a:r>
            <a:endParaRPr/>
          </a:p>
          <a:p xmlns:a="http://schemas.openxmlformats.org/drawingml/2006/main">
            <a:r>
              <a:t>provider handling, and a synthetic-only data boundary before any exercise.</a:t>
            </a:r>
            <a:endParaRPr/>
          </a:p>
          <a:p xmlns:a="http://schemas.openxmlformats.org/drawingml/2006/main">
            <a:r>
              <a:t>Modules 1-3 and the required governance approvals precede any real-work pilot.</a:t>
            </a:r>
            <a:endParaRPr/>
          </a:p>
          <a:p xmlns:a="http://schemas.openxmlformats.org/drawingml/2006/main">
            <a:r>
              <a:t>This curriculum does not authorize employee-data processing.</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Program overview</a:t>
            </a:r>
            <a:endParaRPr/>
          </a:p>
          <a:p xmlns:a="http://schemas.openxmlformats.org/drawingml/2006/main">
            <a:r>
              <a:t/>
            </a:r>
            <a:endParaRPr/>
          </a:p>
          <a:p xmlns:a="http://schemas.openxmlformats.org/drawingml/2006/main">
            <a:r>
              <a:t>| Module | Title | Duration | Format |</a:t>
            </a:r>
            <a:endParaRPr/>
          </a:p>
          <a:p xmlns:a="http://schemas.openxmlformats.org/drawingml/2006/main">
            <a:r>
              <a:t>|---|---|---|---|</a:t>
            </a:r>
            <a:endParaRPr/>
          </a:p>
          <a:p xmlns:a="http://schemas.openxmlformats.org/drawingml/2006/main">
            <a:r>
              <a:t>| 1 | How AI works, what HR professionals actually need to know | 90 min | Workshop |</a:t>
            </a:r>
            <a:endParaRPr/>
          </a:p>
          <a:p xmlns:a="http://schemas.openxmlformats.org/drawingml/2006/main">
            <a:r>
              <a:t>| 2 | Using AI in your daily HR work | 2 hours | Workshop + lab |</a:t>
            </a:r>
            <a:endParaRPr/>
          </a:p>
          <a:p xmlns:a="http://schemas.openxmlformats.org/drawingml/2006/main">
            <a:r>
              <a:t>| 3 | Governance, ethics, and responsible use | 90 min | Workshop |</a:t>
            </a:r>
            <a:endParaRPr/>
          </a:p>
          <a:p xmlns:a="http://schemas.openxmlformats.org/drawingml/2006/main">
            <a:r>
              <a:t>| 4 | Building and scaling AI use cases | 2 hours | Workshop + project |</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1: How AI works, what HR professionals actually need to know</a:t>
            </a:r>
            <a:endParaRPr/>
          </a:p>
          <a:p xmlns:a="http://schemas.openxmlformats.org/drawingml/2006/main">
            <a:r>
              <a:t/>
            </a:r>
            <a:endParaRPr/>
          </a:p>
          <a:p xmlns:a="http://schemas.openxmlformats.org/drawingml/2006/main">
            <a:r>
              <a:t>**Learning objectives:**</a:t>
            </a:r>
            <a:endParaRPr/>
          </a:p>
          <a:p xmlns:a="http://schemas.openxmlformats.org/drawingml/2006/main">
            <a:r>
              <a:t>- Explain the difference between traditional automation and generative AI</a:t>
            </a:r>
            <a:endParaRPr/>
          </a:p>
          <a:p xmlns:a="http://schemas.openxmlformats.org/drawingml/2006/main">
            <a:r>
              <a:t>- Describe why AI "hallucinates" and how to mitigate it in HR contexts</a:t>
            </a:r>
            <a:endParaRPr/>
          </a:p>
          <a:p xmlns:a="http://schemas.openxmlformats.org/drawingml/2006/main">
            <a:r>
              <a:t>- Identify which HR tasks are good candidates for AI assistance and which are not</a:t>
            </a:r>
            <a:endParaRPr/>
          </a:p>
          <a:p xmlns:a="http://schemas.openxmlformats.org/drawingml/2006/main">
            <a:r>
              <a:t/>
            </a:r>
            <a:endParaRPr/>
          </a:p>
          <a:p xmlns:a="http://schemas.openxmlformats.org/drawingml/2006/main">
            <a:r>
              <a:t>**Session outline (90 minutes):**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0:00–0:10 | Opening: What do you already believe about AI? (quick poll + discussion) |</a:t>
            </a:r>
            <a:endParaRPr/>
          </a:p>
          <a:p xmlns:a="http://schemas.openxmlformats.org/drawingml/2006/main">
            <a:r>
              <a:t>| 0:10–0:30 | Concept: How LLMs work, without the jargon (facilitator presentation) |</a:t>
            </a:r>
            <a:endParaRPr/>
          </a:p>
          <a:p xmlns:a="http://schemas.openxmlformats.org/drawingml/2006/main">
            <a:r>
              <a:t>| 0:30–0:45 | Concept: Hallucination, confidence, and why AI makes things up |</a:t>
            </a:r>
            <a:endParaRPr/>
          </a:p>
          <a:p xmlns:a="http://schemas.openxmlformats.org/drawingml/2006/main">
            <a:r>
              <a:t>| 0:45–1:05 | Exercise: Spot the hallucination (participants identify errors in AI-generated HR content) |</a:t>
            </a:r>
            <a:endParaRPr/>
          </a:p>
          <a:p xmlns:a="http://schemas.openxmlformats.org/drawingml/2006/main">
            <a:r>
              <a:t>| 1:05–1:20 | Discussion: Where should HR use AI? Where should we be cautious? |</a:t>
            </a:r>
            <a:endParaRPr/>
          </a:p>
          <a:p xmlns:a="http://schemas.openxmlformats.org/drawingml/2006/main">
            <a:r>
              <a:t>| 1:20–1:30 | Wrap-up + homework: Try one AI tool before next session |</a:t>
            </a:r>
            <a:endParaRPr/>
          </a:p>
          <a:p xmlns:a="http://schemas.openxmlformats.org/drawingml/2006/main">
            <a:r>
              <a:t/>
            </a:r>
            <a:endParaRPr/>
          </a:p>
          <a:p xmlns:a="http://schemas.openxmlformats.org/drawingml/2006/main">
            <a:r>
              <a:t>**Key concepts to cover:**</a:t>
            </a:r>
            <a:endParaRPr/>
          </a:p>
          <a:p xmlns:a="http://schemas.openxmlformats.org/drawingml/2006/main">
            <a:r>
              <a:t/>
            </a:r>
            <a:endParaRPr/>
          </a:p>
          <a:p xmlns:a="http://schemas.openxmlformats.org/drawingml/2006/main">
            <a:r>
              <a:t>*What LLMs actually are:*</a:t>
            </a:r>
            <a:endParaRPr/>
          </a:p>
          <a:p xmlns:a="http://schemas.openxmlformats.org/drawingml/2006/main">
            <a:r>
              <a:t>Large language models predict the next most likely word given context. They don't "know" things the way a database knows things, they pattern-match against training data. This is why they can sound authoritative while being wrong.</a:t>
            </a:r>
            <a:endParaRPr/>
          </a:p>
          <a:p xmlns:a="http://schemas.openxmlformats.org/drawingml/2006/main">
            <a:r>
              <a:t/>
            </a:r>
            <a:endParaRPr/>
          </a:p>
          <a:p xmlns:a="http://schemas.openxmlformats.org/drawingml/2006/main">
            <a:r>
              <a:t>*The spectrum from rules to agents:*</a:t>
            </a:r>
            <a:endParaRPr/>
          </a:p>
          <a:p xmlns:a="http://schemas.openxmlformats.org/drawingml/2006/main">
            <a:r>
              <a:t>```</a:t>
            </a:r>
            <a:endParaRPr/>
          </a:p>
          <a:p xmlns:a="http://schemas.openxmlformats.org/drawingml/2006/main">
            <a:r>
              <a:t>Rules            →  Assist / Augment              →  Agent</a:t>
            </a:r>
            <a:endParaRPr/>
          </a:p>
          <a:p xmlns:a="http://schemas.openxmlformats.org/drawingml/2006/main">
            <a:r>
              <a:t>(deterministic)     (a person decides or owns)       (a model acts across several steps)</a:t>
            </a:r>
            <a:endParaRPr/>
          </a:p>
          <a:p xmlns:a="http://schemas.openxmlformats.org/drawingml/2006/main">
            <a:r>
              <a:t>```</a:t>
            </a:r>
            <a:endParaRPr/>
          </a:p>
          <a:p xmlns:a="http://schemas.openxmlformats.org/drawingml/2006/main">
            <a:r>
              <a:t>Use rules when rules reliably give the right answer. Most HR uses of AI belong in the middle. An agent, where a model takes several actions through tools with limited review between them, has to earn that autonomy through evidence and brings new governance requirements.</a:t>
            </a:r>
            <a:endParaRPr/>
          </a:p>
          <a:p xmlns:a="http://schemas.openxmlformats.org/drawingml/2006/main">
            <a:r>
              <a:t/>
            </a:r>
            <a:endParaRPr/>
          </a:p>
          <a:p xmlns:a="http://schemas.openxmlformats.org/drawingml/2006/main">
            <a:r>
              <a:t>*Prompt quality drives output quality:*</a:t>
            </a:r>
            <a:endParaRPr/>
          </a:p>
          <a:p xmlns:a="http://schemas.openxmlformats.org/drawingml/2006/main">
            <a:r>
              <a:t>Clear prompts help define a task and its boundaries. Output quality also depends on the model, source material, workflow controls, and verification. A well-written prompt does not establish factual accuracy or safe HR judgment.</a:t>
            </a:r>
            <a:endParaRPr/>
          </a:p>
          <a:p xmlns:a="http://schemas.openxmlformats.org/drawingml/2006/main">
            <a:r>
              <a:t/>
            </a:r>
            <a:endParaRPr/>
          </a:p>
          <a:p xmlns:a="http://schemas.openxmlformats.org/drawingml/2006/main">
            <a:r>
              <a:t>**Pre-reading (assign before session):**</a:t>
            </a:r>
            <a:endParaRPr/>
          </a:p>
          <a:p xmlns:a="http://schemas.openxmlformats.org/drawingml/2006/main">
            <a:r>
              <a:t>- [Your organization's AI use policy](../03-governance/ai-use-policy.md)</a:t>
            </a:r>
            <a:endParaRPr/>
          </a:p>
          <a:p xmlns:a="http://schemas.openxmlformats.org/drawingml/2006/main">
            <a:r>
              <a:t>- One-page primer on generative AI for non-technical audiences (create or source)</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2: Using AI in your daily HR work</a:t>
            </a:r>
            <a:endParaRPr/>
          </a:p>
          <a:p xmlns:a="http://schemas.openxmlformats.org/drawingml/2006/main">
            <a:r>
              <a:t/>
            </a:r>
            <a:endParaRPr/>
          </a:p>
          <a:p xmlns:a="http://schemas.openxmlformats.org/drawingml/2006/main">
            <a:r>
              <a:t>**Learning objectives:**</a:t>
            </a:r>
            <a:endParaRPr/>
          </a:p>
          <a:p xmlns:a="http://schemas.openxmlformats.org/drawingml/2006/main">
            <a:r>
              <a:t>- Write effective prompts for HR use cases</a:t>
            </a:r>
            <a:endParaRPr/>
          </a:p>
          <a:p xmlns:a="http://schemas.openxmlformats.org/drawingml/2006/main">
            <a:r>
              <a:t>- Use the prompt library for at least 3 HR workflows</a:t>
            </a:r>
            <a:endParaRPr/>
          </a:p>
          <a:p xmlns:a="http://schemas.openxmlformats.org/drawingml/2006/main">
            <a:r>
              <a:t>- Identify when to use AI, when to verify AI output, and when not to use it</a:t>
            </a:r>
            <a:endParaRPr/>
          </a:p>
          <a:p xmlns:a="http://schemas.openxmlformats.org/drawingml/2006/main">
            <a:r>
              <a:t/>
            </a:r>
            <a:endParaRPr/>
          </a:p>
          <a:p xmlns:a="http://schemas.openxmlformats.org/drawingml/2006/main">
            <a:r>
              <a:t>**Session outline (2 hours including lab):**</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Share-back from Module 1 homework, what did you try, what happened? |</a:t>
            </a:r>
            <a:endParaRPr/>
          </a:p>
          <a:p xmlns:a="http://schemas.openxmlformats.org/drawingml/2006/main">
            <a:r>
              <a:t>| 0:15–0:45 | Prompt engineering for HR: the four elements of a good prompt |</a:t>
            </a:r>
            <a:endParaRPr/>
          </a:p>
          <a:p xmlns:a="http://schemas.openxmlformats.org/drawingml/2006/main">
            <a:r>
              <a:t>| 0:45–1:10 | Live demo: Onboarding plan, performance review draft, policy Q&amp;A |</a:t>
            </a:r>
            <a:endParaRPr/>
          </a:p>
          <a:p xmlns:a="http://schemas.openxmlformats.org/drawingml/2006/main">
            <a:r>
              <a:t>| 1:10–1:50 | Hands-on lab: Each participant works through 2 prompts using synthetic HR scenarios in organization-approved tools |</a:t>
            </a:r>
            <a:endParaRPr/>
          </a:p>
          <a:p xmlns:a="http://schemas.openxmlformats.org/drawingml/2006/main">
            <a:r>
              <a:t>| 1:50–2:00 | Debrief: What surprised you? What didn't work? |</a:t>
            </a:r>
            <a:endParaRPr/>
          </a:p>
          <a:p xmlns:a="http://schemas.openxmlformats.org/drawingml/2006/main">
            <a:r>
              <a:t/>
            </a:r>
            <a:endParaRPr/>
          </a:p>
          <a:p xmlns:a="http://schemas.openxmlformats.org/drawingml/2006/main">
            <a:r>
              <a:t>**The four elements of an effective HR prompt:**</a:t>
            </a:r>
            <a:endParaRPr/>
          </a:p>
          <a:p xmlns:a="http://schemas.openxmlformats.org/drawingml/2006/main">
            <a:r>
              <a:t/>
            </a:r>
            <a:endParaRPr/>
          </a:p>
          <a:p xmlns:a="http://schemas.openxmlformats.org/drawingml/2006/main">
            <a:r>
              <a:t>1. **Role**: Define the task perspective, such as drafting support for an HRBP. A role instruction does not give the model professional authority.</a:t>
            </a:r>
            <a:endParaRPr/>
          </a:p>
          <a:p xmlns:a="http://schemas.openxmlformats.org/drawingml/2006/main">
            <a:r>
              <a:t/>
            </a:r>
            <a:endParaRPr/>
          </a:p>
          <a:p xmlns:a="http://schemas.openxmlformats.org/drawingml/2006/main">
            <a:r>
              <a:t>2. **Context**: Provide the specific details the AI needs. Role, tenure, team size, situation. Don't make the AI guess.</a:t>
            </a:r>
            <a:endParaRPr/>
          </a:p>
          <a:p xmlns:a="http://schemas.openxmlformats.org/drawingml/2006/main">
            <a:r>
              <a:t/>
            </a:r>
            <a:endParaRPr/>
          </a:p>
          <a:p xmlns:a="http://schemas.openxmlformats.org/drawingml/2006/main">
            <a:r>
              <a:t>3. **Task**: State clearly what you want it to produce. One output per prompt. "Draft a..." is clearer than "Help me with..."</a:t>
            </a:r>
            <a:endParaRPr/>
          </a:p>
          <a:p xmlns:a="http://schemas.openxmlformats.org/drawingml/2006/main">
            <a:r>
              <a:t/>
            </a:r>
            <a:endParaRPr/>
          </a:p>
          <a:p xmlns:a="http://schemas.openxmlformats.org/drawingml/2006/main">
            <a:r>
              <a:t>4. **Constraints**: Define length, tone, format, exclusions, and the verification needed. Check whether the output follows them.</a:t>
            </a:r>
            <a:endParaRPr/>
          </a:p>
          <a:p xmlns:a="http://schemas.openxmlformats.org/drawingml/2006/main">
            <a:r>
              <a:t/>
            </a:r>
            <a:endParaRPr/>
          </a:p>
          <a:p xmlns:a="http://schemas.openxmlformats.org/drawingml/2006/main">
            <a:r>
              <a:t>**Lab instructions:**</a:t>
            </a:r>
            <a:endParaRPr/>
          </a:p>
          <a:p xmlns:a="http://schemas.openxmlformats.org/drawingml/2006/main">
            <a:r>
              <a:t/>
            </a:r>
            <a:endParaRPr/>
          </a:p>
          <a:p xmlns:a="http://schemas.openxmlformats.org/drawingml/2006/main">
            <a:r>
              <a:t>Participants choose 2 prompts from the library that are relevant to their current work:</a:t>
            </a:r>
            <a:endParaRPr/>
          </a:p>
          <a:p xmlns:a="http://schemas.openxmlformats.org/drawingml/2006/main">
            <a:r>
              <a:t>1. Run the prompt with a fictional HR scenario in an organization-approved tool. Do not upload real employee, candidate, compensation, or confidential employer information.</a:t>
            </a:r>
            <a:endParaRPr/>
          </a:p>
          <a:p xmlns:a="http://schemas.openxmlformats.org/drawingml/2006/main">
            <a:r>
              <a:t>2. Evaluate the output: What's useful? What's wrong or missing? What would you change before using it?</a:t>
            </a:r>
            <a:endParaRPr/>
          </a:p>
          <a:p xmlns:a="http://schemas.openxmlformats.org/drawingml/2006/main">
            <a:r>
              <a:t>3. Iterate: Modify the prompt once based on what you learned and run it again</a:t>
            </a:r>
            <a:endParaRPr/>
          </a:p>
          <a:p xmlns:a="http://schemas.openxmlformats.org/drawingml/2006/main">
            <a:r>
              <a:t>4. Note: What changed between run 1 and run 2?</a:t>
            </a:r>
            <a:endParaRPr/>
          </a:p>
          <a:p xmlns:a="http://schemas.openxmlformats.org/drawingml/2006/main">
            <a:r>
              <a:t/>
            </a:r>
            <a:endParaRPr/>
          </a:p>
          <a:p xmlns:a="http://schemas.openxmlformats.org/drawingml/2006/main">
            <a:r>
              <a:t>**The verify-before-use rule:**</a:t>
            </a:r>
            <a:endParaRPr/>
          </a:p>
          <a:p xmlns:a="http://schemas.openxmlformats.org/drawingml/2006/main">
            <a:r>
              <a:t/>
            </a:r>
            <a:endParaRPr/>
          </a:p>
          <a:p xmlns:a="http://schemas.openxmlformats.org/drawingml/2006/main">
            <a:r>
              <a:t>Introduce and reinforce this heuristic:</a:t>
            </a:r>
            <a:endParaRPr/>
          </a:p>
          <a:p xmlns:a="http://schemas.openxmlformats.org/drawingml/2006/main">
            <a:r>
              <a:t>- Policy details → always verify against source system before sharing</a:t>
            </a:r>
            <a:endParaRPr/>
          </a:p>
          <a:p xmlns:a="http://schemas.openxmlformats.org/drawingml/2006/main">
            <a:r>
              <a:t>- Legal requirements → always verify with Legal before relying on</a:t>
            </a:r>
            <a:endParaRPr/>
          </a:p>
          <a:p xmlns:a="http://schemas.openxmlformats.org/drawingml/2006/main">
            <a:r>
              <a:t>- Factual claims → spot-check against a known source</a:t>
            </a:r>
            <a:endParaRPr/>
          </a:p>
          <a:p xmlns:a="http://schemas.openxmlformats.org/drawingml/2006/main">
            <a:r>
              <a:t>- Tone and content → always read before sending; AI doesn't know your audience</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3: Governance, ethics, and responsible use</a:t>
            </a:r>
            <a:endParaRPr/>
          </a:p>
          <a:p xmlns:a="http://schemas.openxmlformats.org/drawingml/2006/main">
            <a:r>
              <a:t/>
            </a:r>
            <a:endParaRPr/>
          </a:p>
          <a:p xmlns:a="http://schemas.openxmlformats.org/drawingml/2006/main">
            <a:r>
              <a:t>**Learning objectives:**</a:t>
            </a:r>
            <a:endParaRPr/>
          </a:p>
          <a:p xmlns:a="http://schemas.openxmlformats.org/drawingml/2006/main">
            <a:r>
              <a:t>- Apply the organization's AI use policy to real HR scenarios</a:t>
            </a:r>
            <a:endParaRPr/>
          </a:p>
          <a:p xmlns:a="http://schemas.openxmlformats.org/drawingml/2006/main">
            <a:r>
              <a:t>- Identify the key legal risk areas in HR AI (bias, privacy, employment law)</a:t>
            </a:r>
            <a:endParaRPr/>
          </a:p>
          <a:p xmlns:a="http://schemas.openxmlformats.org/drawingml/2006/main">
            <a:r>
              <a:t>- Complete a basic risk assessment for a new use case</a:t>
            </a:r>
            <a:endParaRPr/>
          </a:p>
          <a:p xmlns:a="http://schemas.openxmlformats.org/drawingml/2006/main">
            <a:r>
              <a:t/>
            </a:r>
            <a:endParaRPr/>
          </a:p>
          <a:p xmlns:a="http://schemas.openxmlformats.org/drawingml/2006/main">
            <a:r>
              <a:t>**Session outline (90 minutes):**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Case study: Three HR AI failures and what we can learn (discussion) |</a:t>
            </a:r>
            <a:endParaRPr/>
          </a:p>
          <a:p xmlns:a="http://schemas.openxmlformats.org/drawingml/2006/main">
            <a:r>
              <a:t>| 0:15–0:40 | Framework: What makes AI use in HR risky? Legal and ethical dimensions |</a:t>
            </a:r>
            <a:endParaRPr/>
          </a:p>
          <a:p xmlns:a="http://schemas.openxmlformats.org/drawingml/2006/main">
            <a:r>
              <a:t>| 0:40–1:00 | Scenario practice: Is this use case okay? (small groups, 4 scenarios) |</a:t>
            </a:r>
            <a:endParaRPr/>
          </a:p>
          <a:p xmlns:a="http://schemas.openxmlformats.org/drawingml/2006/main">
            <a:r>
              <a:t>| 1:00–1:20 | Walk-through: The risk assessment template |</a:t>
            </a:r>
            <a:endParaRPr/>
          </a:p>
          <a:p xmlns:a="http://schemas.openxmlformats.org/drawingml/2006/main">
            <a:r>
              <a:t>| 1:20–1:30 | Q&amp;A + open discussion |</a:t>
            </a:r>
            <a:endParaRPr/>
          </a:p>
          <a:p xmlns:a="http://schemas.openxmlformats.org/drawingml/2006/main">
            <a:r>
              <a:t/>
            </a:r>
            <a:endParaRPr/>
          </a:p>
          <a:p xmlns:a="http://schemas.openxmlformats.org/drawingml/2006/main">
            <a:r>
              <a:t>&gt; **Note on regulatory currency:** Use the [Key dates for HR](../03-governance/README.md#key-dates-for-hr) and its linked primary sources as the dated reference. The slides summarize risk questions; they are not a complete legal reference. Have Legal verify jurisdiction, scope, obligations, and effective dates before delivery or adoption.</a:t>
            </a:r>
            <a:endParaRPr/>
          </a:p>
          <a:p xmlns:a="http://schemas.openxmlformats.org/drawingml/2006/main">
            <a:r>
              <a:t/>
            </a:r>
            <a:endParaRPr/>
          </a:p>
          <a:p xmlns:a="http://schemas.openxmlformats.org/drawingml/2006/main">
            <a:r>
              <a:t>**Key legal risk areas to cover:**</a:t>
            </a:r>
            <a:endParaRPr/>
          </a:p>
          <a:p xmlns:a="http://schemas.openxmlformats.org/drawingml/2006/main">
            <a:r>
              <a:t/>
            </a:r>
            <a:endParaRPr/>
          </a:p>
          <a:p xmlns:a="http://schemas.openxmlformats.org/drawingml/2006/main">
            <a:r>
              <a:t>*Bias and disparate impact:*</a:t>
            </a:r>
            <a:endParaRPr/>
          </a:p>
          <a:p xmlns:a="http://schemas.openxmlformats.org/drawingml/2006/main">
            <a:r>
              <a:t>AI trained on historical HR data can encode and amplify past discrimination. A history in which 80% of engineering hires were male is a reason to examine labels, features, selection effects, and group outcomes; that proportion alone does not determine how a model will score resumes. Adverse impact testing is a core control. It is required by law in some jurisdictions (NYC Local Law 144 mandates an annual bias audit for covered tools) and expected as evidence of reasonable care in many others. Confirm the cadence with Legal. See the [NIST AI RMF](https://www.nist.gov/itl/ai-risk-management-framework).</a:t>
            </a:r>
            <a:endParaRPr/>
          </a:p>
          <a:p xmlns:a="http://schemas.openxmlformats.org/drawingml/2006/main">
            <a:r>
              <a:t/>
            </a:r>
            <a:endParaRPr/>
          </a:p>
          <a:p xmlns:a="http://schemas.openxmlformats.org/drawingml/2006/main">
            <a:r>
              <a:t>*Illinois AI Video Interview Act, NYC Local Law 144, and emerging state laws:*</a:t>
            </a:r>
            <a:endParaRPr/>
          </a:p>
          <a:p xmlns:a="http://schemas.openxmlformats.org/drawingml/2006/main">
            <a:r>
              <a:t>Several jurisdictions now require disclosure, impact assessments, or consent for AI use in hiring. Illinois's AI Video Interview Act ([820 ILCS 42](https://www.ilga.gov/Legislation/ILCS/Articles?ActID=4015&amp;ChapterID=68)) governs AI analysis of recorded video interviews, including notice and consent before the interview. Confirm its current requirements against the statute before relying on them. Illinois also amended its Human Rights Act via HB 3773 (effective January 1, 2026) to broadly prohibit discriminatory AI use in hiring and promotion, not just video interviews. A companion law, Public Act 104-0425 (SB 2487, effective January 1, 2026), gives the Human Rights Commission tiered civil penalty authority for violations: up to $16,000 for a first offense, up to $42,500 with one prior violation within five years, up to $70,000 for two or more within seven years. The regulatory landscape is shifting quickly. Use cases involving hiring must be reviewed against current state law.</a:t>
            </a:r>
            <a:endParaRPr/>
          </a:p>
          <a:p xmlns:a="http://schemas.openxmlformats.org/drawingml/2006/main">
            <a:r>
              <a:t/>
            </a:r>
            <a:endParaRPr/>
          </a:p>
          <a:p xmlns:a="http://schemas.openxmlformats.org/drawingml/2006/main">
            <a:r>
              <a:t>NYC Local Law 144 enforcement is entering a stricter phase. A December 2025 NY State Comptroller audit found DCWP's enforcement "ineffective": DCWP's own review of 32 companies' bias-audit disclosures caught 1 likely non-compliance issue, where the Comptroller's review of the same 32 found at least 17. Expect more investigations and higher penalties as DCWP responds to the audit's recommendations, not just the disclosure-and-audit paperwork the law describes on paper.</a:t>
            </a:r>
            <a:endParaRPr/>
          </a:p>
          <a:p xmlns:a="http://schemas.openxmlformats.org/drawingml/2006/main">
            <a:r>
              <a:t/>
            </a:r>
            <a:endParaRPr/>
          </a:p>
          <a:p xmlns:a="http://schemas.openxmlformats.org/drawingml/2006/main">
            <a:r>
              <a:t>*Colorado's Automated Decision-Making Technology Act:*</a:t>
            </a:r>
            <a:endParaRPr/>
          </a:p>
          <a:p xmlns:a="http://schemas.openxmlformats.org/drawingml/2006/main">
            <a:r>
              <a:t>Colorado SB26-189 (signed 14 May 2026, Colo. Sess. Laws ch. 131) repeals and replaces the state's 2024 AI consumer protection law. It covers "consequential decisions," including employment, made using automated decision-making technology (ADMT) that materially influences the outcome. Starting January 1, 2027, developers must give deployers technical documentation on intended use, training data categories, known limitations, and human review instructions. Deployers will owe consumers notice at the point of interaction, and within 30 days of any adverse consequential decision, a plain-language explanation plus the right to request human review and reconsideration. Records must be retained 3 years. The attorney general enforces under the Colorado Consumer Protection Act, with a 60-day cure period through January 1, 2030.</a:t>
            </a:r>
            <a:endParaRPr/>
          </a:p>
          <a:p xmlns:a="http://schemas.openxmlformats.org/drawingml/2006/main">
            <a:r>
              <a:t/>
            </a:r>
            <a:endParaRPr/>
          </a:p>
          <a:p xmlns:a="http://schemas.openxmlformats.org/drawingml/2006/main">
            <a:r>
              <a:t>*Connecticut: AI Responsibility and Transparency Act (Public Act 26-15):*</a:t>
            </a:r>
            <a:endParaRPr/>
          </a:p>
          <a:p xmlns:a="http://schemas.openxmlformats.org/drawingml/2006/main">
            <a:r>
              <a:t>Connecticut's SB 5 became Public Act 26-15 in June 2026. It is the most comprehensive state AI employment statute enacted so far, and it phases in across two years. Read the dates carefully, because the parts that bite first are not the disclosure rules.</a:t>
            </a:r>
            <a:endParaRPr/>
          </a:p>
          <a:p xmlns:a="http://schemas.openxmlformats.org/drawingml/2006/main">
            <a:r>
              <a:t/>
            </a:r>
            <a:endParaRPr/>
          </a:p>
          <a:p xmlns:a="http://schemas.openxmlformats.org/drawingml/2006/main">
            <a:r>
              <a:t>Live October 1, 2026:</a:t>
            </a:r>
            <a:endParaRPr/>
          </a:p>
          <a:p xmlns:a="http://schemas.openxmlformats.org/drawingml/2006/main">
            <a:r>
              <a:t/>
            </a:r>
            <a:endParaRPr/>
          </a:p>
          <a:p xmlns:a="http://schemas.openxmlformats.org/drawingml/2006/main">
            <a:r>
              <a:t>- **AI is not a defense.** Sections 13 and 14 amend Conn. Gen. Stat. 46a-60 so that using an automated employment-related decision technology is not a defense against a discrimination complaint. The commission or court may consider the quality, efficacy, recency, and scope of anti-bias testing, its results, and the employer's response. This does not establish that a stale audit is always worse than no audit, or that testing guarantees a favorable legal outcome. Preserve the testing evidence and corrective actions for counsel review. Source: [Public Act 26-15](https://www.cga.ct.gov/2026/ACT/PA/PDF/2026PA-00015-R00SB-00005-PA.PDF).</a:t>
            </a:r>
            <a:endParaRPr/>
          </a:p>
          <a:p xmlns:a="http://schemas.openxmlformats.org/drawingml/2006/main">
            <a:r>
              <a:t>- **WARN notices.** Section 26 requires any employer serving a federal WARN notice under 29 USC 2102(a) to disclose to the Connecticut Labor Department whether the layoffs relate to the employer's use of AI or other technological change. Note the disclosure runs to the department, not to affected employees.</a:t>
            </a:r>
            <a:endParaRPr/>
          </a:p>
          <a:p xmlns:a="http://schemas.openxmlformats.org/drawingml/2006/main">
            <a:r>
              <a:t/>
            </a:r>
            <a:endParaRPr/>
          </a:p>
          <a:p xmlns:a="http://schemas.openxmlformats.org/drawingml/2006/main">
            <a:r>
              <a:t>Live October 1, 2027 (sections 7 to 12 take effect in 2026, but the duties attach only to technology deployed on or after October 1, 2027):</a:t>
            </a:r>
            <a:endParaRPr/>
          </a:p>
          <a:p xmlns:a="http://schemas.openxmlformats.org/drawingml/2006/main">
            <a:r>
              <a:t/>
            </a:r>
            <a:endParaRPr/>
          </a:p>
          <a:p xmlns:a="http://schemas.openxmlformats.org/drawingml/2006/main">
            <a:r>
              <a:t>- Scope is set by "substantial factor," defined as a factor that meaningfully alters the outcome of an employment-related decision. Covered decisions are hiring, promotion, discipline, discharge, renewal, selection for training or apprenticeship, and terms, privileges or conditions of employment. Carved out: nonmaterial changes to job tasks or hours, and decisions about workplace health and safety, scheduling, and productivity monitoring.</a:t>
            </a:r>
            <a:endParaRPr/>
          </a:p>
          <a:p xmlns:a="http://schemas.openxmlformats.org/drawingml/2006/main">
            <a:r>
              <a:t>- Developers must give deployers the information deployers need to meet their duties, but only where the tool was advertised, marketed, configured, contracted for, sold, or licensed to materially influence an employment decision.</a:t>
            </a:r>
            <a:endParaRPr/>
          </a:p>
          <a:p xmlns:a="http://schemas.openxmlformats.org/drawingml/2006/main">
            <a:r>
              <a:t>- Deployers must disclose in plain language when an employee or applicant is interacting with the technology, unless a reasonable person would find it obvious.</a:t>
            </a:r>
            <a:endParaRPr/>
          </a:p>
          <a:p xmlns:a="http://schemas.openxmlformats.org/drawingml/2006/main">
            <a:r>
              <a:t>- Before the decision is made, deployers must give written notice covering six specific points: that the technology was deployed, its purpose and the nature of the decision, the tool's trade name, the categories of personal data analyzed and how they will be assessed, the sources of that data, and deployer contact information.</a:t>
            </a:r>
            <a:endParaRPr/>
          </a:p>
          <a:p xmlns:a="http://schemas.openxmlformats.org/drawingml/2006/main">
            <a:r>
              <a:t>- Trade secrets can be withheld, but the withholding party must send notice saying what is being withheld and why.</a:t>
            </a:r>
            <a:endParaRPr/>
          </a:p>
          <a:p xmlns:a="http://schemas.openxmlformats.org/drawingml/2006/main">
            <a:r>
              <a:t/>
            </a:r>
            <a:endParaRPr/>
          </a:p>
          <a:p xmlns:a="http://schemas.openxmlformats.org/drawingml/2006/main">
            <a:r>
              <a:t>Enforcement is narrower than the obligations suggest: violations are unfair or deceptive trade practices under CUTPA, enforced **solely by the Attorney General**, with an explicit statement that the act creates **no private right of action**. Violations occurring on or before December 31, 2027 carry a 60-day cure period.</a:t>
            </a:r>
            <a:endParaRPr/>
          </a:p>
          <a:p xmlns:a="http://schemas.openxmlformats.org/drawingml/2006/main">
            <a:r>
              <a:t/>
            </a:r>
            <a:endParaRPr/>
          </a:p>
          <a:p xmlns:a="http://schemas.openxmlformats.org/drawingml/2006/main">
            <a:r>
              <a:t>One provision to catch in procurement: Section 8(c) lets a developer contract to assume the deployer's disclosure and notice duties, provided the contract is explicit about which duties transfer. That is a negotiating lever worth asking every vendor about. See the [vendor intake checklist](../03-governance/vendor-intake-checklist.md).</a:t>
            </a:r>
            <a:endParaRPr/>
          </a:p>
          <a:p xmlns:a="http://schemas.openxmlformats.org/drawingml/2006/main">
            <a:r>
              <a:t/>
            </a:r>
            <a:endParaRPr/>
          </a:p>
          <a:p xmlns:a="http://schemas.openxmlformats.org/drawingml/2006/main">
            <a:r>
              <a:t>*California: FEHA algorithmic discrimination rules and CPPA ADMT regulations:*</a:t>
            </a:r>
            <a:endParaRPr/>
          </a:p>
          <a:p xmlns:a="http://schemas.openxmlformats.org/drawingml/2006/main">
            <a:r>
              <a:t>The Civil Rights Council's FEHA regulations on automated decision systems took effect October 1, 2025: they prohibit AI-driven disparate treatment or disparate impact in employment decisions, require four years of recordkeeping, and hold employers liable for discriminatory outcomes even when the tool comes from a third-party vendor. Separately, the [CPPA regulation package](https://cppa.ca.gov/announcements/2025/20250923.html) took effect January 1, 2026. Covered businesses must begin risk-assessment compliance in 2026; ADMT notice and consumer-rights compliance begins January 1, 2027. These dates govern different duties. Review the [final regulations](https://cppa.ca.gov/regulations/ccpa_updates.html) for scope, opt-out exceptions, appeal conditions, and transition rules for processing already underway.</a:t>
            </a:r>
            <a:endParaRPr/>
          </a:p>
          <a:p xmlns:a="http://schemas.openxmlformats.org/drawingml/2006/main">
            <a:r>
              <a:t/>
            </a:r>
            <a:endParaRPr/>
          </a:p>
          <a:p xmlns:a="http://schemas.openxmlformats.org/drawingml/2006/main">
            <a:r>
              <a:t>Four California workplace bills were approved and chaptered on 30 September 2026. All four are enacted law, with obligations beginning in 2027. The chaptered texts were reviewed on 9 October 2026. AB 1883, SB 951, and AB 1331 take effect on 1 January 2027 under [California Constitution Article IV, section 8(c)(1)](https://leginfo.legislature.ca.gov/faces/codes_displayText.xhtml?lawCode=CONS&amp;division=&amp;title=&amp;part=&amp;chapter=&amp;article=IV); none contains an urgency clause or a later operative-date provision. SB 947 takes effect on that date but expressly makes its new Labor Code part operative on 1 July 2027. See the [source register](../03-governance/claims/california-workplace-laws.json) and the [Governor's signing announcement](https://www.gov.ca.gov/2026/09/30/californias-nation-leading-ai-framework-just-got-stronger-governor-newsom-signs-more-first-in-the-nation-worker-protections-and-more/).</a:t>
            </a:r>
            <a:endParaRPr/>
          </a:p>
          <a:p xmlns:a="http://schemas.openxmlformats.org/drawingml/2006/main">
            <a:r>
              <a:t/>
            </a:r>
            <a:endParaRPr/>
          </a:p>
          <a:p xmlns:a="http://schemas.openxmlformats.org/drawingml/2006/main">
            <a:r>
              <a:t>- **[AB 1883](https://leginfo.legislature.ca.gov/faces/billNavClient.xhtml?bill_id=202520260AB1883)** (workplace surveillance tools, Chapter 853, Statutes of 2026) adds Labor Code Part 5.8 to bar employers from using AI-driven surveillance tools to recognize or infer an employee's emotional state, or to collect neural data, meaning data measured from the central or peripheral nervous system and not inferred from nonneural information. Safety uses are preserved, and there is a narrow carve-out for federally mandated aerospace and national security work. Enforcement runs through the Labor Commissioner or a public prosecutor, with penalties up to $500 per violation. It was enrolled on 3 September 2026 and approved by the Governor on 30 September 2026. Some published summaries report 3 September as the signing date; that is the enrollment date.</a:t>
            </a:r>
            <a:endParaRPr/>
          </a:p>
          <a:p xmlns:a="http://schemas.openxmlformats.org/drawingml/2006/main">
            <a:r>
              <a:t>- **[SB 947](https://leginfo.legislature.ca.gov/faces/billTextClient.xhtml?bill_id=202520260SB947)** (the "No Robo Bosses Act," Chapter 859, Statutes of 2026) is **operative 1 July 2027**, under new Labor Code section 1526.7. It bars sole reliance on an ADS for discipline or termination. Primary reliance requires human corroboration and written post-use notice when the decision is communicated. If corroboration fails, or the reviewer finds the output inaccurate, incomplete, or misleading, the employer must not use that output for the decision. The employee may request a meaningful description of their own data used by the ADS. Check the collective bargaining and federal-operation exceptions in sections 1526.5 and 1526.6.</a:t>
            </a:r>
            <a:endParaRPr/>
          </a:p>
          <a:p xmlns:a="http://schemas.openxmlformats.org/drawingml/2006/main">
            <a:r>
              <a:t>- **[SB 951](https://leginfo.legislature.ca.gov/faces/billTextClient.xhtml?bill_id=202520260SB951)** (Chapter 860, Statutes of 2026), **effective 1 January 2027**, adds technology-displacement information to an otherwise required Cal/WARN notice when AI or automation causes the event wholly or substantially. New Labor Code section 1401(d) requires affected jobs and locations, functions being automated, the technology category, and a technology-displacement heading. It retains the existing 60-day notice period. It does not enact the earlier proposal for a 90-day notice or an employer hiring-freeze notice; section 1402.7 instead requires an EDD study by 1 January 2028. Assess Cal/WARN coverage and exceptions before applying the notice requirement.</a:t>
            </a:r>
            <a:endParaRPr/>
          </a:p>
          <a:p xmlns:a="http://schemas.openxmlformats.org/drawingml/2006/main">
            <a:r>
              <a:t>- **[AB 1331](https://leginfo.legislature.ca.gov/faces/billTextClient.xhtml?bill_id=202520260AB1331)** (Chapter 851, Statutes of 2026), **effective 1 January 2027**, limits workplace bathroom surveillance and lets employees leave surveillance tools behind when entering a bathroom. New Labor Code section 1561 includes exceptions for court orders, one-time entry/exit checks, voluntary possession, and certain identification or safety devices. The tool definition reaches beyond AI. Review the full exceptions in sections 1561, 1564, and 1565 before changing monitoring practices.</a:t>
            </a:r>
            <a:endParaRPr/>
          </a:p>
          <a:p xmlns:a="http://schemas.openxmlformats.org/drawingml/2006/main">
            <a:r>
              <a:t/>
            </a:r>
            <a:endParaRPr/>
          </a:p>
          <a:p xmlns:a="http://schemas.openxmlformats.org/drawingml/2006/main">
            <a:r>
              <a:t>*Texas: Responsible AI Governance Act (TRAIGA):*</a:t>
            </a:r>
            <a:endParaRPr/>
          </a:p>
          <a:p xmlns:a="http://schemas.openxmlformats.org/drawingml/2006/main">
            <a:r>
              <a:t>Effective January 1, 2026 (HB 149, signed June 22, 2025). Narrower than Illinois or Colorado: TRAIGA prohibits intentional AI-based discrimination but does not create disparate impact liability, and the Attorney General has exclusive enforcement authority with a 60-day cure period before action.</a:t>
            </a:r>
            <a:endParaRPr/>
          </a:p>
          <a:p xmlns:a="http://schemas.openxmlformats.org/drawingml/2006/main">
            <a:r>
              <a:t/>
            </a:r>
            <a:endParaRPr/>
          </a:p>
          <a:p xmlns:a="http://schemas.openxmlformats.org/drawingml/2006/main">
            <a:r>
              <a:t>*New Jersey: no AI statute, but existing discrimination law already reaches AI:*</a:t>
            </a:r>
            <a:endParaRPr/>
          </a:p>
          <a:p xmlns:a="http://schemas.openxmlformats.org/drawingml/2006/main">
            <a:r>
              <a:t>New Jersey is the case that breaks the habit of scanning for AI-specific bills. It has no AI hiring statute. In January 2025 the Office of the Attorney General and the Division on Civil Rights issued guidance stating that the Law Against Discrimination (N.J.S.A. 10:5-1 et seq.) applies to algorithmic discrimination the same way it has long applied to other discriminatory conduct, in employment among other contexts. Three points matter for HR practice:</a:t>
            </a:r>
            <a:endParaRPr/>
          </a:p>
          <a:p xmlns:a="http://schemas.openxmlformats.org/drawingml/2006/main">
            <a:r>
              <a:t/>
            </a:r>
            <a:endParaRPr/>
          </a:p>
          <a:p xmlns:a="http://schemas.openxmlformats.org/drawingml/2006/main">
            <a:r>
              <a:t>- **No intent required, and a vendor tool is not a defense.** The guidance states that a covered entity "is not shielded from liability for algorithmic discrimination that results from the entity's use of an automated decision-making tool simply because the tool was developed by a third party or because the entity does not understand the inner workings of the tool."</a:t>
            </a:r>
            <a:endParaRPr/>
          </a:p>
          <a:p xmlns:a="http://schemas.openxmlformats.org/drawingml/2006/main">
            <a:r>
              <a:t>- **Disparate impact is covered.** Use of a tool with a disproportionate effect on a protected class is prohibited unless it is necessary to achieve a substantial, legitimate, nondiscriminatory interest and there is no less discriminatory alternative. Whether the employer tested the tool for bias or evaluated alternatives may be weighed as relevant evidence, which is the same pattern as Connecticut: your fairness audit becomes evidence.</a:t>
            </a:r>
            <a:endParaRPr/>
          </a:p>
          <a:p xmlns:a="http://schemas.openxmlformats.org/drawingml/2006/main">
            <a:r>
              <a:t>- **Reasonable accommodations are in scope.** A tool can violate the LAD by being inaccessible or by penalizing someone who uses an accommodation. The guidance's example is a typing-speed screen that cannot read a non-traditional keyboard.</a:t>
            </a:r>
            <a:endParaRPr/>
          </a:p>
          <a:p xmlns:a="http://schemas.openxmlformats.org/drawingml/2006/main">
            <a:r>
              <a:t/>
            </a:r>
            <a:endParaRPr/>
          </a:p>
          <a:p xmlns:a="http://schemas.openxmlformats.org/drawingml/2006/main">
            <a:r>
              <a:t>Two limits to state accurately when you teach this. The guidance is interpretive: it says on its face that it imposes no requirements beyond the LAD and will not be enforced as a substitute for enforcing the LAD. And it carries no effective date, because the underlying statute has been in force for decades. Do not present it as a new obligation that switched on in 2025. The takeaway for the class is the general one: a state with no AI bill is not a state with no AI exposure.</a:t>
            </a:r>
            <a:endParaRPr/>
          </a:p>
          <a:p xmlns:a="http://schemas.openxmlformats.org/drawingml/2006/main">
            <a:r>
              <a:t/>
            </a:r>
            <a:endParaRPr/>
          </a:p>
          <a:p xmlns:a="http://schemas.openxmlformats.org/drawingml/2006/main">
            <a:r>
              <a:t>*GDPR and CCPA:*</a:t>
            </a:r>
            <a:endParaRPr/>
          </a:p>
          <a:p xmlns:a="http://schemas.openxmlformats.org/drawingml/2006/main">
            <a:r>
              <a:t>Employees in covered jurisdictions have rights regarding automated decision-making. Know which of your employees are covered and how your AI use cases interact with their rights. See the California-specific rules above for the current state of play there.</a:t>
            </a:r>
            <a:endParaRPr/>
          </a:p>
          <a:p xmlns:a="http://schemas.openxmlformats.org/drawingml/2006/main">
            <a:r>
              <a:t/>
            </a:r>
            <a:endParaRPr/>
          </a:p>
          <a:p xmlns:a="http://schemas.openxmlformats.org/drawingml/2006/main">
            <a:r>
              <a:t>*UK: Data (Use and Access) Act 2025 replaces GDPR Article 22:*</a:t>
            </a:r>
            <a:endParaRPr/>
          </a:p>
          <a:p xmlns:a="http://schemas.openxmlformats.org/drawingml/2006/main">
            <a:r>
              <a:t>Section 80 of the UK's Data (Use and Access) Act 2025 took effect February 5, 2026 (Commencement Regulations SI 2026/82) and substitutes Article 22 of the UK GDPR with new Articles 22A to 22D. The new regime permits solely automated "significant decisions," those with a legal or similarly significant effect, more broadly than before, but requires safeguards: notice to the individual, the ability to make representations, the right to human intervention, and the right to contest the decision. Stricter restrictions still apply where special category data is used. Treat this as a distinct regime from EU GDPR Article 22, not an equivalent, for any AI use case touching UK-based workers or candidates.</a:t>
            </a:r>
            <a:endParaRPr/>
          </a:p>
          <a:p xmlns:a="http://schemas.openxmlformats.org/drawingml/2006/main">
            <a:r>
              <a:t/>
            </a:r>
            <a:endParaRPr/>
          </a:p>
          <a:p xmlns:a="http://schemas.openxmlformats.org/drawingml/2006/main">
            <a:r>
              <a:t>The ICO is already signaling how it will police this in recruitment specifically. A March 2026 ICO report on automated decision-making in hiring found many employers don't recognize they're doing ADM at all, and that "human review" in practice often amounts to rubber-stamping rather than a reviewer with real authority to change the outcome. Following that report, the ICO opened a consultation on draft ADM guidance, worth checking for the final version before relying on the March findings alone. Build the oversight role description to survive that scrutiny, not just to check the box.</a:t>
            </a:r>
            <a:endParaRPr/>
          </a:p>
          <a:p xmlns:a="http://schemas.openxmlformats.org/drawingml/2006/main">
            <a:r>
              <a:t/>
            </a:r>
            <a:endParaRPr/>
          </a:p>
          <a:p xmlns:a="http://schemas.openxmlformats.org/drawingml/2006/main">
            <a:r>
              <a:t>*Canada: no federal AI employment law, but Ontario requires disclosure:*</a:t>
            </a:r>
            <a:endParaRPr/>
          </a:p>
          <a:p xmlns:a="http://schemas.openxmlformats.org/drawingml/2006/main">
            <a:r>
              <a:t>Canada's federal AI bill (AIDA, part of Bill C-27) died when Parliament prorogued in January 2025 and has not been revived. AI regulation there runs through existing privacy, human rights, and sector law instead. Ontario is the exception: since January 1, 2026, employers with 25+ employees must disclose in publicly advertised job postings whether AI is used to screen, assess, or select candidates (Employment Standards Act, 2000 amendment).</a:t>
            </a:r>
            <a:endParaRPr/>
          </a:p>
          <a:p xmlns:a="http://schemas.openxmlformats.org/drawingml/2006/main">
            <a:r>
              <a:t/>
            </a:r>
            <a:endParaRPr/>
          </a:p>
          <a:p xmlns:a="http://schemas.openxmlformats.org/drawingml/2006/main">
            <a:r>
              <a:t>*The "AI as a manager" trap:*</a:t>
            </a:r>
            <a:endParaRPr/>
          </a:p>
          <a:p xmlns:a="http://schemas.openxmlformats.org/drawingml/2006/main">
            <a:r>
              <a:t>AI that monitors, evaluates, or scores employees without their knowledge, even for legitimate purposes, creates legal and trust exposure. Transparency is not just ethical, it's protective.</a:t>
            </a:r>
            <a:endParaRPr/>
          </a:p>
          <a:p xmlns:a="http://schemas.openxmlformats.org/drawingml/2006/main">
            <a:r>
              <a:t/>
            </a:r>
            <a:endParaRPr/>
          </a:p>
          <a:p xmlns:a="http://schemas.openxmlformats.org/drawingml/2006/main">
            <a:r>
              <a:t>**Scenario practice cards:**</a:t>
            </a:r>
            <a:endParaRPr/>
          </a:p>
          <a:p xmlns:a="http://schemas.openxmlformats.org/drawingml/2006/main">
            <a:r>
              <a:t/>
            </a:r>
            <a:endParaRPr/>
          </a:p>
          <a:p xmlns:a="http://schemas.openxmlformats.org/drawingml/2006/main">
            <a:r>
              <a:t>Print or share these four scenarios. Groups of 3–4 discuss: Is this use appropriate? What are the risks? What would you change?</a:t>
            </a:r>
            <a:endParaRPr/>
          </a:p>
          <a:p xmlns:a="http://schemas.openxmlformats.org/drawingml/2006/main">
            <a:r>
              <a:t/>
            </a:r>
            <a:endParaRPr/>
          </a:p>
          <a:p xmlns:a="http://schemas.openxmlformats.org/drawingml/2006/main">
            <a:r>
              <a:t>&gt; **Scenario A:** An AI tool automatically rejects resumes with gaps of more than 6 months without showing them to a recruiter.</a:t>
            </a:r>
            <a:endParaRPr/>
          </a:p>
          <a:p xmlns:a="http://schemas.openxmlformats.org/drawingml/2006/main">
            <a:r>
              <a:t/>
            </a:r>
            <a:endParaRPr/>
          </a:p>
          <a:p xmlns:a="http://schemas.openxmlformats.org/drawingml/2006/main">
            <a:r>
              <a:t>&gt; **Scenario B:** An HRBP uses an AI writing assistant to draft a PIP for an employee, then reviews and edits it before sharing with the manager.</a:t>
            </a:r>
            <a:endParaRPr/>
          </a:p>
          <a:p xmlns:a="http://schemas.openxmlformats.org/drawingml/2006/main">
            <a:r>
              <a:t/>
            </a:r>
            <a:endParaRPr/>
          </a:p>
          <a:p xmlns:a="http://schemas.openxmlformats.org/drawingml/2006/main">
            <a:r>
              <a:t>&gt; **Scenario C:** People Analytics builds an attrition risk model that scores all employees monthly and shares the scores directly with managers.</a:t>
            </a:r>
            <a:endParaRPr/>
          </a:p>
          <a:p xmlns:a="http://schemas.openxmlformats.org/drawingml/2006/main">
            <a:r>
              <a:t/>
            </a:r>
            <a:endParaRPr/>
          </a:p>
          <a:p xmlns:a="http://schemas.openxmlformats.org/drawingml/2006/main">
            <a:r>
              <a:t>&gt; **Scenario D:** An AI chatbot answers benefits questions for employees. It sometimes gives incorrect information but flags that users should confirm with HR.</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4: Building and scaling AI use cases</a:t>
            </a:r>
            <a:endParaRPr/>
          </a:p>
          <a:p xmlns:a="http://schemas.openxmlformats.org/drawingml/2006/main">
            <a:r>
              <a:t/>
            </a:r>
            <a:endParaRPr/>
          </a:p>
          <a:p xmlns:a="http://schemas.openxmlformats.org/drawingml/2006/main">
            <a:r>
              <a:t>**Learning objectives:**</a:t>
            </a:r>
            <a:endParaRPr/>
          </a:p>
          <a:p xmlns:a="http://schemas.openxmlformats.org/drawingml/2006/main">
            <a:r>
              <a:t>- Apply the prioritization matrix to identify your team's highest-value AI use cases</a:t>
            </a:r>
            <a:endParaRPr/>
          </a:p>
          <a:p xmlns:a="http://schemas.openxmlformats.org/drawingml/2006/main">
            <a:r>
              <a:t>- Define a use case with clear success metrics and governance requirements</a:t>
            </a:r>
            <a:endParaRPr/>
          </a:p>
          <a:p xmlns:a="http://schemas.openxmlformats.org/drawingml/2006/main">
            <a:r>
              <a:t>- Draft a basic implementation plan for a low-complexity use case</a:t>
            </a:r>
            <a:endParaRPr/>
          </a:p>
          <a:p xmlns:a="http://schemas.openxmlformats.org/drawingml/2006/main">
            <a:r>
              <a:t/>
            </a:r>
            <a:endParaRPr/>
          </a:p>
          <a:p xmlns:a="http://schemas.openxmlformats.org/drawingml/2006/main">
            <a:r>
              <a:t>**Session outline (2 hours):**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Opening: What does "scaling AI in HR" actually mean? |</a:t>
            </a:r>
            <a:endParaRPr/>
          </a:p>
          <a:p xmlns:a="http://schemas.openxmlformats.org/drawingml/2006/main">
            <a:r>
              <a:t>| 0:15–0:45 | Framework: From idea to deployment, the use case lifecycle |</a:t>
            </a:r>
            <a:endParaRPr/>
          </a:p>
          <a:p xmlns:a="http://schemas.openxmlformats.org/drawingml/2006/main">
            <a:r>
              <a:t>| 0:45–1:15 | Team exercise: Prioritization matrix applied to your team's top 5 ideas |</a:t>
            </a:r>
            <a:endParaRPr/>
          </a:p>
          <a:p xmlns:a="http://schemas.openxmlformats.org/drawingml/2006/main">
            <a:r>
              <a:t>| 1:15–1:45 | Small group: Draft a one-page use case spec for your top-ranked idea |</a:t>
            </a:r>
            <a:endParaRPr/>
          </a:p>
          <a:p xmlns:a="http://schemas.openxmlformats.org/drawingml/2006/main">
            <a:r>
              <a:t>| 1:45–2:00 | Gallery walk + feedback |</a:t>
            </a:r>
            <a:endParaRPr/>
          </a:p>
          <a:p xmlns:a="http://schemas.openxmlformats.org/drawingml/2006/main">
            <a:r>
              <a:t/>
            </a:r>
            <a:endParaRPr/>
          </a:p>
          <a:p xmlns:a="http://schemas.openxmlformats.org/drawingml/2006/main">
            <a:r>
              <a:t>**Use case lifecycle:**</a:t>
            </a:r>
            <a:endParaRPr/>
          </a:p>
          <a:p xmlns:a="http://schemas.openxmlformats.org/drawingml/2006/main">
            <a:r>
              <a:t/>
            </a:r>
            <a:endParaRPr/>
          </a:p>
          <a:p xmlns:a="http://schemas.openxmlformats.org/drawingml/2006/main">
            <a:r>
              <a:t>```</a:t>
            </a:r>
            <a:endParaRPr/>
          </a:p>
          <a:p xmlns:a="http://schemas.openxmlformats.org/drawingml/2006/main">
            <a:r>
              <a:t>Discover → Prioritize → Design → Pilot → Evaluate → Scale</a:t>
            </a:r>
            <a:endParaRPr/>
          </a:p>
          <a:p xmlns:a="http://schemas.openxmlformats.org/drawingml/2006/main">
            <a:r>
              <a:t>   ↑                                          |</a:t>
            </a:r>
            <a:endParaRPr/>
          </a:p>
          <a:p xmlns:a="http://schemas.openxmlformats.org/drawingml/2006/main">
            <a:r>
              <a:t>   └──────────────── iterate ─────────────────┘</a:t>
            </a:r>
            <a:endParaRPr/>
          </a:p>
          <a:p xmlns:a="http://schemas.openxmlformats.org/drawingml/2006/main">
            <a:r>
              <a:t>```</a:t>
            </a:r>
            <a:endParaRPr/>
          </a:p>
          <a:p xmlns:a="http://schemas.openxmlformats.org/drawingml/2006/main">
            <a:r>
              <a:t/>
            </a:r>
            <a:endParaRPr/>
          </a:p>
          <a:p xmlns:a="http://schemas.openxmlformats.org/drawingml/2006/main">
            <a:r>
              <a:t>- **Discover:** What problem are we solving? Who feels it most?</a:t>
            </a:r>
            <a:endParaRPr/>
          </a:p>
          <a:p xmlns:a="http://schemas.openxmlformats.org/drawingml/2006/main">
            <a:r>
              <a:t>- **Prioritize:** Use the matrix. Don't skip this.</a:t>
            </a:r>
            <a:endParaRPr/>
          </a:p>
          <a:p xmlns:a="http://schemas.openxmlformats.org/drawingml/2006/main">
            <a:r>
              <a:t>- **Design:** Define inputs, outputs, human review gates, success metrics, and fallback</a:t>
            </a:r>
            <a:endParaRPr/>
          </a:p>
          <a:p xmlns:a="http://schemas.openxmlformats.org/drawingml/2006/main">
            <a:r>
              <a:t>- **Pilot:** Small scope, high observation. 4–8 weeks.</a:t>
            </a:r>
            <a:endParaRPr/>
          </a:p>
          <a:p xmlns:a="http://schemas.openxmlformats.org/drawingml/2006/main">
            <a:r>
              <a:t>- **Evaluate:** Did it work? For whom? What didn't?</a:t>
            </a:r>
            <a:endParaRPr/>
          </a:p>
          <a:p xmlns:a="http://schemas.openxmlformats.org/drawingml/2006/main">
            <a:r>
              <a:t>- **Scale:** Expand with the lessons from pilot baked in</a:t>
            </a:r>
            <a:endParaRPr/>
          </a:p>
          <a:p xmlns:a="http://schemas.openxmlformats.org/drawingml/2006/main">
            <a:r>
              <a:t/>
            </a:r>
            <a:endParaRPr/>
          </a:p>
          <a:p xmlns:a="http://schemas.openxmlformats.org/drawingml/2006/main">
            <a:r>
              <a:t>**One-page use case spec template:**</a:t>
            </a:r>
            <a:endParaRPr/>
          </a:p>
          <a:p xmlns:a="http://schemas.openxmlformats.org/drawingml/2006/main">
            <a:r>
              <a:t/>
            </a:r>
            <a:endParaRPr/>
          </a:p>
          <a:p xmlns:a="http://schemas.openxmlformats.org/drawingml/2006/main">
            <a:r>
              <a:t>Participants complete this for their team's top-ranked use case:</a:t>
            </a:r>
            <a:endParaRPr/>
          </a:p>
          <a:p xmlns:a="http://schemas.openxmlformats.org/drawingml/2006/main">
            <a:r>
              <a:t/>
            </a:r>
            <a:endParaRPr/>
          </a:p>
          <a:p xmlns:a="http://schemas.openxmlformats.org/drawingml/2006/main">
            <a:r>
              <a:t>```</a:t>
            </a:r>
            <a:endParaRPr/>
          </a:p>
          <a:p xmlns:a="http://schemas.openxmlformats.org/drawingml/2006/main">
            <a:r>
              <a:t>Use case name:</a:t>
            </a:r>
            <a:endParaRPr/>
          </a:p>
          <a:p xmlns:a="http://schemas.openxmlformats.org/drawingml/2006/main">
            <a:r>
              <a:t>Problem it solves (1 sentence):</a:t>
            </a:r>
            <a:endParaRPr/>
          </a:p>
          <a:p xmlns:a="http://schemas.openxmlformats.org/drawingml/2006/main">
            <a:r>
              <a:t>Who benefits and how:</a:t>
            </a:r>
            <a:endParaRPr/>
          </a:p>
          <a:p xmlns:a="http://schemas.openxmlformats.org/drawingml/2006/main">
            <a:r>
              <a:t>AI approach (Rules / Augment / Assist / Human-led / Analytics):</a:t>
            </a:r>
            <a:endParaRPr/>
          </a:p>
          <a:p xmlns:a="http://schemas.openxmlformats.org/drawingml/2006/main">
            <a:r>
              <a:t>Data needed:</a:t>
            </a:r>
            <a:endParaRPr/>
          </a:p>
          <a:p xmlns:a="http://schemas.openxmlformats.org/drawingml/2006/main">
            <a:r>
              <a:t>Human review gate:</a:t>
            </a:r>
            <a:endParaRPr/>
          </a:p>
          <a:p xmlns:a="http://schemas.openxmlformats.org/drawingml/2006/main">
            <a:r>
              <a:t>Success metric(s):</a:t>
            </a:r>
            <a:endParaRPr/>
          </a:p>
          <a:p xmlns:a="http://schemas.openxmlformats.org/drawingml/2006/main">
            <a:r>
              <a:t>What could go wrong:</a:t>
            </a:r>
            <a:endParaRPr/>
          </a:p>
          <a:p xmlns:a="http://schemas.openxmlformats.org/drawingml/2006/main">
            <a:r>
              <a:t>Governance requirements (from risk assessment):</a:t>
            </a:r>
            <a:endParaRPr/>
          </a:p>
          <a:p xmlns:a="http://schemas.openxmlformats.org/drawingml/2006/main">
            <a:r>
              <a:t>First step to move forward:</a:t>
            </a:r>
            <a:endParaRPr/>
          </a:p>
          <a:p xmlns:a="http://schemas.openxmlformats.org/drawingml/2006/main">
            <a:r>
              <a:t>```</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Assessment and certification</a:t>
            </a:r>
            <a:endParaRPr/>
          </a:p>
          <a:p xmlns:a="http://schemas.openxmlformats.org/drawingml/2006/main">
            <a:r>
              <a:t/>
            </a:r>
            <a:endParaRPr/>
          </a:p>
          <a:p xmlns:a="http://schemas.openxmlformats.org/drawingml/2006/main">
            <a:r>
              <a:t>An organization may choose to give participants who complete all four modules</a:t>
            </a:r>
            <a:endParaRPr/>
          </a:p>
          <a:p xmlns:a="http://schemas.openxmlformats.org/drawingml/2006/main">
            <a:r>
              <a:t>and the hands-on components an **HR AI Practitioner** acknowledgment. This is a</a:t>
            </a:r>
            <a:endParaRPr/>
          </a:p>
          <a:p xmlns:a="http://schemas.openxmlformats.org/drawingml/2006/main">
            <a:r>
              <a:t>proposed internal recognition, not an accredited certification or evidence of</a:t>
            </a:r>
            <a:endParaRPr/>
          </a:p>
          <a:p xmlns:a="http://schemas.openxmlformats.org/drawingml/2006/main">
            <a:r>
              <a:t>professional competence. No delivery or learning outcome is claimed here.</a:t>
            </a:r>
            <a:endParaRPr/>
          </a:p>
          <a:p xmlns:a="http://schemas.openxmlformats.org/drawingml/2006/main">
            <a:r>
              <a:t/>
            </a:r>
            <a:endParaRPr/>
          </a:p>
          <a:p xmlns:a="http://schemas.openxmlformats.org/drawingml/2006/main">
            <a:r>
              <a:t>Optional extension: Participants who complete a full use case spec and present it to the HR Technology team are recognized as **HR AI Champions**, an informal internal designation that supports peer enablement.</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Facilitator notes</a:t>
            </a:r>
            <a:endParaRPr/>
          </a:p>
          <a:p xmlns:a="http://schemas.openxmlformats.org/drawingml/2006/main">
            <a:r>
              <a:t/>
            </a:r>
            <a:endParaRPr/>
          </a:p>
          <a:p xmlns:a="http://schemas.openxmlformats.org/drawingml/2006/main">
            <a:r>
              <a:t>These are facilitation suggestions, not measured delivery findings. Use synthetic examples; removing names alone does not establish anonymity. Do not upload real employee, candidate, compensation, or employer-confidential information for a training exercise.</a:t>
            </a:r>
            <a:endParaRPr/>
          </a:p>
          <a:p xmlns:a="http://schemas.openxmlformats.org/drawingml/2006/main">
            <a:r>
              <a:t/>
            </a:r>
            <a:endParaRPr/>
          </a:p>
          <a:p xmlns:a="http://schemas.openxmlformats.org/drawingml/2006/main">
            <a:r>
              <a:t>- Budget flex time in Module 3 for questions and disagreement about risk.</a:t>
            </a:r>
            <a:endParaRPr/>
          </a:p>
          <a:p xmlns:a="http://schemas.openxmlformats.org/drawingml/2006/main">
            <a:r>
              <a:t>- Protect time for the Module 2 lab, and check whether participants can identify errors and verify outputs afterward.</a:t>
            </a:r>
            <a:endParaRPr/>
          </a:p>
          <a:p xmlns:a="http://schemas.openxmlformats.org/drawingml/2006/main">
            <a:r>
              <a:t>- Adapt synthetic scenarios to familiar workflows, without identifiable employee cases or confidential documents.</a:t>
            </a:r>
            <a:endParaRPr/>
          </a:p>
          <a:p xmlns:a="http://schemas.openxmlformats.org/drawingml/2006/main">
            <a:r>
              <a:t>- Keep an AI skeptic on the facilitation team if possible. The best discussions happen when the room has range.</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snapshot: 13 October 2026. Curriculum SHA-256: 5ee769258ac9b95a3c514b64dcd5b22215e40bac8621054ffb452bffc244827a. This deck summarizes the source; no human evaluation, delivery outcome or legal approval is claimed.</a:t>
            </a:r>
            <a:endParaRPr/>
          </a:p>
          <a:p xmlns:a="http://schemas.openxmlformats.org/drawingml/2006/main">
            <a:r>
              <a:t/>
            </a:r>
            <a:endParaRPr/>
          </a:p>
          <a:p xmlns:a="http://schemas.openxmlformats.org/drawingml/2006/main">
            <a:r>
              <a:t># HR AI literacy curriculum</a:t>
            </a:r>
            <a:endParaRPr/>
          </a:p>
          <a:p xmlns:a="http://schemas.openxmlformats.org/drawingml/2006/main">
            <a:r>
              <a:t/>
            </a:r>
            <a:endParaRPr/>
          </a:p>
          <a:p xmlns:a="http://schemas.openxmlformats.org/drawingml/2006/main">
            <a:r>
              <a:t>A 4-module learning program for HR professionals at all experience levels. Designed to be delivered as a facilitated series over 4–6 weeks, or adapted for self-paced completion.</a:t>
            </a:r>
            <a:endParaRPr/>
          </a:p>
          <a:p xmlns:a="http://schemas.openxmlformats.org/drawingml/2006/main">
            <a:r>
              <a:t/>
            </a:r>
            <a:endParaRPr/>
          </a:p>
          <a:p xmlns:a="http://schemas.openxmlformats.org/drawingml/2006/main">
            <a:r>
              <a:t>**Total time:** about 7 hours of sessions, plus async reading and hands-on practice (roughly 8 hours in all)</a:t>
            </a:r>
            <a:endParaRPr/>
          </a:p>
          <a:p xmlns:a="http://schemas.openxmlformats.org/drawingml/2006/main">
            <a:r>
              <a:t>**Format:** Workshop + async reading + hands-on practice</a:t>
            </a:r>
            <a:endParaRPr/>
          </a:p>
          <a:p xmlns:a="http://schemas.openxmlformats.org/drawingml/2006/main">
            <a:r>
              <a:t>**Audience:** All People Team members</a:t>
            </a:r>
            <a:endParaRPr/>
          </a:p>
          <a:p xmlns:a="http://schemas.openxmlformats.org/drawingml/2006/main">
            <a:r>
              <a:t>**Prerequisite:** None</a:t>
            </a:r>
            <a:endParaRPr/>
          </a:p>
          <a:p xmlns:a="http://schemas.openxmlformats.org/drawingml/2006/main">
            <a:r>
              <a:t/>
            </a:r>
            <a:endParaRPr/>
          </a:p>
          <a:p xmlns:a="http://schemas.openxmlformats.org/drawingml/2006/main">
            <a:r>
              <a:t>**Lab prerequisite:** The facilitator confirms an organization-approved tool,</a:t>
            </a:r>
            <a:endParaRPr/>
          </a:p>
          <a:p xmlns:a="http://schemas.openxmlformats.org/drawingml/2006/main">
            <a:r>
              <a:t>provider handling, and a synthetic-only data boundary before any exercise.</a:t>
            </a:r>
            <a:endParaRPr/>
          </a:p>
          <a:p xmlns:a="http://schemas.openxmlformats.org/drawingml/2006/main">
            <a:r>
              <a:t>Modules 1-3 and the required governance approvals precede any real-work pilot.</a:t>
            </a:r>
            <a:endParaRPr/>
          </a:p>
          <a:p xmlns:a="http://schemas.openxmlformats.org/drawingml/2006/main">
            <a:r>
              <a:t>This curriculum does not authorize employee-data processing.</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Program overview</a:t>
            </a:r>
            <a:endParaRPr/>
          </a:p>
          <a:p xmlns:a="http://schemas.openxmlformats.org/drawingml/2006/main">
            <a:r>
              <a:t/>
            </a:r>
            <a:endParaRPr/>
          </a:p>
          <a:p xmlns:a="http://schemas.openxmlformats.org/drawingml/2006/main">
            <a:r>
              <a:t>| Module | Title | Duration | Format |</a:t>
            </a:r>
            <a:endParaRPr/>
          </a:p>
          <a:p xmlns:a="http://schemas.openxmlformats.org/drawingml/2006/main">
            <a:r>
              <a:t>|---|---|---|---|</a:t>
            </a:r>
            <a:endParaRPr/>
          </a:p>
          <a:p xmlns:a="http://schemas.openxmlformats.org/drawingml/2006/main">
            <a:r>
              <a:t>| 1 | How AI works, what HR professionals actually need to know | 90 min | Workshop |</a:t>
            </a:r>
            <a:endParaRPr/>
          </a:p>
          <a:p xmlns:a="http://schemas.openxmlformats.org/drawingml/2006/main">
            <a:r>
              <a:t>| 2 | Using AI in your daily HR work | 2 hours | Workshop + lab |</a:t>
            </a:r>
            <a:endParaRPr/>
          </a:p>
          <a:p xmlns:a="http://schemas.openxmlformats.org/drawingml/2006/main">
            <a:r>
              <a:t>| 3 | Governance, ethics, and responsible use | 90 min | Workshop |</a:t>
            </a:r>
            <a:endParaRPr/>
          </a:p>
          <a:p xmlns:a="http://schemas.openxmlformats.org/drawingml/2006/main">
            <a:r>
              <a:t>| 4 | Building and scaling AI use cases | 2 hours | Workshop + project |</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1: How AI works, what HR professionals actually need to know</a:t>
            </a:r>
            <a:endParaRPr/>
          </a:p>
          <a:p xmlns:a="http://schemas.openxmlformats.org/drawingml/2006/main">
            <a:r>
              <a:t/>
            </a:r>
            <a:endParaRPr/>
          </a:p>
          <a:p xmlns:a="http://schemas.openxmlformats.org/drawingml/2006/main">
            <a:r>
              <a:t>**Learning objectives:**</a:t>
            </a:r>
            <a:endParaRPr/>
          </a:p>
          <a:p xmlns:a="http://schemas.openxmlformats.org/drawingml/2006/main">
            <a:r>
              <a:t>- Explain the difference between traditional automation and generative AI</a:t>
            </a:r>
            <a:endParaRPr/>
          </a:p>
          <a:p xmlns:a="http://schemas.openxmlformats.org/drawingml/2006/main">
            <a:r>
              <a:t>- Describe why AI "hallucinates" and how to mitigate it in HR contexts</a:t>
            </a:r>
            <a:endParaRPr/>
          </a:p>
          <a:p xmlns:a="http://schemas.openxmlformats.org/drawingml/2006/main">
            <a:r>
              <a:t>- Identify which HR tasks are good candidates for AI assistance and which are not</a:t>
            </a:r>
            <a:endParaRPr/>
          </a:p>
          <a:p xmlns:a="http://schemas.openxmlformats.org/drawingml/2006/main">
            <a:r>
              <a:t/>
            </a:r>
            <a:endParaRPr/>
          </a:p>
          <a:p xmlns:a="http://schemas.openxmlformats.org/drawingml/2006/main">
            <a:r>
              <a:t>**Session outline (90 minutes):**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0:00–0:10 | Opening: What do you already believe about AI? (quick poll + discussion) |</a:t>
            </a:r>
            <a:endParaRPr/>
          </a:p>
          <a:p xmlns:a="http://schemas.openxmlformats.org/drawingml/2006/main">
            <a:r>
              <a:t>| 0:10–0:30 | Concept: How LLMs work, without the jargon (facilitator presentation) |</a:t>
            </a:r>
            <a:endParaRPr/>
          </a:p>
          <a:p xmlns:a="http://schemas.openxmlformats.org/drawingml/2006/main">
            <a:r>
              <a:t>| 0:30–0:45 | Concept: Hallucination, confidence, and why AI makes things up |</a:t>
            </a:r>
            <a:endParaRPr/>
          </a:p>
          <a:p xmlns:a="http://schemas.openxmlformats.org/drawingml/2006/main">
            <a:r>
              <a:t>| 0:45–1:05 | Exercise: Spot the hallucination (participants identify errors in AI-generated HR content) |</a:t>
            </a:r>
            <a:endParaRPr/>
          </a:p>
          <a:p xmlns:a="http://schemas.openxmlformats.org/drawingml/2006/main">
            <a:r>
              <a:t>| 1:05–1:20 | Discussion: Where should HR use AI? Where should we be cautious? |</a:t>
            </a:r>
            <a:endParaRPr/>
          </a:p>
          <a:p xmlns:a="http://schemas.openxmlformats.org/drawingml/2006/main">
            <a:r>
              <a:t>| 1:20–1:30 | Wrap-up + homework: Try one AI tool before next session |</a:t>
            </a:r>
            <a:endParaRPr/>
          </a:p>
          <a:p xmlns:a="http://schemas.openxmlformats.org/drawingml/2006/main">
            <a:r>
              <a:t/>
            </a:r>
            <a:endParaRPr/>
          </a:p>
          <a:p xmlns:a="http://schemas.openxmlformats.org/drawingml/2006/main">
            <a:r>
              <a:t>**Key concepts to cover:**</a:t>
            </a:r>
            <a:endParaRPr/>
          </a:p>
          <a:p xmlns:a="http://schemas.openxmlformats.org/drawingml/2006/main">
            <a:r>
              <a:t/>
            </a:r>
            <a:endParaRPr/>
          </a:p>
          <a:p xmlns:a="http://schemas.openxmlformats.org/drawingml/2006/main">
            <a:r>
              <a:t>*What LLMs actually are:*</a:t>
            </a:r>
            <a:endParaRPr/>
          </a:p>
          <a:p xmlns:a="http://schemas.openxmlformats.org/drawingml/2006/main">
            <a:r>
              <a:t>Large language models predict the next most likely word given context. They don't "know" things the way a database knows things, they pattern-match against training data. This is why they can sound authoritative while being wrong.</a:t>
            </a:r>
            <a:endParaRPr/>
          </a:p>
          <a:p xmlns:a="http://schemas.openxmlformats.org/drawingml/2006/main">
            <a:r>
              <a:t/>
            </a:r>
            <a:endParaRPr/>
          </a:p>
          <a:p xmlns:a="http://schemas.openxmlformats.org/drawingml/2006/main">
            <a:r>
              <a:t>*The spectrum from rules to agents:*</a:t>
            </a:r>
            <a:endParaRPr/>
          </a:p>
          <a:p xmlns:a="http://schemas.openxmlformats.org/drawingml/2006/main">
            <a:r>
              <a:t>```</a:t>
            </a:r>
            <a:endParaRPr/>
          </a:p>
          <a:p xmlns:a="http://schemas.openxmlformats.org/drawingml/2006/main">
            <a:r>
              <a:t>Rules            →  Assist / Augment              →  Agent</a:t>
            </a:r>
            <a:endParaRPr/>
          </a:p>
          <a:p xmlns:a="http://schemas.openxmlformats.org/drawingml/2006/main">
            <a:r>
              <a:t>(deterministic)     (a person decides or owns)       (a model acts across several steps)</a:t>
            </a:r>
            <a:endParaRPr/>
          </a:p>
          <a:p xmlns:a="http://schemas.openxmlformats.org/drawingml/2006/main">
            <a:r>
              <a:t>```</a:t>
            </a:r>
            <a:endParaRPr/>
          </a:p>
          <a:p xmlns:a="http://schemas.openxmlformats.org/drawingml/2006/main">
            <a:r>
              <a:t>Use rules when rules reliably give the right answer. Most HR uses of AI belong in the middle. An agent, where a model takes several actions through tools with limited review between them, has to earn that autonomy through evidence and brings new governance requirements.</a:t>
            </a:r>
            <a:endParaRPr/>
          </a:p>
          <a:p xmlns:a="http://schemas.openxmlformats.org/drawingml/2006/main">
            <a:r>
              <a:t/>
            </a:r>
            <a:endParaRPr/>
          </a:p>
          <a:p xmlns:a="http://schemas.openxmlformats.org/drawingml/2006/main">
            <a:r>
              <a:t>*Prompt quality drives output quality:*</a:t>
            </a:r>
            <a:endParaRPr/>
          </a:p>
          <a:p xmlns:a="http://schemas.openxmlformats.org/drawingml/2006/main">
            <a:r>
              <a:t>Clear prompts help define a task and its boundaries. Output quality also depends on the model, source material, workflow controls, and verification. A well-written prompt does not establish factual accuracy or safe HR judgment.</a:t>
            </a:r>
            <a:endParaRPr/>
          </a:p>
          <a:p xmlns:a="http://schemas.openxmlformats.org/drawingml/2006/main">
            <a:r>
              <a:t/>
            </a:r>
            <a:endParaRPr/>
          </a:p>
          <a:p xmlns:a="http://schemas.openxmlformats.org/drawingml/2006/main">
            <a:r>
              <a:t>**Pre-reading (assign before session):**</a:t>
            </a:r>
            <a:endParaRPr/>
          </a:p>
          <a:p xmlns:a="http://schemas.openxmlformats.org/drawingml/2006/main">
            <a:r>
              <a:t>- [Your organization's AI use policy](../03-governance/ai-use-policy.md)</a:t>
            </a:r>
            <a:endParaRPr/>
          </a:p>
          <a:p xmlns:a="http://schemas.openxmlformats.org/drawingml/2006/main">
            <a:r>
              <a:t>- One-page primer on generative AI for non-technical audiences (create or source)</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2: Using AI in your daily HR work</a:t>
            </a:r>
            <a:endParaRPr/>
          </a:p>
          <a:p xmlns:a="http://schemas.openxmlformats.org/drawingml/2006/main">
            <a:r>
              <a:t/>
            </a:r>
            <a:endParaRPr/>
          </a:p>
          <a:p xmlns:a="http://schemas.openxmlformats.org/drawingml/2006/main">
            <a:r>
              <a:t>**Learning objectives:**</a:t>
            </a:r>
            <a:endParaRPr/>
          </a:p>
          <a:p xmlns:a="http://schemas.openxmlformats.org/drawingml/2006/main">
            <a:r>
              <a:t>- Write effective prompts for HR use cases</a:t>
            </a:r>
            <a:endParaRPr/>
          </a:p>
          <a:p xmlns:a="http://schemas.openxmlformats.org/drawingml/2006/main">
            <a:r>
              <a:t>- Use the prompt library for at least 3 HR workflows</a:t>
            </a:r>
            <a:endParaRPr/>
          </a:p>
          <a:p xmlns:a="http://schemas.openxmlformats.org/drawingml/2006/main">
            <a:r>
              <a:t>- Identify when to use AI, when to verify AI output, and when not to use it</a:t>
            </a:r>
            <a:endParaRPr/>
          </a:p>
          <a:p xmlns:a="http://schemas.openxmlformats.org/drawingml/2006/main">
            <a:r>
              <a:t/>
            </a:r>
            <a:endParaRPr/>
          </a:p>
          <a:p xmlns:a="http://schemas.openxmlformats.org/drawingml/2006/main">
            <a:r>
              <a:t>**Session outline (2 hours including lab):**</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Share-back from Module 1 homework, what did you try, what happened? |</a:t>
            </a:r>
            <a:endParaRPr/>
          </a:p>
          <a:p xmlns:a="http://schemas.openxmlformats.org/drawingml/2006/main">
            <a:r>
              <a:t>| 0:15–0:45 | Prompt engineering for HR: the four elements of a good prompt |</a:t>
            </a:r>
            <a:endParaRPr/>
          </a:p>
          <a:p xmlns:a="http://schemas.openxmlformats.org/drawingml/2006/main">
            <a:r>
              <a:t>| 0:45–1:10 | Live demo: Onboarding plan, performance review draft, policy Q&amp;A |</a:t>
            </a:r>
            <a:endParaRPr/>
          </a:p>
          <a:p xmlns:a="http://schemas.openxmlformats.org/drawingml/2006/main">
            <a:r>
              <a:t>| 1:10–1:50 | Hands-on lab: Each participant works through 2 prompts using synthetic HR scenarios in organization-approved tools |</a:t>
            </a:r>
            <a:endParaRPr/>
          </a:p>
          <a:p xmlns:a="http://schemas.openxmlformats.org/drawingml/2006/main">
            <a:r>
              <a:t>| 1:50–2:00 | Debrief: What surprised you? What didn't work? |</a:t>
            </a:r>
            <a:endParaRPr/>
          </a:p>
          <a:p xmlns:a="http://schemas.openxmlformats.org/drawingml/2006/main">
            <a:r>
              <a:t/>
            </a:r>
            <a:endParaRPr/>
          </a:p>
          <a:p xmlns:a="http://schemas.openxmlformats.org/drawingml/2006/main">
            <a:r>
              <a:t>**The four elements of an effective HR prompt:**</a:t>
            </a:r>
            <a:endParaRPr/>
          </a:p>
          <a:p xmlns:a="http://schemas.openxmlformats.org/drawingml/2006/main">
            <a:r>
              <a:t/>
            </a:r>
            <a:endParaRPr/>
          </a:p>
          <a:p xmlns:a="http://schemas.openxmlformats.org/drawingml/2006/main">
            <a:r>
              <a:t>1. **Role**: Define the task perspective, such as drafting support for an HRBP. A role instruction does not give the model professional authority.</a:t>
            </a:r>
            <a:endParaRPr/>
          </a:p>
          <a:p xmlns:a="http://schemas.openxmlformats.org/drawingml/2006/main">
            <a:r>
              <a:t/>
            </a:r>
            <a:endParaRPr/>
          </a:p>
          <a:p xmlns:a="http://schemas.openxmlformats.org/drawingml/2006/main">
            <a:r>
              <a:t>2. **Context**: Provide the specific details the AI needs. Role, tenure, team size, situation. Don't make the AI guess.</a:t>
            </a:r>
            <a:endParaRPr/>
          </a:p>
          <a:p xmlns:a="http://schemas.openxmlformats.org/drawingml/2006/main">
            <a:r>
              <a:t/>
            </a:r>
            <a:endParaRPr/>
          </a:p>
          <a:p xmlns:a="http://schemas.openxmlformats.org/drawingml/2006/main">
            <a:r>
              <a:t>3. **Task**: State clearly what you want it to produce. One output per prompt. "Draft a..." is clearer than "Help me with..."</a:t>
            </a:r>
            <a:endParaRPr/>
          </a:p>
          <a:p xmlns:a="http://schemas.openxmlformats.org/drawingml/2006/main">
            <a:r>
              <a:t/>
            </a:r>
            <a:endParaRPr/>
          </a:p>
          <a:p xmlns:a="http://schemas.openxmlformats.org/drawingml/2006/main">
            <a:r>
              <a:t>4. **Constraints**: Define length, tone, format, exclusions, and the verification needed. Check whether the output follows them.</a:t>
            </a:r>
            <a:endParaRPr/>
          </a:p>
          <a:p xmlns:a="http://schemas.openxmlformats.org/drawingml/2006/main">
            <a:r>
              <a:t/>
            </a:r>
            <a:endParaRPr/>
          </a:p>
          <a:p xmlns:a="http://schemas.openxmlformats.org/drawingml/2006/main">
            <a:r>
              <a:t>**Lab instructions:**</a:t>
            </a:r>
            <a:endParaRPr/>
          </a:p>
          <a:p xmlns:a="http://schemas.openxmlformats.org/drawingml/2006/main">
            <a:r>
              <a:t/>
            </a:r>
            <a:endParaRPr/>
          </a:p>
          <a:p xmlns:a="http://schemas.openxmlformats.org/drawingml/2006/main">
            <a:r>
              <a:t>Participants choose 2 prompts from the library that are relevant to their current work:</a:t>
            </a:r>
            <a:endParaRPr/>
          </a:p>
          <a:p xmlns:a="http://schemas.openxmlformats.org/drawingml/2006/main">
            <a:r>
              <a:t>1. Run the prompt with a fictional HR scenario in an organization-approved tool. Do not upload real employee, candidate, compensation, or confidential employer information.</a:t>
            </a:r>
            <a:endParaRPr/>
          </a:p>
          <a:p xmlns:a="http://schemas.openxmlformats.org/drawingml/2006/main">
            <a:r>
              <a:t>2. Evaluate the output: What's useful? What's wrong or missing? What would you change before using it?</a:t>
            </a:r>
            <a:endParaRPr/>
          </a:p>
          <a:p xmlns:a="http://schemas.openxmlformats.org/drawingml/2006/main">
            <a:r>
              <a:t>3. Iterate: Modify the prompt once based on what you learned and run it again</a:t>
            </a:r>
            <a:endParaRPr/>
          </a:p>
          <a:p xmlns:a="http://schemas.openxmlformats.org/drawingml/2006/main">
            <a:r>
              <a:t>4. Note: What changed between run 1 and run 2?</a:t>
            </a:r>
            <a:endParaRPr/>
          </a:p>
          <a:p xmlns:a="http://schemas.openxmlformats.org/drawingml/2006/main">
            <a:r>
              <a:t/>
            </a:r>
            <a:endParaRPr/>
          </a:p>
          <a:p xmlns:a="http://schemas.openxmlformats.org/drawingml/2006/main">
            <a:r>
              <a:t>**The verify-before-use rule:**</a:t>
            </a:r>
            <a:endParaRPr/>
          </a:p>
          <a:p xmlns:a="http://schemas.openxmlformats.org/drawingml/2006/main">
            <a:r>
              <a:t/>
            </a:r>
            <a:endParaRPr/>
          </a:p>
          <a:p xmlns:a="http://schemas.openxmlformats.org/drawingml/2006/main">
            <a:r>
              <a:t>Introduce and reinforce this heuristic:</a:t>
            </a:r>
            <a:endParaRPr/>
          </a:p>
          <a:p xmlns:a="http://schemas.openxmlformats.org/drawingml/2006/main">
            <a:r>
              <a:t>- Policy details → always verify against source system before sharing</a:t>
            </a:r>
            <a:endParaRPr/>
          </a:p>
          <a:p xmlns:a="http://schemas.openxmlformats.org/drawingml/2006/main">
            <a:r>
              <a:t>- Legal requirements → always verify with Legal before relying on</a:t>
            </a:r>
            <a:endParaRPr/>
          </a:p>
          <a:p xmlns:a="http://schemas.openxmlformats.org/drawingml/2006/main">
            <a:r>
              <a:t>- Factual claims → spot-check against a known source</a:t>
            </a:r>
            <a:endParaRPr/>
          </a:p>
          <a:p xmlns:a="http://schemas.openxmlformats.org/drawingml/2006/main">
            <a:r>
              <a:t>- Tone and content → always read before sending; AI doesn't know your audience</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3: Governance, ethics, and responsible use</a:t>
            </a:r>
            <a:endParaRPr/>
          </a:p>
          <a:p xmlns:a="http://schemas.openxmlformats.org/drawingml/2006/main">
            <a:r>
              <a:t/>
            </a:r>
            <a:endParaRPr/>
          </a:p>
          <a:p xmlns:a="http://schemas.openxmlformats.org/drawingml/2006/main">
            <a:r>
              <a:t>**Learning objectives:**</a:t>
            </a:r>
            <a:endParaRPr/>
          </a:p>
          <a:p xmlns:a="http://schemas.openxmlformats.org/drawingml/2006/main">
            <a:r>
              <a:t>- Apply the organization's AI use policy to real HR scenarios</a:t>
            </a:r>
            <a:endParaRPr/>
          </a:p>
          <a:p xmlns:a="http://schemas.openxmlformats.org/drawingml/2006/main">
            <a:r>
              <a:t>- Identify the key legal risk areas in HR AI (bias, privacy, employment law)</a:t>
            </a:r>
            <a:endParaRPr/>
          </a:p>
          <a:p xmlns:a="http://schemas.openxmlformats.org/drawingml/2006/main">
            <a:r>
              <a:t>- Complete a basic risk assessment for a new use case</a:t>
            </a:r>
            <a:endParaRPr/>
          </a:p>
          <a:p xmlns:a="http://schemas.openxmlformats.org/drawingml/2006/main">
            <a:r>
              <a:t/>
            </a:r>
            <a:endParaRPr/>
          </a:p>
          <a:p xmlns:a="http://schemas.openxmlformats.org/drawingml/2006/main">
            <a:r>
              <a:t>**Session outline (90 minutes):**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Case study: Three HR AI failures and what we can learn (discussion) |</a:t>
            </a:r>
            <a:endParaRPr/>
          </a:p>
          <a:p xmlns:a="http://schemas.openxmlformats.org/drawingml/2006/main">
            <a:r>
              <a:t>| 0:15–0:40 | Framework: What makes AI use in HR risky? Legal and ethical dimensions |</a:t>
            </a:r>
            <a:endParaRPr/>
          </a:p>
          <a:p xmlns:a="http://schemas.openxmlformats.org/drawingml/2006/main">
            <a:r>
              <a:t>| 0:40–1:00 | Scenario practice: Is this use case okay? (small groups, 4 scenarios) |</a:t>
            </a:r>
            <a:endParaRPr/>
          </a:p>
          <a:p xmlns:a="http://schemas.openxmlformats.org/drawingml/2006/main">
            <a:r>
              <a:t>| 1:00–1:20 | Walk-through: The risk assessment template |</a:t>
            </a:r>
            <a:endParaRPr/>
          </a:p>
          <a:p xmlns:a="http://schemas.openxmlformats.org/drawingml/2006/main">
            <a:r>
              <a:t>| 1:20–1:30 | Q&amp;A + open discussion |</a:t>
            </a:r>
            <a:endParaRPr/>
          </a:p>
          <a:p xmlns:a="http://schemas.openxmlformats.org/drawingml/2006/main">
            <a:r>
              <a:t/>
            </a:r>
            <a:endParaRPr/>
          </a:p>
          <a:p xmlns:a="http://schemas.openxmlformats.org/drawingml/2006/main">
            <a:r>
              <a:t>&gt; **Note on regulatory currency:** Use the [Key dates for HR](../03-governance/README.md#key-dates-for-hr) and its linked primary sources as the dated reference. The slides summarize risk questions; they are not a complete legal reference. Have Legal verify jurisdiction, scope, obligations, and effective dates before delivery or adoption.</a:t>
            </a:r>
            <a:endParaRPr/>
          </a:p>
          <a:p xmlns:a="http://schemas.openxmlformats.org/drawingml/2006/main">
            <a:r>
              <a:t/>
            </a:r>
            <a:endParaRPr/>
          </a:p>
          <a:p xmlns:a="http://schemas.openxmlformats.org/drawingml/2006/main">
            <a:r>
              <a:t>**Key legal risk areas to cover:**</a:t>
            </a:r>
            <a:endParaRPr/>
          </a:p>
          <a:p xmlns:a="http://schemas.openxmlformats.org/drawingml/2006/main">
            <a:r>
              <a:t/>
            </a:r>
            <a:endParaRPr/>
          </a:p>
          <a:p xmlns:a="http://schemas.openxmlformats.org/drawingml/2006/main">
            <a:r>
              <a:t>*Bias and disparate impact:*</a:t>
            </a:r>
            <a:endParaRPr/>
          </a:p>
          <a:p xmlns:a="http://schemas.openxmlformats.org/drawingml/2006/main">
            <a:r>
              <a:t>AI trained on historical HR data can encode and amplify past discrimination. A history in which 80% of engineering hires were male is a reason to examine labels, features, selection effects, and group outcomes; that proportion alone does not determine how a model will score resumes. Adverse impact testing is a core control. It is required by law in some jurisdictions (NYC Local Law 144 mandates an annual bias audit for covered tools) and expected as evidence of reasonable care in many others. Confirm the cadence with Legal. See the [NIST AI RMF](https://www.nist.gov/itl/ai-risk-management-framework).</a:t>
            </a:r>
            <a:endParaRPr/>
          </a:p>
          <a:p xmlns:a="http://schemas.openxmlformats.org/drawingml/2006/main">
            <a:r>
              <a:t/>
            </a:r>
            <a:endParaRPr/>
          </a:p>
          <a:p xmlns:a="http://schemas.openxmlformats.org/drawingml/2006/main">
            <a:r>
              <a:t>*Illinois AI Video Interview Act, NYC Local Law 144, and emerging state laws:*</a:t>
            </a:r>
            <a:endParaRPr/>
          </a:p>
          <a:p xmlns:a="http://schemas.openxmlformats.org/drawingml/2006/main">
            <a:r>
              <a:t>Several jurisdictions now require disclosure, impact assessments, or consent for AI use in hiring. Illinois's AI Video Interview Act ([820 ILCS 42](https://www.ilga.gov/Legislation/ILCS/Articles?ActID=4015&amp;ChapterID=68)) governs AI analysis of recorded video interviews, including notice and consent before the interview. Confirm its current requirements against the statute before relying on them. Illinois also amended its Human Rights Act via HB 3773 (effective January 1, 2026) to broadly prohibit discriminatory AI use in hiring and promotion, not just video interviews. A companion law, Public Act 104-0425 (SB 2487, effective January 1, 2026), gives the Human Rights Commission tiered civil penalty authority for violations: up to $16,000 for a first offense, up to $42,500 with one prior violation within five years, up to $70,000 for two or more within seven years. The regulatory landscape is shifting quickly. Use cases involving hiring must be reviewed against current state law.</a:t>
            </a:r>
            <a:endParaRPr/>
          </a:p>
          <a:p xmlns:a="http://schemas.openxmlformats.org/drawingml/2006/main">
            <a:r>
              <a:t/>
            </a:r>
            <a:endParaRPr/>
          </a:p>
          <a:p xmlns:a="http://schemas.openxmlformats.org/drawingml/2006/main">
            <a:r>
              <a:t>NYC Local Law 144 enforcement is entering a stricter phase. A December 2025 NY State Comptroller audit found DCWP's enforcement "ineffective": DCWP's own review of 32 companies' bias-audit disclosures caught 1 likely non-compliance issue, where the Comptroller's review of the same 32 found at least 17. Expect more investigations and higher penalties as DCWP responds to the audit's recommendations, not just the disclosure-and-audit paperwork the law describes on paper.</a:t>
            </a:r>
            <a:endParaRPr/>
          </a:p>
          <a:p xmlns:a="http://schemas.openxmlformats.org/drawingml/2006/main">
            <a:r>
              <a:t/>
            </a:r>
            <a:endParaRPr/>
          </a:p>
          <a:p xmlns:a="http://schemas.openxmlformats.org/drawingml/2006/main">
            <a:r>
              <a:t>*Colorado's Automated Decision-Making Technology Act:*</a:t>
            </a:r>
            <a:endParaRPr/>
          </a:p>
          <a:p xmlns:a="http://schemas.openxmlformats.org/drawingml/2006/main">
            <a:r>
              <a:t>Colorado SB26-189 (signed 14 May 2026, Colo. Sess. Laws ch. 131) repeals and replaces the state's 2024 AI consumer protection law. It covers "consequential decisions," including employment, made using automated decision-making technology (ADMT) that materially influences the outcome. Starting January 1, 2027, developers must give deployers technical documentation on intended use, training data categories, known limitations, and human review instructions. Deployers will owe consumers notice at the point of interaction, and within 30 days of any adverse consequential decision, a plain-language explanation plus the right to request human review and reconsideration. Records must be retained 3 years. The attorney general enforces under the Colorado Consumer Protection Act, with a 60-day cure period through January 1, 2030.</a:t>
            </a:r>
            <a:endParaRPr/>
          </a:p>
          <a:p xmlns:a="http://schemas.openxmlformats.org/drawingml/2006/main">
            <a:r>
              <a:t/>
            </a:r>
            <a:endParaRPr/>
          </a:p>
          <a:p xmlns:a="http://schemas.openxmlformats.org/drawingml/2006/main">
            <a:r>
              <a:t>*Connecticut: AI Responsibility and Transparency Act (Public Act 26-15):*</a:t>
            </a:r>
            <a:endParaRPr/>
          </a:p>
          <a:p xmlns:a="http://schemas.openxmlformats.org/drawingml/2006/main">
            <a:r>
              <a:t>Connecticut's SB 5 became Public Act 26-15 in June 2026. It is the most comprehensive state AI employment statute enacted so far, and it phases in across two years. Read the dates carefully, because the parts that bite first are not the disclosure rules.</a:t>
            </a:r>
            <a:endParaRPr/>
          </a:p>
          <a:p xmlns:a="http://schemas.openxmlformats.org/drawingml/2006/main">
            <a:r>
              <a:t/>
            </a:r>
            <a:endParaRPr/>
          </a:p>
          <a:p xmlns:a="http://schemas.openxmlformats.org/drawingml/2006/main">
            <a:r>
              <a:t>Live October 1, 2026:</a:t>
            </a:r>
            <a:endParaRPr/>
          </a:p>
          <a:p xmlns:a="http://schemas.openxmlformats.org/drawingml/2006/main">
            <a:r>
              <a:t/>
            </a:r>
            <a:endParaRPr/>
          </a:p>
          <a:p xmlns:a="http://schemas.openxmlformats.org/drawingml/2006/main">
            <a:r>
              <a:t>- **AI is not a defense.** Sections 13 and 14 amend Conn. Gen. Stat. 46a-60 so that using an automated employment-related decision technology is not a defense against a discrimination complaint. The commission or court may consider the quality, efficacy, recency, and scope of anti-bias testing, its results, and the employer's response. This does not establish that a stale audit is always worse than no audit, or that testing guarantees a favorable legal outcome. Preserve the testing evidence and corrective actions for counsel review. Source: [Public Act 26-15](https://www.cga.ct.gov/2026/ACT/PA/PDF/2026PA-00015-R00SB-00005-PA.PDF).</a:t>
            </a:r>
            <a:endParaRPr/>
          </a:p>
          <a:p xmlns:a="http://schemas.openxmlformats.org/drawingml/2006/main">
            <a:r>
              <a:t>- **WARN notices.** Section 26 requires any employer serving a federal WARN notice under 29 USC 2102(a) to disclose to the Connecticut Labor Department whether the layoffs relate to the employer's use of AI or other technological change. Note the disclosure runs to the department, not to affected employees.</a:t>
            </a:r>
            <a:endParaRPr/>
          </a:p>
          <a:p xmlns:a="http://schemas.openxmlformats.org/drawingml/2006/main">
            <a:r>
              <a:t/>
            </a:r>
            <a:endParaRPr/>
          </a:p>
          <a:p xmlns:a="http://schemas.openxmlformats.org/drawingml/2006/main">
            <a:r>
              <a:t>Live October 1, 2027 (sections 7 to 12 take effect in 2026, but the duties attach only to technology deployed on or after October 1, 2027):</a:t>
            </a:r>
            <a:endParaRPr/>
          </a:p>
          <a:p xmlns:a="http://schemas.openxmlformats.org/drawingml/2006/main">
            <a:r>
              <a:t/>
            </a:r>
            <a:endParaRPr/>
          </a:p>
          <a:p xmlns:a="http://schemas.openxmlformats.org/drawingml/2006/main">
            <a:r>
              <a:t>- Scope is set by "substantial factor," defined as a factor that meaningfully alters the outcome of an employment-related decision. Covered decisions are hiring, promotion, discipline, discharge, renewal, selection for training or apprenticeship, and terms, privileges or conditions of employment. Carved out: nonmaterial changes to job tasks or hours, and decisions about workplace health and safety, scheduling, and productivity monitoring.</a:t>
            </a:r>
            <a:endParaRPr/>
          </a:p>
          <a:p xmlns:a="http://schemas.openxmlformats.org/drawingml/2006/main">
            <a:r>
              <a:t>- Developers must give deployers the information deployers need to meet their duties, but only where the tool was advertised, marketed, configured, contracted for, sold, or licensed to materially influence an employment decision.</a:t>
            </a:r>
            <a:endParaRPr/>
          </a:p>
          <a:p xmlns:a="http://schemas.openxmlformats.org/drawingml/2006/main">
            <a:r>
              <a:t>- Deployers must disclose in plain language when an employee or applicant is interacting with the technology, unless a reasonable person would find it obvious.</a:t>
            </a:r>
            <a:endParaRPr/>
          </a:p>
          <a:p xmlns:a="http://schemas.openxmlformats.org/drawingml/2006/main">
            <a:r>
              <a:t>- Before the decision is made, deployers must give written notice covering six specific points: that the technology was deployed, its purpose and the nature of the decision, the tool's trade name, the categories of personal data analyzed and how they will be assessed, the sources of that data, and deployer contact information.</a:t>
            </a:r>
            <a:endParaRPr/>
          </a:p>
          <a:p xmlns:a="http://schemas.openxmlformats.org/drawingml/2006/main">
            <a:r>
              <a:t>- Trade secrets can be withheld, but the withholding party must send notice saying what is being withheld and why.</a:t>
            </a:r>
            <a:endParaRPr/>
          </a:p>
          <a:p xmlns:a="http://schemas.openxmlformats.org/drawingml/2006/main">
            <a:r>
              <a:t/>
            </a:r>
            <a:endParaRPr/>
          </a:p>
          <a:p xmlns:a="http://schemas.openxmlformats.org/drawingml/2006/main">
            <a:r>
              <a:t>Enforcement is narrower than the obligations suggest: violations are unfair or deceptive trade practices under CUTPA, enforced **solely by the Attorney General**, with an explicit statement that the act creates **no private right of action**. Violations occurring on or before December 31, 2027 carry a 60-day cure period.</a:t>
            </a:r>
            <a:endParaRPr/>
          </a:p>
          <a:p xmlns:a="http://schemas.openxmlformats.org/drawingml/2006/main">
            <a:r>
              <a:t/>
            </a:r>
            <a:endParaRPr/>
          </a:p>
          <a:p xmlns:a="http://schemas.openxmlformats.org/drawingml/2006/main">
            <a:r>
              <a:t>One provision to catch in procurement: Section 8(c) lets a developer contract to assume the deployer's disclosure and notice duties, provided the contract is explicit about which duties transfer. That is a negotiating lever worth asking every vendor about. See the [vendor intake checklist](../03-governance/vendor-intake-checklist.md).</a:t>
            </a:r>
            <a:endParaRPr/>
          </a:p>
          <a:p xmlns:a="http://schemas.openxmlformats.org/drawingml/2006/main">
            <a:r>
              <a:t/>
            </a:r>
            <a:endParaRPr/>
          </a:p>
          <a:p xmlns:a="http://schemas.openxmlformats.org/drawingml/2006/main">
            <a:r>
              <a:t>*California: FEHA algorithmic discrimination rules and CPPA ADMT regulations:*</a:t>
            </a:r>
            <a:endParaRPr/>
          </a:p>
          <a:p xmlns:a="http://schemas.openxmlformats.org/drawingml/2006/main">
            <a:r>
              <a:t>The Civil Rights Council's FEHA regulations on automated decision systems took effect October 1, 2025: they prohibit AI-driven disparate treatment or disparate impact in employment decisions, require four years of recordkeeping, and hold employers liable for discriminatory outcomes even when the tool comes from a third-party vendor. Separately, the [CPPA regulation package](https://cppa.ca.gov/announcements/2025/20250923.html) took effect January 1, 2026. Covered businesses must begin risk-assessment compliance in 2026; ADMT notice and consumer-rights compliance begins January 1, 2027. These dates govern different duties. Review the [final regulations](https://cppa.ca.gov/regulations/ccpa_updates.html) for scope, opt-out exceptions, appeal conditions, and transition rules for processing already underway.</a:t>
            </a:r>
            <a:endParaRPr/>
          </a:p>
          <a:p xmlns:a="http://schemas.openxmlformats.org/drawingml/2006/main">
            <a:r>
              <a:t/>
            </a:r>
            <a:endParaRPr/>
          </a:p>
          <a:p xmlns:a="http://schemas.openxmlformats.org/drawingml/2006/main">
            <a:r>
              <a:t>Four California workplace bills were approved and chaptered on 30 September 2026. All four are enacted law, with obligations beginning in 2027. The chaptered texts were reviewed on 9 October 2026. AB 1883, SB 951, and AB 1331 take effect on 1 January 2027 under [California Constitution Article IV, section 8(c)(1)](https://leginfo.legislature.ca.gov/faces/codes_displayText.xhtml?lawCode=CONS&amp;division=&amp;title=&amp;part=&amp;chapter=&amp;article=IV); none contains an urgency clause or a later operative-date provision. SB 947 takes effect on that date but expressly makes its new Labor Code part operative on 1 July 2027. See the [source register](../03-governance/claims/california-workplace-laws.json) and the [Governor's signing announcement](https://www.gov.ca.gov/2026/09/30/californias-nation-leading-ai-framework-just-got-stronger-governor-newsom-signs-more-first-in-the-nation-worker-protections-and-more/).</a:t>
            </a:r>
            <a:endParaRPr/>
          </a:p>
          <a:p xmlns:a="http://schemas.openxmlformats.org/drawingml/2006/main">
            <a:r>
              <a:t/>
            </a:r>
            <a:endParaRPr/>
          </a:p>
          <a:p xmlns:a="http://schemas.openxmlformats.org/drawingml/2006/main">
            <a:r>
              <a:t>- **[AB 1883](https://leginfo.legislature.ca.gov/faces/billNavClient.xhtml?bill_id=202520260AB1883)** (workplace surveillance tools, Chapter 853, Statutes of 2026) adds Labor Code Part 5.8 to bar employers from using AI-driven surveillance tools to recognize or infer an employee's emotional state, or to collect neural data, meaning data measured from the central or peripheral nervous system and not inferred from nonneural information. Safety uses are preserved, and there is a narrow carve-out for federally mandated aerospace and national security work. Enforcement runs through the Labor Commissioner or a public prosecutor, with penalties up to $500 per violation. It was enrolled on 3 September 2026 and approved by the Governor on 30 September 2026. Some published summaries report 3 September as the signing date; that is the enrollment date.</a:t>
            </a:r>
            <a:endParaRPr/>
          </a:p>
          <a:p xmlns:a="http://schemas.openxmlformats.org/drawingml/2006/main">
            <a:r>
              <a:t>- **[SB 947](https://leginfo.legislature.ca.gov/faces/billTextClient.xhtml?bill_id=202520260SB947)** (the "No Robo Bosses Act," Chapter 859, Statutes of 2026) is **operative 1 July 2027**, under new Labor Code section 1526.7. It bars sole reliance on an ADS for discipline or termination. Primary reliance requires human corroboration and written post-use notice when the decision is communicated. If corroboration fails, or the reviewer finds the output inaccurate, incomplete, or misleading, the employer must not use that output for the decision. The employee may request a meaningful description of their own data used by the ADS. Check the collective bargaining and federal-operation exceptions in sections 1526.5 and 1526.6.</a:t>
            </a:r>
            <a:endParaRPr/>
          </a:p>
          <a:p xmlns:a="http://schemas.openxmlformats.org/drawingml/2006/main">
            <a:r>
              <a:t>- **[SB 951](https://leginfo.legislature.ca.gov/faces/billTextClient.xhtml?bill_id=202520260SB951)** (Chapter 860, Statutes of 2026), **effective 1 January 2027**, adds technology-displacement information to an otherwise required Cal/WARN notice when AI or automation causes the event wholly or substantially. New Labor Code section 1401(d) requires affected jobs and locations, functions being automated, the technology category, and a technology-displacement heading. It retains the existing 60-day notice period. It does not enact the earlier proposal for a 90-day notice or an employer hiring-freeze notice; section 1402.7 instead requires an EDD study by 1 January 2028. Assess Cal/WARN coverage and exceptions before applying the notice requirement.</a:t>
            </a:r>
            <a:endParaRPr/>
          </a:p>
          <a:p xmlns:a="http://schemas.openxmlformats.org/drawingml/2006/main">
            <a:r>
              <a:t>- **[AB 1331](https://leginfo.legislature.ca.gov/faces/billTextClient.xhtml?bill_id=202520260AB1331)** (Chapter 851, Statutes of 2026), **effective 1 January 2027**, limits workplace bathroom surveillance and lets employees leave surveillance tools behind when entering a bathroom. New Labor Code section 1561 includes exceptions for court orders, one-time entry/exit checks, voluntary possession, and certain identification or safety devices. The tool definition reaches beyond AI. Review the full exceptions in sections 1561, 1564, and 1565 before changing monitoring practices.</a:t>
            </a:r>
            <a:endParaRPr/>
          </a:p>
          <a:p xmlns:a="http://schemas.openxmlformats.org/drawingml/2006/main">
            <a:r>
              <a:t/>
            </a:r>
            <a:endParaRPr/>
          </a:p>
          <a:p xmlns:a="http://schemas.openxmlformats.org/drawingml/2006/main">
            <a:r>
              <a:t>*Texas: Responsible AI Governance Act (TRAIGA):*</a:t>
            </a:r>
            <a:endParaRPr/>
          </a:p>
          <a:p xmlns:a="http://schemas.openxmlformats.org/drawingml/2006/main">
            <a:r>
              <a:t>Effective January 1, 2026 (HB 149, signed June 22, 2025). Narrower than Illinois or Colorado: TRAIGA prohibits intentional AI-based discrimination but does not create disparate impact liability, and the Attorney General has exclusive enforcement authority with a 60-day cure period before action.</a:t>
            </a:r>
            <a:endParaRPr/>
          </a:p>
          <a:p xmlns:a="http://schemas.openxmlformats.org/drawingml/2006/main">
            <a:r>
              <a:t/>
            </a:r>
            <a:endParaRPr/>
          </a:p>
          <a:p xmlns:a="http://schemas.openxmlformats.org/drawingml/2006/main">
            <a:r>
              <a:t>*New Jersey: no AI statute, but existing discrimination law already reaches AI:*</a:t>
            </a:r>
            <a:endParaRPr/>
          </a:p>
          <a:p xmlns:a="http://schemas.openxmlformats.org/drawingml/2006/main">
            <a:r>
              <a:t>New Jersey is the case that breaks the habit of scanning for AI-specific bills. It has no AI hiring statute. In January 2025 the Office of the Attorney General and the Division on Civil Rights issued guidance stating that the Law Against Discrimination (N.J.S.A. 10:5-1 et seq.) applies to algorithmic discrimination the same way it has long applied to other discriminatory conduct, in employment among other contexts. Three points matter for HR practice:</a:t>
            </a:r>
            <a:endParaRPr/>
          </a:p>
          <a:p xmlns:a="http://schemas.openxmlformats.org/drawingml/2006/main">
            <a:r>
              <a:t/>
            </a:r>
            <a:endParaRPr/>
          </a:p>
          <a:p xmlns:a="http://schemas.openxmlformats.org/drawingml/2006/main">
            <a:r>
              <a:t>- **No intent required, and a vendor tool is not a defense.** The guidance states that a covered entity "is not shielded from liability for algorithmic discrimination that results from the entity's use of an automated decision-making tool simply because the tool was developed by a third party or because the entity does not understand the inner workings of the tool."</a:t>
            </a:r>
            <a:endParaRPr/>
          </a:p>
          <a:p xmlns:a="http://schemas.openxmlformats.org/drawingml/2006/main">
            <a:r>
              <a:t>- **Disparate impact is covered.** Use of a tool with a disproportionate effect on a protected class is prohibited unless it is necessary to achieve a substantial, legitimate, nondiscriminatory interest and there is no less discriminatory alternative. Whether the employer tested the tool for bias or evaluated alternatives may be weighed as relevant evidence, which is the same pattern as Connecticut: your fairness audit becomes evidence.</a:t>
            </a:r>
            <a:endParaRPr/>
          </a:p>
          <a:p xmlns:a="http://schemas.openxmlformats.org/drawingml/2006/main">
            <a:r>
              <a:t>- **Reasonable accommodations are in scope.** A tool can violate the LAD by being inaccessible or by penalizing someone who uses an accommodation. The guidance's example is a typing-speed screen that cannot read a non-traditional keyboard.</a:t>
            </a:r>
            <a:endParaRPr/>
          </a:p>
          <a:p xmlns:a="http://schemas.openxmlformats.org/drawingml/2006/main">
            <a:r>
              <a:t/>
            </a:r>
            <a:endParaRPr/>
          </a:p>
          <a:p xmlns:a="http://schemas.openxmlformats.org/drawingml/2006/main">
            <a:r>
              <a:t>Two limits to state accurately when you teach this. The guidance is interpretive: it says on its face that it imposes no requirements beyond the LAD and will not be enforced as a substitute for enforcing the LAD. And it carries no effective date, because the underlying statute has been in force for decades. Do not present it as a new obligation that switched on in 2025. The takeaway for the class is the general one: a state with no AI bill is not a state with no AI exposure.</a:t>
            </a:r>
            <a:endParaRPr/>
          </a:p>
          <a:p xmlns:a="http://schemas.openxmlformats.org/drawingml/2006/main">
            <a:r>
              <a:t/>
            </a:r>
            <a:endParaRPr/>
          </a:p>
          <a:p xmlns:a="http://schemas.openxmlformats.org/drawingml/2006/main">
            <a:r>
              <a:t>*GDPR and CCPA:*</a:t>
            </a:r>
            <a:endParaRPr/>
          </a:p>
          <a:p xmlns:a="http://schemas.openxmlformats.org/drawingml/2006/main">
            <a:r>
              <a:t>Employees in covered jurisdictions have rights regarding automated decision-making. Know which of your employees are covered and how your AI use cases interact with their rights. See the California-specific rules above for the current state of play there.</a:t>
            </a:r>
            <a:endParaRPr/>
          </a:p>
          <a:p xmlns:a="http://schemas.openxmlformats.org/drawingml/2006/main">
            <a:r>
              <a:t/>
            </a:r>
            <a:endParaRPr/>
          </a:p>
          <a:p xmlns:a="http://schemas.openxmlformats.org/drawingml/2006/main">
            <a:r>
              <a:t>*UK: Data (Use and Access) Act 2025 replaces GDPR Article 22:*</a:t>
            </a:r>
            <a:endParaRPr/>
          </a:p>
          <a:p xmlns:a="http://schemas.openxmlformats.org/drawingml/2006/main">
            <a:r>
              <a:t>Section 80 of the UK's Data (Use and Access) Act 2025 took effect February 5, 2026 (Commencement Regulations SI 2026/82) and substitutes Article 22 of the UK GDPR with new Articles 22A to 22D. The new regime permits solely automated "significant decisions," those with a legal or similarly significant effect, more broadly than before, but requires safeguards: notice to the individual, the ability to make representations, the right to human intervention, and the right to contest the decision. Stricter restrictions still apply where special category data is used. Treat this as a distinct regime from EU GDPR Article 22, not an equivalent, for any AI use case touching UK-based workers or candidates.</a:t>
            </a:r>
            <a:endParaRPr/>
          </a:p>
          <a:p xmlns:a="http://schemas.openxmlformats.org/drawingml/2006/main">
            <a:r>
              <a:t/>
            </a:r>
            <a:endParaRPr/>
          </a:p>
          <a:p xmlns:a="http://schemas.openxmlformats.org/drawingml/2006/main">
            <a:r>
              <a:t>The ICO is already signaling how it will police this in recruitment specifically. A March 2026 ICO report on automated decision-making in hiring found many employers don't recognize they're doing ADM at all, and that "human review" in practice often amounts to rubber-stamping rather than a reviewer with real authority to change the outcome. Following that report, the ICO opened a consultation on draft ADM guidance, worth checking for the final version before relying on the March findings alone. Build the oversight role description to survive that scrutiny, not just to check the box.</a:t>
            </a:r>
            <a:endParaRPr/>
          </a:p>
          <a:p xmlns:a="http://schemas.openxmlformats.org/drawingml/2006/main">
            <a:r>
              <a:t/>
            </a:r>
            <a:endParaRPr/>
          </a:p>
          <a:p xmlns:a="http://schemas.openxmlformats.org/drawingml/2006/main">
            <a:r>
              <a:t>*Canada: no federal AI employment law, but Ontario requires disclosure:*</a:t>
            </a:r>
            <a:endParaRPr/>
          </a:p>
          <a:p xmlns:a="http://schemas.openxmlformats.org/drawingml/2006/main">
            <a:r>
              <a:t>Canada's federal AI bill (AIDA, part of Bill C-27) died when Parliament prorogued in January 2025 and has not been revived. AI regulation there runs through existing privacy, human rights, and sector law instead. Ontario is the exception: since January 1, 2026, employers with 25+ employees must disclose in publicly advertised job postings whether AI is used to screen, assess, or select candidates (Employment Standards Act, 2000 amendment).</a:t>
            </a:r>
            <a:endParaRPr/>
          </a:p>
          <a:p xmlns:a="http://schemas.openxmlformats.org/drawingml/2006/main">
            <a:r>
              <a:t/>
            </a:r>
            <a:endParaRPr/>
          </a:p>
          <a:p xmlns:a="http://schemas.openxmlformats.org/drawingml/2006/main">
            <a:r>
              <a:t>*The "AI as a manager" trap:*</a:t>
            </a:r>
            <a:endParaRPr/>
          </a:p>
          <a:p xmlns:a="http://schemas.openxmlformats.org/drawingml/2006/main">
            <a:r>
              <a:t>AI that monitors, evaluates, or scores employees without their knowledge, even for legitimate purposes, creates legal and trust exposure. Transparency is not just ethical, it's protective.</a:t>
            </a:r>
            <a:endParaRPr/>
          </a:p>
          <a:p xmlns:a="http://schemas.openxmlformats.org/drawingml/2006/main">
            <a:r>
              <a:t/>
            </a:r>
            <a:endParaRPr/>
          </a:p>
          <a:p xmlns:a="http://schemas.openxmlformats.org/drawingml/2006/main">
            <a:r>
              <a:t>**Scenario practice cards:**</a:t>
            </a:r>
            <a:endParaRPr/>
          </a:p>
          <a:p xmlns:a="http://schemas.openxmlformats.org/drawingml/2006/main">
            <a:r>
              <a:t/>
            </a:r>
            <a:endParaRPr/>
          </a:p>
          <a:p xmlns:a="http://schemas.openxmlformats.org/drawingml/2006/main">
            <a:r>
              <a:t>Print or share these four scenarios. Groups of 3–4 discuss: Is this use appropriate? What are the risks? What would you change?</a:t>
            </a:r>
            <a:endParaRPr/>
          </a:p>
          <a:p xmlns:a="http://schemas.openxmlformats.org/drawingml/2006/main">
            <a:r>
              <a:t/>
            </a:r>
            <a:endParaRPr/>
          </a:p>
          <a:p xmlns:a="http://schemas.openxmlformats.org/drawingml/2006/main">
            <a:r>
              <a:t>&gt; **Scenario A:** An AI tool automatically rejects resumes with gaps of more than 6 months without showing them to a recruiter.</a:t>
            </a:r>
            <a:endParaRPr/>
          </a:p>
          <a:p xmlns:a="http://schemas.openxmlformats.org/drawingml/2006/main">
            <a:r>
              <a:t/>
            </a:r>
            <a:endParaRPr/>
          </a:p>
          <a:p xmlns:a="http://schemas.openxmlformats.org/drawingml/2006/main">
            <a:r>
              <a:t>&gt; **Scenario B:** An HRBP uses an AI writing assistant to draft a PIP for an employee, then reviews and edits it before sharing with the manager.</a:t>
            </a:r>
            <a:endParaRPr/>
          </a:p>
          <a:p xmlns:a="http://schemas.openxmlformats.org/drawingml/2006/main">
            <a:r>
              <a:t/>
            </a:r>
            <a:endParaRPr/>
          </a:p>
          <a:p xmlns:a="http://schemas.openxmlformats.org/drawingml/2006/main">
            <a:r>
              <a:t>&gt; **Scenario C:** People Analytics builds an attrition risk model that scores all employees monthly and shares the scores directly with managers.</a:t>
            </a:r>
            <a:endParaRPr/>
          </a:p>
          <a:p xmlns:a="http://schemas.openxmlformats.org/drawingml/2006/main">
            <a:r>
              <a:t/>
            </a:r>
            <a:endParaRPr/>
          </a:p>
          <a:p xmlns:a="http://schemas.openxmlformats.org/drawingml/2006/main">
            <a:r>
              <a:t>&gt; **Scenario D:** An AI chatbot answers benefits questions for employees. It sometimes gives incorrect information but flags that users should confirm with HR.</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4: Building and scaling AI use cases</a:t>
            </a:r>
            <a:endParaRPr/>
          </a:p>
          <a:p xmlns:a="http://schemas.openxmlformats.org/drawingml/2006/main">
            <a:r>
              <a:t/>
            </a:r>
            <a:endParaRPr/>
          </a:p>
          <a:p xmlns:a="http://schemas.openxmlformats.org/drawingml/2006/main">
            <a:r>
              <a:t>**Learning objectives:**</a:t>
            </a:r>
            <a:endParaRPr/>
          </a:p>
          <a:p xmlns:a="http://schemas.openxmlformats.org/drawingml/2006/main">
            <a:r>
              <a:t>- Apply the prioritization matrix to identify your team's highest-value AI use cases</a:t>
            </a:r>
            <a:endParaRPr/>
          </a:p>
          <a:p xmlns:a="http://schemas.openxmlformats.org/drawingml/2006/main">
            <a:r>
              <a:t>- Define a use case with clear success metrics and governance requirements</a:t>
            </a:r>
            <a:endParaRPr/>
          </a:p>
          <a:p xmlns:a="http://schemas.openxmlformats.org/drawingml/2006/main">
            <a:r>
              <a:t>- Draft a basic implementation plan for a low-complexity use case</a:t>
            </a:r>
            <a:endParaRPr/>
          </a:p>
          <a:p xmlns:a="http://schemas.openxmlformats.org/drawingml/2006/main">
            <a:r>
              <a:t/>
            </a:r>
            <a:endParaRPr/>
          </a:p>
          <a:p xmlns:a="http://schemas.openxmlformats.org/drawingml/2006/main">
            <a:r>
              <a:t>**Session outline (2 hours):**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Opening: What does "scaling AI in HR" actually mean? |</a:t>
            </a:r>
            <a:endParaRPr/>
          </a:p>
          <a:p xmlns:a="http://schemas.openxmlformats.org/drawingml/2006/main">
            <a:r>
              <a:t>| 0:15–0:45 | Framework: From idea to deployment, the use case lifecycle |</a:t>
            </a:r>
            <a:endParaRPr/>
          </a:p>
          <a:p xmlns:a="http://schemas.openxmlformats.org/drawingml/2006/main">
            <a:r>
              <a:t>| 0:45–1:15 | Team exercise: Prioritization matrix applied to your team's top 5 ideas |</a:t>
            </a:r>
            <a:endParaRPr/>
          </a:p>
          <a:p xmlns:a="http://schemas.openxmlformats.org/drawingml/2006/main">
            <a:r>
              <a:t>| 1:15–1:45 | Small group: Draft a one-page use case spec for your top-ranked idea |</a:t>
            </a:r>
            <a:endParaRPr/>
          </a:p>
          <a:p xmlns:a="http://schemas.openxmlformats.org/drawingml/2006/main">
            <a:r>
              <a:t>| 1:45–2:00 | Gallery walk + feedback |</a:t>
            </a:r>
            <a:endParaRPr/>
          </a:p>
          <a:p xmlns:a="http://schemas.openxmlformats.org/drawingml/2006/main">
            <a:r>
              <a:t/>
            </a:r>
            <a:endParaRPr/>
          </a:p>
          <a:p xmlns:a="http://schemas.openxmlformats.org/drawingml/2006/main">
            <a:r>
              <a:t>**Use case lifecycle:**</a:t>
            </a:r>
            <a:endParaRPr/>
          </a:p>
          <a:p xmlns:a="http://schemas.openxmlformats.org/drawingml/2006/main">
            <a:r>
              <a:t/>
            </a:r>
            <a:endParaRPr/>
          </a:p>
          <a:p xmlns:a="http://schemas.openxmlformats.org/drawingml/2006/main">
            <a:r>
              <a:t>```</a:t>
            </a:r>
            <a:endParaRPr/>
          </a:p>
          <a:p xmlns:a="http://schemas.openxmlformats.org/drawingml/2006/main">
            <a:r>
              <a:t>Discover → Prioritize → Design → Pilot → Evaluate → Scale</a:t>
            </a:r>
            <a:endParaRPr/>
          </a:p>
          <a:p xmlns:a="http://schemas.openxmlformats.org/drawingml/2006/main">
            <a:r>
              <a:t>   ↑                                          |</a:t>
            </a:r>
            <a:endParaRPr/>
          </a:p>
          <a:p xmlns:a="http://schemas.openxmlformats.org/drawingml/2006/main">
            <a:r>
              <a:t>   └──────────────── iterate ─────────────────┘</a:t>
            </a:r>
            <a:endParaRPr/>
          </a:p>
          <a:p xmlns:a="http://schemas.openxmlformats.org/drawingml/2006/main">
            <a:r>
              <a:t>```</a:t>
            </a:r>
            <a:endParaRPr/>
          </a:p>
          <a:p xmlns:a="http://schemas.openxmlformats.org/drawingml/2006/main">
            <a:r>
              <a:t/>
            </a:r>
            <a:endParaRPr/>
          </a:p>
          <a:p xmlns:a="http://schemas.openxmlformats.org/drawingml/2006/main">
            <a:r>
              <a:t>- **Discover:** What problem are we solving? Who feels it most?</a:t>
            </a:r>
            <a:endParaRPr/>
          </a:p>
          <a:p xmlns:a="http://schemas.openxmlformats.org/drawingml/2006/main">
            <a:r>
              <a:t>- **Prioritize:** Use the matrix. Don't skip this.</a:t>
            </a:r>
            <a:endParaRPr/>
          </a:p>
          <a:p xmlns:a="http://schemas.openxmlformats.org/drawingml/2006/main">
            <a:r>
              <a:t>- **Design:** Define inputs, outputs, human review gates, success metrics, and fallback</a:t>
            </a:r>
            <a:endParaRPr/>
          </a:p>
          <a:p xmlns:a="http://schemas.openxmlformats.org/drawingml/2006/main">
            <a:r>
              <a:t>- **Pilot:** Small scope, high observation. 4–8 weeks.</a:t>
            </a:r>
            <a:endParaRPr/>
          </a:p>
          <a:p xmlns:a="http://schemas.openxmlformats.org/drawingml/2006/main">
            <a:r>
              <a:t>- **Evaluate:** Did it work? For whom? What didn't?</a:t>
            </a:r>
            <a:endParaRPr/>
          </a:p>
          <a:p xmlns:a="http://schemas.openxmlformats.org/drawingml/2006/main">
            <a:r>
              <a:t>- **Scale:** Expand with the lessons from pilot baked in</a:t>
            </a:r>
            <a:endParaRPr/>
          </a:p>
          <a:p xmlns:a="http://schemas.openxmlformats.org/drawingml/2006/main">
            <a:r>
              <a:t/>
            </a:r>
            <a:endParaRPr/>
          </a:p>
          <a:p xmlns:a="http://schemas.openxmlformats.org/drawingml/2006/main">
            <a:r>
              <a:t>**One-page use case spec template:**</a:t>
            </a:r>
            <a:endParaRPr/>
          </a:p>
          <a:p xmlns:a="http://schemas.openxmlformats.org/drawingml/2006/main">
            <a:r>
              <a:t/>
            </a:r>
            <a:endParaRPr/>
          </a:p>
          <a:p xmlns:a="http://schemas.openxmlformats.org/drawingml/2006/main">
            <a:r>
              <a:t>Participants complete this for their team's top-ranked use case:</a:t>
            </a:r>
            <a:endParaRPr/>
          </a:p>
          <a:p xmlns:a="http://schemas.openxmlformats.org/drawingml/2006/main">
            <a:r>
              <a:t/>
            </a:r>
            <a:endParaRPr/>
          </a:p>
          <a:p xmlns:a="http://schemas.openxmlformats.org/drawingml/2006/main">
            <a:r>
              <a:t>```</a:t>
            </a:r>
            <a:endParaRPr/>
          </a:p>
          <a:p xmlns:a="http://schemas.openxmlformats.org/drawingml/2006/main">
            <a:r>
              <a:t>Use case name:</a:t>
            </a:r>
            <a:endParaRPr/>
          </a:p>
          <a:p xmlns:a="http://schemas.openxmlformats.org/drawingml/2006/main">
            <a:r>
              <a:t>Problem it solves (1 sentence):</a:t>
            </a:r>
            <a:endParaRPr/>
          </a:p>
          <a:p xmlns:a="http://schemas.openxmlformats.org/drawingml/2006/main">
            <a:r>
              <a:t>Who benefits and how:</a:t>
            </a:r>
            <a:endParaRPr/>
          </a:p>
          <a:p xmlns:a="http://schemas.openxmlformats.org/drawingml/2006/main">
            <a:r>
              <a:t>AI approach (Rules / Augment / Assist / Human-led / Analytics):</a:t>
            </a:r>
            <a:endParaRPr/>
          </a:p>
          <a:p xmlns:a="http://schemas.openxmlformats.org/drawingml/2006/main">
            <a:r>
              <a:t>Data needed:</a:t>
            </a:r>
            <a:endParaRPr/>
          </a:p>
          <a:p xmlns:a="http://schemas.openxmlformats.org/drawingml/2006/main">
            <a:r>
              <a:t>Human review gate:</a:t>
            </a:r>
            <a:endParaRPr/>
          </a:p>
          <a:p xmlns:a="http://schemas.openxmlformats.org/drawingml/2006/main">
            <a:r>
              <a:t>Success metric(s):</a:t>
            </a:r>
            <a:endParaRPr/>
          </a:p>
          <a:p xmlns:a="http://schemas.openxmlformats.org/drawingml/2006/main">
            <a:r>
              <a:t>What could go wrong:</a:t>
            </a:r>
            <a:endParaRPr/>
          </a:p>
          <a:p xmlns:a="http://schemas.openxmlformats.org/drawingml/2006/main">
            <a:r>
              <a:t>Governance requirements (from risk assessment):</a:t>
            </a:r>
            <a:endParaRPr/>
          </a:p>
          <a:p xmlns:a="http://schemas.openxmlformats.org/drawingml/2006/main">
            <a:r>
              <a:t>First step to move forward:</a:t>
            </a:r>
            <a:endParaRPr/>
          </a:p>
          <a:p xmlns:a="http://schemas.openxmlformats.org/drawingml/2006/main">
            <a:r>
              <a:t>```</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Assessment and certification</a:t>
            </a:r>
            <a:endParaRPr/>
          </a:p>
          <a:p xmlns:a="http://schemas.openxmlformats.org/drawingml/2006/main">
            <a:r>
              <a:t/>
            </a:r>
            <a:endParaRPr/>
          </a:p>
          <a:p xmlns:a="http://schemas.openxmlformats.org/drawingml/2006/main">
            <a:r>
              <a:t>An organization may choose to give participants who complete all four modules</a:t>
            </a:r>
            <a:endParaRPr/>
          </a:p>
          <a:p xmlns:a="http://schemas.openxmlformats.org/drawingml/2006/main">
            <a:r>
              <a:t>and the hands-on components an **HR AI Practitioner** acknowledgment. This is a</a:t>
            </a:r>
            <a:endParaRPr/>
          </a:p>
          <a:p xmlns:a="http://schemas.openxmlformats.org/drawingml/2006/main">
            <a:r>
              <a:t>proposed internal recognition, not an accredited certification or evidence of</a:t>
            </a:r>
            <a:endParaRPr/>
          </a:p>
          <a:p xmlns:a="http://schemas.openxmlformats.org/drawingml/2006/main">
            <a:r>
              <a:t>professional competence. No delivery or learning outcome is claimed here.</a:t>
            </a:r>
            <a:endParaRPr/>
          </a:p>
          <a:p xmlns:a="http://schemas.openxmlformats.org/drawingml/2006/main">
            <a:r>
              <a:t/>
            </a:r>
            <a:endParaRPr/>
          </a:p>
          <a:p xmlns:a="http://schemas.openxmlformats.org/drawingml/2006/main">
            <a:r>
              <a:t>Optional extension: Participants who complete a full use case spec and present it to the HR Technology team are recognized as **HR AI Champions**, an informal internal designation that supports peer enablement.</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Facilitator notes</a:t>
            </a:r>
            <a:endParaRPr/>
          </a:p>
          <a:p xmlns:a="http://schemas.openxmlformats.org/drawingml/2006/main">
            <a:r>
              <a:t/>
            </a:r>
            <a:endParaRPr/>
          </a:p>
          <a:p xmlns:a="http://schemas.openxmlformats.org/drawingml/2006/main">
            <a:r>
              <a:t>These are facilitation suggestions, not measured delivery findings. Use synthetic examples; removing names alone does not establish anonymity. Do not upload real employee, candidate, compensation, or employer-confidential information for a training exercise.</a:t>
            </a:r>
            <a:endParaRPr/>
          </a:p>
          <a:p xmlns:a="http://schemas.openxmlformats.org/drawingml/2006/main">
            <a:r>
              <a:t/>
            </a:r>
            <a:endParaRPr/>
          </a:p>
          <a:p xmlns:a="http://schemas.openxmlformats.org/drawingml/2006/main">
            <a:r>
              <a:t>- Budget flex time in Module 3 for questions and disagreement about risk.</a:t>
            </a:r>
            <a:endParaRPr/>
          </a:p>
          <a:p xmlns:a="http://schemas.openxmlformats.org/drawingml/2006/main">
            <a:r>
              <a:t>- Protect time for the Module 2 lab, and check whether participants can identify errors and verify outputs afterward.</a:t>
            </a:r>
            <a:endParaRPr/>
          </a:p>
          <a:p xmlns:a="http://schemas.openxmlformats.org/drawingml/2006/main">
            <a:r>
              <a:t>- Adapt synthetic scenarios to familiar workflows, without identifiable employee cases or confidential documents.</a:t>
            </a:r>
            <a:endParaRPr/>
          </a:p>
          <a:p xmlns:a="http://schemas.openxmlformats.org/drawingml/2006/main">
            <a:r>
              <a:t>- Keep an AI skeptic on the facilitation team if possible. The best discussions happen when the room has range.</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snapshot: 13 October 2026. Curriculum SHA-256: 5ee769258ac9b95a3c514b64dcd5b22215e40bac8621054ffb452bffc244827a. This deck summarizes the source; no human evaluation, delivery outcome or legal approval is claimed.</a:t>
            </a:r>
            <a:endParaRPr/>
          </a:p>
          <a:p xmlns:a="http://schemas.openxmlformats.org/drawingml/2006/main">
            <a:r>
              <a:t/>
            </a:r>
            <a:endParaRPr/>
          </a:p>
          <a:p xmlns:a="http://schemas.openxmlformats.org/drawingml/2006/main">
            <a:r>
              <a:t># HR AI literacy curriculum</a:t>
            </a:r>
            <a:endParaRPr/>
          </a:p>
          <a:p xmlns:a="http://schemas.openxmlformats.org/drawingml/2006/main">
            <a:r>
              <a:t/>
            </a:r>
            <a:endParaRPr/>
          </a:p>
          <a:p xmlns:a="http://schemas.openxmlformats.org/drawingml/2006/main">
            <a:r>
              <a:t>A 4-module learning program for HR professionals at all experience levels. Designed to be delivered as a facilitated series over 4–6 weeks, or adapted for self-paced completion.</a:t>
            </a:r>
            <a:endParaRPr/>
          </a:p>
          <a:p xmlns:a="http://schemas.openxmlformats.org/drawingml/2006/main">
            <a:r>
              <a:t/>
            </a:r>
            <a:endParaRPr/>
          </a:p>
          <a:p xmlns:a="http://schemas.openxmlformats.org/drawingml/2006/main">
            <a:r>
              <a:t>**Total time:** about 7 hours of sessions, plus async reading and hands-on practice (roughly 8 hours in all)</a:t>
            </a:r>
            <a:endParaRPr/>
          </a:p>
          <a:p xmlns:a="http://schemas.openxmlformats.org/drawingml/2006/main">
            <a:r>
              <a:t>**Format:** Workshop + async reading + hands-on practice</a:t>
            </a:r>
            <a:endParaRPr/>
          </a:p>
          <a:p xmlns:a="http://schemas.openxmlformats.org/drawingml/2006/main">
            <a:r>
              <a:t>**Audience:** All People Team members</a:t>
            </a:r>
            <a:endParaRPr/>
          </a:p>
          <a:p xmlns:a="http://schemas.openxmlformats.org/drawingml/2006/main">
            <a:r>
              <a:t>**Prerequisite:** None</a:t>
            </a:r>
            <a:endParaRPr/>
          </a:p>
          <a:p xmlns:a="http://schemas.openxmlformats.org/drawingml/2006/main">
            <a:r>
              <a:t/>
            </a:r>
            <a:endParaRPr/>
          </a:p>
          <a:p xmlns:a="http://schemas.openxmlformats.org/drawingml/2006/main">
            <a:r>
              <a:t>**Lab prerequisite:** The facilitator confirms an organization-approved tool,</a:t>
            </a:r>
            <a:endParaRPr/>
          </a:p>
          <a:p xmlns:a="http://schemas.openxmlformats.org/drawingml/2006/main">
            <a:r>
              <a:t>provider handling, and a synthetic-only data boundary before any exercise.</a:t>
            </a:r>
            <a:endParaRPr/>
          </a:p>
          <a:p xmlns:a="http://schemas.openxmlformats.org/drawingml/2006/main">
            <a:r>
              <a:t>Modules 1-3 and the required governance approvals precede any real-work pilot.</a:t>
            </a:r>
            <a:endParaRPr/>
          </a:p>
          <a:p xmlns:a="http://schemas.openxmlformats.org/drawingml/2006/main">
            <a:r>
              <a:t>This curriculum does not authorize employee-data processing.</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Program overview</a:t>
            </a:r>
            <a:endParaRPr/>
          </a:p>
          <a:p xmlns:a="http://schemas.openxmlformats.org/drawingml/2006/main">
            <a:r>
              <a:t/>
            </a:r>
            <a:endParaRPr/>
          </a:p>
          <a:p xmlns:a="http://schemas.openxmlformats.org/drawingml/2006/main">
            <a:r>
              <a:t>| Module | Title | Duration | Format |</a:t>
            </a:r>
            <a:endParaRPr/>
          </a:p>
          <a:p xmlns:a="http://schemas.openxmlformats.org/drawingml/2006/main">
            <a:r>
              <a:t>|---|---|---|---|</a:t>
            </a:r>
            <a:endParaRPr/>
          </a:p>
          <a:p xmlns:a="http://schemas.openxmlformats.org/drawingml/2006/main">
            <a:r>
              <a:t>| 1 | How AI works, what HR professionals actually need to know | 90 min | Workshop |</a:t>
            </a:r>
            <a:endParaRPr/>
          </a:p>
          <a:p xmlns:a="http://schemas.openxmlformats.org/drawingml/2006/main">
            <a:r>
              <a:t>| 2 | Using AI in your daily HR work | 2 hours | Workshop + lab |</a:t>
            </a:r>
            <a:endParaRPr/>
          </a:p>
          <a:p xmlns:a="http://schemas.openxmlformats.org/drawingml/2006/main">
            <a:r>
              <a:t>| 3 | Governance, ethics, and responsible use | 90 min | Workshop |</a:t>
            </a:r>
            <a:endParaRPr/>
          </a:p>
          <a:p xmlns:a="http://schemas.openxmlformats.org/drawingml/2006/main">
            <a:r>
              <a:t>| 4 | Building and scaling AI use cases | 2 hours | Workshop + project |</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1: How AI works, what HR professionals actually need to know</a:t>
            </a:r>
            <a:endParaRPr/>
          </a:p>
          <a:p xmlns:a="http://schemas.openxmlformats.org/drawingml/2006/main">
            <a:r>
              <a:t/>
            </a:r>
            <a:endParaRPr/>
          </a:p>
          <a:p xmlns:a="http://schemas.openxmlformats.org/drawingml/2006/main">
            <a:r>
              <a:t>**Learning objectives:**</a:t>
            </a:r>
            <a:endParaRPr/>
          </a:p>
          <a:p xmlns:a="http://schemas.openxmlformats.org/drawingml/2006/main">
            <a:r>
              <a:t>- Explain the difference between traditional automation and generative AI</a:t>
            </a:r>
            <a:endParaRPr/>
          </a:p>
          <a:p xmlns:a="http://schemas.openxmlformats.org/drawingml/2006/main">
            <a:r>
              <a:t>- Describe why AI "hallucinates" and how to mitigate it in HR contexts</a:t>
            </a:r>
            <a:endParaRPr/>
          </a:p>
          <a:p xmlns:a="http://schemas.openxmlformats.org/drawingml/2006/main">
            <a:r>
              <a:t>- Identify which HR tasks are good candidates for AI assistance and which are not</a:t>
            </a:r>
            <a:endParaRPr/>
          </a:p>
          <a:p xmlns:a="http://schemas.openxmlformats.org/drawingml/2006/main">
            <a:r>
              <a:t/>
            </a:r>
            <a:endParaRPr/>
          </a:p>
          <a:p xmlns:a="http://schemas.openxmlformats.org/drawingml/2006/main">
            <a:r>
              <a:t>**Session outline (90 minutes):**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0:00–0:10 | Opening: What do you already believe about AI? (quick poll + discussion) |</a:t>
            </a:r>
            <a:endParaRPr/>
          </a:p>
          <a:p xmlns:a="http://schemas.openxmlformats.org/drawingml/2006/main">
            <a:r>
              <a:t>| 0:10–0:30 | Concept: How LLMs work, without the jargon (facilitator presentation) |</a:t>
            </a:r>
            <a:endParaRPr/>
          </a:p>
          <a:p xmlns:a="http://schemas.openxmlformats.org/drawingml/2006/main">
            <a:r>
              <a:t>| 0:30–0:45 | Concept: Hallucination, confidence, and why AI makes things up |</a:t>
            </a:r>
            <a:endParaRPr/>
          </a:p>
          <a:p xmlns:a="http://schemas.openxmlformats.org/drawingml/2006/main">
            <a:r>
              <a:t>| 0:45–1:05 | Exercise: Spot the hallucination (participants identify errors in AI-generated HR content) |</a:t>
            </a:r>
            <a:endParaRPr/>
          </a:p>
          <a:p xmlns:a="http://schemas.openxmlformats.org/drawingml/2006/main">
            <a:r>
              <a:t>| 1:05–1:20 | Discussion: Where should HR use AI? Where should we be cautious? |</a:t>
            </a:r>
            <a:endParaRPr/>
          </a:p>
          <a:p xmlns:a="http://schemas.openxmlformats.org/drawingml/2006/main">
            <a:r>
              <a:t>| 1:20–1:30 | Wrap-up + homework: Try one AI tool before next session |</a:t>
            </a:r>
            <a:endParaRPr/>
          </a:p>
          <a:p xmlns:a="http://schemas.openxmlformats.org/drawingml/2006/main">
            <a:r>
              <a:t/>
            </a:r>
            <a:endParaRPr/>
          </a:p>
          <a:p xmlns:a="http://schemas.openxmlformats.org/drawingml/2006/main">
            <a:r>
              <a:t>**Key concepts to cover:**</a:t>
            </a:r>
            <a:endParaRPr/>
          </a:p>
          <a:p xmlns:a="http://schemas.openxmlformats.org/drawingml/2006/main">
            <a:r>
              <a:t/>
            </a:r>
            <a:endParaRPr/>
          </a:p>
          <a:p xmlns:a="http://schemas.openxmlformats.org/drawingml/2006/main">
            <a:r>
              <a:t>*What LLMs actually are:*</a:t>
            </a:r>
            <a:endParaRPr/>
          </a:p>
          <a:p xmlns:a="http://schemas.openxmlformats.org/drawingml/2006/main">
            <a:r>
              <a:t>Large language models predict the next most likely word given context. They don't "know" things the way a database knows things, they pattern-match against training data. This is why they can sound authoritative while being wrong.</a:t>
            </a:r>
            <a:endParaRPr/>
          </a:p>
          <a:p xmlns:a="http://schemas.openxmlformats.org/drawingml/2006/main">
            <a:r>
              <a:t/>
            </a:r>
            <a:endParaRPr/>
          </a:p>
          <a:p xmlns:a="http://schemas.openxmlformats.org/drawingml/2006/main">
            <a:r>
              <a:t>*The spectrum from rules to agents:*</a:t>
            </a:r>
            <a:endParaRPr/>
          </a:p>
          <a:p xmlns:a="http://schemas.openxmlformats.org/drawingml/2006/main">
            <a:r>
              <a:t>```</a:t>
            </a:r>
            <a:endParaRPr/>
          </a:p>
          <a:p xmlns:a="http://schemas.openxmlformats.org/drawingml/2006/main">
            <a:r>
              <a:t>Rules            →  Assist / Augment              →  Agent</a:t>
            </a:r>
            <a:endParaRPr/>
          </a:p>
          <a:p xmlns:a="http://schemas.openxmlformats.org/drawingml/2006/main">
            <a:r>
              <a:t>(deterministic)     (a person decides or owns)       (a model acts across several steps)</a:t>
            </a:r>
            <a:endParaRPr/>
          </a:p>
          <a:p xmlns:a="http://schemas.openxmlformats.org/drawingml/2006/main">
            <a:r>
              <a:t>```</a:t>
            </a:r>
            <a:endParaRPr/>
          </a:p>
          <a:p xmlns:a="http://schemas.openxmlformats.org/drawingml/2006/main">
            <a:r>
              <a:t>Use rules when rules reliably give the right answer. Most HR uses of AI belong in the middle. An agent, where a model takes several actions through tools with limited review between them, has to earn that autonomy through evidence and brings new governance requirements.</a:t>
            </a:r>
            <a:endParaRPr/>
          </a:p>
          <a:p xmlns:a="http://schemas.openxmlformats.org/drawingml/2006/main">
            <a:r>
              <a:t/>
            </a:r>
            <a:endParaRPr/>
          </a:p>
          <a:p xmlns:a="http://schemas.openxmlformats.org/drawingml/2006/main">
            <a:r>
              <a:t>*Prompt quality drives output quality:*</a:t>
            </a:r>
            <a:endParaRPr/>
          </a:p>
          <a:p xmlns:a="http://schemas.openxmlformats.org/drawingml/2006/main">
            <a:r>
              <a:t>Clear prompts help define a task and its boundaries. Output quality also depends on the model, source material, workflow controls, and verification. A well-written prompt does not establish factual accuracy or safe HR judgment.</a:t>
            </a:r>
            <a:endParaRPr/>
          </a:p>
          <a:p xmlns:a="http://schemas.openxmlformats.org/drawingml/2006/main">
            <a:r>
              <a:t/>
            </a:r>
            <a:endParaRPr/>
          </a:p>
          <a:p xmlns:a="http://schemas.openxmlformats.org/drawingml/2006/main">
            <a:r>
              <a:t>**Pre-reading (assign before session):**</a:t>
            </a:r>
            <a:endParaRPr/>
          </a:p>
          <a:p xmlns:a="http://schemas.openxmlformats.org/drawingml/2006/main">
            <a:r>
              <a:t>- [Your organization's AI use policy](../03-governance/ai-use-policy.md)</a:t>
            </a:r>
            <a:endParaRPr/>
          </a:p>
          <a:p xmlns:a="http://schemas.openxmlformats.org/drawingml/2006/main">
            <a:r>
              <a:t>- One-page primer on generative AI for non-technical audiences (create or source)</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2: Using AI in your daily HR work</a:t>
            </a:r>
            <a:endParaRPr/>
          </a:p>
          <a:p xmlns:a="http://schemas.openxmlformats.org/drawingml/2006/main">
            <a:r>
              <a:t/>
            </a:r>
            <a:endParaRPr/>
          </a:p>
          <a:p xmlns:a="http://schemas.openxmlformats.org/drawingml/2006/main">
            <a:r>
              <a:t>**Learning objectives:**</a:t>
            </a:r>
            <a:endParaRPr/>
          </a:p>
          <a:p xmlns:a="http://schemas.openxmlformats.org/drawingml/2006/main">
            <a:r>
              <a:t>- Write effective prompts for HR use cases</a:t>
            </a:r>
            <a:endParaRPr/>
          </a:p>
          <a:p xmlns:a="http://schemas.openxmlformats.org/drawingml/2006/main">
            <a:r>
              <a:t>- Use the prompt library for at least 3 HR workflows</a:t>
            </a:r>
            <a:endParaRPr/>
          </a:p>
          <a:p xmlns:a="http://schemas.openxmlformats.org/drawingml/2006/main">
            <a:r>
              <a:t>- Identify when to use AI, when to verify AI output, and when not to use it</a:t>
            </a:r>
            <a:endParaRPr/>
          </a:p>
          <a:p xmlns:a="http://schemas.openxmlformats.org/drawingml/2006/main">
            <a:r>
              <a:t/>
            </a:r>
            <a:endParaRPr/>
          </a:p>
          <a:p xmlns:a="http://schemas.openxmlformats.org/drawingml/2006/main">
            <a:r>
              <a:t>**Session outline (2 hours including lab):**</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Share-back from Module 1 homework, what did you try, what happened? |</a:t>
            </a:r>
            <a:endParaRPr/>
          </a:p>
          <a:p xmlns:a="http://schemas.openxmlformats.org/drawingml/2006/main">
            <a:r>
              <a:t>| 0:15–0:45 | Prompt engineering for HR: the four elements of a good prompt |</a:t>
            </a:r>
            <a:endParaRPr/>
          </a:p>
          <a:p xmlns:a="http://schemas.openxmlformats.org/drawingml/2006/main">
            <a:r>
              <a:t>| 0:45–1:10 | Live demo: Onboarding plan, performance review draft, policy Q&amp;A |</a:t>
            </a:r>
            <a:endParaRPr/>
          </a:p>
          <a:p xmlns:a="http://schemas.openxmlformats.org/drawingml/2006/main">
            <a:r>
              <a:t>| 1:10–1:50 | Hands-on lab: Each participant works through 2 prompts using synthetic HR scenarios in organization-approved tools |</a:t>
            </a:r>
            <a:endParaRPr/>
          </a:p>
          <a:p xmlns:a="http://schemas.openxmlformats.org/drawingml/2006/main">
            <a:r>
              <a:t>| 1:50–2:00 | Debrief: What surprised you? What didn't work? |</a:t>
            </a:r>
            <a:endParaRPr/>
          </a:p>
          <a:p xmlns:a="http://schemas.openxmlformats.org/drawingml/2006/main">
            <a:r>
              <a:t/>
            </a:r>
            <a:endParaRPr/>
          </a:p>
          <a:p xmlns:a="http://schemas.openxmlformats.org/drawingml/2006/main">
            <a:r>
              <a:t>**The four elements of an effective HR prompt:**</a:t>
            </a:r>
            <a:endParaRPr/>
          </a:p>
          <a:p xmlns:a="http://schemas.openxmlformats.org/drawingml/2006/main">
            <a:r>
              <a:t/>
            </a:r>
            <a:endParaRPr/>
          </a:p>
          <a:p xmlns:a="http://schemas.openxmlformats.org/drawingml/2006/main">
            <a:r>
              <a:t>1. **Role**: Define the task perspective, such as drafting support for an HRBP. A role instruction does not give the model professional authority.</a:t>
            </a:r>
            <a:endParaRPr/>
          </a:p>
          <a:p xmlns:a="http://schemas.openxmlformats.org/drawingml/2006/main">
            <a:r>
              <a:t/>
            </a:r>
            <a:endParaRPr/>
          </a:p>
          <a:p xmlns:a="http://schemas.openxmlformats.org/drawingml/2006/main">
            <a:r>
              <a:t>2. **Context**: Provide the specific details the AI needs. Role, tenure, team size, situation. Don't make the AI guess.</a:t>
            </a:r>
            <a:endParaRPr/>
          </a:p>
          <a:p xmlns:a="http://schemas.openxmlformats.org/drawingml/2006/main">
            <a:r>
              <a:t/>
            </a:r>
            <a:endParaRPr/>
          </a:p>
          <a:p xmlns:a="http://schemas.openxmlformats.org/drawingml/2006/main">
            <a:r>
              <a:t>3. **Task**: State clearly what you want it to produce. One output per prompt. "Draft a..." is clearer than "Help me with..."</a:t>
            </a:r>
            <a:endParaRPr/>
          </a:p>
          <a:p xmlns:a="http://schemas.openxmlformats.org/drawingml/2006/main">
            <a:r>
              <a:t/>
            </a:r>
            <a:endParaRPr/>
          </a:p>
          <a:p xmlns:a="http://schemas.openxmlformats.org/drawingml/2006/main">
            <a:r>
              <a:t>4. **Constraints**: Define length, tone, format, exclusions, and the verification needed. Check whether the output follows them.</a:t>
            </a:r>
            <a:endParaRPr/>
          </a:p>
          <a:p xmlns:a="http://schemas.openxmlformats.org/drawingml/2006/main">
            <a:r>
              <a:t/>
            </a:r>
            <a:endParaRPr/>
          </a:p>
          <a:p xmlns:a="http://schemas.openxmlformats.org/drawingml/2006/main">
            <a:r>
              <a:t>**Lab instructions:**</a:t>
            </a:r>
            <a:endParaRPr/>
          </a:p>
          <a:p xmlns:a="http://schemas.openxmlformats.org/drawingml/2006/main">
            <a:r>
              <a:t/>
            </a:r>
            <a:endParaRPr/>
          </a:p>
          <a:p xmlns:a="http://schemas.openxmlformats.org/drawingml/2006/main">
            <a:r>
              <a:t>Participants choose 2 prompts from the library that are relevant to their current work:</a:t>
            </a:r>
            <a:endParaRPr/>
          </a:p>
          <a:p xmlns:a="http://schemas.openxmlformats.org/drawingml/2006/main">
            <a:r>
              <a:t>1. Run the prompt with a fictional HR scenario in an organization-approved tool. Do not upload real employee, candidate, compensation, or confidential employer information.</a:t>
            </a:r>
            <a:endParaRPr/>
          </a:p>
          <a:p xmlns:a="http://schemas.openxmlformats.org/drawingml/2006/main">
            <a:r>
              <a:t>2. Evaluate the output: What's useful? What's wrong or missing? What would you change before using it?</a:t>
            </a:r>
            <a:endParaRPr/>
          </a:p>
          <a:p xmlns:a="http://schemas.openxmlformats.org/drawingml/2006/main">
            <a:r>
              <a:t>3. Iterate: Modify the prompt once based on what you learned and run it again</a:t>
            </a:r>
            <a:endParaRPr/>
          </a:p>
          <a:p xmlns:a="http://schemas.openxmlformats.org/drawingml/2006/main">
            <a:r>
              <a:t>4. Note: What changed between run 1 and run 2?</a:t>
            </a:r>
            <a:endParaRPr/>
          </a:p>
          <a:p xmlns:a="http://schemas.openxmlformats.org/drawingml/2006/main">
            <a:r>
              <a:t/>
            </a:r>
            <a:endParaRPr/>
          </a:p>
          <a:p xmlns:a="http://schemas.openxmlformats.org/drawingml/2006/main">
            <a:r>
              <a:t>**The verify-before-use rule:**</a:t>
            </a:r>
            <a:endParaRPr/>
          </a:p>
          <a:p xmlns:a="http://schemas.openxmlformats.org/drawingml/2006/main">
            <a:r>
              <a:t/>
            </a:r>
            <a:endParaRPr/>
          </a:p>
          <a:p xmlns:a="http://schemas.openxmlformats.org/drawingml/2006/main">
            <a:r>
              <a:t>Introduce and reinforce this heuristic:</a:t>
            </a:r>
            <a:endParaRPr/>
          </a:p>
          <a:p xmlns:a="http://schemas.openxmlformats.org/drawingml/2006/main">
            <a:r>
              <a:t>- Policy details → always verify against source system before sharing</a:t>
            </a:r>
            <a:endParaRPr/>
          </a:p>
          <a:p xmlns:a="http://schemas.openxmlformats.org/drawingml/2006/main">
            <a:r>
              <a:t>- Legal requirements → always verify with Legal before relying on</a:t>
            </a:r>
            <a:endParaRPr/>
          </a:p>
          <a:p xmlns:a="http://schemas.openxmlformats.org/drawingml/2006/main">
            <a:r>
              <a:t>- Factual claims → spot-check against a known source</a:t>
            </a:r>
            <a:endParaRPr/>
          </a:p>
          <a:p xmlns:a="http://schemas.openxmlformats.org/drawingml/2006/main">
            <a:r>
              <a:t>- Tone and content → always read before sending; AI doesn't know your audience</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3: Governance, ethics, and responsible use</a:t>
            </a:r>
            <a:endParaRPr/>
          </a:p>
          <a:p xmlns:a="http://schemas.openxmlformats.org/drawingml/2006/main">
            <a:r>
              <a:t/>
            </a:r>
            <a:endParaRPr/>
          </a:p>
          <a:p xmlns:a="http://schemas.openxmlformats.org/drawingml/2006/main">
            <a:r>
              <a:t>**Learning objectives:**</a:t>
            </a:r>
            <a:endParaRPr/>
          </a:p>
          <a:p xmlns:a="http://schemas.openxmlformats.org/drawingml/2006/main">
            <a:r>
              <a:t>- Apply the organization's AI use policy to real HR scenarios</a:t>
            </a:r>
            <a:endParaRPr/>
          </a:p>
          <a:p xmlns:a="http://schemas.openxmlformats.org/drawingml/2006/main">
            <a:r>
              <a:t>- Identify the key legal risk areas in HR AI (bias, privacy, employment law)</a:t>
            </a:r>
            <a:endParaRPr/>
          </a:p>
          <a:p xmlns:a="http://schemas.openxmlformats.org/drawingml/2006/main">
            <a:r>
              <a:t>- Complete a basic risk assessment for a new use case</a:t>
            </a:r>
            <a:endParaRPr/>
          </a:p>
          <a:p xmlns:a="http://schemas.openxmlformats.org/drawingml/2006/main">
            <a:r>
              <a:t/>
            </a:r>
            <a:endParaRPr/>
          </a:p>
          <a:p xmlns:a="http://schemas.openxmlformats.org/drawingml/2006/main">
            <a:r>
              <a:t>**Session outline (90 minutes):**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Case study: Three HR AI failures and what we can learn (discussion) |</a:t>
            </a:r>
            <a:endParaRPr/>
          </a:p>
          <a:p xmlns:a="http://schemas.openxmlformats.org/drawingml/2006/main">
            <a:r>
              <a:t>| 0:15–0:40 | Framework: What makes AI use in HR risky? Legal and ethical dimensions |</a:t>
            </a:r>
            <a:endParaRPr/>
          </a:p>
          <a:p xmlns:a="http://schemas.openxmlformats.org/drawingml/2006/main">
            <a:r>
              <a:t>| 0:40–1:00 | Scenario practice: Is this use case okay? (small groups, 4 scenarios) |</a:t>
            </a:r>
            <a:endParaRPr/>
          </a:p>
          <a:p xmlns:a="http://schemas.openxmlformats.org/drawingml/2006/main">
            <a:r>
              <a:t>| 1:00–1:20 | Walk-through: The risk assessment template |</a:t>
            </a:r>
            <a:endParaRPr/>
          </a:p>
          <a:p xmlns:a="http://schemas.openxmlformats.org/drawingml/2006/main">
            <a:r>
              <a:t>| 1:20–1:30 | Q&amp;A + open discussion |</a:t>
            </a:r>
            <a:endParaRPr/>
          </a:p>
          <a:p xmlns:a="http://schemas.openxmlformats.org/drawingml/2006/main">
            <a:r>
              <a:t/>
            </a:r>
            <a:endParaRPr/>
          </a:p>
          <a:p xmlns:a="http://schemas.openxmlformats.org/drawingml/2006/main">
            <a:r>
              <a:t>&gt; **Note on regulatory currency:** Use the [Key dates for HR](../03-governance/README.md#key-dates-for-hr) and its linked primary sources as the dated reference. The slides summarize risk questions; they are not a complete legal reference. Have Legal verify jurisdiction, scope, obligations, and effective dates before delivery or adoption.</a:t>
            </a:r>
            <a:endParaRPr/>
          </a:p>
          <a:p xmlns:a="http://schemas.openxmlformats.org/drawingml/2006/main">
            <a:r>
              <a:t/>
            </a:r>
            <a:endParaRPr/>
          </a:p>
          <a:p xmlns:a="http://schemas.openxmlformats.org/drawingml/2006/main">
            <a:r>
              <a:t>**Key legal risk areas to cover:**</a:t>
            </a:r>
            <a:endParaRPr/>
          </a:p>
          <a:p xmlns:a="http://schemas.openxmlformats.org/drawingml/2006/main">
            <a:r>
              <a:t/>
            </a:r>
            <a:endParaRPr/>
          </a:p>
          <a:p xmlns:a="http://schemas.openxmlformats.org/drawingml/2006/main">
            <a:r>
              <a:t>*Bias and disparate impact:*</a:t>
            </a:r>
            <a:endParaRPr/>
          </a:p>
          <a:p xmlns:a="http://schemas.openxmlformats.org/drawingml/2006/main">
            <a:r>
              <a:t>AI trained on historical HR data can encode and amplify past discrimination. A history in which 80% of engineering hires were male is a reason to examine labels, features, selection effects, and group outcomes; that proportion alone does not determine how a model will score resumes. Adverse impact testing is a core control. It is required by law in some jurisdictions (NYC Local Law 144 mandates an annual bias audit for covered tools) and expected as evidence of reasonable care in many others. Confirm the cadence with Legal. See the [NIST AI RMF](https://www.nist.gov/itl/ai-risk-management-framework).</a:t>
            </a:r>
            <a:endParaRPr/>
          </a:p>
          <a:p xmlns:a="http://schemas.openxmlformats.org/drawingml/2006/main">
            <a:r>
              <a:t/>
            </a:r>
            <a:endParaRPr/>
          </a:p>
          <a:p xmlns:a="http://schemas.openxmlformats.org/drawingml/2006/main">
            <a:r>
              <a:t>*Illinois AI Video Interview Act, NYC Local Law 144, and emerging state laws:*</a:t>
            </a:r>
            <a:endParaRPr/>
          </a:p>
          <a:p xmlns:a="http://schemas.openxmlformats.org/drawingml/2006/main">
            <a:r>
              <a:t>Several jurisdictions now require disclosure, impact assessments, or consent for AI use in hiring. Illinois's AI Video Interview Act ([820 ILCS 42](https://www.ilga.gov/Legislation/ILCS/Articles?ActID=4015&amp;ChapterID=68)) governs AI analysis of recorded video interviews, including notice and consent before the interview. Confirm its current requirements against the statute before relying on them. Illinois also amended its Human Rights Act via HB 3773 (effective January 1, 2026) to broadly prohibit discriminatory AI use in hiring and promotion, not just video interviews. A companion law, Public Act 104-0425 (SB 2487, effective January 1, 2026), gives the Human Rights Commission tiered civil penalty authority for violations: up to $16,000 for a first offense, up to $42,500 with one prior violation within five years, up to $70,000 for two or more within seven years. The regulatory landscape is shifting quickly. Use cases involving hiring must be reviewed against current state law.</a:t>
            </a:r>
            <a:endParaRPr/>
          </a:p>
          <a:p xmlns:a="http://schemas.openxmlformats.org/drawingml/2006/main">
            <a:r>
              <a:t/>
            </a:r>
            <a:endParaRPr/>
          </a:p>
          <a:p xmlns:a="http://schemas.openxmlformats.org/drawingml/2006/main">
            <a:r>
              <a:t>NYC Local Law 144 enforcement is entering a stricter phase. A December 2025 NY State Comptroller audit found DCWP's enforcement "ineffective": DCWP's own review of 32 companies' bias-audit disclosures caught 1 likely non-compliance issue, where the Comptroller's review of the same 32 found at least 17. Expect more investigations and higher penalties as DCWP responds to the audit's recommendations, not just the disclosure-and-audit paperwork the law describes on paper.</a:t>
            </a:r>
            <a:endParaRPr/>
          </a:p>
          <a:p xmlns:a="http://schemas.openxmlformats.org/drawingml/2006/main">
            <a:r>
              <a:t/>
            </a:r>
            <a:endParaRPr/>
          </a:p>
          <a:p xmlns:a="http://schemas.openxmlformats.org/drawingml/2006/main">
            <a:r>
              <a:t>*Colorado's Automated Decision-Making Technology Act:*</a:t>
            </a:r>
            <a:endParaRPr/>
          </a:p>
          <a:p xmlns:a="http://schemas.openxmlformats.org/drawingml/2006/main">
            <a:r>
              <a:t>Colorado SB26-189 (signed 14 May 2026, Colo. Sess. Laws ch. 131) repeals and replaces the state's 2024 AI consumer protection law. It covers "consequential decisions," including employment, made using automated decision-making technology (ADMT) that materially influences the outcome. Starting January 1, 2027, developers must give deployers technical documentation on intended use, training data categories, known limitations, and human review instructions. Deployers will owe consumers notice at the point of interaction, and within 30 days of any adverse consequential decision, a plain-language explanation plus the right to request human review and reconsideration. Records must be retained 3 years. The attorney general enforces under the Colorado Consumer Protection Act, with a 60-day cure period through January 1, 2030.</a:t>
            </a:r>
            <a:endParaRPr/>
          </a:p>
          <a:p xmlns:a="http://schemas.openxmlformats.org/drawingml/2006/main">
            <a:r>
              <a:t/>
            </a:r>
            <a:endParaRPr/>
          </a:p>
          <a:p xmlns:a="http://schemas.openxmlformats.org/drawingml/2006/main">
            <a:r>
              <a:t>*Connecticut: AI Responsibility and Transparency Act (Public Act 26-15):*</a:t>
            </a:r>
            <a:endParaRPr/>
          </a:p>
          <a:p xmlns:a="http://schemas.openxmlformats.org/drawingml/2006/main">
            <a:r>
              <a:t>Connecticut's SB 5 became Public Act 26-15 in June 2026. It is the most comprehensive state AI employment statute enacted so far, and it phases in across two years. Read the dates carefully, because the parts that bite first are not the disclosure rules.</a:t>
            </a:r>
            <a:endParaRPr/>
          </a:p>
          <a:p xmlns:a="http://schemas.openxmlformats.org/drawingml/2006/main">
            <a:r>
              <a:t/>
            </a:r>
            <a:endParaRPr/>
          </a:p>
          <a:p xmlns:a="http://schemas.openxmlformats.org/drawingml/2006/main">
            <a:r>
              <a:t>Live October 1, 2026:</a:t>
            </a:r>
            <a:endParaRPr/>
          </a:p>
          <a:p xmlns:a="http://schemas.openxmlformats.org/drawingml/2006/main">
            <a:r>
              <a:t/>
            </a:r>
            <a:endParaRPr/>
          </a:p>
          <a:p xmlns:a="http://schemas.openxmlformats.org/drawingml/2006/main">
            <a:r>
              <a:t>- **AI is not a defense.** Sections 13 and 14 amend Conn. Gen. Stat. 46a-60 so that using an automated employment-related decision technology is not a defense against a discrimination complaint. The commission or court may consider the quality, efficacy, recency, and scope of anti-bias testing, its results, and the employer's response. This does not establish that a stale audit is always worse than no audit, or that testing guarantees a favorable legal outcome. Preserve the testing evidence and corrective actions for counsel review. Source: [Public Act 26-15](https://www.cga.ct.gov/2026/ACT/PA/PDF/2026PA-00015-R00SB-00005-PA.PDF).</a:t>
            </a:r>
            <a:endParaRPr/>
          </a:p>
          <a:p xmlns:a="http://schemas.openxmlformats.org/drawingml/2006/main">
            <a:r>
              <a:t>- **WARN notices.** Section 26 requires any employer serving a federal WARN notice under 29 USC 2102(a) to disclose to the Connecticut Labor Department whether the layoffs relate to the employer's use of AI or other technological change. Note the disclosure runs to the department, not to affected employees.</a:t>
            </a:r>
            <a:endParaRPr/>
          </a:p>
          <a:p xmlns:a="http://schemas.openxmlformats.org/drawingml/2006/main">
            <a:r>
              <a:t/>
            </a:r>
            <a:endParaRPr/>
          </a:p>
          <a:p xmlns:a="http://schemas.openxmlformats.org/drawingml/2006/main">
            <a:r>
              <a:t>Live October 1, 2027 (sections 7 to 12 take effect in 2026, but the duties attach only to technology deployed on or after October 1, 2027):</a:t>
            </a:r>
            <a:endParaRPr/>
          </a:p>
          <a:p xmlns:a="http://schemas.openxmlformats.org/drawingml/2006/main">
            <a:r>
              <a:t/>
            </a:r>
            <a:endParaRPr/>
          </a:p>
          <a:p xmlns:a="http://schemas.openxmlformats.org/drawingml/2006/main">
            <a:r>
              <a:t>- Scope is set by "substantial factor," defined as a factor that meaningfully alters the outcome of an employment-related decision. Covered decisions are hiring, promotion, discipline, discharge, renewal, selection for training or apprenticeship, and terms, privileges or conditions of employment. Carved out: nonmaterial changes to job tasks or hours, and decisions about workplace health and safety, scheduling, and productivity monitoring.</a:t>
            </a:r>
            <a:endParaRPr/>
          </a:p>
          <a:p xmlns:a="http://schemas.openxmlformats.org/drawingml/2006/main">
            <a:r>
              <a:t>- Developers must give deployers the information deployers need to meet their duties, but only where the tool was advertised, marketed, configured, contracted for, sold, or licensed to materially influence an employment decision.</a:t>
            </a:r>
            <a:endParaRPr/>
          </a:p>
          <a:p xmlns:a="http://schemas.openxmlformats.org/drawingml/2006/main">
            <a:r>
              <a:t>- Deployers must disclose in plain language when an employee or applicant is interacting with the technology, unless a reasonable person would find it obvious.</a:t>
            </a:r>
            <a:endParaRPr/>
          </a:p>
          <a:p xmlns:a="http://schemas.openxmlformats.org/drawingml/2006/main">
            <a:r>
              <a:t>- Before the decision is made, deployers must give written notice covering six specific points: that the technology was deployed, its purpose and the nature of the decision, the tool's trade name, the categories of personal data analyzed and how they will be assessed, the sources of that data, and deployer contact information.</a:t>
            </a:r>
            <a:endParaRPr/>
          </a:p>
          <a:p xmlns:a="http://schemas.openxmlformats.org/drawingml/2006/main">
            <a:r>
              <a:t>- Trade secrets can be withheld, but the withholding party must send notice saying what is being withheld and why.</a:t>
            </a:r>
            <a:endParaRPr/>
          </a:p>
          <a:p xmlns:a="http://schemas.openxmlformats.org/drawingml/2006/main">
            <a:r>
              <a:t/>
            </a:r>
            <a:endParaRPr/>
          </a:p>
          <a:p xmlns:a="http://schemas.openxmlformats.org/drawingml/2006/main">
            <a:r>
              <a:t>Enforcement is narrower than the obligations suggest: violations are unfair or deceptive trade practices under CUTPA, enforced **solely by the Attorney General**, with an explicit statement that the act creates **no private right of action**. Violations occurring on or before December 31, 2027 carry a 60-day cure period.</a:t>
            </a:r>
            <a:endParaRPr/>
          </a:p>
          <a:p xmlns:a="http://schemas.openxmlformats.org/drawingml/2006/main">
            <a:r>
              <a:t/>
            </a:r>
            <a:endParaRPr/>
          </a:p>
          <a:p xmlns:a="http://schemas.openxmlformats.org/drawingml/2006/main">
            <a:r>
              <a:t>One provision to catch in procurement: Section 8(c) lets a developer contract to assume the deployer's disclosure and notice duties, provided the contract is explicit about which duties transfer. That is a negotiating lever worth asking every vendor about. See the [vendor intake checklist](../03-governance/vendor-intake-checklist.md).</a:t>
            </a:r>
            <a:endParaRPr/>
          </a:p>
          <a:p xmlns:a="http://schemas.openxmlformats.org/drawingml/2006/main">
            <a:r>
              <a:t/>
            </a:r>
            <a:endParaRPr/>
          </a:p>
          <a:p xmlns:a="http://schemas.openxmlformats.org/drawingml/2006/main">
            <a:r>
              <a:t>*California: FEHA algorithmic discrimination rules and CPPA ADMT regulations:*</a:t>
            </a:r>
            <a:endParaRPr/>
          </a:p>
          <a:p xmlns:a="http://schemas.openxmlformats.org/drawingml/2006/main">
            <a:r>
              <a:t>The Civil Rights Council's FEHA regulations on automated decision systems took effect October 1, 2025: they prohibit AI-driven disparate treatment or disparate impact in employment decisions, require four years of recordkeeping, and hold employers liable for discriminatory outcomes even when the tool comes from a third-party vendor. Separately, the [CPPA regulation package](https://cppa.ca.gov/announcements/2025/20250923.html) took effect January 1, 2026. Covered businesses must begin risk-assessment compliance in 2026; ADMT notice and consumer-rights compliance begins January 1, 2027. These dates govern different duties. Review the [final regulations](https://cppa.ca.gov/regulations/ccpa_updates.html) for scope, opt-out exceptions, appeal conditions, and transition rules for processing already underway.</a:t>
            </a:r>
            <a:endParaRPr/>
          </a:p>
          <a:p xmlns:a="http://schemas.openxmlformats.org/drawingml/2006/main">
            <a:r>
              <a:t/>
            </a:r>
            <a:endParaRPr/>
          </a:p>
          <a:p xmlns:a="http://schemas.openxmlformats.org/drawingml/2006/main">
            <a:r>
              <a:t>Four California workplace bills were approved and chaptered on 30 September 2026. All four are enacted law, with obligations beginning in 2027. The chaptered texts were reviewed on 9 October 2026. AB 1883, SB 951, and AB 1331 take effect on 1 January 2027 under [California Constitution Article IV, section 8(c)(1)](https://leginfo.legislature.ca.gov/faces/codes_displayText.xhtml?lawCode=CONS&amp;division=&amp;title=&amp;part=&amp;chapter=&amp;article=IV); none contains an urgency clause or a later operative-date provision. SB 947 takes effect on that date but expressly makes its new Labor Code part operative on 1 July 2027. See the [source register](../03-governance/claims/california-workplace-laws.json) and the [Governor's signing announcement](https://www.gov.ca.gov/2026/09/30/californias-nation-leading-ai-framework-just-got-stronger-governor-newsom-signs-more-first-in-the-nation-worker-protections-and-more/).</a:t>
            </a:r>
            <a:endParaRPr/>
          </a:p>
          <a:p xmlns:a="http://schemas.openxmlformats.org/drawingml/2006/main">
            <a:r>
              <a:t/>
            </a:r>
            <a:endParaRPr/>
          </a:p>
          <a:p xmlns:a="http://schemas.openxmlformats.org/drawingml/2006/main">
            <a:r>
              <a:t>- **[AB 1883](https://leginfo.legislature.ca.gov/faces/billNavClient.xhtml?bill_id=202520260AB1883)** (workplace surveillance tools, Chapter 853, Statutes of 2026) adds Labor Code Part 5.8 to bar employers from using AI-driven surveillance tools to recognize or infer an employee's emotional state, or to collect neural data, meaning data measured from the central or peripheral nervous system and not inferred from nonneural information. Safety uses are preserved, and there is a narrow carve-out for federally mandated aerospace and national security work. Enforcement runs through the Labor Commissioner or a public prosecutor, with penalties up to $500 per violation. It was enrolled on 3 September 2026 and approved by the Governor on 30 September 2026. Some published summaries report 3 September as the signing date; that is the enrollment date.</a:t>
            </a:r>
            <a:endParaRPr/>
          </a:p>
          <a:p xmlns:a="http://schemas.openxmlformats.org/drawingml/2006/main">
            <a:r>
              <a:t>- **[SB 947](https://leginfo.legislature.ca.gov/faces/billTextClient.xhtml?bill_id=202520260SB947)** (the "No Robo Bosses Act," Chapter 859, Statutes of 2026) is **operative 1 July 2027**, under new Labor Code section 1526.7. It bars sole reliance on an ADS for discipline or termination. Primary reliance requires human corroboration and written post-use notice when the decision is communicated. If corroboration fails, or the reviewer finds the output inaccurate, incomplete, or misleading, the employer must not use that output for the decision. The employee may request a meaningful description of their own data used by the ADS. Check the collective bargaining and federal-operation exceptions in sections 1526.5 and 1526.6.</a:t>
            </a:r>
            <a:endParaRPr/>
          </a:p>
          <a:p xmlns:a="http://schemas.openxmlformats.org/drawingml/2006/main">
            <a:r>
              <a:t>- **[SB 951](https://leginfo.legislature.ca.gov/faces/billTextClient.xhtml?bill_id=202520260SB951)** (Chapter 860, Statutes of 2026), **effective 1 January 2027**, adds technology-displacement information to an otherwise required Cal/WARN notice when AI or automation causes the event wholly or substantially. New Labor Code section 1401(d) requires affected jobs and locations, functions being automated, the technology category, and a technology-displacement heading. It retains the existing 60-day notice period. It does not enact the earlier proposal for a 90-day notice or an employer hiring-freeze notice; section 1402.7 instead requires an EDD study by 1 January 2028. Assess Cal/WARN coverage and exceptions before applying the notice requirement.</a:t>
            </a:r>
            <a:endParaRPr/>
          </a:p>
          <a:p xmlns:a="http://schemas.openxmlformats.org/drawingml/2006/main">
            <a:r>
              <a:t>- **[AB 1331](https://leginfo.legislature.ca.gov/faces/billTextClient.xhtml?bill_id=202520260AB1331)** (Chapter 851, Statutes of 2026), **effective 1 January 2027**, limits workplace bathroom surveillance and lets employees leave surveillance tools behind when entering a bathroom. New Labor Code section 1561 includes exceptions for court orders, one-time entry/exit checks, voluntary possession, and certain identification or safety devices. The tool definition reaches beyond AI. Review the full exceptions in sections 1561, 1564, and 1565 before changing monitoring practices.</a:t>
            </a:r>
            <a:endParaRPr/>
          </a:p>
          <a:p xmlns:a="http://schemas.openxmlformats.org/drawingml/2006/main">
            <a:r>
              <a:t/>
            </a:r>
            <a:endParaRPr/>
          </a:p>
          <a:p xmlns:a="http://schemas.openxmlformats.org/drawingml/2006/main">
            <a:r>
              <a:t>*Texas: Responsible AI Governance Act (TRAIGA):*</a:t>
            </a:r>
            <a:endParaRPr/>
          </a:p>
          <a:p xmlns:a="http://schemas.openxmlformats.org/drawingml/2006/main">
            <a:r>
              <a:t>Effective January 1, 2026 (HB 149, signed June 22, 2025). Narrower than Illinois or Colorado: TRAIGA prohibits intentional AI-based discrimination but does not create disparate impact liability, and the Attorney General has exclusive enforcement authority with a 60-day cure period before action.</a:t>
            </a:r>
            <a:endParaRPr/>
          </a:p>
          <a:p xmlns:a="http://schemas.openxmlformats.org/drawingml/2006/main">
            <a:r>
              <a:t/>
            </a:r>
            <a:endParaRPr/>
          </a:p>
          <a:p xmlns:a="http://schemas.openxmlformats.org/drawingml/2006/main">
            <a:r>
              <a:t>*New Jersey: no AI statute, but existing discrimination law already reaches AI:*</a:t>
            </a:r>
            <a:endParaRPr/>
          </a:p>
          <a:p xmlns:a="http://schemas.openxmlformats.org/drawingml/2006/main">
            <a:r>
              <a:t>New Jersey is the case that breaks the habit of scanning for AI-specific bills. It has no AI hiring statute. In January 2025 the Office of the Attorney General and the Division on Civil Rights issued guidance stating that the Law Against Discrimination (N.J.S.A. 10:5-1 et seq.) applies to algorithmic discrimination the same way it has long applied to other discriminatory conduct, in employment among other contexts. Three points matter for HR practice:</a:t>
            </a:r>
            <a:endParaRPr/>
          </a:p>
          <a:p xmlns:a="http://schemas.openxmlformats.org/drawingml/2006/main">
            <a:r>
              <a:t/>
            </a:r>
            <a:endParaRPr/>
          </a:p>
          <a:p xmlns:a="http://schemas.openxmlformats.org/drawingml/2006/main">
            <a:r>
              <a:t>- **No intent required, and a vendor tool is not a defense.** The guidance states that a covered entity "is not shielded from liability for algorithmic discrimination that results from the entity's use of an automated decision-making tool simply because the tool was developed by a third party or because the entity does not understand the inner workings of the tool."</a:t>
            </a:r>
            <a:endParaRPr/>
          </a:p>
          <a:p xmlns:a="http://schemas.openxmlformats.org/drawingml/2006/main">
            <a:r>
              <a:t>- **Disparate impact is covered.** Use of a tool with a disproportionate effect on a protected class is prohibited unless it is necessary to achieve a substantial, legitimate, nondiscriminatory interest and there is no less discriminatory alternative. Whether the employer tested the tool for bias or evaluated alternatives may be weighed as relevant evidence, which is the same pattern as Connecticut: your fairness audit becomes evidence.</a:t>
            </a:r>
            <a:endParaRPr/>
          </a:p>
          <a:p xmlns:a="http://schemas.openxmlformats.org/drawingml/2006/main">
            <a:r>
              <a:t>- **Reasonable accommodations are in scope.** A tool can violate the LAD by being inaccessible or by penalizing someone who uses an accommodation. The guidance's example is a typing-speed screen that cannot read a non-traditional keyboard.</a:t>
            </a:r>
            <a:endParaRPr/>
          </a:p>
          <a:p xmlns:a="http://schemas.openxmlformats.org/drawingml/2006/main">
            <a:r>
              <a:t/>
            </a:r>
            <a:endParaRPr/>
          </a:p>
          <a:p xmlns:a="http://schemas.openxmlformats.org/drawingml/2006/main">
            <a:r>
              <a:t>Two limits to state accurately when you teach this. The guidance is interpretive: it says on its face that it imposes no requirements beyond the LAD and will not be enforced as a substitute for enforcing the LAD. And it carries no effective date, because the underlying statute has been in force for decades. Do not present it as a new obligation that switched on in 2025. The takeaway for the class is the general one: a state with no AI bill is not a state with no AI exposure.</a:t>
            </a:r>
            <a:endParaRPr/>
          </a:p>
          <a:p xmlns:a="http://schemas.openxmlformats.org/drawingml/2006/main">
            <a:r>
              <a:t/>
            </a:r>
            <a:endParaRPr/>
          </a:p>
          <a:p xmlns:a="http://schemas.openxmlformats.org/drawingml/2006/main">
            <a:r>
              <a:t>*GDPR and CCPA:*</a:t>
            </a:r>
            <a:endParaRPr/>
          </a:p>
          <a:p xmlns:a="http://schemas.openxmlformats.org/drawingml/2006/main">
            <a:r>
              <a:t>Employees in covered jurisdictions have rights regarding automated decision-making. Know which of your employees are covered and how your AI use cases interact with their rights. See the California-specific rules above for the current state of play there.</a:t>
            </a:r>
            <a:endParaRPr/>
          </a:p>
          <a:p xmlns:a="http://schemas.openxmlformats.org/drawingml/2006/main">
            <a:r>
              <a:t/>
            </a:r>
            <a:endParaRPr/>
          </a:p>
          <a:p xmlns:a="http://schemas.openxmlformats.org/drawingml/2006/main">
            <a:r>
              <a:t>*UK: Data (Use and Access) Act 2025 replaces GDPR Article 22:*</a:t>
            </a:r>
            <a:endParaRPr/>
          </a:p>
          <a:p xmlns:a="http://schemas.openxmlformats.org/drawingml/2006/main">
            <a:r>
              <a:t>Section 80 of the UK's Data (Use and Access) Act 2025 took effect February 5, 2026 (Commencement Regulations SI 2026/82) and substitutes Article 22 of the UK GDPR with new Articles 22A to 22D. The new regime permits solely automated "significant decisions," those with a legal or similarly significant effect, more broadly than before, but requires safeguards: notice to the individual, the ability to make representations, the right to human intervention, and the right to contest the decision. Stricter restrictions still apply where special category data is used. Treat this as a distinct regime from EU GDPR Article 22, not an equivalent, for any AI use case touching UK-based workers or candidates.</a:t>
            </a:r>
            <a:endParaRPr/>
          </a:p>
          <a:p xmlns:a="http://schemas.openxmlformats.org/drawingml/2006/main">
            <a:r>
              <a:t/>
            </a:r>
            <a:endParaRPr/>
          </a:p>
          <a:p xmlns:a="http://schemas.openxmlformats.org/drawingml/2006/main">
            <a:r>
              <a:t>The ICO is already signaling how it will police this in recruitment specifically. A March 2026 ICO report on automated decision-making in hiring found many employers don't recognize they're doing ADM at all, and that "human review" in practice often amounts to rubber-stamping rather than a reviewer with real authority to change the outcome. Following that report, the ICO opened a consultation on draft ADM guidance, worth checking for the final version before relying on the March findings alone. Build the oversight role description to survive that scrutiny, not just to check the box.</a:t>
            </a:r>
            <a:endParaRPr/>
          </a:p>
          <a:p xmlns:a="http://schemas.openxmlformats.org/drawingml/2006/main">
            <a:r>
              <a:t/>
            </a:r>
            <a:endParaRPr/>
          </a:p>
          <a:p xmlns:a="http://schemas.openxmlformats.org/drawingml/2006/main">
            <a:r>
              <a:t>*Canada: no federal AI employment law, but Ontario requires disclosure:*</a:t>
            </a:r>
            <a:endParaRPr/>
          </a:p>
          <a:p xmlns:a="http://schemas.openxmlformats.org/drawingml/2006/main">
            <a:r>
              <a:t>Canada's federal AI bill (AIDA, part of Bill C-27) died when Parliament prorogued in January 2025 and has not been revived. AI regulation there runs through existing privacy, human rights, and sector law instead. Ontario is the exception: since January 1, 2026, employers with 25+ employees must disclose in publicly advertised job postings whether AI is used to screen, assess, or select candidates (Employment Standards Act, 2000 amendment).</a:t>
            </a:r>
            <a:endParaRPr/>
          </a:p>
          <a:p xmlns:a="http://schemas.openxmlformats.org/drawingml/2006/main">
            <a:r>
              <a:t/>
            </a:r>
            <a:endParaRPr/>
          </a:p>
          <a:p xmlns:a="http://schemas.openxmlformats.org/drawingml/2006/main">
            <a:r>
              <a:t>*The "AI as a manager" trap:*</a:t>
            </a:r>
            <a:endParaRPr/>
          </a:p>
          <a:p xmlns:a="http://schemas.openxmlformats.org/drawingml/2006/main">
            <a:r>
              <a:t>AI that monitors, evaluates, or scores employees without their knowledge, even for legitimate purposes, creates legal and trust exposure. Transparency is not just ethical, it's protective.</a:t>
            </a:r>
            <a:endParaRPr/>
          </a:p>
          <a:p xmlns:a="http://schemas.openxmlformats.org/drawingml/2006/main">
            <a:r>
              <a:t/>
            </a:r>
            <a:endParaRPr/>
          </a:p>
          <a:p xmlns:a="http://schemas.openxmlformats.org/drawingml/2006/main">
            <a:r>
              <a:t>**Scenario practice cards:**</a:t>
            </a:r>
            <a:endParaRPr/>
          </a:p>
          <a:p xmlns:a="http://schemas.openxmlformats.org/drawingml/2006/main">
            <a:r>
              <a:t/>
            </a:r>
            <a:endParaRPr/>
          </a:p>
          <a:p xmlns:a="http://schemas.openxmlformats.org/drawingml/2006/main">
            <a:r>
              <a:t>Print or share these four scenarios. Groups of 3–4 discuss: Is this use appropriate? What are the risks? What would you change?</a:t>
            </a:r>
            <a:endParaRPr/>
          </a:p>
          <a:p xmlns:a="http://schemas.openxmlformats.org/drawingml/2006/main">
            <a:r>
              <a:t/>
            </a:r>
            <a:endParaRPr/>
          </a:p>
          <a:p xmlns:a="http://schemas.openxmlformats.org/drawingml/2006/main">
            <a:r>
              <a:t>&gt; **Scenario A:** An AI tool automatically rejects resumes with gaps of more than 6 months without showing them to a recruiter.</a:t>
            </a:r>
            <a:endParaRPr/>
          </a:p>
          <a:p xmlns:a="http://schemas.openxmlformats.org/drawingml/2006/main">
            <a:r>
              <a:t/>
            </a:r>
            <a:endParaRPr/>
          </a:p>
          <a:p xmlns:a="http://schemas.openxmlformats.org/drawingml/2006/main">
            <a:r>
              <a:t>&gt; **Scenario B:** An HRBP uses an AI writing assistant to draft a PIP for an employee, then reviews and edits it before sharing with the manager.</a:t>
            </a:r>
            <a:endParaRPr/>
          </a:p>
          <a:p xmlns:a="http://schemas.openxmlformats.org/drawingml/2006/main">
            <a:r>
              <a:t/>
            </a:r>
            <a:endParaRPr/>
          </a:p>
          <a:p xmlns:a="http://schemas.openxmlformats.org/drawingml/2006/main">
            <a:r>
              <a:t>&gt; **Scenario C:** People Analytics builds an attrition risk model that scores all employees monthly and shares the scores directly with managers.</a:t>
            </a:r>
            <a:endParaRPr/>
          </a:p>
          <a:p xmlns:a="http://schemas.openxmlformats.org/drawingml/2006/main">
            <a:r>
              <a:t/>
            </a:r>
            <a:endParaRPr/>
          </a:p>
          <a:p xmlns:a="http://schemas.openxmlformats.org/drawingml/2006/main">
            <a:r>
              <a:t>&gt; **Scenario D:** An AI chatbot answers benefits questions for employees. It sometimes gives incorrect information but flags that users should confirm with HR.</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4: Building and scaling AI use cases</a:t>
            </a:r>
            <a:endParaRPr/>
          </a:p>
          <a:p xmlns:a="http://schemas.openxmlformats.org/drawingml/2006/main">
            <a:r>
              <a:t/>
            </a:r>
            <a:endParaRPr/>
          </a:p>
          <a:p xmlns:a="http://schemas.openxmlformats.org/drawingml/2006/main">
            <a:r>
              <a:t>**Learning objectives:**</a:t>
            </a:r>
            <a:endParaRPr/>
          </a:p>
          <a:p xmlns:a="http://schemas.openxmlformats.org/drawingml/2006/main">
            <a:r>
              <a:t>- Apply the prioritization matrix to identify your team's highest-value AI use cases</a:t>
            </a:r>
            <a:endParaRPr/>
          </a:p>
          <a:p xmlns:a="http://schemas.openxmlformats.org/drawingml/2006/main">
            <a:r>
              <a:t>- Define a use case with clear success metrics and governance requirements</a:t>
            </a:r>
            <a:endParaRPr/>
          </a:p>
          <a:p xmlns:a="http://schemas.openxmlformats.org/drawingml/2006/main">
            <a:r>
              <a:t>- Draft a basic implementation plan for a low-complexity use case</a:t>
            </a:r>
            <a:endParaRPr/>
          </a:p>
          <a:p xmlns:a="http://schemas.openxmlformats.org/drawingml/2006/main">
            <a:r>
              <a:t/>
            </a:r>
            <a:endParaRPr/>
          </a:p>
          <a:p xmlns:a="http://schemas.openxmlformats.org/drawingml/2006/main">
            <a:r>
              <a:t>**Session outline (2 hours):**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Opening: What does "scaling AI in HR" actually mean? |</a:t>
            </a:r>
            <a:endParaRPr/>
          </a:p>
          <a:p xmlns:a="http://schemas.openxmlformats.org/drawingml/2006/main">
            <a:r>
              <a:t>| 0:15–0:45 | Framework: From idea to deployment, the use case lifecycle |</a:t>
            </a:r>
            <a:endParaRPr/>
          </a:p>
          <a:p xmlns:a="http://schemas.openxmlformats.org/drawingml/2006/main">
            <a:r>
              <a:t>| 0:45–1:15 | Team exercise: Prioritization matrix applied to your team's top 5 ideas |</a:t>
            </a:r>
            <a:endParaRPr/>
          </a:p>
          <a:p xmlns:a="http://schemas.openxmlformats.org/drawingml/2006/main">
            <a:r>
              <a:t>| 1:15–1:45 | Small group: Draft a one-page use case spec for your top-ranked idea |</a:t>
            </a:r>
            <a:endParaRPr/>
          </a:p>
          <a:p xmlns:a="http://schemas.openxmlformats.org/drawingml/2006/main">
            <a:r>
              <a:t>| 1:45–2:00 | Gallery walk + feedback |</a:t>
            </a:r>
            <a:endParaRPr/>
          </a:p>
          <a:p xmlns:a="http://schemas.openxmlformats.org/drawingml/2006/main">
            <a:r>
              <a:t/>
            </a:r>
            <a:endParaRPr/>
          </a:p>
          <a:p xmlns:a="http://schemas.openxmlformats.org/drawingml/2006/main">
            <a:r>
              <a:t>**Use case lifecycle:**</a:t>
            </a:r>
            <a:endParaRPr/>
          </a:p>
          <a:p xmlns:a="http://schemas.openxmlformats.org/drawingml/2006/main">
            <a:r>
              <a:t/>
            </a:r>
            <a:endParaRPr/>
          </a:p>
          <a:p xmlns:a="http://schemas.openxmlformats.org/drawingml/2006/main">
            <a:r>
              <a:t>```</a:t>
            </a:r>
            <a:endParaRPr/>
          </a:p>
          <a:p xmlns:a="http://schemas.openxmlformats.org/drawingml/2006/main">
            <a:r>
              <a:t>Discover → Prioritize → Design → Pilot → Evaluate → Scale</a:t>
            </a:r>
            <a:endParaRPr/>
          </a:p>
          <a:p xmlns:a="http://schemas.openxmlformats.org/drawingml/2006/main">
            <a:r>
              <a:t>   ↑                                          |</a:t>
            </a:r>
            <a:endParaRPr/>
          </a:p>
          <a:p xmlns:a="http://schemas.openxmlformats.org/drawingml/2006/main">
            <a:r>
              <a:t>   └──────────────── iterate ─────────────────┘</a:t>
            </a:r>
            <a:endParaRPr/>
          </a:p>
          <a:p xmlns:a="http://schemas.openxmlformats.org/drawingml/2006/main">
            <a:r>
              <a:t>```</a:t>
            </a:r>
            <a:endParaRPr/>
          </a:p>
          <a:p xmlns:a="http://schemas.openxmlformats.org/drawingml/2006/main">
            <a:r>
              <a:t/>
            </a:r>
            <a:endParaRPr/>
          </a:p>
          <a:p xmlns:a="http://schemas.openxmlformats.org/drawingml/2006/main">
            <a:r>
              <a:t>- **Discover:** What problem are we solving? Who feels it most?</a:t>
            </a:r>
            <a:endParaRPr/>
          </a:p>
          <a:p xmlns:a="http://schemas.openxmlformats.org/drawingml/2006/main">
            <a:r>
              <a:t>- **Prioritize:** Use the matrix. Don't skip this.</a:t>
            </a:r>
            <a:endParaRPr/>
          </a:p>
          <a:p xmlns:a="http://schemas.openxmlformats.org/drawingml/2006/main">
            <a:r>
              <a:t>- **Design:** Define inputs, outputs, human review gates, success metrics, and fallback</a:t>
            </a:r>
            <a:endParaRPr/>
          </a:p>
          <a:p xmlns:a="http://schemas.openxmlformats.org/drawingml/2006/main">
            <a:r>
              <a:t>- **Pilot:** Small scope, high observation. 4–8 weeks.</a:t>
            </a:r>
            <a:endParaRPr/>
          </a:p>
          <a:p xmlns:a="http://schemas.openxmlformats.org/drawingml/2006/main">
            <a:r>
              <a:t>- **Evaluate:** Did it work? For whom? What didn't?</a:t>
            </a:r>
            <a:endParaRPr/>
          </a:p>
          <a:p xmlns:a="http://schemas.openxmlformats.org/drawingml/2006/main">
            <a:r>
              <a:t>- **Scale:** Expand with the lessons from pilot baked in</a:t>
            </a:r>
            <a:endParaRPr/>
          </a:p>
          <a:p xmlns:a="http://schemas.openxmlformats.org/drawingml/2006/main">
            <a:r>
              <a:t/>
            </a:r>
            <a:endParaRPr/>
          </a:p>
          <a:p xmlns:a="http://schemas.openxmlformats.org/drawingml/2006/main">
            <a:r>
              <a:t>**One-page use case spec template:**</a:t>
            </a:r>
            <a:endParaRPr/>
          </a:p>
          <a:p xmlns:a="http://schemas.openxmlformats.org/drawingml/2006/main">
            <a:r>
              <a:t/>
            </a:r>
            <a:endParaRPr/>
          </a:p>
          <a:p xmlns:a="http://schemas.openxmlformats.org/drawingml/2006/main">
            <a:r>
              <a:t>Participants complete this for their team's top-ranked use case:</a:t>
            </a:r>
            <a:endParaRPr/>
          </a:p>
          <a:p xmlns:a="http://schemas.openxmlformats.org/drawingml/2006/main">
            <a:r>
              <a:t/>
            </a:r>
            <a:endParaRPr/>
          </a:p>
          <a:p xmlns:a="http://schemas.openxmlformats.org/drawingml/2006/main">
            <a:r>
              <a:t>```</a:t>
            </a:r>
            <a:endParaRPr/>
          </a:p>
          <a:p xmlns:a="http://schemas.openxmlformats.org/drawingml/2006/main">
            <a:r>
              <a:t>Use case name:</a:t>
            </a:r>
            <a:endParaRPr/>
          </a:p>
          <a:p xmlns:a="http://schemas.openxmlformats.org/drawingml/2006/main">
            <a:r>
              <a:t>Problem it solves (1 sentence):</a:t>
            </a:r>
            <a:endParaRPr/>
          </a:p>
          <a:p xmlns:a="http://schemas.openxmlformats.org/drawingml/2006/main">
            <a:r>
              <a:t>Who benefits and how:</a:t>
            </a:r>
            <a:endParaRPr/>
          </a:p>
          <a:p xmlns:a="http://schemas.openxmlformats.org/drawingml/2006/main">
            <a:r>
              <a:t>AI approach (Rules / Augment / Assist / Human-led / Analytics):</a:t>
            </a:r>
            <a:endParaRPr/>
          </a:p>
          <a:p xmlns:a="http://schemas.openxmlformats.org/drawingml/2006/main">
            <a:r>
              <a:t>Data needed:</a:t>
            </a:r>
            <a:endParaRPr/>
          </a:p>
          <a:p xmlns:a="http://schemas.openxmlformats.org/drawingml/2006/main">
            <a:r>
              <a:t>Human review gate:</a:t>
            </a:r>
            <a:endParaRPr/>
          </a:p>
          <a:p xmlns:a="http://schemas.openxmlformats.org/drawingml/2006/main">
            <a:r>
              <a:t>Success metric(s):</a:t>
            </a:r>
            <a:endParaRPr/>
          </a:p>
          <a:p xmlns:a="http://schemas.openxmlformats.org/drawingml/2006/main">
            <a:r>
              <a:t>What could go wrong:</a:t>
            </a:r>
            <a:endParaRPr/>
          </a:p>
          <a:p xmlns:a="http://schemas.openxmlformats.org/drawingml/2006/main">
            <a:r>
              <a:t>Governance requirements (from risk assessment):</a:t>
            </a:r>
            <a:endParaRPr/>
          </a:p>
          <a:p xmlns:a="http://schemas.openxmlformats.org/drawingml/2006/main">
            <a:r>
              <a:t>First step to move forward:</a:t>
            </a:r>
            <a:endParaRPr/>
          </a:p>
          <a:p xmlns:a="http://schemas.openxmlformats.org/drawingml/2006/main">
            <a:r>
              <a:t>```</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Assessment and certification</a:t>
            </a:r>
            <a:endParaRPr/>
          </a:p>
          <a:p xmlns:a="http://schemas.openxmlformats.org/drawingml/2006/main">
            <a:r>
              <a:t/>
            </a:r>
            <a:endParaRPr/>
          </a:p>
          <a:p xmlns:a="http://schemas.openxmlformats.org/drawingml/2006/main">
            <a:r>
              <a:t>An organization may choose to give participants who complete all four modules</a:t>
            </a:r>
            <a:endParaRPr/>
          </a:p>
          <a:p xmlns:a="http://schemas.openxmlformats.org/drawingml/2006/main">
            <a:r>
              <a:t>and the hands-on components an **HR AI Practitioner** acknowledgment. This is a</a:t>
            </a:r>
            <a:endParaRPr/>
          </a:p>
          <a:p xmlns:a="http://schemas.openxmlformats.org/drawingml/2006/main">
            <a:r>
              <a:t>proposed internal recognition, not an accredited certification or evidence of</a:t>
            </a:r>
            <a:endParaRPr/>
          </a:p>
          <a:p xmlns:a="http://schemas.openxmlformats.org/drawingml/2006/main">
            <a:r>
              <a:t>professional competence. No delivery or learning outcome is claimed here.</a:t>
            </a:r>
            <a:endParaRPr/>
          </a:p>
          <a:p xmlns:a="http://schemas.openxmlformats.org/drawingml/2006/main">
            <a:r>
              <a:t/>
            </a:r>
            <a:endParaRPr/>
          </a:p>
          <a:p xmlns:a="http://schemas.openxmlformats.org/drawingml/2006/main">
            <a:r>
              <a:t>Optional extension: Participants who complete a full use case spec and present it to the HR Technology team are recognized as **HR AI Champions**, an informal internal designation that supports peer enablement.</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Facilitator notes</a:t>
            </a:r>
            <a:endParaRPr/>
          </a:p>
          <a:p xmlns:a="http://schemas.openxmlformats.org/drawingml/2006/main">
            <a:r>
              <a:t/>
            </a:r>
            <a:endParaRPr/>
          </a:p>
          <a:p xmlns:a="http://schemas.openxmlformats.org/drawingml/2006/main">
            <a:r>
              <a:t>These are facilitation suggestions, not measured delivery findings. Use synthetic examples; removing names alone does not establish anonymity. Do not upload real employee, candidate, compensation, or employer-confidential information for a training exercise.</a:t>
            </a:r>
            <a:endParaRPr/>
          </a:p>
          <a:p xmlns:a="http://schemas.openxmlformats.org/drawingml/2006/main">
            <a:r>
              <a:t/>
            </a:r>
            <a:endParaRPr/>
          </a:p>
          <a:p xmlns:a="http://schemas.openxmlformats.org/drawingml/2006/main">
            <a:r>
              <a:t>- Budget flex time in Module 3 for questions and disagreement about risk.</a:t>
            </a:r>
            <a:endParaRPr/>
          </a:p>
          <a:p xmlns:a="http://schemas.openxmlformats.org/drawingml/2006/main">
            <a:r>
              <a:t>- Protect time for the Module 2 lab, and check whether participants can identify errors and verify outputs afterward.</a:t>
            </a:r>
            <a:endParaRPr/>
          </a:p>
          <a:p xmlns:a="http://schemas.openxmlformats.org/drawingml/2006/main">
            <a:r>
              <a:t>- Adapt synthetic scenarios to familiar workflows, without identifiable employee cases or confidential documents.</a:t>
            </a:r>
            <a:endParaRPr/>
          </a:p>
          <a:p xmlns:a="http://schemas.openxmlformats.org/drawingml/2006/main">
            <a:r>
              <a:t>- Keep an AI skeptic on the facilitation team if possible. The best discussions happen when the room has range.</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snapshot: 13 October 2026. Curriculum SHA-256: 5ee769258ac9b95a3c514b64dcd5b22215e40bac8621054ffb452bffc244827a. This deck summarizes the source; no human evaluation, delivery outcome or legal approval is claimed.</a:t>
            </a:r>
            <a:endParaRPr/>
          </a:p>
          <a:p xmlns:a="http://schemas.openxmlformats.org/drawingml/2006/main">
            <a:r>
              <a:t/>
            </a:r>
            <a:endParaRPr/>
          </a:p>
          <a:p xmlns:a="http://schemas.openxmlformats.org/drawingml/2006/main">
            <a:r>
              <a:t># HR AI literacy curriculum</a:t>
            </a:r>
            <a:endParaRPr/>
          </a:p>
          <a:p xmlns:a="http://schemas.openxmlformats.org/drawingml/2006/main">
            <a:r>
              <a:t/>
            </a:r>
            <a:endParaRPr/>
          </a:p>
          <a:p xmlns:a="http://schemas.openxmlformats.org/drawingml/2006/main">
            <a:r>
              <a:t>A 4-module learning program for HR professionals at all experience levels. Designed to be delivered as a facilitated series over 4–6 weeks, or adapted for self-paced completion.</a:t>
            </a:r>
            <a:endParaRPr/>
          </a:p>
          <a:p xmlns:a="http://schemas.openxmlformats.org/drawingml/2006/main">
            <a:r>
              <a:t/>
            </a:r>
            <a:endParaRPr/>
          </a:p>
          <a:p xmlns:a="http://schemas.openxmlformats.org/drawingml/2006/main">
            <a:r>
              <a:t>**Total time:** about 7 hours of sessions, plus async reading and hands-on practice (roughly 8 hours in all)</a:t>
            </a:r>
            <a:endParaRPr/>
          </a:p>
          <a:p xmlns:a="http://schemas.openxmlformats.org/drawingml/2006/main">
            <a:r>
              <a:t>**Format:** Workshop + async reading + hands-on practice</a:t>
            </a:r>
            <a:endParaRPr/>
          </a:p>
          <a:p xmlns:a="http://schemas.openxmlformats.org/drawingml/2006/main">
            <a:r>
              <a:t>**Audience:** All People Team members</a:t>
            </a:r>
            <a:endParaRPr/>
          </a:p>
          <a:p xmlns:a="http://schemas.openxmlformats.org/drawingml/2006/main">
            <a:r>
              <a:t>**Prerequisite:** None</a:t>
            </a:r>
            <a:endParaRPr/>
          </a:p>
          <a:p xmlns:a="http://schemas.openxmlformats.org/drawingml/2006/main">
            <a:r>
              <a:t/>
            </a:r>
            <a:endParaRPr/>
          </a:p>
          <a:p xmlns:a="http://schemas.openxmlformats.org/drawingml/2006/main">
            <a:r>
              <a:t>**Lab prerequisite:** The facilitator confirms an organization-approved tool,</a:t>
            </a:r>
            <a:endParaRPr/>
          </a:p>
          <a:p xmlns:a="http://schemas.openxmlformats.org/drawingml/2006/main">
            <a:r>
              <a:t>provider handling, and a synthetic-only data boundary before any exercise.</a:t>
            </a:r>
            <a:endParaRPr/>
          </a:p>
          <a:p xmlns:a="http://schemas.openxmlformats.org/drawingml/2006/main">
            <a:r>
              <a:t>Modules 1-3 and the required governance approvals precede any real-work pilot.</a:t>
            </a:r>
            <a:endParaRPr/>
          </a:p>
          <a:p xmlns:a="http://schemas.openxmlformats.org/drawingml/2006/main">
            <a:r>
              <a:t>This curriculum does not authorize employee-data processing.</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Program overview</a:t>
            </a:r>
            <a:endParaRPr/>
          </a:p>
          <a:p xmlns:a="http://schemas.openxmlformats.org/drawingml/2006/main">
            <a:r>
              <a:t/>
            </a:r>
            <a:endParaRPr/>
          </a:p>
          <a:p xmlns:a="http://schemas.openxmlformats.org/drawingml/2006/main">
            <a:r>
              <a:t>| Module | Title | Duration | Format |</a:t>
            </a:r>
            <a:endParaRPr/>
          </a:p>
          <a:p xmlns:a="http://schemas.openxmlformats.org/drawingml/2006/main">
            <a:r>
              <a:t>|---|---|---|---|</a:t>
            </a:r>
            <a:endParaRPr/>
          </a:p>
          <a:p xmlns:a="http://schemas.openxmlformats.org/drawingml/2006/main">
            <a:r>
              <a:t>| 1 | How AI works, what HR professionals actually need to know | 90 min | Workshop |</a:t>
            </a:r>
            <a:endParaRPr/>
          </a:p>
          <a:p xmlns:a="http://schemas.openxmlformats.org/drawingml/2006/main">
            <a:r>
              <a:t>| 2 | Using AI in your daily HR work | 2 hours | Workshop + lab |</a:t>
            </a:r>
            <a:endParaRPr/>
          </a:p>
          <a:p xmlns:a="http://schemas.openxmlformats.org/drawingml/2006/main">
            <a:r>
              <a:t>| 3 | Governance, ethics, and responsible use | 90 min | Workshop |</a:t>
            </a:r>
            <a:endParaRPr/>
          </a:p>
          <a:p xmlns:a="http://schemas.openxmlformats.org/drawingml/2006/main">
            <a:r>
              <a:t>| 4 | Building and scaling AI use cases | 2 hours | Workshop + project |</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1: How AI works, what HR professionals actually need to know</a:t>
            </a:r>
            <a:endParaRPr/>
          </a:p>
          <a:p xmlns:a="http://schemas.openxmlformats.org/drawingml/2006/main">
            <a:r>
              <a:t/>
            </a:r>
            <a:endParaRPr/>
          </a:p>
          <a:p xmlns:a="http://schemas.openxmlformats.org/drawingml/2006/main">
            <a:r>
              <a:t>**Learning objectives:**</a:t>
            </a:r>
            <a:endParaRPr/>
          </a:p>
          <a:p xmlns:a="http://schemas.openxmlformats.org/drawingml/2006/main">
            <a:r>
              <a:t>- Explain the difference between traditional automation and generative AI</a:t>
            </a:r>
            <a:endParaRPr/>
          </a:p>
          <a:p xmlns:a="http://schemas.openxmlformats.org/drawingml/2006/main">
            <a:r>
              <a:t>- Describe why AI "hallucinates" and how to mitigate it in HR contexts</a:t>
            </a:r>
            <a:endParaRPr/>
          </a:p>
          <a:p xmlns:a="http://schemas.openxmlformats.org/drawingml/2006/main">
            <a:r>
              <a:t>- Identify which HR tasks are good candidates for AI assistance and which are not</a:t>
            </a:r>
            <a:endParaRPr/>
          </a:p>
          <a:p xmlns:a="http://schemas.openxmlformats.org/drawingml/2006/main">
            <a:r>
              <a:t/>
            </a:r>
            <a:endParaRPr/>
          </a:p>
          <a:p xmlns:a="http://schemas.openxmlformats.org/drawingml/2006/main">
            <a:r>
              <a:t>**Session outline (90 minutes):**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0:00–0:10 | Opening: What do you already believe about AI? (quick poll + discussion) |</a:t>
            </a:r>
            <a:endParaRPr/>
          </a:p>
          <a:p xmlns:a="http://schemas.openxmlformats.org/drawingml/2006/main">
            <a:r>
              <a:t>| 0:10–0:30 | Concept: How LLMs work, without the jargon (facilitator presentation) |</a:t>
            </a:r>
            <a:endParaRPr/>
          </a:p>
          <a:p xmlns:a="http://schemas.openxmlformats.org/drawingml/2006/main">
            <a:r>
              <a:t>| 0:30–0:45 | Concept: Hallucination, confidence, and why AI makes things up |</a:t>
            </a:r>
            <a:endParaRPr/>
          </a:p>
          <a:p xmlns:a="http://schemas.openxmlformats.org/drawingml/2006/main">
            <a:r>
              <a:t>| 0:45–1:05 | Exercise: Spot the hallucination (participants identify errors in AI-generated HR content) |</a:t>
            </a:r>
            <a:endParaRPr/>
          </a:p>
          <a:p xmlns:a="http://schemas.openxmlformats.org/drawingml/2006/main">
            <a:r>
              <a:t>| 1:05–1:20 | Discussion: Where should HR use AI? Where should we be cautious? |</a:t>
            </a:r>
            <a:endParaRPr/>
          </a:p>
          <a:p xmlns:a="http://schemas.openxmlformats.org/drawingml/2006/main">
            <a:r>
              <a:t>| 1:20–1:30 | Wrap-up + homework: Try one AI tool before next session |</a:t>
            </a:r>
            <a:endParaRPr/>
          </a:p>
          <a:p xmlns:a="http://schemas.openxmlformats.org/drawingml/2006/main">
            <a:r>
              <a:t/>
            </a:r>
            <a:endParaRPr/>
          </a:p>
          <a:p xmlns:a="http://schemas.openxmlformats.org/drawingml/2006/main">
            <a:r>
              <a:t>**Key concepts to cover:**</a:t>
            </a:r>
            <a:endParaRPr/>
          </a:p>
          <a:p xmlns:a="http://schemas.openxmlformats.org/drawingml/2006/main">
            <a:r>
              <a:t/>
            </a:r>
            <a:endParaRPr/>
          </a:p>
          <a:p xmlns:a="http://schemas.openxmlformats.org/drawingml/2006/main">
            <a:r>
              <a:t>*What LLMs actually are:*</a:t>
            </a:r>
            <a:endParaRPr/>
          </a:p>
          <a:p xmlns:a="http://schemas.openxmlformats.org/drawingml/2006/main">
            <a:r>
              <a:t>Large language models predict the next most likely word given context. They don't "know" things the way a database knows things, they pattern-match against training data. This is why they can sound authoritative while being wrong.</a:t>
            </a:r>
            <a:endParaRPr/>
          </a:p>
          <a:p xmlns:a="http://schemas.openxmlformats.org/drawingml/2006/main">
            <a:r>
              <a:t/>
            </a:r>
            <a:endParaRPr/>
          </a:p>
          <a:p xmlns:a="http://schemas.openxmlformats.org/drawingml/2006/main">
            <a:r>
              <a:t>*The spectrum from rules to agents:*</a:t>
            </a:r>
            <a:endParaRPr/>
          </a:p>
          <a:p xmlns:a="http://schemas.openxmlformats.org/drawingml/2006/main">
            <a:r>
              <a:t>```</a:t>
            </a:r>
            <a:endParaRPr/>
          </a:p>
          <a:p xmlns:a="http://schemas.openxmlformats.org/drawingml/2006/main">
            <a:r>
              <a:t>Rules            →  Assist / Augment              →  Agent</a:t>
            </a:r>
            <a:endParaRPr/>
          </a:p>
          <a:p xmlns:a="http://schemas.openxmlformats.org/drawingml/2006/main">
            <a:r>
              <a:t>(deterministic)     (a person decides or owns)       (a model acts across several steps)</a:t>
            </a:r>
            <a:endParaRPr/>
          </a:p>
          <a:p xmlns:a="http://schemas.openxmlformats.org/drawingml/2006/main">
            <a:r>
              <a:t>```</a:t>
            </a:r>
            <a:endParaRPr/>
          </a:p>
          <a:p xmlns:a="http://schemas.openxmlformats.org/drawingml/2006/main">
            <a:r>
              <a:t>Use rules when rules reliably give the right answer. Most HR uses of AI belong in the middle. An agent, where a model takes several actions through tools with limited review between them, has to earn that autonomy through evidence and brings new governance requirements.</a:t>
            </a:r>
            <a:endParaRPr/>
          </a:p>
          <a:p xmlns:a="http://schemas.openxmlformats.org/drawingml/2006/main">
            <a:r>
              <a:t/>
            </a:r>
            <a:endParaRPr/>
          </a:p>
          <a:p xmlns:a="http://schemas.openxmlformats.org/drawingml/2006/main">
            <a:r>
              <a:t>*Prompt quality drives output quality:*</a:t>
            </a:r>
            <a:endParaRPr/>
          </a:p>
          <a:p xmlns:a="http://schemas.openxmlformats.org/drawingml/2006/main">
            <a:r>
              <a:t>Clear prompts help define a task and its boundaries. Output quality also depends on the model, source material, workflow controls, and verification. A well-written prompt does not establish factual accuracy or safe HR judgment.</a:t>
            </a:r>
            <a:endParaRPr/>
          </a:p>
          <a:p xmlns:a="http://schemas.openxmlformats.org/drawingml/2006/main">
            <a:r>
              <a:t/>
            </a:r>
            <a:endParaRPr/>
          </a:p>
          <a:p xmlns:a="http://schemas.openxmlformats.org/drawingml/2006/main">
            <a:r>
              <a:t>**Pre-reading (assign before session):**</a:t>
            </a:r>
            <a:endParaRPr/>
          </a:p>
          <a:p xmlns:a="http://schemas.openxmlformats.org/drawingml/2006/main">
            <a:r>
              <a:t>- [Your organization's AI use policy](../03-governance/ai-use-policy.md)</a:t>
            </a:r>
            <a:endParaRPr/>
          </a:p>
          <a:p xmlns:a="http://schemas.openxmlformats.org/drawingml/2006/main">
            <a:r>
              <a:t>- One-page primer on generative AI for non-technical audiences (create or source)</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2: Using AI in your daily HR work</a:t>
            </a:r>
            <a:endParaRPr/>
          </a:p>
          <a:p xmlns:a="http://schemas.openxmlformats.org/drawingml/2006/main">
            <a:r>
              <a:t/>
            </a:r>
            <a:endParaRPr/>
          </a:p>
          <a:p xmlns:a="http://schemas.openxmlformats.org/drawingml/2006/main">
            <a:r>
              <a:t>**Learning objectives:**</a:t>
            </a:r>
            <a:endParaRPr/>
          </a:p>
          <a:p xmlns:a="http://schemas.openxmlformats.org/drawingml/2006/main">
            <a:r>
              <a:t>- Write effective prompts for HR use cases</a:t>
            </a:r>
            <a:endParaRPr/>
          </a:p>
          <a:p xmlns:a="http://schemas.openxmlformats.org/drawingml/2006/main">
            <a:r>
              <a:t>- Use the prompt library for at least 3 HR workflows</a:t>
            </a:r>
            <a:endParaRPr/>
          </a:p>
          <a:p xmlns:a="http://schemas.openxmlformats.org/drawingml/2006/main">
            <a:r>
              <a:t>- Identify when to use AI, when to verify AI output, and when not to use it</a:t>
            </a:r>
            <a:endParaRPr/>
          </a:p>
          <a:p xmlns:a="http://schemas.openxmlformats.org/drawingml/2006/main">
            <a:r>
              <a:t/>
            </a:r>
            <a:endParaRPr/>
          </a:p>
          <a:p xmlns:a="http://schemas.openxmlformats.org/drawingml/2006/main">
            <a:r>
              <a:t>**Session outline (2 hours including lab):**</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Share-back from Module 1 homework, what did you try, what happened? |</a:t>
            </a:r>
            <a:endParaRPr/>
          </a:p>
          <a:p xmlns:a="http://schemas.openxmlformats.org/drawingml/2006/main">
            <a:r>
              <a:t>| 0:15–0:45 | Prompt engineering for HR: the four elements of a good prompt |</a:t>
            </a:r>
            <a:endParaRPr/>
          </a:p>
          <a:p xmlns:a="http://schemas.openxmlformats.org/drawingml/2006/main">
            <a:r>
              <a:t>| 0:45–1:10 | Live demo: Onboarding plan, performance review draft, policy Q&amp;A |</a:t>
            </a:r>
            <a:endParaRPr/>
          </a:p>
          <a:p xmlns:a="http://schemas.openxmlformats.org/drawingml/2006/main">
            <a:r>
              <a:t>| 1:10–1:50 | Hands-on lab: Each participant works through 2 prompts using synthetic HR scenarios in organization-approved tools |</a:t>
            </a:r>
            <a:endParaRPr/>
          </a:p>
          <a:p xmlns:a="http://schemas.openxmlformats.org/drawingml/2006/main">
            <a:r>
              <a:t>| 1:50–2:00 | Debrief: What surprised you? What didn't work? |</a:t>
            </a:r>
            <a:endParaRPr/>
          </a:p>
          <a:p xmlns:a="http://schemas.openxmlformats.org/drawingml/2006/main">
            <a:r>
              <a:t/>
            </a:r>
            <a:endParaRPr/>
          </a:p>
          <a:p xmlns:a="http://schemas.openxmlformats.org/drawingml/2006/main">
            <a:r>
              <a:t>**The four elements of an effective HR prompt:**</a:t>
            </a:r>
            <a:endParaRPr/>
          </a:p>
          <a:p xmlns:a="http://schemas.openxmlformats.org/drawingml/2006/main">
            <a:r>
              <a:t/>
            </a:r>
            <a:endParaRPr/>
          </a:p>
          <a:p xmlns:a="http://schemas.openxmlformats.org/drawingml/2006/main">
            <a:r>
              <a:t>1. **Role**: Define the task perspective, such as drafting support for an HRBP. A role instruction does not give the model professional authority.</a:t>
            </a:r>
            <a:endParaRPr/>
          </a:p>
          <a:p xmlns:a="http://schemas.openxmlformats.org/drawingml/2006/main">
            <a:r>
              <a:t/>
            </a:r>
            <a:endParaRPr/>
          </a:p>
          <a:p xmlns:a="http://schemas.openxmlformats.org/drawingml/2006/main">
            <a:r>
              <a:t>2. **Context**: Provide the specific details the AI needs. Role, tenure, team size, situation. Don't make the AI guess.</a:t>
            </a:r>
            <a:endParaRPr/>
          </a:p>
          <a:p xmlns:a="http://schemas.openxmlformats.org/drawingml/2006/main">
            <a:r>
              <a:t/>
            </a:r>
            <a:endParaRPr/>
          </a:p>
          <a:p xmlns:a="http://schemas.openxmlformats.org/drawingml/2006/main">
            <a:r>
              <a:t>3. **Task**: State clearly what you want it to produce. One output per prompt. "Draft a..." is clearer than "Help me with..."</a:t>
            </a:r>
            <a:endParaRPr/>
          </a:p>
          <a:p xmlns:a="http://schemas.openxmlformats.org/drawingml/2006/main">
            <a:r>
              <a:t/>
            </a:r>
            <a:endParaRPr/>
          </a:p>
          <a:p xmlns:a="http://schemas.openxmlformats.org/drawingml/2006/main">
            <a:r>
              <a:t>4. **Constraints**: Define length, tone, format, exclusions, and the verification needed. Check whether the output follows them.</a:t>
            </a:r>
            <a:endParaRPr/>
          </a:p>
          <a:p xmlns:a="http://schemas.openxmlformats.org/drawingml/2006/main">
            <a:r>
              <a:t/>
            </a:r>
            <a:endParaRPr/>
          </a:p>
          <a:p xmlns:a="http://schemas.openxmlformats.org/drawingml/2006/main">
            <a:r>
              <a:t>**Lab instructions:**</a:t>
            </a:r>
            <a:endParaRPr/>
          </a:p>
          <a:p xmlns:a="http://schemas.openxmlformats.org/drawingml/2006/main">
            <a:r>
              <a:t/>
            </a:r>
            <a:endParaRPr/>
          </a:p>
          <a:p xmlns:a="http://schemas.openxmlformats.org/drawingml/2006/main">
            <a:r>
              <a:t>Participants choose 2 prompts from the library that are relevant to their current work:</a:t>
            </a:r>
            <a:endParaRPr/>
          </a:p>
          <a:p xmlns:a="http://schemas.openxmlformats.org/drawingml/2006/main">
            <a:r>
              <a:t>1. Run the prompt with a fictional HR scenario in an organization-approved tool. Do not upload real employee, candidate, compensation, or confidential employer information.</a:t>
            </a:r>
            <a:endParaRPr/>
          </a:p>
          <a:p xmlns:a="http://schemas.openxmlformats.org/drawingml/2006/main">
            <a:r>
              <a:t>2. Evaluate the output: What's useful? What's wrong or missing? What would you change before using it?</a:t>
            </a:r>
            <a:endParaRPr/>
          </a:p>
          <a:p xmlns:a="http://schemas.openxmlformats.org/drawingml/2006/main">
            <a:r>
              <a:t>3. Iterate: Modify the prompt once based on what you learned and run it again</a:t>
            </a:r>
            <a:endParaRPr/>
          </a:p>
          <a:p xmlns:a="http://schemas.openxmlformats.org/drawingml/2006/main">
            <a:r>
              <a:t>4. Note: What changed between run 1 and run 2?</a:t>
            </a:r>
            <a:endParaRPr/>
          </a:p>
          <a:p xmlns:a="http://schemas.openxmlformats.org/drawingml/2006/main">
            <a:r>
              <a:t/>
            </a:r>
            <a:endParaRPr/>
          </a:p>
          <a:p xmlns:a="http://schemas.openxmlformats.org/drawingml/2006/main">
            <a:r>
              <a:t>**The verify-before-use rule:**</a:t>
            </a:r>
            <a:endParaRPr/>
          </a:p>
          <a:p xmlns:a="http://schemas.openxmlformats.org/drawingml/2006/main">
            <a:r>
              <a:t/>
            </a:r>
            <a:endParaRPr/>
          </a:p>
          <a:p xmlns:a="http://schemas.openxmlformats.org/drawingml/2006/main">
            <a:r>
              <a:t>Introduce and reinforce this heuristic:</a:t>
            </a:r>
            <a:endParaRPr/>
          </a:p>
          <a:p xmlns:a="http://schemas.openxmlformats.org/drawingml/2006/main">
            <a:r>
              <a:t>- Policy details → always verify against source system before sharing</a:t>
            </a:r>
            <a:endParaRPr/>
          </a:p>
          <a:p xmlns:a="http://schemas.openxmlformats.org/drawingml/2006/main">
            <a:r>
              <a:t>- Legal requirements → always verify with Legal before relying on</a:t>
            </a:r>
            <a:endParaRPr/>
          </a:p>
          <a:p xmlns:a="http://schemas.openxmlformats.org/drawingml/2006/main">
            <a:r>
              <a:t>- Factual claims → spot-check against a known source</a:t>
            </a:r>
            <a:endParaRPr/>
          </a:p>
          <a:p xmlns:a="http://schemas.openxmlformats.org/drawingml/2006/main">
            <a:r>
              <a:t>- Tone and content → always read before sending; AI doesn't know your audience</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3: Governance, ethics, and responsible use</a:t>
            </a:r>
            <a:endParaRPr/>
          </a:p>
          <a:p xmlns:a="http://schemas.openxmlformats.org/drawingml/2006/main">
            <a:r>
              <a:t/>
            </a:r>
            <a:endParaRPr/>
          </a:p>
          <a:p xmlns:a="http://schemas.openxmlformats.org/drawingml/2006/main">
            <a:r>
              <a:t>**Learning objectives:**</a:t>
            </a:r>
            <a:endParaRPr/>
          </a:p>
          <a:p xmlns:a="http://schemas.openxmlformats.org/drawingml/2006/main">
            <a:r>
              <a:t>- Apply the organization's AI use policy to real HR scenarios</a:t>
            </a:r>
            <a:endParaRPr/>
          </a:p>
          <a:p xmlns:a="http://schemas.openxmlformats.org/drawingml/2006/main">
            <a:r>
              <a:t>- Identify the key legal risk areas in HR AI (bias, privacy, employment law)</a:t>
            </a:r>
            <a:endParaRPr/>
          </a:p>
          <a:p xmlns:a="http://schemas.openxmlformats.org/drawingml/2006/main">
            <a:r>
              <a:t>- Complete a basic risk assessment for a new use case</a:t>
            </a:r>
            <a:endParaRPr/>
          </a:p>
          <a:p xmlns:a="http://schemas.openxmlformats.org/drawingml/2006/main">
            <a:r>
              <a:t/>
            </a:r>
            <a:endParaRPr/>
          </a:p>
          <a:p xmlns:a="http://schemas.openxmlformats.org/drawingml/2006/main">
            <a:r>
              <a:t>**Session outline (90 minutes):**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Case study: Three HR AI failures and what we can learn (discussion) |</a:t>
            </a:r>
            <a:endParaRPr/>
          </a:p>
          <a:p xmlns:a="http://schemas.openxmlformats.org/drawingml/2006/main">
            <a:r>
              <a:t>| 0:15–0:40 | Framework: What makes AI use in HR risky? Legal and ethical dimensions |</a:t>
            </a:r>
            <a:endParaRPr/>
          </a:p>
          <a:p xmlns:a="http://schemas.openxmlformats.org/drawingml/2006/main">
            <a:r>
              <a:t>| 0:40–1:00 | Scenario practice: Is this use case okay? (small groups, 4 scenarios) |</a:t>
            </a:r>
            <a:endParaRPr/>
          </a:p>
          <a:p xmlns:a="http://schemas.openxmlformats.org/drawingml/2006/main">
            <a:r>
              <a:t>| 1:00–1:20 | Walk-through: The risk assessment template |</a:t>
            </a:r>
            <a:endParaRPr/>
          </a:p>
          <a:p xmlns:a="http://schemas.openxmlformats.org/drawingml/2006/main">
            <a:r>
              <a:t>| 1:20–1:30 | Q&amp;A + open discussion |</a:t>
            </a:r>
            <a:endParaRPr/>
          </a:p>
          <a:p xmlns:a="http://schemas.openxmlformats.org/drawingml/2006/main">
            <a:r>
              <a:t/>
            </a:r>
            <a:endParaRPr/>
          </a:p>
          <a:p xmlns:a="http://schemas.openxmlformats.org/drawingml/2006/main">
            <a:r>
              <a:t>&gt; **Note on regulatory currency:** Use the [Key dates for HR](../03-governance/README.md#key-dates-for-hr) and its linked primary sources as the dated reference. The slides summarize risk questions; they are not a complete legal reference. Have Legal verify jurisdiction, scope, obligations, and effective dates before delivery or adoption.</a:t>
            </a:r>
            <a:endParaRPr/>
          </a:p>
          <a:p xmlns:a="http://schemas.openxmlformats.org/drawingml/2006/main">
            <a:r>
              <a:t/>
            </a:r>
            <a:endParaRPr/>
          </a:p>
          <a:p xmlns:a="http://schemas.openxmlformats.org/drawingml/2006/main">
            <a:r>
              <a:t>**Key legal risk areas to cover:**</a:t>
            </a:r>
            <a:endParaRPr/>
          </a:p>
          <a:p xmlns:a="http://schemas.openxmlformats.org/drawingml/2006/main">
            <a:r>
              <a:t/>
            </a:r>
            <a:endParaRPr/>
          </a:p>
          <a:p xmlns:a="http://schemas.openxmlformats.org/drawingml/2006/main">
            <a:r>
              <a:t>*Bias and disparate impact:*</a:t>
            </a:r>
            <a:endParaRPr/>
          </a:p>
          <a:p xmlns:a="http://schemas.openxmlformats.org/drawingml/2006/main">
            <a:r>
              <a:t>AI trained on historical HR data can encode and amplify past discrimination. A history in which 80% of engineering hires were male is a reason to examine labels, features, selection effects, and group outcomes; that proportion alone does not determine how a model will score resumes. Adverse impact testing is a core control. It is required by law in some jurisdictions (NYC Local Law 144 mandates an annual bias audit for covered tools) and expected as evidence of reasonable care in many others. Confirm the cadence with Legal. See the [NIST AI RMF](https://www.nist.gov/itl/ai-risk-management-framework).</a:t>
            </a:r>
            <a:endParaRPr/>
          </a:p>
          <a:p xmlns:a="http://schemas.openxmlformats.org/drawingml/2006/main">
            <a:r>
              <a:t/>
            </a:r>
            <a:endParaRPr/>
          </a:p>
          <a:p xmlns:a="http://schemas.openxmlformats.org/drawingml/2006/main">
            <a:r>
              <a:t>*Illinois AI Video Interview Act, NYC Local Law 144, and emerging state laws:*</a:t>
            </a:r>
            <a:endParaRPr/>
          </a:p>
          <a:p xmlns:a="http://schemas.openxmlformats.org/drawingml/2006/main">
            <a:r>
              <a:t>Several jurisdictions now require disclosure, impact assessments, or consent for AI use in hiring. Illinois's AI Video Interview Act ([820 ILCS 42](https://www.ilga.gov/Legislation/ILCS/Articles?ActID=4015&amp;ChapterID=68)) governs AI analysis of recorded video interviews, including notice and consent before the interview. Confirm its current requirements against the statute before relying on them. Illinois also amended its Human Rights Act via HB 3773 (effective January 1, 2026) to broadly prohibit discriminatory AI use in hiring and promotion, not just video interviews. A companion law, Public Act 104-0425 (SB 2487, effective January 1, 2026), gives the Human Rights Commission tiered civil penalty authority for violations: up to $16,000 for a first offense, up to $42,500 with one prior violation within five years, up to $70,000 for two or more within seven years. The regulatory landscape is shifting quickly. Use cases involving hiring must be reviewed against current state law.</a:t>
            </a:r>
            <a:endParaRPr/>
          </a:p>
          <a:p xmlns:a="http://schemas.openxmlformats.org/drawingml/2006/main">
            <a:r>
              <a:t/>
            </a:r>
            <a:endParaRPr/>
          </a:p>
          <a:p xmlns:a="http://schemas.openxmlformats.org/drawingml/2006/main">
            <a:r>
              <a:t>NYC Local Law 144 enforcement is entering a stricter phase. A December 2025 NY State Comptroller audit found DCWP's enforcement "ineffective": DCWP's own review of 32 companies' bias-audit disclosures caught 1 likely non-compliance issue, where the Comptroller's review of the same 32 found at least 17. Expect more investigations and higher penalties as DCWP responds to the audit's recommendations, not just the disclosure-and-audit paperwork the law describes on paper.</a:t>
            </a:r>
            <a:endParaRPr/>
          </a:p>
          <a:p xmlns:a="http://schemas.openxmlformats.org/drawingml/2006/main">
            <a:r>
              <a:t/>
            </a:r>
            <a:endParaRPr/>
          </a:p>
          <a:p xmlns:a="http://schemas.openxmlformats.org/drawingml/2006/main">
            <a:r>
              <a:t>*Colorado's Automated Decision-Making Technology Act:*</a:t>
            </a:r>
            <a:endParaRPr/>
          </a:p>
          <a:p xmlns:a="http://schemas.openxmlformats.org/drawingml/2006/main">
            <a:r>
              <a:t>Colorado SB26-189 (signed 14 May 2026, Colo. Sess. Laws ch. 131) repeals and replaces the state's 2024 AI consumer protection law. It covers "consequential decisions," including employment, made using automated decision-making technology (ADMT) that materially influences the outcome. Starting January 1, 2027, developers must give deployers technical documentation on intended use, training data categories, known limitations, and human review instructions. Deployers will owe consumers notice at the point of interaction, and within 30 days of any adverse consequential decision, a plain-language explanation plus the right to request human review and reconsideration. Records must be retained 3 years. The attorney general enforces under the Colorado Consumer Protection Act, with a 60-day cure period through January 1, 2030.</a:t>
            </a:r>
            <a:endParaRPr/>
          </a:p>
          <a:p xmlns:a="http://schemas.openxmlformats.org/drawingml/2006/main">
            <a:r>
              <a:t/>
            </a:r>
            <a:endParaRPr/>
          </a:p>
          <a:p xmlns:a="http://schemas.openxmlformats.org/drawingml/2006/main">
            <a:r>
              <a:t>*Connecticut: AI Responsibility and Transparency Act (Public Act 26-15):*</a:t>
            </a:r>
            <a:endParaRPr/>
          </a:p>
          <a:p xmlns:a="http://schemas.openxmlformats.org/drawingml/2006/main">
            <a:r>
              <a:t>Connecticut's SB 5 became Public Act 26-15 in June 2026. It is the most comprehensive state AI employment statute enacted so far, and it phases in across two years. Read the dates carefully, because the parts that bite first are not the disclosure rules.</a:t>
            </a:r>
            <a:endParaRPr/>
          </a:p>
          <a:p xmlns:a="http://schemas.openxmlformats.org/drawingml/2006/main">
            <a:r>
              <a:t/>
            </a:r>
            <a:endParaRPr/>
          </a:p>
          <a:p xmlns:a="http://schemas.openxmlformats.org/drawingml/2006/main">
            <a:r>
              <a:t>Live October 1, 2026:</a:t>
            </a:r>
            <a:endParaRPr/>
          </a:p>
          <a:p xmlns:a="http://schemas.openxmlformats.org/drawingml/2006/main">
            <a:r>
              <a:t/>
            </a:r>
            <a:endParaRPr/>
          </a:p>
          <a:p xmlns:a="http://schemas.openxmlformats.org/drawingml/2006/main">
            <a:r>
              <a:t>- **AI is not a defense.** Sections 13 and 14 amend Conn. Gen. Stat. 46a-60 so that using an automated employment-related decision technology is not a defense against a discrimination complaint. The commission or court may consider the quality, efficacy, recency, and scope of anti-bias testing, its results, and the employer's response. This does not establish that a stale audit is always worse than no audit, or that testing guarantees a favorable legal outcome. Preserve the testing evidence and corrective actions for counsel review. Source: [Public Act 26-15](https://www.cga.ct.gov/2026/ACT/PA/PDF/2026PA-00015-R00SB-00005-PA.PDF).</a:t>
            </a:r>
            <a:endParaRPr/>
          </a:p>
          <a:p xmlns:a="http://schemas.openxmlformats.org/drawingml/2006/main">
            <a:r>
              <a:t>- **WARN notices.** Section 26 requires any employer serving a federal WARN notice under 29 USC 2102(a) to disclose to the Connecticut Labor Department whether the layoffs relate to the employer's use of AI or other technological change. Note the disclosure runs to the department, not to affected employees.</a:t>
            </a:r>
            <a:endParaRPr/>
          </a:p>
          <a:p xmlns:a="http://schemas.openxmlformats.org/drawingml/2006/main">
            <a:r>
              <a:t/>
            </a:r>
            <a:endParaRPr/>
          </a:p>
          <a:p xmlns:a="http://schemas.openxmlformats.org/drawingml/2006/main">
            <a:r>
              <a:t>Live October 1, 2027 (sections 7 to 12 take effect in 2026, but the duties attach only to technology deployed on or after October 1, 2027):</a:t>
            </a:r>
            <a:endParaRPr/>
          </a:p>
          <a:p xmlns:a="http://schemas.openxmlformats.org/drawingml/2006/main">
            <a:r>
              <a:t/>
            </a:r>
            <a:endParaRPr/>
          </a:p>
          <a:p xmlns:a="http://schemas.openxmlformats.org/drawingml/2006/main">
            <a:r>
              <a:t>- Scope is set by "substantial factor," defined as a factor that meaningfully alters the outcome of an employment-related decision. Covered decisions are hiring, promotion, discipline, discharge, renewal, selection for training or apprenticeship, and terms, privileges or conditions of employment. Carved out: nonmaterial changes to job tasks or hours, and decisions about workplace health and safety, scheduling, and productivity monitoring.</a:t>
            </a:r>
            <a:endParaRPr/>
          </a:p>
          <a:p xmlns:a="http://schemas.openxmlformats.org/drawingml/2006/main">
            <a:r>
              <a:t>- Developers must give deployers the information deployers need to meet their duties, but only where the tool was advertised, marketed, configured, contracted for, sold, or licensed to materially influence an employment decision.</a:t>
            </a:r>
            <a:endParaRPr/>
          </a:p>
          <a:p xmlns:a="http://schemas.openxmlformats.org/drawingml/2006/main">
            <a:r>
              <a:t>- Deployers must disclose in plain language when an employee or applicant is interacting with the technology, unless a reasonable person would find it obvious.</a:t>
            </a:r>
            <a:endParaRPr/>
          </a:p>
          <a:p xmlns:a="http://schemas.openxmlformats.org/drawingml/2006/main">
            <a:r>
              <a:t>- Before the decision is made, deployers must give written notice covering six specific points: that the technology was deployed, its purpose and the nature of the decision, the tool's trade name, the categories of personal data analyzed and how they will be assessed, the sources of that data, and deployer contact information.</a:t>
            </a:r>
            <a:endParaRPr/>
          </a:p>
          <a:p xmlns:a="http://schemas.openxmlformats.org/drawingml/2006/main">
            <a:r>
              <a:t>- Trade secrets can be withheld, but the withholding party must send notice saying what is being withheld and why.</a:t>
            </a:r>
            <a:endParaRPr/>
          </a:p>
          <a:p xmlns:a="http://schemas.openxmlformats.org/drawingml/2006/main">
            <a:r>
              <a:t/>
            </a:r>
            <a:endParaRPr/>
          </a:p>
          <a:p xmlns:a="http://schemas.openxmlformats.org/drawingml/2006/main">
            <a:r>
              <a:t>Enforcement is narrower than the obligations suggest: violations are unfair or deceptive trade practices under CUTPA, enforced **solely by the Attorney General**, with an explicit statement that the act creates **no private right of action**. Violations occurring on or before December 31, 2027 carry a 60-day cure period.</a:t>
            </a:r>
            <a:endParaRPr/>
          </a:p>
          <a:p xmlns:a="http://schemas.openxmlformats.org/drawingml/2006/main">
            <a:r>
              <a:t/>
            </a:r>
            <a:endParaRPr/>
          </a:p>
          <a:p xmlns:a="http://schemas.openxmlformats.org/drawingml/2006/main">
            <a:r>
              <a:t>One provision to catch in procurement: Section 8(c) lets a developer contract to assume the deployer's disclosure and notice duties, provided the contract is explicit about which duties transfer. That is a negotiating lever worth asking every vendor about. See the [vendor intake checklist](../03-governance/vendor-intake-checklist.md).</a:t>
            </a:r>
            <a:endParaRPr/>
          </a:p>
          <a:p xmlns:a="http://schemas.openxmlformats.org/drawingml/2006/main">
            <a:r>
              <a:t/>
            </a:r>
            <a:endParaRPr/>
          </a:p>
          <a:p xmlns:a="http://schemas.openxmlformats.org/drawingml/2006/main">
            <a:r>
              <a:t>*California: FEHA algorithmic discrimination rules and CPPA ADMT regulations:*</a:t>
            </a:r>
            <a:endParaRPr/>
          </a:p>
          <a:p xmlns:a="http://schemas.openxmlformats.org/drawingml/2006/main">
            <a:r>
              <a:t>The Civil Rights Council's FEHA regulations on automated decision systems took effect October 1, 2025: they prohibit AI-driven disparate treatment or disparate impact in employment decisions, require four years of recordkeeping, and hold employers liable for discriminatory outcomes even when the tool comes from a third-party vendor. Separately, the [CPPA regulation package](https://cppa.ca.gov/announcements/2025/20250923.html) took effect January 1, 2026. Covered businesses must begin risk-assessment compliance in 2026; ADMT notice and consumer-rights compliance begins January 1, 2027. These dates govern different duties. Review the [final regulations](https://cppa.ca.gov/regulations/ccpa_updates.html) for scope, opt-out exceptions, appeal conditions, and transition rules for processing already underway.</a:t>
            </a:r>
            <a:endParaRPr/>
          </a:p>
          <a:p xmlns:a="http://schemas.openxmlformats.org/drawingml/2006/main">
            <a:r>
              <a:t/>
            </a:r>
            <a:endParaRPr/>
          </a:p>
          <a:p xmlns:a="http://schemas.openxmlformats.org/drawingml/2006/main">
            <a:r>
              <a:t>Four California workplace bills were approved and chaptered on 30 September 2026. All four are enacted law, with obligations beginning in 2027. The chaptered texts were reviewed on 9 October 2026. AB 1883, SB 951, and AB 1331 take effect on 1 January 2027 under [California Constitution Article IV, section 8(c)(1)](https://leginfo.legislature.ca.gov/faces/codes_displayText.xhtml?lawCode=CONS&amp;division=&amp;title=&amp;part=&amp;chapter=&amp;article=IV); none contains an urgency clause or a later operative-date provision. SB 947 takes effect on that date but expressly makes its new Labor Code part operative on 1 July 2027. See the [source register](../03-governance/claims/california-workplace-laws.json) and the [Governor's signing announcement](https://www.gov.ca.gov/2026/09/30/californias-nation-leading-ai-framework-just-got-stronger-governor-newsom-signs-more-first-in-the-nation-worker-protections-and-more/).</a:t>
            </a:r>
            <a:endParaRPr/>
          </a:p>
          <a:p xmlns:a="http://schemas.openxmlformats.org/drawingml/2006/main">
            <a:r>
              <a:t/>
            </a:r>
            <a:endParaRPr/>
          </a:p>
          <a:p xmlns:a="http://schemas.openxmlformats.org/drawingml/2006/main">
            <a:r>
              <a:t>- **[AB 1883](https://leginfo.legislature.ca.gov/faces/billNavClient.xhtml?bill_id=202520260AB1883)** (workplace surveillance tools, Chapter 853, Statutes of 2026) adds Labor Code Part 5.8 to bar employers from using AI-driven surveillance tools to recognize or infer an employee's emotional state, or to collect neural data, meaning data measured from the central or peripheral nervous system and not inferred from nonneural information. Safety uses are preserved, and there is a narrow carve-out for federally mandated aerospace and national security work. Enforcement runs through the Labor Commissioner or a public prosecutor, with penalties up to $500 per violation. It was enrolled on 3 September 2026 and approved by the Governor on 30 September 2026. Some published summaries report 3 September as the signing date; that is the enrollment date.</a:t>
            </a:r>
            <a:endParaRPr/>
          </a:p>
          <a:p xmlns:a="http://schemas.openxmlformats.org/drawingml/2006/main">
            <a:r>
              <a:t>- **[SB 947](https://leginfo.legislature.ca.gov/faces/billTextClient.xhtml?bill_id=202520260SB947)** (the "No Robo Bosses Act," Chapter 859, Statutes of 2026) is **operative 1 July 2027**, under new Labor Code section 1526.7. It bars sole reliance on an ADS for discipline or termination. Primary reliance requires human corroboration and written post-use notice when the decision is communicated. If corroboration fails, or the reviewer finds the output inaccurate, incomplete, or misleading, the employer must not use that output for the decision. The employee may request a meaningful description of their own data used by the ADS. Check the collective bargaining and federal-operation exceptions in sections 1526.5 and 1526.6.</a:t>
            </a:r>
            <a:endParaRPr/>
          </a:p>
          <a:p xmlns:a="http://schemas.openxmlformats.org/drawingml/2006/main">
            <a:r>
              <a:t>- **[SB 951](https://leginfo.legislature.ca.gov/faces/billTextClient.xhtml?bill_id=202520260SB951)** (Chapter 860, Statutes of 2026), **effective 1 January 2027**, adds technology-displacement information to an otherwise required Cal/WARN notice when AI or automation causes the event wholly or substantially. New Labor Code section 1401(d) requires affected jobs and locations, functions being automated, the technology category, and a technology-displacement heading. It retains the existing 60-day notice period. It does not enact the earlier proposal for a 90-day notice or an employer hiring-freeze notice; section 1402.7 instead requires an EDD study by 1 January 2028. Assess Cal/WARN coverage and exceptions before applying the notice requirement.</a:t>
            </a:r>
            <a:endParaRPr/>
          </a:p>
          <a:p xmlns:a="http://schemas.openxmlformats.org/drawingml/2006/main">
            <a:r>
              <a:t>- **[AB 1331](https://leginfo.legislature.ca.gov/faces/billTextClient.xhtml?bill_id=202520260AB1331)** (Chapter 851, Statutes of 2026), **effective 1 January 2027**, limits workplace bathroom surveillance and lets employees leave surveillance tools behind when entering a bathroom. New Labor Code section 1561 includes exceptions for court orders, one-time entry/exit checks, voluntary possession, and certain identification or safety devices. The tool definition reaches beyond AI. Review the full exceptions in sections 1561, 1564, and 1565 before changing monitoring practices.</a:t>
            </a:r>
            <a:endParaRPr/>
          </a:p>
          <a:p xmlns:a="http://schemas.openxmlformats.org/drawingml/2006/main">
            <a:r>
              <a:t/>
            </a:r>
            <a:endParaRPr/>
          </a:p>
          <a:p xmlns:a="http://schemas.openxmlformats.org/drawingml/2006/main">
            <a:r>
              <a:t>*Texas: Responsible AI Governance Act (TRAIGA):*</a:t>
            </a:r>
            <a:endParaRPr/>
          </a:p>
          <a:p xmlns:a="http://schemas.openxmlformats.org/drawingml/2006/main">
            <a:r>
              <a:t>Effective January 1, 2026 (HB 149, signed June 22, 2025). Narrower than Illinois or Colorado: TRAIGA prohibits intentional AI-based discrimination but does not create disparate impact liability, and the Attorney General has exclusive enforcement authority with a 60-day cure period before action.</a:t>
            </a:r>
            <a:endParaRPr/>
          </a:p>
          <a:p xmlns:a="http://schemas.openxmlformats.org/drawingml/2006/main">
            <a:r>
              <a:t/>
            </a:r>
            <a:endParaRPr/>
          </a:p>
          <a:p xmlns:a="http://schemas.openxmlformats.org/drawingml/2006/main">
            <a:r>
              <a:t>*New Jersey: no AI statute, but existing discrimination law already reaches AI:*</a:t>
            </a:r>
            <a:endParaRPr/>
          </a:p>
          <a:p xmlns:a="http://schemas.openxmlformats.org/drawingml/2006/main">
            <a:r>
              <a:t>New Jersey is the case that breaks the habit of scanning for AI-specific bills. It has no AI hiring statute. In January 2025 the Office of the Attorney General and the Division on Civil Rights issued guidance stating that the Law Against Discrimination (N.J.S.A. 10:5-1 et seq.) applies to algorithmic discrimination the same way it has long applied to other discriminatory conduct, in employment among other contexts. Three points matter for HR practice:</a:t>
            </a:r>
            <a:endParaRPr/>
          </a:p>
          <a:p xmlns:a="http://schemas.openxmlformats.org/drawingml/2006/main">
            <a:r>
              <a:t/>
            </a:r>
            <a:endParaRPr/>
          </a:p>
          <a:p xmlns:a="http://schemas.openxmlformats.org/drawingml/2006/main">
            <a:r>
              <a:t>- **No intent required, and a vendor tool is not a defense.** The guidance states that a covered entity "is not shielded from liability for algorithmic discrimination that results from the entity's use of an automated decision-making tool simply because the tool was developed by a third party or because the entity does not understand the inner workings of the tool."</a:t>
            </a:r>
            <a:endParaRPr/>
          </a:p>
          <a:p xmlns:a="http://schemas.openxmlformats.org/drawingml/2006/main">
            <a:r>
              <a:t>- **Disparate impact is covered.** Use of a tool with a disproportionate effect on a protected class is prohibited unless it is necessary to achieve a substantial, legitimate, nondiscriminatory interest and there is no less discriminatory alternative. Whether the employer tested the tool for bias or evaluated alternatives may be weighed as relevant evidence, which is the same pattern as Connecticut: your fairness audit becomes evidence.</a:t>
            </a:r>
            <a:endParaRPr/>
          </a:p>
          <a:p xmlns:a="http://schemas.openxmlformats.org/drawingml/2006/main">
            <a:r>
              <a:t>- **Reasonable accommodations are in scope.** A tool can violate the LAD by being inaccessible or by penalizing someone who uses an accommodation. The guidance's example is a typing-speed screen that cannot read a non-traditional keyboard.</a:t>
            </a:r>
            <a:endParaRPr/>
          </a:p>
          <a:p xmlns:a="http://schemas.openxmlformats.org/drawingml/2006/main">
            <a:r>
              <a:t/>
            </a:r>
            <a:endParaRPr/>
          </a:p>
          <a:p xmlns:a="http://schemas.openxmlformats.org/drawingml/2006/main">
            <a:r>
              <a:t>Two limits to state accurately when you teach this. The guidance is interpretive: it says on its face that it imposes no requirements beyond the LAD and will not be enforced as a substitute for enforcing the LAD. And it carries no effective date, because the underlying statute has been in force for decades. Do not present it as a new obligation that switched on in 2025. The takeaway for the class is the general one: a state with no AI bill is not a state with no AI exposure.</a:t>
            </a:r>
            <a:endParaRPr/>
          </a:p>
          <a:p xmlns:a="http://schemas.openxmlformats.org/drawingml/2006/main">
            <a:r>
              <a:t/>
            </a:r>
            <a:endParaRPr/>
          </a:p>
          <a:p xmlns:a="http://schemas.openxmlformats.org/drawingml/2006/main">
            <a:r>
              <a:t>*GDPR and CCPA:*</a:t>
            </a:r>
            <a:endParaRPr/>
          </a:p>
          <a:p xmlns:a="http://schemas.openxmlformats.org/drawingml/2006/main">
            <a:r>
              <a:t>Employees in covered jurisdictions have rights regarding automated decision-making. Know which of your employees are covered and how your AI use cases interact with their rights. See the California-specific rules above for the current state of play there.</a:t>
            </a:r>
            <a:endParaRPr/>
          </a:p>
          <a:p xmlns:a="http://schemas.openxmlformats.org/drawingml/2006/main">
            <a:r>
              <a:t/>
            </a:r>
            <a:endParaRPr/>
          </a:p>
          <a:p xmlns:a="http://schemas.openxmlformats.org/drawingml/2006/main">
            <a:r>
              <a:t>*UK: Data (Use and Access) Act 2025 replaces GDPR Article 22:*</a:t>
            </a:r>
            <a:endParaRPr/>
          </a:p>
          <a:p xmlns:a="http://schemas.openxmlformats.org/drawingml/2006/main">
            <a:r>
              <a:t>Section 80 of the UK's Data (Use and Access) Act 2025 took effect February 5, 2026 (Commencement Regulations SI 2026/82) and substitutes Article 22 of the UK GDPR with new Articles 22A to 22D. The new regime permits solely automated "significant decisions," those with a legal or similarly significant effect, more broadly than before, but requires safeguards: notice to the individual, the ability to make representations, the right to human intervention, and the right to contest the decision. Stricter restrictions still apply where special category data is used. Treat this as a distinct regime from EU GDPR Article 22, not an equivalent, for any AI use case touching UK-based workers or candidates.</a:t>
            </a:r>
            <a:endParaRPr/>
          </a:p>
          <a:p xmlns:a="http://schemas.openxmlformats.org/drawingml/2006/main">
            <a:r>
              <a:t/>
            </a:r>
            <a:endParaRPr/>
          </a:p>
          <a:p xmlns:a="http://schemas.openxmlformats.org/drawingml/2006/main">
            <a:r>
              <a:t>The ICO is already signaling how it will police this in recruitment specifically. A March 2026 ICO report on automated decision-making in hiring found many employers don't recognize they're doing ADM at all, and that "human review" in practice often amounts to rubber-stamping rather than a reviewer with real authority to change the outcome. Following that report, the ICO opened a consultation on draft ADM guidance, worth checking for the final version before relying on the March findings alone. Build the oversight role description to survive that scrutiny, not just to check the box.</a:t>
            </a:r>
            <a:endParaRPr/>
          </a:p>
          <a:p xmlns:a="http://schemas.openxmlformats.org/drawingml/2006/main">
            <a:r>
              <a:t/>
            </a:r>
            <a:endParaRPr/>
          </a:p>
          <a:p xmlns:a="http://schemas.openxmlformats.org/drawingml/2006/main">
            <a:r>
              <a:t>*Canada: no federal AI employment law, but Ontario requires disclosure:*</a:t>
            </a:r>
            <a:endParaRPr/>
          </a:p>
          <a:p xmlns:a="http://schemas.openxmlformats.org/drawingml/2006/main">
            <a:r>
              <a:t>Canada's federal AI bill (AIDA, part of Bill C-27) died when Parliament prorogued in January 2025 and has not been revived. AI regulation there runs through existing privacy, human rights, and sector law instead. Ontario is the exception: since January 1, 2026, employers with 25+ employees must disclose in publicly advertised job postings whether AI is used to screen, assess, or select candidates (Employment Standards Act, 2000 amendment).</a:t>
            </a:r>
            <a:endParaRPr/>
          </a:p>
          <a:p xmlns:a="http://schemas.openxmlformats.org/drawingml/2006/main">
            <a:r>
              <a:t/>
            </a:r>
            <a:endParaRPr/>
          </a:p>
          <a:p xmlns:a="http://schemas.openxmlformats.org/drawingml/2006/main">
            <a:r>
              <a:t>*The "AI as a manager" trap:*</a:t>
            </a:r>
            <a:endParaRPr/>
          </a:p>
          <a:p xmlns:a="http://schemas.openxmlformats.org/drawingml/2006/main">
            <a:r>
              <a:t>AI that monitors, evaluates, or scores employees without their knowledge, even for legitimate purposes, creates legal and trust exposure. Transparency is not just ethical, it's protective.</a:t>
            </a:r>
            <a:endParaRPr/>
          </a:p>
          <a:p xmlns:a="http://schemas.openxmlformats.org/drawingml/2006/main">
            <a:r>
              <a:t/>
            </a:r>
            <a:endParaRPr/>
          </a:p>
          <a:p xmlns:a="http://schemas.openxmlformats.org/drawingml/2006/main">
            <a:r>
              <a:t>**Scenario practice cards:**</a:t>
            </a:r>
            <a:endParaRPr/>
          </a:p>
          <a:p xmlns:a="http://schemas.openxmlformats.org/drawingml/2006/main">
            <a:r>
              <a:t/>
            </a:r>
            <a:endParaRPr/>
          </a:p>
          <a:p xmlns:a="http://schemas.openxmlformats.org/drawingml/2006/main">
            <a:r>
              <a:t>Print or share these four scenarios. Groups of 3–4 discuss: Is this use appropriate? What are the risks? What would you change?</a:t>
            </a:r>
            <a:endParaRPr/>
          </a:p>
          <a:p xmlns:a="http://schemas.openxmlformats.org/drawingml/2006/main">
            <a:r>
              <a:t/>
            </a:r>
            <a:endParaRPr/>
          </a:p>
          <a:p xmlns:a="http://schemas.openxmlformats.org/drawingml/2006/main">
            <a:r>
              <a:t>&gt; **Scenario A:** An AI tool automatically rejects resumes with gaps of more than 6 months without showing them to a recruiter.</a:t>
            </a:r>
            <a:endParaRPr/>
          </a:p>
          <a:p xmlns:a="http://schemas.openxmlformats.org/drawingml/2006/main">
            <a:r>
              <a:t/>
            </a:r>
            <a:endParaRPr/>
          </a:p>
          <a:p xmlns:a="http://schemas.openxmlformats.org/drawingml/2006/main">
            <a:r>
              <a:t>&gt; **Scenario B:** An HRBP uses an AI writing assistant to draft a PIP for an employee, then reviews and edits it before sharing with the manager.</a:t>
            </a:r>
            <a:endParaRPr/>
          </a:p>
          <a:p xmlns:a="http://schemas.openxmlformats.org/drawingml/2006/main">
            <a:r>
              <a:t/>
            </a:r>
            <a:endParaRPr/>
          </a:p>
          <a:p xmlns:a="http://schemas.openxmlformats.org/drawingml/2006/main">
            <a:r>
              <a:t>&gt; **Scenario C:** People Analytics builds an attrition risk model that scores all employees monthly and shares the scores directly with managers.</a:t>
            </a:r>
            <a:endParaRPr/>
          </a:p>
          <a:p xmlns:a="http://schemas.openxmlformats.org/drawingml/2006/main">
            <a:r>
              <a:t/>
            </a:r>
            <a:endParaRPr/>
          </a:p>
          <a:p xmlns:a="http://schemas.openxmlformats.org/drawingml/2006/main">
            <a:r>
              <a:t>&gt; **Scenario D:** An AI chatbot answers benefits questions for employees. It sometimes gives incorrect information but flags that users should confirm with HR.</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4: Building and scaling AI use cases</a:t>
            </a:r>
            <a:endParaRPr/>
          </a:p>
          <a:p xmlns:a="http://schemas.openxmlformats.org/drawingml/2006/main">
            <a:r>
              <a:t/>
            </a:r>
            <a:endParaRPr/>
          </a:p>
          <a:p xmlns:a="http://schemas.openxmlformats.org/drawingml/2006/main">
            <a:r>
              <a:t>**Learning objectives:**</a:t>
            </a:r>
            <a:endParaRPr/>
          </a:p>
          <a:p xmlns:a="http://schemas.openxmlformats.org/drawingml/2006/main">
            <a:r>
              <a:t>- Apply the prioritization matrix to identify your team's highest-value AI use cases</a:t>
            </a:r>
            <a:endParaRPr/>
          </a:p>
          <a:p xmlns:a="http://schemas.openxmlformats.org/drawingml/2006/main">
            <a:r>
              <a:t>- Define a use case with clear success metrics and governance requirements</a:t>
            </a:r>
            <a:endParaRPr/>
          </a:p>
          <a:p xmlns:a="http://schemas.openxmlformats.org/drawingml/2006/main">
            <a:r>
              <a:t>- Draft a basic implementation plan for a low-complexity use case</a:t>
            </a:r>
            <a:endParaRPr/>
          </a:p>
          <a:p xmlns:a="http://schemas.openxmlformats.org/drawingml/2006/main">
            <a:r>
              <a:t/>
            </a:r>
            <a:endParaRPr/>
          </a:p>
          <a:p xmlns:a="http://schemas.openxmlformats.org/drawingml/2006/main">
            <a:r>
              <a:t>**Session outline (2 hours):**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Opening: What does "scaling AI in HR" actually mean? |</a:t>
            </a:r>
            <a:endParaRPr/>
          </a:p>
          <a:p xmlns:a="http://schemas.openxmlformats.org/drawingml/2006/main">
            <a:r>
              <a:t>| 0:15–0:45 | Framework: From idea to deployment, the use case lifecycle |</a:t>
            </a:r>
            <a:endParaRPr/>
          </a:p>
          <a:p xmlns:a="http://schemas.openxmlformats.org/drawingml/2006/main">
            <a:r>
              <a:t>| 0:45–1:15 | Team exercise: Prioritization matrix applied to your team's top 5 ideas |</a:t>
            </a:r>
            <a:endParaRPr/>
          </a:p>
          <a:p xmlns:a="http://schemas.openxmlformats.org/drawingml/2006/main">
            <a:r>
              <a:t>| 1:15–1:45 | Small group: Draft a one-page use case spec for your top-ranked idea |</a:t>
            </a:r>
            <a:endParaRPr/>
          </a:p>
          <a:p xmlns:a="http://schemas.openxmlformats.org/drawingml/2006/main">
            <a:r>
              <a:t>| 1:45–2:00 | Gallery walk + feedback |</a:t>
            </a:r>
            <a:endParaRPr/>
          </a:p>
          <a:p xmlns:a="http://schemas.openxmlformats.org/drawingml/2006/main">
            <a:r>
              <a:t/>
            </a:r>
            <a:endParaRPr/>
          </a:p>
          <a:p xmlns:a="http://schemas.openxmlformats.org/drawingml/2006/main">
            <a:r>
              <a:t>**Use case lifecycle:**</a:t>
            </a:r>
            <a:endParaRPr/>
          </a:p>
          <a:p xmlns:a="http://schemas.openxmlformats.org/drawingml/2006/main">
            <a:r>
              <a:t/>
            </a:r>
            <a:endParaRPr/>
          </a:p>
          <a:p xmlns:a="http://schemas.openxmlformats.org/drawingml/2006/main">
            <a:r>
              <a:t>```</a:t>
            </a:r>
            <a:endParaRPr/>
          </a:p>
          <a:p xmlns:a="http://schemas.openxmlformats.org/drawingml/2006/main">
            <a:r>
              <a:t>Discover → Prioritize → Design → Pilot → Evaluate → Scale</a:t>
            </a:r>
            <a:endParaRPr/>
          </a:p>
          <a:p xmlns:a="http://schemas.openxmlformats.org/drawingml/2006/main">
            <a:r>
              <a:t>   ↑                                          |</a:t>
            </a:r>
            <a:endParaRPr/>
          </a:p>
          <a:p xmlns:a="http://schemas.openxmlformats.org/drawingml/2006/main">
            <a:r>
              <a:t>   └──────────────── iterate ─────────────────┘</a:t>
            </a:r>
            <a:endParaRPr/>
          </a:p>
          <a:p xmlns:a="http://schemas.openxmlformats.org/drawingml/2006/main">
            <a:r>
              <a:t>```</a:t>
            </a:r>
            <a:endParaRPr/>
          </a:p>
          <a:p xmlns:a="http://schemas.openxmlformats.org/drawingml/2006/main">
            <a:r>
              <a:t/>
            </a:r>
            <a:endParaRPr/>
          </a:p>
          <a:p xmlns:a="http://schemas.openxmlformats.org/drawingml/2006/main">
            <a:r>
              <a:t>- **Discover:** What problem are we solving? Who feels it most?</a:t>
            </a:r>
            <a:endParaRPr/>
          </a:p>
          <a:p xmlns:a="http://schemas.openxmlformats.org/drawingml/2006/main">
            <a:r>
              <a:t>- **Prioritize:** Use the matrix. Don't skip this.</a:t>
            </a:r>
            <a:endParaRPr/>
          </a:p>
          <a:p xmlns:a="http://schemas.openxmlformats.org/drawingml/2006/main">
            <a:r>
              <a:t>- **Design:** Define inputs, outputs, human review gates, success metrics, and fallback</a:t>
            </a:r>
            <a:endParaRPr/>
          </a:p>
          <a:p xmlns:a="http://schemas.openxmlformats.org/drawingml/2006/main">
            <a:r>
              <a:t>- **Pilot:** Small scope, high observation. 4–8 weeks.</a:t>
            </a:r>
            <a:endParaRPr/>
          </a:p>
          <a:p xmlns:a="http://schemas.openxmlformats.org/drawingml/2006/main">
            <a:r>
              <a:t>- **Evaluate:** Did it work? For whom? What didn't?</a:t>
            </a:r>
            <a:endParaRPr/>
          </a:p>
          <a:p xmlns:a="http://schemas.openxmlformats.org/drawingml/2006/main">
            <a:r>
              <a:t>- **Scale:** Expand with the lessons from pilot baked in</a:t>
            </a:r>
            <a:endParaRPr/>
          </a:p>
          <a:p xmlns:a="http://schemas.openxmlformats.org/drawingml/2006/main">
            <a:r>
              <a:t/>
            </a:r>
            <a:endParaRPr/>
          </a:p>
          <a:p xmlns:a="http://schemas.openxmlformats.org/drawingml/2006/main">
            <a:r>
              <a:t>**One-page use case spec template:**</a:t>
            </a:r>
            <a:endParaRPr/>
          </a:p>
          <a:p xmlns:a="http://schemas.openxmlformats.org/drawingml/2006/main">
            <a:r>
              <a:t/>
            </a:r>
            <a:endParaRPr/>
          </a:p>
          <a:p xmlns:a="http://schemas.openxmlformats.org/drawingml/2006/main">
            <a:r>
              <a:t>Participants complete this for their team's top-ranked use case:</a:t>
            </a:r>
            <a:endParaRPr/>
          </a:p>
          <a:p xmlns:a="http://schemas.openxmlformats.org/drawingml/2006/main">
            <a:r>
              <a:t/>
            </a:r>
            <a:endParaRPr/>
          </a:p>
          <a:p xmlns:a="http://schemas.openxmlformats.org/drawingml/2006/main">
            <a:r>
              <a:t>```</a:t>
            </a:r>
            <a:endParaRPr/>
          </a:p>
          <a:p xmlns:a="http://schemas.openxmlformats.org/drawingml/2006/main">
            <a:r>
              <a:t>Use case name:</a:t>
            </a:r>
            <a:endParaRPr/>
          </a:p>
          <a:p xmlns:a="http://schemas.openxmlformats.org/drawingml/2006/main">
            <a:r>
              <a:t>Problem it solves (1 sentence):</a:t>
            </a:r>
            <a:endParaRPr/>
          </a:p>
          <a:p xmlns:a="http://schemas.openxmlformats.org/drawingml/2006/main">
            <a:r>
              <a:t>Who benefits and how:</a:t>
            </a:r>
            <a:endParaRPr/>
          </a:p>
          <a:p xmlns:a="http://schemas.openxmlformats.org/drawingml/2006/main">
            <a:r>
              <a:t>AI approach (Rules / Augment / Assist / Human-led / Analytics):</a:t>
            </a:r>
            <a:endParaRPr/>
          </a:p>
          <a:p xmlns:a="http://schemas.openxmlformats.org/drawingml/2006/main">
            <a:r>
              <a:t>Data needed:</a:t>
            </a:r>
            <a:endParaRPr/>
          </a:p>
          <a:p xmlns:a="http://schemas.openxmlformats.org/drawingml/2006/main">
            <a:r>
              <a:t>Human review gate:</a:t>
            </a:r>
            <a:endParaRPr/>
          </a:p>
          <a:p xmlns:a="http://schemas.openxmlformats.org/drawingml/2006/main">
            <a:r>
              <a:t>Success metric(s):</a:t>
            </a:r>
            <a:endParaRPr/>
          </a:p>
          <a:p xmlns:a="http://schemas.openxmlformats.org/drawingml/2006/main">
            <a:r>
              <a:t>What could go wrong:</a:t>
            </a:r>
            <a:endParaRPr/>
          </a:p>
          <a:p xmlns:a="http://schemas.openxmlformats.org/drawingml/2006/main">
            <a:r>
              <a:t>Governance requirements (from risk assessment):</a:t>
            </a:r>
            <a:endParaRPr/>
          </a:p>
          <a:p xmlns:a="http://schemas.openxmlformats.org/drawingml/2006/main">
            <a:r>
              <a:t>First step to move forward:</a:t>
            </a:r>
            <a:endParaRPr/>
          </a:p>
          <a:p xmlns:a="http://schemas.openxmlformats.org/drawingml/2006/main">
            <a:r>
              <a:t>```</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Assessment and certification</a:t>
            </a:r>
            <a:endParaRPr/>
          </a:p>
          <a:p xmlns:a="http://schemas.openxmlformats.org/drawingml/2006/main">
            <a:r>
              <a:t/>
            </a:r>
            <a:endParaRPr/>
          </a:p>
          <a:p xmlns:a="http://schemas.openxmlformats.org/drawingml/2006/main">
            <a:r>
              <a:t>An organization may choose to give participants who complete all four modules</a:t>
            </a:r>
            <a:endParaRPr/>
          </a:p>
          <a:p xmlns:a="http://schemas.openxmlformats.org/drawingml/2006/main">
            <a:r>
              <a:t>and the hands-on components an **HR AI Practitioner** acknowledgment. This is a</a:t>
            </a:r>
            <a:endParaRPr/>
          </a:p>
          <a:p xmlns:a="http://schemas.openxmlformats.org/drawingml/2006/main">
            <a:r>
              <a:t>proposed internal recognition, not an accredited certification or evidence of</a:t>
            </a:r>
            <a:endParaRPr/>
          </a:p>
          <a:p xmlns:a="http://schemas.openxmlformats.org/drawingml/2006/main">
            <a:r>
              <a:t>professional competence. No delivery or learning outcome is claimed here.</a:t>
            </a:r>
            <a:endParaRPr/>
          </a:p>
          <a:p xmlns:a="http://schemas.openxmlformats.org/drawingml/2006/main">
            <a:r>
              <a:t/>
            </a:r>
            <a:endParaRPr/>
          </a:p>
          <a:p xmlns:a="http://schemas.openxmlformats.org/drawingml/2006/main">
            <a:r>
              <a:t>Optional extension: Participants who complete a full use case spec and present it to the HR Technology team are recognized as **HR AI Champions**, an informal internal designation that supports peer enablement.</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Facilitator notes</a:t>
            </a:r>
            <a:endParaRPr/>
          </a:p>
          <a:p xmlns:a="http://schemas.openxmlformats.org/drawingml/2006/main">
            <a:r>
              <a:t/>
            </a:r>
            <a:endParaRPr/>
          </a:p>
          <a:p xmlns:a="http://schemas.openxmlformats.org/drawingml/2006/main">
            <a:r>
              <a:t>These are facilitation suggestions, not measured delivery findings. Use synthetic examples; removing names alone does not establish anonymity. Do not upload real employee, candidate, compensation, or employer-confidential information for a training exercise.</a:t>
            </a:r>
            <a:endParaRPr/>
          </a:p>
          <a:p xmlns:a="http://schemas.openxmlformats.org/drawingml/2006/main">
            <a:r>
              <a:t/>
            </a:r>
            <a:endParaRPr/>
          </a:p>
          <a:p xmlns:a="http://schemas.openxmlformats.org/drawingml/2006/main">
            <a:r>
              <a:t>- Budget flex time in Module 3 for questions and disagreement about risk.</a:t>
            </a:r>
            <a:endParaRPr/>
          </a:p>
          <a:p xmlns:a="http://schemas.openxmlformats.org/drawingml/2006/main">
            <a:r>
              <a:t>- Protect time for the Module 2 lab, and check whether participants can identify errors and verify outputs afterward.</a:t>
            </a:r>
            <a:endParaRPr/>
          </a:p>
          <a:p xmlns:a="http://schemas.openxmlformats.org/drawingml/2006/main">
            <a:r>
              <a:t>- Adapt synthetic scenarios to familiar workflows, without identifiable employee cases or confidential documents.</a:t>
            </a:r>
            <a:endParaRPr/>
          </a:p>
          <a:p xmlns:a="http://schemas.openxmlformats.org/drawingml/2006/main">
            <a:r>
              <a:t>- Keep an AI skeptic on the facilitation team if possible. The best discussions happen when the room has range.</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snapshot: 13 October 2026. Curriculum SHA-256: 5ee769258ac9b95a3c514b64dcd5b22215e40bac8621054ffb452bffc244827a. This deck summarizes the source; no human evaluation, delivery outcome or legal approval is claimed.</a:t>
            </a:r>
            <a:endParaRPr/>
          </a:p>
          <a:p xmlns:a="http://schemas.openxmlformats.org/drawingml/2006/main">
            <a:r>
              <a:t/>
            </a:r>
            <a:endParaRPr/>
          </a:p>
          <a:p xmlns:a="http://schemas.openxmlformats.org/drawingml/2006/main">
            <a:r>
              <a:t># HR AI literacy curriculum</a:t>
            </a:r>
            <a:endParaRPr/>
          </a:p>
          <a:p xmlns:a="http://schemas.openxmlformats.org/drawingml/2006/main">
            <a:r>
              <a:t/>
            </a:r>
            <a:endParaRPr/>
          </a:p>
          <a:p xmlns:a="http://schemas.openxmlformats.org/drawingml/2006/main">
            <a:r>
              <a:t>A 4-module learning program for HR professionals at all experience levels. Designed to be delivered as a facilitated series over 4–6 weeks, or adapted for self-paced completion.</a:t>
            </a:r>
            <a:endParaRPr/>
          </a:p>
          <a:p xmlns:a="http://schemas.openxmlformats.org/drawingml/2006/main">
            <a:r>
              <a:t/>
            </a:r>
            <a:endParaRPr/>
          </a:p>
          <a:p xmlns:a="http://schemas.openxmlformats.org/drawingml/2006/main">
            <a:r>
              <a:t>**Total time:** about 7 hours of sessions, plus async reading and hands-on practice (roughly 8 hours in all)</a:t>
            </a:r>
            <a:endParaRPr/>
          </a:p>
          <a:p xmlns:a="http://schemas.openxmlformats.org/drawingml/2006/main">
            <a:r>
              <a:t>**Format:** Workshop + async reading + hands-on practice</a:t>
            </a:r>
            <a:endParaRPr/>
          </a:p>
          <a:p xmlns:a="http://schemas.openxmlformats.org/drawingml/2006/main">
            <a:r>
              <a:t>**Audience:** All People Team members</a:t>
            </a:r>
            <a:endParaRPr/>
          </a:p>
          <a:p xmlns:a="http://schemas.openxmlformats.org/drawingml/2006/main">
            <a:r>
              <a:t>**Prerequisite:** None</a:t>
            </a:r>
            <a:endParaRPr/>
          </a:p>
          <a:p xmlns:a="http://schemas.openxmlformats.org/drawingml/2006/main">
            <a:r>
              <a:t/>
            </a:r>
            <a:endParaRPr/>
          </a:p>
          <a:p xmlns:a="http://schemas.openxmlformats.org/drawingml/2006/main">
            <a:r>
              <a:t>**Lab prerequisite:** The facilitator confirms an organization-approved tool,</a:t>
            </a:r>
            <a:endParaRPr/>
          </a:p>
          <a:p xmlns:a="http://schemas.openxmlformats.org/drawingml/2006/main">
            <a:r>
              <a:t>provider handling, and a synthetic-only data boundary before any exercise.</a:t>
            </a:r>
            <a:endParaRPr/>
          </a:p>
          <a:p xmlns:a="http://schemas.openxmlformats.org/drawingml/2006/main">
            <a:r>
              <a:t>Modules 1-3 and the required governance approvals precede any real-work pilot.</a:t>
            </a:r>
            <a:endParaRPr/>
          </a:p>
          <a:p xmlns:a="http://schemas.openxmlformats.org/drawingml/2006/main">
            <a:r>
              <a:t>This curriculum does not authorize employee-data processing.</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Program overview</a:t>
            </a:r>
            <a:endParaRPr/>
          </a:p>
          <a:p xmlns:a="http://schemas.openxmlformats.org/drawingml/2006/main">
            <a:r>
              <a:t/>
            </a:r>
            <a:endParaRPr/>
          </a:p>
          <a:p xmlns:a="http://schemas.openxmlformats.org/drawingml/2006/main">
            <a:r>
              <a:t>| Module | Title | Duration | Format |</a:t>
            </a:r>
            <a:endParaRPr/>
          </a:p>
          <a:p xmlns:a="http://schemas.openxmlformats.org/drawingml/2006/main">
            <a:r>
              <a:t>|---|---|---|---|</a:t>
            </a:r>
            <a:endParaRPr/>
          </a:p>
          <a:p xmlns:a="http://schemas.openxmlformats.org/drawingml/2006/main">
            <a:r>
              <a:t>| 1 | How AI works, what HR professionals actually need to know | 90 min | Workshop |</a:t>
            </a:r>
            <a:endParaRPr/>
          </a:p>
          <a:p xmlns:a="http://schemas.openxmlformats.org/drawingml/2006/main">
            <a:r>
              <a:t>| 2 | Using AI in your daily HR work | 2 hours | Workshop + lab |</a:t>
            </a:r>
            <a:endParaRPr/>
          </a:p>
          <a:p xmlns:a="http://schemas.openxmlformats.org/drawingml/2006/main">
            <a:r>
              <a:t>| 3 | Governance, ethics, and responsible use | 90 min | Workshop |</a:t>
            </a:r>
            <a:endParaRPr/>
          </a:p>
          <a:p xmlns:a="http://schemas.openxmlformats.org/drawingml/2006/main">
            <a:r>
              <a:t>| 4 | Building and scaling AI use cases | 2 hours | Workshop + project |</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1: How AI works, what HR professionals actually need to know</a:t>
            </a:r>
            <a:endParaRPr/>
          </a:p>
          <a:p xmlns:a="http://schemas.openxmlformats.org/drawingml/2006/main">
            <a:r>
              <a:t/>
            </a:r>
            <a:endParaRPr/>
          </a:p>
          <a:p xmlns:a="http://schemas.openxmlformats.org/drawingml/2006/main">
            <a:r>
              <a:t>**Learning objectives:**</a:t>
            </a:r>
            <a:endParaRPr/>
          </a:p>
          <a:p xmlns:a="http://schemas.openxmlformats.org/drawingml/2006/main">
            <a:r>
              <a:t>- Explain the difference between traditional automation and generative AI</a:t>
            </a:r>
            <a:endParaRPr/>
          </a:p>
          <a:p xmlns:a="http://schemas.openxmlformats.org/drawingml/2006/main">
            <a:r>
              <a:t>- Describe why AI "hallucinates" and how to mitigate it in HR contexts</a:t>
            </a:r>
            <a:endParaRPr/>
          </a:p>
          <a:p xmlns:a="http://schemas.openxmlformats.org/drawingml/2006/main">
            <a:r>
              <a:t>- Identify which HR tasks are good candidates for AI assistance and which are not</a:t>
            </a:r>
            <a:endParaRPr/>
          </a:p>
          <a:p xmlns:a="http://schemas.openxmlformats.org/drawingml/2006/main">
            <a:r>
              <a:t/>
            </a:r>
            <a:endParaRPr/>
          </a:p>
          <a:p xmlns:a="http://schemas.openxmlformats.org/drawingml/2006/main">
            <a:r>
              <a:t>**Session outline (90 minutes):**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0:00–0:10 | Opening: What do you already believe about AI? (quick poll + discussion) |</a:t>
            </a:r>
            <a:endParaRPr/>
          </a:p>
          <a:p xmlns:a="http://schemas.openxmlformats.org/drawingml/2006/main">
            <a:r>
              <a:t>| 0:10–0:30 | Concept: How LLMs work, without the jargon (facilitator presentation) |</a:t>
            </a:r>
            <a:endParaRPr/>
          </a:p>
          <a:p xmlns:a="http://schemas.openxmlformats.org/drawingml/2006/main">
            <a:r>
              <a:t>| 0:30–0:45 | Concept: Hallucination, confidence, and why AI makes things up |</a:t>
            </a:r>
            <a:endParaRPr/>
          </a:p>
          <a:p xmlns:a="http://schemas.openxmlformats.org/drawingml/2006/main">
            <a:r>
              <a:t>| 0:45–1:05 | Exercise: Spot the hallucination (participants identify errors in AI-generated HR content) |</a:t>
            </a:r>
            <a:endParaRPr/>
          </a:p>
          <a:p xmlns:a="http://schemas.openxmlformats.org/drawingml/2006/main">
            <a:r>
              <a:t>| 1:05–1:20 | Discussion: Where should HR use AI? Where should we be cautious? |</a:t>
            </a:r>
            <a:endParaRPr/>
          </a:p>
          <a:p xmlns:a="http://schemas.openxmlformats.org/drawingml/2006/main">
            <a:r>
              <a:t>| 1:20–1:30 | Wrap-up + homework: Try one AI tool before next session |</a:t>
            </a:r>
            <a:endParaRPr/>
          </a:p>
          <a:p xmlns:a="http://schemas.openxmlformats.org/drawingml/2006/main">
            <a:r>
              <a:t/>
            </a:r>
            <a:endParaRPr/>
          </a:p>
          <a:p xmlns:a="http://schemas.openxmlformats.org/drawingml/2006/main">
            <a:r>
              <a:t>**Key concepts to cover:**</a:t>
            </a:r>
            <a:endParaRPr/>
          </a:p>
          <a:p xmlns:a="http://schemas.openxmlformats.org/drawingml/2006/main">
            <a:r>
              <a:t/>
            </a:r>
            <a:endParaRPr/>
          </a:p>
          <a:p xmlns:a="http://schemas.openxmlformats.org/drawingml/2006/main">
            <a:r>
              <a:t>*What LLMs actually are:*</a:t>
            </a:r>
            <a:endParaRPr/>
          </a:p>
          <a:p xmlns:a="http://schemas.openxmlformats.org/drawingml/2006/main">
            <a:r>
              <a:t>Large language models predict the next most likely word given context. They don't "know" things the way a database knows things, they pattern-match against training data. This is why they can sound authoritative while being wrong.</a:t>
            </a:r>
            <a:endParaRPr/>
          </a:p>
          <a:p xmlns:a="http://schemas.openxmlformats.org/drawingml/2006/main">
            <a:r>
              <a:t/>
            </a:r>
            <a:endParaRPr/>
          </a:p>
          <a:p xmlns:a="http://schemas.openxmlformats.org/drawingml/2006/main">
            <a:r>
              <a:t>*The spectrum from rules to agents:*</a:t>
            </a:r>
            <a:endParaRPr/>
          </a:p>
          <a:p xmlns:a="http://schemas.openxmlformats.org/drawingml/2006/main">
            <a:r>
              <a:t>```</a:t>
            </a:r>
            <a:endParaRPr/>
          </a:p>
          <a:p xmlns:a="http://schemas.openxmlformats.org/drawingml/2006/main">
            <a:r>
              <a:t>Rules            →  Assist / Augment              →  Agent</a:t>
            </a:r>
            <a:endParaRPr/>
          </a:p>
          <a:p xmlns:a="http://schemas.openxmlformats.org/drawingml/2006/main">
            <a:r>
              <a:t>(deterministic)     (a person decides or owns)       (a model acts across several steps)</a:t>
            </a:r>
            <a:endParaRPr/>
          </a:p>
          <a:p xmlns:a="http://schemas.openxmlformats.org/drawingml/2006/main">
            <a:r>
              <a:t>```</a:t>
            </a:r>
            <a:endParaRPr/>
          </a:p>
          <a:p xmlns:a="http://schemas.openxmlformats.org/drawingml/2006/main">
            <a:r>
              <a:t>Use rules when rules reliably give the right answer. Most HR uses of AI belong in the middle. An agent, where a model takes several actions through tools with limited review between them, has to earn that autonomy through evidence and brings new governance requirements.</a:t>
            </a:r>
            <a:endParaRPr/>
          </a:p>
          <a:p xmlns:a="http://schemas.openxmlformats.org/drawingml/2006/main">
            <a:r>
              <a:t/>
            </a:r>
            <a:endParaRPr/>
          </a:p>
          <a:p xmlns:a="http://schemas.openxmlformats.org/drawingml/2006/main">
            <a:r>
              <a:t>*Prompt quality drives output quality:*</a:t>
            </a:r>
            <a:endParaRPr/>
          </a:p>
          <a:p xmlns:a="http://schemas.openxmlformats.org/drawingml/2006/main">
            <a:r>
              <a:t>Clear prompts help define a task and its boundaries. Output quality also depends on the model, source material, workflow controls, and verification. A well-written prompt does not establish factual accuracy or safe HR judgment.</a:t>
            </a:r>
            <a:endParaRPr/>
          </a:p>
          <a:p xmlns:a="http://schemas.openxmlformats.org/drawingml/2006/main">
            <a:r>
              <a:t/>
            </a:r>
            <a:endParaRPr/>
          </a:p>
          <a:p xmlns:a="http://schemas.openxmlformats.org/drawingml/2006/main">
            <a:r>
              <a:t>**Pre-reading (assign before session):**</a:t>
            </a:r>
            <a:endParaRPr/>
          </a:p>
          <a:p xmlns:a="http://schemas.openxmlformats.org/drawingml/2006/main">
            <a:r>
              <a:t>- [Your organization's AI use policy](../03-governance/ai-use-policy.md)</a:t>
            </a:r>
            <a:endParaRPr/>
          </a:p>
          <a:p xmlns:a="http://schemas.openxmlformats.org/drawingml/2006/main">
            <a:r>
              <a:t>- One-page primer on generative AI for non-technical audiences (create or source)</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2: Using AI in your daily HR work</a:t>
            </a:r>
            <a:endParaRPr/>
          </a:p>
          <a:p xmlns:a="http://schemas.openxmlformats.org/drawingml/2006/main">
            <a:r>
              <a:t/>
            </a:r>
            <a:endParaRPr/>
          </a:p>
          <a:p xmlns:a="http://schemas.openxmlformats.org/drawingml/2006/main">
            <a:r>
              <a:t>**Learning objectives:**</a:t>
            </a:r>
            <a:endParaRPr/>
          </a:p>
          <a:p xmlns:a="http://schemas.openxmlformats.org/drawingml/2006/main">
            <a:r>
              <a:t>- Write effective prompts for HR use cases</a:t>
            </a:r>
            <a:endParaRPr/>
          </a:p>
          <a:p xmlns:a="http://schemas.openxmlformats.org/drawingml/2006/main">
            <a:r>
              <a:t>- Use the prompt library for at least 3 HR workflows</a:t>
            </a:r>
            <a:endParaRPr/>
          </a:p>
          <a:p xmlns:a="http://schemas.openxmlformats.org/drawingml/2006/main">
            <a:r>
              <a:t>- Identify when to use AI, when to verify AI output, and when not to use it</a:t>
            </a:r>
            <a:endParaRPr/>
          </a:p>
          <a:p xmlns:a="http://schemas.openxmlformats.org/drawingml/2006/main">
            <a:r>
              <a:t/>
            </a:r>
            <a:endParaRPr/>
          </a:p>
          <a:p xmlns:a="http://schemas.openxmlformats.org/drawingml/2006/main">
            <a:r>
              <a:t>**Session outline (2 hours including lab):**</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Share-back from Module 1 homework, what did you try, what happened? |</a:t>
            </a:r>
            <a:endParaRPr/>
          </a:p>
          <a:p xmlns:a="http://schemas.openxmlformats.org/drawingml/2006/main">
            <a:r>
              <a:t>| 0:15–0:45 | Prompt engineering for HR: the four elements of a good prompt |</a:t>
            </a:r>
            <a:endParaRPr/>
          </a:p>
          <a:p xmlns:a="http://schemas.openxmlformats.org/drawingml/2006/main">
            <a:r>
              <a:t>| 0:45–1:10 | Live demo: Onboarding plan, performance review draft, policy Q&amp;A |</a:t>
            </a:r>
            <a:endParaRPr/>
          </a:p>
          <a:p xmlns:a="http://schemas.openxmlformats.org/drawingml/2006/main">
            <a:r>
              <a:t>| 1:10–1:50 | Hands-on lab: Each participant works through 2 prompts using synthetic HR scenarios in organization-approved tools |</a:t>
            </a:r>
            <a:endParaRPr/>
          </a:p>
          <a:p xmlns:a="http://schemas.openxmlformats.org/drawingml/2006/main">
            <a:r>
              <a:t>| 1:50–2:00 | Debrief: What surprised you? What didn't work? |</a:t>
            </a:r>
            <a:endParaRPr/>
          </a:p>
          <a:p xmlns:a="http://schemas.openxmlformats.org/drawingml/2006/main">
            <a:r>
              <a:t/>
            </a:r>
            <a:endParaRPr/>
          </a:p>
          <a:p xmlns:a="http://schemas.openxmlformats.org/drawingml/2006/main">
            <a:r>
              <a:t>**The four elements of an effective HR prompt:**</a:t>
            </a:r>
            <a:endParaRPr/>
          </a:p>
          <a:p xmlns:a="http://schemas.openxmlformats.org/drawingml/2006/main">
            <a:r>
              <a:t/>
            </a:r>
            <a:endParaRPr/>
          </a:p>
          <a:p xmlns:a="http://schemas.openxmlformats.org/drawingml/2006/main">
            <a:r>
              <a:t>1. **Role**: Define the task perspective, such as drafting support for an HRBP. A role instruction does not give the model professional authority.</a:t>
            </a:r>
            <a:endParaRPr/>
          </a:p>
          <a:p xmlns:a="http://schemas.openxmlformats.org/drawingml/2006/main">
            <a:r>
              <a:t/>
            </a:r>
            <a:endParaRPr/>
          </a:p>
          <a:p xmlns:a="http://schemas.openxmlformats.org/drawingml/2006/main">
            <a:r>
              <a:t>2. **Context**: Provide the specific details the AI needs. Role, tenure, team size, situation. Don't make the AI guess.</a:t>
            </a:r>
            <a:endParaRPr/>
          </a:p>
          <a:p xmlns:a="http://schemas.openxmlformats.org/drawingml/2006/main">
            <a:r>
              <a:t/>
            </a:r>
            <a:endParaRPr/>
          </a:p>
          <a:p xmlns:a="http://schemas.openxmlformats.org/drawingml/2006/main">
            <a:r>
              <a:t>3. **Task**: State clearly what you want it to produce. One output per prompt. "Draft a..." is clearer than "Help me with..."</a:t>
            </a:r>
            <a:endParaRPr/>
          </a:p>
          <a:p xmlns:a="http://schemas.openxmlformats.org/drawingml/2006/main">
            <a:r>
              <a:t/>
            </a:r>
            <a:endParaRPr/>
          </a:p>
          <a:p xmlns:a="http://schemas.openxmlformats.org/drawingml/2006/main">
            <a:r>
              <a:t>4. **Constraints**: Define length, tone, format, exclusions, and the verification needed. Check whether the output follows them.</a:t>
            </a:r>
            <a:endParaRPr/>
          </a:p>
          <a:p xmlns:a="http://schemas.openxmlformats.org/drawingml/2006/main">
            <a:r>
              <a:t/>
            </a:r>
            <a:endParaRPr/>
          </a:p>
          <a:p xmlns:a="http://schemas.openxmlformats.org/drawingml/2006/main">
            <a:r>
              <a:t>**Lab instructions:**</a:t>
            </a:r>
            <a:endParaRPr/>
          </a:p>
          <a:p xmlns:a="http://schemas.openxmlformats.org/drawingml/2006/main">
            <a:r>
              <a:t/>
            </a:r>
            <a:endParaRPr/>
          </a:p>
          <a:p xmlns:a="http://schemas.openxmlformats.org/drawingml/2006/main">
            <a:r>
              <a:t>Participants choose 2 prompts from the library that are relevant to their current work:</a:t>
            </a:r>
            <a:endParaRPr/>
          </a:p>
          <a:p xmlns:a="http://schemas.openxmlformats.org/drawingml/2006/main">
            <a:r>
              <a:t>1. Run the prompt with a fictional HR scenario in an organization-approved tool. Do not upload real employee, candidate, compensation, or confidential employer information.</a:t>
            </a:r>
            <a:endParaRPr/>
          </a:p>
          <a:p xmlns:a="http://schemas.openxmlformats.org/drawingml/2006/main">
            <a:r>
              <a:t>2. Evaluate the output: What's useful? What's wrong or missing? What would you change before using it?</a:t>
            </a:r>
            <a:endParaRPr/>
          </a:p>
          <a:p xmlns:a="http://schemas.openxmlformats.org/drawingml/2006/main">
            <a:r>
              <a:t>3. Iterate: Modify the prompt once based on what you learned and run it again</a:t>
            </a:r>
            <a:endParaRPr/>
          </a:p>
          <a:p xmlns:a="http://schemas.openxmlformats.org/drawingml/2006/main">
            <a:r>
              <a:t>4. Note: What changed between run 1 and run 2?</a:t>
            </a:r>
            <a:endParaRPr/>
          </a:p>
          <a:p xmlns:a="http://schemas.openxmlformats.org/drawingml/2006/main">
            <a:r>
              <a:t/>
            </a:r>
            <a:endParaRPr/>
          </a:p>
          <a:p xmlns:a="http://schemas.openxmlformats.org/drawingml/2006/main">
            <a:r>
              <a:t>**The verify-before-use rule:**</a:t>
            </a:r>
            <a:endParaRPr/>
          </a:p>
          <a:p xmlns:a="http://schemas.openxmlformats.org/drawingml/2006/main">
            <a:r>
              <a:t/>
            </a:r>
            <a:endParaRPr/>
          </a:p>
          <a:p xmlns:a="http://schemas.openxmlformats.org/drawingml/2006/main">
            <a:r>
              <a:t>Introduce and reinforce this heuristic:</a:t>
            </a:r>
            <a:endParaRPr/>
          </a:p>
          <a:p xmlns:a="http://schemas.openxmlformats.org/drawingml/2006/main">
            <a:r>
              <a:t>- Policy details → always verify against source system before sharing</a:t>
            </a:r>
            <a:endParaRPr/>
          </a:p>
          <a:p xmlns:a="http://schemas.openxmlformats.org/drawingml/2006/main">
            <a:r>
              <a:t>- Legal requirements → always verify with Legal before relying on</a:t>
            </a:r>
            <a:endParaRPr/>
          </a:p>
          <a:p xmlns:a="http://schemas.openxmlformats.org/drawingml/2006/main">
            <a:r>
              <a:t>- Factual claims → spot-check against a known source</a:t>
            </a:r>
            <a:endParaRPr/>
          </a:p>
          <a:p xmlns:a="http://schemas.openxmlformats.org/drawingml/2006/main">
            <a:r>
              <a:t>- Tone and content → always read before sending; AI doesn't know your audience</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3: Governance, ethics, and responsible use</a:t>
            </a:r>
            <a:endParaRPr/>
          </a:p>
          <a:p xmlns:a="http://schemas.openxmlformats.org/drawingml/2006/main">
            <a:r>
              <a:t/>
            </a:r>
            <a:endParaRPr/>
          </a:p>
          <a:p xmlns:a="http://schemas.openxmlformats.org/drawingml/2006/main">
            <a:r>
              <a:t>**Learning objectives:**</a:t>
            </a:r>
            <a:endParaRPr/>
          </a:p>
          <a:p xmlns:a="http://schemas.openxmlformats.org/drawingml/2006/main">
            <a:r>
              <a:t>- Apply the organization's AI use policy to real HR scenarios</a:t>
            </a:r>
            <a:endParaRPr/>
          </a:p>
          <a:p xmlns:a="http://schemas.openxmlformats.org/drawingml/2006/main">
            <a:r>
              <a:t>- Identify the key legal risk areas in HR AI (bias, privacy, employment law)</a:t>
            </a:r>
            <a:endParaRPr/>
          </a:p>
          <a:p xmlns:a="http://schemas.openxmlformats.org/drawingml/2006/main">
            <a:r>
              <a:t>- Complete a basic risk assessment for a new use case</a:t>
            </a:r>
            <a:endParaRPr/>
          </a:p>
          <a:p xmlns:a="http://schemas.openxmlformats.org/drawingml/2006/main">
            <a:r>
              <a:t/>
            </a:r>
            <a:endParaRPr/>
          </a:p>
          <a:p xmlns:a="http://schemas.openxmlformats.org/drawingml/2006/main">
            <a:r>
              <a:t>**Session outline (90 minutes):**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Case study: Three HR AI failures and what we can learn (discussion) |</a:t>
            </a:r>
            <a:endParaRPr/>
          </a:p>
          <a:p xmlns:a="http://schemas.openxmlformats.org/drawingml/2006/main">
            <a:r>
              <a:t>| 0:15–0:40 | Framework: What makes AI use in HR risky? Legal and ethical dimensions |</a:t>
            </a:r>
            <a:endParaRPr/>
          </a:p>
          <a:p xmlns:a="http://schemas.openxmlformats.org/drawingml/2006/main">
            <a:r>
              <a:t>| 0:40–1:00 | Scenario practice: Is this use case okay? (small groups, 4 scenarios) |</a:t>
            </a:r>
            <a:endParaRPr/>
          </a:p>
          <a:p xmlns:a="http://schemas.openxmlformats.org/drawingml/2006/main">
            <a:r>
              <a:t>| 1:00–1:20 | Walk-through: The risk assessment template |</a:t>
            </a:r>
            <a:endParaRPr/>
          </a:p>
          <a:p xmlns:a="http://schemas.openxmlformats.org/drawingml/2006/main">
            <a:r>
              <a:t>| 1:20–1:30 | Q&amp;A + open discussion |</a:t>
            </a:r>
            <a:endParaRPr/>
          </a:p>
          <a:p xmlns:a="http://schemas.openxmlformats.org/drawingml/2006/main">
            <a:r>
              <a:t/>
            </a:r>
            <a:endParaRPr/>
          </a:p>
          <a:p xmlns:a="http://schemas.openxmlformats.org/drawingml/2006/main">
            <a:r>
              <a:t>&gt; **Note on regulatory currency:** Use the [Key dates for HR](../03-governance/README.md#key-dates-for-hr) and its linked primary sources as the dated reference. The slides summarize risk questions; they are not a complete legal reference. Have Legal verify jurisdiction, scope, obligations, and effective dates before delivery or adoption.</a:t>
            </a:r>
            <a:endParaRPr/>
          </a:p>
          <a:p xmlns:a="http://schemas.openxmlformats.org/drawingml/2006/main">
            <a:r>
              <a:t/>
            </a:r>
            <a:endParaRPr/>
          </a:p>
          <a:p xmlns:a="http://schemas.openxmlformats.org/drawingml/2006/main">
            <a:r>
              <a:t>**Key legal risk areas to cover:**</a:t>
            </a:r>
            <a:endParaRPr/>
          </a:p>
          <a:p xmlns:a="http://schemas.openxmlformats.org/drawingml/2006/main">
            <a:r>
              <a:t/>
            </a:r>
            <a:endParaRPr/>
          </a:p>
          <a:p xmlns:a="http://schemas.openxmlformats.org/drawingml/2006/main">
            <a:r>
              <a:t>*Bias and disparate impact:*</a:t>
            </a:r>
            <a:endParaRPr/>
          </a:p>
          <a:p xmlns:a="http://schemas.openxmlformats.org/drawingml/2006/main">
            <a:r>
              <a:t>AI trained on historical HR data can encode and amplify past discrimination. A history in which 80% of engineering hires were male is a reason to examine labels, features, selection effects, and group outcomes; that proportion alone does not determine how a model will score resumes. Adverse impact testing is a core control. It is required by law in some jurisdictions (NYC Local Law 144 mandates an annual bias audit for covered tools) and expected as evidence of reasonable care in many others. Confirm the cadence with Legal. See the [NIST AI RMF](https://www.nist.gov/itl/ai-risk-management-framework).</a:t>
            </a:r>
            <a:endParaRPr/>
          </a:p>
          <a:p xmlns:a="http://schemas.openxmlformats.org/drawingml/2006/main">
            <a:r>
              <a:t/>
            </a:r>
            <a:endParaRPr/>
          </a:p>
          <a:p xmlns:a="http://schemas.openxmlformats.org/drawingml/2006/main">
            <a:r>
              <a:t>*Illinois AI Video Interview Act, NYC Local Law 144, and emerging state laws:*</a:t>
            </a:r>
            <a:endParaRPr/>
          </a:p>
          <a:p xmlns:a="http://schemas.openxmlformats.org/drawingml/2006/main">
            <a:r>
              <a:t>Several jurisdictions now require disclosure, impact assessments, or consent for AI use in hiring. Illinois's AI Video Interview Act ([820 ILCS 42](https://www.ilga.gov/Legislation/ILCS/Articles?ActID=4015&amp;ChapterID=68)) governs AI analysis of recorded video interviews, including notice and consent before the interview. Confirm its current requirements against the statute before relying on them. Illinois also amended its Human Rights Act via HB 3773 (effective January 1, 2026) to broadly prohibit discriminatory AI use in hiring and promotion, not just video interviews. A companion law, Public Act 104-0425 (SB 2487, effective January 1, 2026), gives the Human Rights Commission tiered civil penalty authority for violations: up to $16,000 for a first offense, up to $42,500 with one prior violation within five years, up to $70,000 for two or more within seven years. The regulatory landscape is shifting quickly. Use cases involving hiring must be reviewed against current state law.</a:t>
            </a:r>
            <a:endParaRPr/>
          </a:p>
          <a:p xmlns:a="http://schemas.openxmlformats.org/drawingml/2006/main">
            <a:r>
              <a:t/>
            </a:r>
            <a:endParaRPr/>
          </a:p>
          <a:p xmlns:a="http://schemas.openxmlformats.org/drawingml/2006/main">
            <a:r>
              <a:t>NYC Local Law 144 enforcement is entering a stricter phase. A December 2025 NY State Comptroller audit found DCWP's enforcement "ineffective": DCWP's own review of 32 companies' bias-audit disclosures caught 1 likely non-compliance issue, where the Comptroller's review of the same 32 found at least 17. Expect more investigations and higher penalties as DCWP responds to the audit's recommendations, not just the disclosure-and-audit paperwork the law describes on paper.</a:t>
            </a:r>
            <a:endParaRPr/>
          </a:p>
          <a:p xmlns:a="http://schemas.openxmlformats.org/drawingml/2006/main">
            <a:r>
              <a:t/>
            </a:r>
            <a:endParaRPr/>
          </a:p>
          <a:p xmlns:a="http://schemas.openxmlformats.org/drawingml/2006/main">
            <a:r>
              <a:t>*Colorado's Automated Decision-Making Technology Act:*</a:t>
            </a:r>
            <a:endParaRPr/>
          </a:p>
          <a:p xmlns:a="http://schemas.openxmlformats.org/drawingml/2006/main">
            <a:r>
              <a:t>Colorado SB26-189 (signed 14 May 2026, Colo. Sess. Laws ch. 131) repeals and replaces the state's 2024 AI consumer protection law. It covers "consequential decisions," including employment, made using automated decision-making technology (ADMT) that materially influences the outcome. Starting January 1, 2027, developers must give deployers technical documentation on intended use, training data categories, known limitations, and human review instructions. Deployers will owe consumers notice at the point of interaction, and within 30 days of any adverse consequential decision, a plain-language explanation plus the right to request human review and reconsideration. Records must be retained 3 years. The attorney general enforces under the Colorado Consumer Protection Act, with a 60-day cure period through January 1, 2030.</a:t>
            </a:r>
            <a:endParaRPr/>
          </a:p>
          <a:p xmlns:a="http://schemas.openxmlformats.org/drawingml/2006/main">
            <a:r>
              <a:t/>
            </a:r>
            <a:endParaRPr/>
          </a:p>
          <a:p xmlns:a="http://schemas.openxmlformats.org/drawingml/2006/main">
            <a:r>
              <a:t>*Connecticut: AI Responsibility and Transparency Act (Public Act 26-15):*</a:t>
            </a:r>
            <a:endParaRPr/>
          </a:p>
          <a:p xmlns:a="http://schemas.openxmlformats.org/drawingml/2006/main">
            <a:r>
              <a:t>Connecticut's SB 5 became Public Act 26-15 in June 2026. It is the most comprehensive state AI employment statute enacted so far, and it phases in across two years. Read the dates carefully, because the parts that bite first are not the disclosure rules.</a:t>
            </a:r>
            <a:endParaRPr/>
          </a:p>
          <a:p xmlns:a="http://schemas.openxmlformats.org/drawingml/2006/main">
            <a:r>
              <a:t/>
            </a:r>
            <a:endParaRPr/>
          </a:p>
          <a:p xmlns:a="http://schemas.openxmlformats.org/drawingml/2006/main">
            <a:r>
              <a:t>Live October 1, 2026:</a:t>
            </a:r>
            <a:endParaRPr/>
          </a:p>
          <a:p xmlns:a="http://schemas.openxmlformats.org/drawingml/2006/main">
            <a:r>
              <a:t/>
            </a:r>
            <a:endParaRPr/>
          </a:p>
          <a:p xmlns:a="http://schemas.openxmlformats.org/drawingml/2006/main">
            <a:r>
              <a:t>- **AI is not a defense.** Sections 13 and 14 amend Conn. Gen. Stat. 46a-60 so that using an automated employment-related decision technology is not a defense against a discrimination complaint. The commission or court may consider the quality, efficacy, recency, and scope of anti-bias testing, its results, and the employer's response. This does not establish that a stale audit is always worse than no audit, or that testing guarantees a favorable legal outcome. Preserve the testing evidence and corrective actions for counsel review. Source: [Public Act 26-15](https://www.cga.ct.gov/2026/ACT/PA/PDF/2026PA-00015-R00SB-00005-PA.PDF).</a:t>
            </a:r>
            <a:endParaRPr/>
          </a:p>
          <a:p xmlns:a="http://schemas.openxmlformats.org/drawingml/2006/main">
            <a:r>
              <a:t>- **WARN notices.** Section 26 requires any employer serving a federal WARN notice under 29 USC 2102(a) to disclose to the Connecticut Labor Department whether the layoffs relate to the employer's use of AI or other technological change. Note the disclosure runs to the department, not to affected employees.</a:t>
            </a:r>
            <a:endParaRPr/>
          </a:p>
          <a:p xmlns:a="http://schemas.openxmlformats.org/drawingml/2006/main">
            <a:r>
              <a:t/>
            </a:r>
            <a:endParaRPr/>
          </a:p>
          <a:p xmlns:a="http://schemas.openxmlformats.org/drawingml/2006/main">
            <a:r>
              <a:t>Live October 1, 2027 (sections 7 to 12 take effect in 2026, but the duties attach only to technology deployed on or after October 1, 2027):</a:t>
            </a:r>
            <a:endParaRPr/>
          </a:p>
          <a:p xmlns:a="http://schemas.openxmlformats.org/drawingml/2006/main">
            <a:r>
              <a:t/>
            </a:r>
            <a:endParaRPr/>
          </a:p>
          <a:p xmlns:a="http://schemas.openxmlformats.org/drawingml/2006/main">
            <a:r>
              <a:t>- Scope is set by "substantial factor," defined as a factor that meaningfully alters the outcome of an employment-related decision. Covered decisions are hiring, promotion, discipline, discharge, renewal, selection for training or apprenticeship, and terms, privileges or conditions of employment. Carved out: nonmaterial changes to job tasks or hours, and decisions about workplace health and safety, scheduling, and productivity monitoring.</a:t>
            </a:r>
            <a:endParaRPr/>
          </a:p>
          <a:p xmlns:a="http://schemas.openxmlformats.org/drawingml/2006/main">
            <a:r>
              <a:t>- Developers must give deployers the information deployers need to meet their duties, but only where the tool was advertised, marketed, configured, contracted for, sold, or licensed to materially influence an employment decision.</a:t>
            </a:r>
            <a:endParaRPr/>
          </a:p>
          <a:p xmlns:a="http://schemas.openxmlformats.org/drawingml/2006/main">
            <a:r>
              <a:t>- Deployers must disclose in plain language when an employee or applicant is interacting with the technology, unless a reasonable person would find it obvious.</a:t>
            </a:r>
            <a:endParaRPr/>
          </a:p>
          <a:p xmlns:a="http://schemas.openxmlformats.org/drawingml/2006/main">
            <a:r>
              <a:t>- Before the decision is made, deployers must give written notice covering six specific points: that the technology was deployed, its purpose and the nature of the decision, the tool's trade name, the categories of personal data analyzed and how they will be assessed, the sources of that data, and deployer contact information.</a:t>
            </a:r>
            <a:endParaRPr/>
          </a:p>
          <a:p xmlns:a="http://schemas.openxmlformats.org/drawingml/2006/main">
            <a:r>
              <a:t>- Trade secrets can be withheld, but the withholding party must send notice saying what is being withheld and why.</a:t>
            </a:r>
            <a:endParaRPr/>
          </a:p>
          <a:p xmlns:a="http://schemas.openxmlformats.org/drawingml/2006/main">
            <a:r>
              <a:t/>
            </a:r>
            <a:endParaRPr/>
          </a:p>
          <a:p xmlns:a="http://schemas.openxmlformats.org/drawingml/2006/main">
            <a:r>
              <a:t>Enforcement is narrower than the obligations suggest: violations are unfair or deceptive trade practices under CUTPA, enforced **solely by the Attorney General**, with an explicit statement that the act creates **no private right of action**. Violations occurring on or before December 31, 2027 carry a 60-day cure period.</a:t>
            </a:r>
            <a:endParaRPr/>
          </a:p>
          <a:p xmlns:a="http://schemas.openxmlformats.org/drawingml/2006/main">
            <a:r>
              <a:t/>
            </a:r>
            <a:endParaRPr/>
          </a:p>
          <a:p xmlns:a="http://schemas.openxmlformats.org/drawingml/2006/main">
            <a:r>
              <a:t>One provision to catch in procurement: Section 8(c) lets a developer contract to assume the deployer's disclosure and notice duties, provided the contract is explicit about which duties transfer. That is a negotiating lever worth asking every vendor about. See the [vendor intake checklist](../03-governance/vendor-intake-checklist.md).</a:t>
            </a:r>
            <a:endParaRPr/>
          </a:p>
          <a:p xmlns:a="http://schemas.openxmlformats.org/drawingml/2006/main">
            <a:r>
              <a:t/>
            </a:r>
            <a:endParaRPr/>
          </a:p>
          <a:p xmlns:a="http://schemas.openxmlformats.org/drawingml/2006/main">
            <a:r>
              <a:t>*California: FEHA algorithmic discrimination rules and CPPA ADMT regulations:*</a:t>
            </a:r>
            <a:endParaRPr/>
          </a:p>
          <a:p xmlns:a="http://schemas.openxmlformats.org/drawingml/2006/main">
            <a:r>
              <a:t>The Civil Rights Council's FEHA regulations on automated decision systems took effect October 1, 2025: they prohibit AI-driven disparate treatment or disparate impact in employment decisions, require four years of recordkeeping, and hold employers liable for discriminatory outcomes even when the tool comes from a third-party vendor. Separately, the [CPPA regulation package](https://cppa.ca.gov/announcements/2025/20250923.html) took effect January 1, 2026. Covered businesses must begin risk-assessment compliance in 2026; ADMT notice and consumer-rights compliance begins January 1, 2027. These dates govern different duties. Review the [final regulations](https://cppa.ca.gov/regulations/ccpa_updates.html) for scope, opt-out exceptions, appeal conditions, and transition rules for processing already underway.</a:t>
            </a:r>
            <a:endParaRPr/>
          </a:p>
          <a:p xmlns:a="http://schemas.openxmlformats.org/drawingml/2006/main">
            <a:r>
              <a:t/>
            </a:r>
            <a:endParaRPr/>
          </a:p>
          <a:p xmlns:a="http://schemas.openxmlformats.org/drawingml/2006/main">
            <a:r>
              <a:t>Four California workplace bills were approved and chaptered on 30 September 2026. All four are enacted law, with obligations beginning in 2027. The chaptered texts were reviewed on 9 October 2026. AB 1883, SB 951, and AB 1331 take effect on 1 January 2027 under [California Constitution Article IV, section 8(c)(1)](https://leginfo.legislature.ca.gov/faces/codes_displayText.xhtml?lawCode=CONS&amp;division=&amp;title=&amp;part=&amp;chapter=&amp;article=IV); none contains an urgency clause or a later operative-date provision. SB 947 takes effect on that date but expressly makes its new Labor Code part operative on 1 July 2027. See the [source register](../03-governance/claims/california-workplace-laws.json) and the [Governor's signing announcement](https://www.gov.ca.gov/2026/09/30/californias-nation-leading-ai-framework-just-got-stronger-governor-newsom-signs-more-first-in-the-nation-worker-protections-and-more/).</a:t>
            </a:r>
            <a:endParaRPr/>
          </a:p>
          <a:p xmlns:a="http://schemas.openxmlformats.org/drawingml/2006/main">
            <a:r>
              <a:t/>
            </a:r>
            <a:endParaRPr/>
          </a:p>
          <a:p xmlns:a="http://schemas.openxmlformats.org/drawingml/2006/main">
            <a:r>
              <a:t>- **[AB 1883](https://leginfo.legislature.ca.gov/faces/billNavClient.xhtml?bill_id=202520260AB1883)** (workplace surveillance tools, Chapter 853, Statutes of 2026) adds Labor Code Part 5.8 to bar employers from using AI-driven surveillance tools to recognize or infer an employee's emotional state, or to collect neural data, meaning data measured from the central or peripheral nervous system and not inferred from nonneural information. Safety uses are preserved, and there is a narrow carve-out for federally mandated aerospace and national security work. Enforcement runs through the Labor Commissioner or a public prosecutor, with penalties up to $500 per violation. It was enrolled on 3 September 2026 and approved by the Governor on 30 September 2026. Some published summaries report 3 September as the signing date; that is the enrollment date.</a:t>
            </a:r>
            <a:endParaRPr/>
          </a:p>
          <a:p xmlns:a="http://schemas.openxmlformats.org/drawingml/2006/main">
            <a:r>
              <a:t>- **[SB 947](https://leginfo.legislature.ca.gov/faces/billTextClient.xhtml?bill_id=202520260SB947)** (the "No Robo Bosses Act," Chapter 859, Statutes of 2026) is **operative 1 July 2027**, under new Labor Code section 1526.7. It bars sole reliance on an ADS for discipline or termination. Primary reliance requires human corroboration and written post-use notice when the decision is communicated. If corroboration fails, or the reviewer finds the output inaccurate, incomplete, or misleading, the employer must not use that output for the decision. The employee may request a meaningful description of their own data used by the ADS. Check the collective bargaining and federal-operation exceptions in sections 1526.5 and 1526.6.</a:t>
            </a:r>
            <a:endParaRPr/>
          </a:p>
          <a:p xmlns:a="http://schemas.openxmlformats.org/drawingml/2006/main">
            <a:r>
              <a:t>- **[SB 951](https://leginfo.legislature.ca.gov/faces/billTextClient.xhtml?bill_id=202520260SB951)** (Chapter 860, Statutes of 2026), **effective 1 January 2027**, adds technology-displacement information to an otherwise required Cal/WARN notice when AI or automation causes the event wholly or substantially. New Labor Code section 1401(d) requires affected jobs and locations, functions being automated, the technology category, and a technology-displacement heading. It retains the existing 60-day notice period. It does not enact the earlier proposal for a 90-day notice or an employer hiring-freeze notice; section 1402.7 instead requires an EDD study by 1 January 2028. Assess Cal/WARN coverage and exceptions before applying the notice requirement.</a:t>
            </a:r>
            <a:endParaRPr/>
          </a:p>
          <a:p xmlns:a="http://schemas.openxmlformats.org/drawingml/2006/main">
            <a:r>
              <a:t>- **[AB 1331](https://leginfo.legislature.ca.gov/faces/billTextClient.xhtml?bill_id=202520260AB1331)** (Chapter 851, Statutes of 2026), **effective 1 January 2027**, limits workplace bathroom surveillance and lets employees leave surveillance tools behind when entering a bathroom. New Labor Code section 1561 includes exceptions for court orders, one-time entry/exit checks, voluntary possession, and certain identification or safety devices. The tool definition reaches beyond AI. Review the full exceptions in sections 1561, 1564, and 1565 before changing monitoring practices.</a:t>
            </a:r>
            <a:endParaRPr/>
          </a:p>
          <a:p xmlns:a="http://schemas.openxmlformats.org/drawingml/2006/main">
            <a:r>
              <a:t/>
            </a:r>
            <a:endParaRPr/>
          </a:p>
          <a:p xmlns:a="http://schemas.openxmlformats.org/drawingml/2006/main">
            <a:r>
              <a:t>*Texas: Responsible AI Governance Act (TRAIGA):*</a:t>
            </a:r>
            <a:endParaRPr/>
          </a:p>
          <a:p xmlns:a="http://schemas.openxmlformats.org/drawingml/2006/main">
            <a:r>
              <a:t>Effective January 1, 2026 (HB 149, signed June 22, 2025). Narrower than Illinois or Colorado: TRAIGA prohibits intentional AI-based discrimination but does not create disparate impact liability, and the Attorney General has exclusive enforcement authority with a 60-day cure period before action.</a:t>
            </a:r>
            <a:endParaRPr/>
          </a:p>
          <a:p xmlns:a="http://schemas.openxmlformats.org/drawingml/2006/main">
            <a:r>
              <a:t/>
            </a:r>
            <a:endParaRPr/>
          </a:p>
          <a:p xmlns:a="http://schemas.openxmlformats.org/drawingml/2006/main">
            <a:r>
              <a:t>*New Jersey: no AI statute, but existing discrimination law already reaches AI:*</a:t>
            </a:r>
            <a:endParaRPr/>
          </a:p>
          <a:p xmlns:a="http://schemas.openxmlformats.org/drawingml/2006/main">
            <a:r>
              <a:t>New Jersey is the case that breaks the habit of scanning for AI-specific bills. It has no AI hiring statute. In January 2025 the Office of the Attorney General and the Division on Civil Rights issued guidance stating that the Law Against Discrimination (N.J.S.A. 10:5-1 et seq.) applies to algorithmic discrimination the same way it has long applied to other discriminatory conduct, in employment among other contexts. Three points matter for HR practice:</a:t>
            </a:r>
            <a:endParaRPr/>
          </a:p>
          <a:p xmlns:a="http://schemas.openxmlformats.org/drawingml/2006/main">
            <a:r>
              <a:t/>
            </a:r>
            <a:endParaRPr/>
          </a:p>
          <a:p xmlns:a="http://schemas.openxmlformats.org/drawingml/2006/main">
            <a:r>
              <a:t>- **No intent required, and a vendor tool is not a defense.** The guidance states that a covered entity "is not shielded from liability for algorithmic discrimination that results from the entity's use of an automated decision-making tool simply because the tool was developed by a third party or because the entity does not understand the inner workings of the tool."</a:t>
            </a:r>
            <a:endParaRPr/>
          </a:p>
          <a:p xmlns:a="http://schemas.openxmlformats.org/drawingml/2006/main">
            <a:r>
              <a:t>- **Disparate impact is covered.** Use of a tool with a disproportionate effect on a protected class is prohibited unless it is necessary to achieve a substantial, legitimate, nondiscriminatory interest and there is no less discriminatory alternative. Whether the employer tested the tool for bias or evaluated alternatives may be weighed as relevant evidence, which is the same pattern as Connecticut: your fairness audit becomes evidence.</a:t>
            </a:r>
            <a:endParaRPr/>
          </a:p>
          <a:p xmlns:a="http://schemas.openxmlformats.org/drawingml/2006/main">
            <a:r>
              <a:t>- **Reasonable accommodations are in scope.** A tool can violate the LAD by being inaccessible or by penalizing someone who uses an accommodation. The guidance's example is a typing-speed screen that cannot read a non-traditional keyboard.</a:t>
            </a:r>
            <a:endParaRPr/>
          </a:p>
          <a:p xmlns:a="http://schemas.openxmlformats.org/drawingml/2006/main">
            <a:r>
              <a:t/>
            </a:r>
            <a:endParaRPr/>
          </a:p>
          <a:p xmlns:a="http://schemas.openxmlformats.org/drawingml/2006/main">
            <a:r>
              <a:t>Two limits to state accurately when you teach this. The guidance is interpretive: it says on its face that it imposes no requirements beyond the LAD and will not be enforced as a substitute for enforcing the LAD. And it carries no effective date, because the underlying statute has been in force for decades. Do not present it as a new obligation that switched on in 2025. The takeaway for the class is the general one: a state with no AI bill is not a state with no AI exposure.</a:t>
            </a:r>
            <a:endParaRPr/>
          </a:p>
          <a:p xmlns:a="http://schemas.openxmlformats.org/drawingml/2006/main">
            <a:r>
              <a:t/>
            </a:r>
            <a:endParaRPr/>
          </a:p>
          <a:p xmlns:a="http://schemas.openxmlformats.org/drawingml/2006/main">
            <a:r>
              <a:t>*GDPR and CCPA:*</a:t>
            </a:r>
            <a:endParaRPr/>
          </a:p>
          <a:p xmlns:a="http://schemas.openxmlformats.org/drawingml/2006/main">
            <a:r>
              <a:t>Employees in covered jurisdictions have rights regarding automated decision-making. Know which of your employees are covered and how your AI use cases interact with their rights. See the California-specific rules above for the current state of play there.</a:t>
            </a:r>
            <a:endParaRPr/>
          </a:p>
          <a:p xmlns:a="http://schemas.openxmlformats.org/drawingml/2006/main">
            <a:r>
              <a:t/>
            </a:r>
            <a:endParaRPr/>
          </a:p>
          <a:p xmlns:a="http://schemas.openxmlformats.org/drawingml/2006/main">
            <a:r>
              <a:t>*UK: Data (Use and Access) Act 2025 replaces GDPR Article 22:*</a:t>
            </a:r>
            <a:endParaRPr/>
          </a:p>
          <a:p xmlns:a="http://schemas.openxmlformats.org/drawingml/2006/main">
            <a:r>
              <a:t>Section 80 of the UK's Data (Use and Access) Act 2025 took effect February 5, 2026 (Commencement Regulations SI 2026/82) and substitutes Article 22 of the UK GDPR with new Articles 22A to 22D. The new regime permits solely automated "significant decisions," those with a legal or similarly significant effect, more broadly than before, but requires safeguards: notice to the individual, the ability to make representations, the right to human intervention, and the right to contest the decision. Stricter restrictions still apply where special category data is used. Treat this as a distinct regime from EU GDPR Article 22, not an equivalent, for any AI use case touching UK-based workers or candidates.</a:t>
            </a:r>
            <a:endParaRPr/>
          </a:p>
          <a:p xmlns:a="http://schemas.openxmlformats.org/drawingml/2006/main">
            <a:r>
              <a:t/>
            </a:r>
            <a:endParaRPr/>
          </a:p>
          <a:p xmlns:a="http://schemas.openxmlformats.org/drawingml/2006/main">
            <a:r>
              <a:t>The ICO is already signaling how it will police this in recruitment specifically. A March 2026 ICO report on automated decision-making in hiring found many employers don't recognize they're doing ADM at all, and that "human review" in practice often amounts to rubber-stamping rather than a reviewer with real authority to change the outcome. Following that report, the ICO opened a consultation on draft ADM guidance, worth checking for the final version before relying on the March findings alone. Build the oversight role description to survive that scrutiny, not just to check the box.</a:t>
            </a:r>
            <a:endParaRPr/>
          </a:p>
          <a:p xmlns:a="http://schemas.openxmlformats.org/drawingml/2006/main">
            <a:r>
              <a:t/>
            </a:r>
            <a:endParaRPr/>
          </a:p>
          <a:p xmlns:a="http://schemas.openxmlformats.org/drawingml/2006/main">
            <a:r>
              <a:t>*Canada: no federal AI employment law, but Ontario requires disclosure:*</a:t>
            </a:r>
            <a:endParaRPr/>
          </a:p>
          <a:p xmlns:a="http://schemas.openxmlformats.org/drawingml/2006/main">
            <a:r>
              <a:t>Canada's federal AI bill (AIDA, part of Bill C-27) died when Parliament prorogued in January 2025 and has not been revived. AI regulation there runs through existing privacy, human rights, and sector law instead. Ontario is the exception: since January 1, 2026, employers with 25+ employees must disclose in publicly advertised job postings whether AI is used to screen, assess, or select candidates (Employment Standards Act, 2000 amendment).</a:t>
            </a:r>
            <a:endParaRPr/>
          </a:p>
          <a:p xmlns:a="http://schemas.openxmlformats.org/drawingml/2006/main">
            <a:r>
              <a:t/>
            </a:r>
            <a:endParaRPr/>
          </a:p>
          <a:p xmlns:a="http://schemas.openxmlformats.org/drawingml/2006/main">
            <a:r>
              <a:t>*The "AI as a manager" trap:*</a:t>
            </a:r>
            <a:endParaRPr/>
          </a:p>
          <a:p xmlns:a="http://schemas.openxmlformats.org/drawingml/2006/main">
            <a:r>
              <a:t>AI that monitors, evaluates, or scores employees without their knowledge, even for legitimate purposes, creates legal and trust exposure. Transparency is not just ethical, it's protective.</a:t>
            </a:r>
            <a:endParaRPr/>
          </a:p>
          <a:p xmlns:a="http://schemas.openxmlformats.org/drawingml/2006/main">
            <a:r>
              <a:t/>
            </a:r>
            <a:endParaRPr/>
          </a:p>
          <a:p xmlns:a="http://schemas.openxmlformats.org/drawingml/2006/main">
            <a:r>
              <a:t>**Scenario practice cards:**</a:t>
            </a:r>
            <a:endParaRPr/>
          </a:p>
          <a:p xmlns:a="http://schemas.openxmlformats.org/drawingml/2006/main">
            <a:r>
              <a:t/>
            </a:r>
            <a:endParaRPr/>
          </a:p>
          <a:p xmlns:a="http://schemas.openxmlformats.org/drawingml/2006/main">
            <a:r>
              <a:t>Print or share these four scenarios. Groups of 3–4 discuss: Is this use appropriate? What are the risks? What would you change?</a:t>
            </a:r>
            <a:endParaRPr/>
          </a:p>
          <a:p xmlns:a="http://schemas.openxmlformats.org/drawingml/2006/main">
            <a:r>
              <a:t/>
            </a:r>
            <a:endParaRPr/>
          </a:p>
          <a:p xmlns:a="http://schemas.openxmlformats.org/drawingml/2006/main">
            <a:r>
              <a:t>&gt; **Scenario A:** An AI tool automatically rejects resumes with gaps of more than 6 months without showing them to a recruiter.</a:t>
            </a:r>
            <a:endParaRPr/>
          </a:p>
          <a:p xmlns:a="http://schemas.openxmlformats.org/drawingml/2006/main">
            <a:r>
              <a:t/>
            </a:r>
            <a:endParaRPr/>
          </a:p>
          <a:p xmlns:a="http://schemas.openxmlformats.org/drawingml/2006/main">
            <a:r>
              <a:t>&gt; **Scenario B:** An HRBP uses an AI writing assistant to draft a PIP for an employee, then reviews and edits it before sharing with the manager.</a:t>
            </a:r>
            <a:endParaRPr/>
          </a:p>
          <a:p xmlns:a="http://schemas.openxmlformats.org/drawingml/2006/main">
            <a:r>
              <a:t/>
            </a:r>
            <a:endParaRPr/>
          </a:p>
          <a:p xmlns:a="http://schemas.openxmlformats.org/drawingml/2006/main">
            <a:r>
              <a:t>&gt; **Scenario C:** People Analytics builds an attrition risk model that scores all employees monthly and shares the scores directly with managers.</a:t>
            </a:r>
            <a:endParaRPr/>
          </a:p>
          <a:p xmlns:a="http://schemas.openxmlformats.org/drawingml/2006/main">
            <a:r>
              <a:t/>
            </a:r>
            <a:endParaRPr/>
          </a:p>
          <a:p xmlns:a="http://schemas.openxmlformats.org/drawingml/2006/main">
            <a:r>
              <a:t>&gt; **Scenario D:** An AI chatbot answers benefits questions for employees. It sometimes gives incorrect information but flags that users should confirm with HR.</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4: Building and scaling AI use cases</a:t>
            </a:r>
            <a:endParaRPr/>
          </a:p>
          <a:p xmlns:a="http://schemas.openxmlformats.org/drawingml/2006/main">
            <a:r>
              <a:t/>
            </a:r>
            <a:endParaRPr/>
          </a:p>
          <a:p xmlns:a="http://schemas.openxmlformats.org/drawingml/2006/main">
            <a:r>
              <a:t>**Learning objectives:**</a:t>
            </a:r>
            <a:endParaRPr/>
          </a:p>
          <a:p xmlns:a="http://schemas.openxmlformats.org/drawingml/2006/main">
            <a:r>
              <a:t>- Apply the prioritization matrix to identify your team's highest-value AI use cases</a:t>
            </a:r>
            <a:endParaRPr/>
          </a:p>
          <a:p xmlns:a="http://schemas.openxmlformats.org/drawingml/2006/main">
            <a:r>
              <a:t>- Define a use case with clear success metrics and governance requirements</a:t>
            </a:r>
            <a:endParaRPr/>
          </a:p>
          <a:p xmlns:a="http://schemas.openxmlformats.org/drawingml/2006/main">
            <a:r>
              <a:t>- Draft a basic implementation plan for a low-complexity use case</a:t>
            </a:r>
            <a:endParaRPr/>
          </a:p>
          <a:p xmlns:a="http://schemas.openxmlformats.org/drawingml/2006/main">
            <a:r>
              <a:t/>
            </a:r>
            <a:endParaRPr/>
          </a:p>
          <a:p xmlns:a="http://schemas.openxmlformats.org/drawingml/2006/main">
            <a:r>
              <a:t>**Session outline (2 hours):**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Opening: What does "scaling AI in HR" actually mean? |</a:t>
            </a:r>
            <a:endParaRPr/>
          </a:p>
          <a:p xmlns:a="http://schemas.openxmlformats.org/drawingml/2006/main">
            <a:r>
              <a:t>| 0:15–0:45 | Framework: From idea to deployment, the use case lifecycle |</a:t>
            </a:r>
            <a:endParaRPr/>
          </a:p>
          <a:p xmlns:a="http://schemas.openxmlformats.org/drawingml/2006/main">
            <a:r>
              <a:t>| 0:45–1:15 | Team exercise: Prioritization matrix applied to your team's top 5 ideas |</a:t>
            </a:r>
            <a:endParaRPr/>
          </a:p>
          <a:p xmlns:a="http://schemas.openxmlformats.org/drawingml/2006/main">
            <a:r>
              <a:t>| 1:15–1:45 | Small group: Draft a one-page use case spec for your top-ranked idea |</a:t>
            </a:r>
            <a:endParaRPr/>
          </a:p>
          <a:p xmlns:a="http://schemas.openxmlformats.org/drawingml/2006/main">
            <a:r>
              <a:t>| 1:45–2:00 | Gallery walk + feedback |</a:t>
            </a:r>
            <a:endParaRPr/>
          </a:p>
          <a:p xmlns:a="http://schemas.openxmlformats.org/drawingml/2006/main">
            <a:r>
              <a:t/>
            </a:r>
            <a:endParaRPr/>
          </a:p>
          <a:p xmlns:a="http://schemas.openxmlformats.org/drawingml/2006/main">
            <a:r>
              <a:t>**Use case lifecycle:**</a:t>
            </a:r>
            <a:endParaRPr/>
          </a:p>
          <a:p xmlns:a="http://schemas.openxmlformats.org/drawingml/2006/main">
            <a:r>
              <a:t/>
            </a:r>
            <a:endParaRPr/>
          </a:p>
          <a:p xmlns:a="http://schemas.openxmlformats.org/drawingml/2006/main">
            <a:r>
              <a:t>```</a:t>
            </a:r>
            <a:endParaRPr/>
          </a:p>
          <a:p xmlns:a="http://schemas.openxmlformats.org/drawingml/2006/main">
            <a:r>
              <a:t>Discover → Prioritize → Design → Pilot → Evaluate → Scale</a:t>
            </a:r>
            <a:endParaRPr/>
          </a:p>
          <a:p xmlns:a="http://schemas.openxmlformats.org/drawingml/2006/main">
            <a:r>
              <a:t>   ↑                                          |</a:t>
            </a:r>
            <a:endParaRPr/>
          </a:p>
          <a:p xmlns:a="http://schemas.openxmlformats.org/drawingml/2006/main">
            <a:r>
              <a:t>   └──────────────── iterate ─────────────────┘</a:t>
            </a:r>
            <a:endParaRPr/>
          </a:p>
          <a:p xmlns:a="http://schemas.openxmlformats.org/drawingml/2006/main">
            <a:r>
              <a:t>```</a:t>
            </a:r>
            <a:endParaRPr/>
          </a:p>
          <a:p xmlns:a="http://schemas.openxmlformats.org/drawingml/2006/main">
            <a:r>
              <a:t/>
            </a:r>
            <a:endParaRPr/>
          </a:p>
          <a:p xmlns:a="http://schemas.openxmlformats.org/drawingml/2006/main">
            <a:r>
              <a:t>- **Discover:** What problem are we solving? Who feels it most?</a:t>
            </a:r>
            <a:endParaRPr/>
          </a:p>
          <a:p xmlns:a="http://schemas.openxmlformats.org/drawingml/2006/main">
            <a:r>
              <a:t>- **Prioritize:** Use the matrix. Don't skip this.</a:t>
            </a:r>
            <a:endParaRPr/>
          </a:p>
          <a:p xmlns:a="http://schemas.openxmlformats.org/drawingml/2006/main">
            <a:r>
              <a:t>- **Design:** Define inputs, outputs, human review gates, success metrics, and fallback</a:t>
            </a:r>
            <a:endParaRPr/>
          </a:p>
          <a:p xmlns:a="http://schemas.openxmlformats.org/drawingml/2006/main">
            <a:r>
              <a:t>- **Pilot:** Small scope, high observation. 4–8 weeks.</a:t>
            </a:r>
            <a:endParaRPr/>
          </a:p>
          <a:p xmlns:a="http://schemas.openxmlformats.org/drawingml/2006/main">
            <a:r>
              <a:t>- **Evaluate:** Did it work? For whom? What didn't?</a:t>
            </a:r>
            <a:endParaRPr/>
          </a:p>
          <a:p xmlns:a="http://schemas.openxmlformats.org/drawingml/2006/main">
            <a:r>
              <a:t>- **Scale:** Expand with the lessons from pilot baked in</a:t>
            </a:r>
            <a:endParaRPr/>
          </a:p>
          <a:p xmlns:a="http://schemas.openxmlformats.org/drawingml/2006/main">
            <a:r>
              <a:t/>
            </a:r>
            <a:endParaRPr/>
          </a:p>
          <a:p xmlns:a="http://schemas.openxmlformats.org/drawingml/2006/main">
            <a:r>
              <a:t>**One-page use case spec template:**</a:t>
            </a:r>
            <a:endParaRPr/>
          </a:p>
          <a:p xmlns:a="http://schemas.openxmlformats.org/drawingml/2006/main">
            <a:r>
              <a:t/>
            </a:r>
            <a:endParaRPr/>
          </a:p>
          <a:p xmlns:a="http://schemas.openxmlformats.org/drawingml/2006/main">
            <a:r>
              <a:t>Participants complete this for their team's top-ranked use case:</a:t>
            </a:r>
            <a:endParaRPr/>
          </a:p>
          <a:p xmlns:a="http://schemas.openxmlformats.org/drawingml/2006/main">
            <a:r>
              <a:t/>
            </a:r>
            <a:endParaRPr/>
          </a:p>
          <a:p xmlns:a="http://schemas.openxmlformats.org/drawingml/2006/main">
            <a:r>
              <a:t>```</a:t>
            </a:r>
            <a:endParaRPr/>
          </a:p>
          <a:p xmlns:a="http://schemas.openxmlformats.org/drawingml/2006/main">
            <a:r>
              <a:t>Use case name:</a:t>
            </a:r>
            <a:endParaRPr/>
          </a:p>
          <a:p xmlns:a="http://schemas.openxmlformats.org/drawingml/2006/main">
            <a:r>
              <a:t>Problem it solves (1 sentence):</a:t>
            </a:r>
            <a:endParaRPr/>
          </a:p>
          <a:p xmlns:a="http://schemas.openxmlformats.org/drawingml/2006/main">
            <a:r>
              <a:t>Who benefits and how:</a:t>
            </a:r>
            <a:endParaRPr/>
          </a:p>
          <a:p xmlns:a="http://schemas.openxmlformats.org/drawingml/2006/main">
            <a:r>
              <a:t>AI approach (Rules / Augment / Assist / Human-led / Analytics):</a:t>
            </a:r>
            <a:endParaRPr/>
          </a:p>
          <a:p xmlns:a="http://schemas.openxmlformats.org/drawingml/2006/main">
            <a:r>
              <a:t>Data needed:</a:t>
            </a:r>
            <a:endParaRPr/>
          </a:p>
          <a:p xmlns:a="http://schemas.openxmlformats.org/drawingml/2006/main">
            <a:r>
              <a:t>Human review gate:</a:t>
            </a:r>
            <a:endParaRPr/>
          </a:p>
          <a:p xmlns:a="http://schemas.openxmlformats.org/drawingml/2006/main">
            <a:r>
              <a:t>Success metric(s):</a:t>
            </a:r>
            <a:endParaRPr/>
          </a:p>
          <a:p xmlns:a="http://schemas.openxmlformats.org/drawingml/2006/main">
            <a:r>
              <a:t>What could go wrong:</a:t>
            </a:r>
            <a:endParaRPr/>
          </a:p>
          <a:p xmlns:a="http://schemas.openxmlformats.org/drawingml/2006/main">
            <a:r>
              <a:t>Governance requirements (from risk assessment):</a:t>
            </a:r>
            <a:endParaRPr/>
          </a:p>
          <a:p xmlns:a="http://schemas.openxmlformats.org/drawingml/2006/main">
            <a:r>
              <a:t>First step to move forward:</a:t>
            </a:r>
            <a:endParaRPr/>
          </a:p>
          <a:p xmlns:a="http://schemas.openxmlformats.org/drawingml/2006/main">
            <a:r>
              <a:t>```</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Assessment and certification</a:t>
            </a:r>
            <a:endParaRPr/>
          </a:p>
          <a:p xmlns:a="http://schemas.openxmlformats.org/drawingml/2006/main">
            <a:r>
              <a:t/>
            </a:r>
            <a:endParaRPr/>
          </a:p>
          <a:p xmlns:a="http://schemas.openxmlformats.org/drawingml/2006/main">
            <a:r>
              <a:t>An organization may choose to give participants who complete all four modules</a:t>
            </a:r>
            <a:endParaRPr/>
          </a:p>
          <a:p xmlns:a="http://schemas.openxmlformats.org/drawingml/2006/main">
            <a:r>
              <a:t>and the hands-on components an **HR AI Practitioner** acknowledgment. This is a</a:t>
            </a:r>
            <a:endParaRPr/>
          </a:p>
          <a:p xmlns:a="http://schemas.openxmlformats.org/drawingml/2006/main">
            <a:r>
              <a:t>proposed internal recognition, not an accredited certification or evidence of</a:t>
            </a:r>
            <a:endParaRPr/>
          </a:p>
          <a:p xmlns:a="http://schemas.openxmlformats.org/drawingml/2006/main">
            <a:r>
              <a:t>professional competence. No delivery or learning outcome is claimed here.</a:t>
            </a:r>
            <a:endParaRPr/>
          </a:p>
          <a:p xmlns:a="http://schemas.openxmlformats.org/drawingml/2006/main">
            <a:r>
              <a:t/>
            </a:r>
            <a:endParaRPr/>
          </a:p>
          <a:p xmlns:a="http://schemas.openxmlformats.org/drawingml/2006/main">
            <a:r>
              <a:t>Optional extension: Participants who complete a full use case spec and present it to the HR Technology team are recognized as **HR AI Champions**, an informal internal designation that supports peer enablement.</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Facilitator notes</a:t>
            </a:r>
            <a:endParaRPr/>
          </a:p>
          <a:p xmlns:a="http://schemas.openxmlformats.org/drawingml/2006/main">
            <a:r>
              <a:t/>
            </a:r>
            <a:endParaRPr/>
          </a:p>
          <a:p xmlns:a="http://schemas.openxmlformats.org/drawingml/2006/main">
            <a:r>
              <a:t>These are facilitation suggestions, not measured delivery findings. Use synthetic examples; removing names alone does not establish anonymity. Do not upload real employee, candidate, compensation, or employer-confidential information for a training exercise.</a:t>
            </a:r>
            <a:endParaRPr/>
          </a:p>
          <a:p xmlns:a="http://schemas.openxmlformats.org/drawingml/2006/main">
            <a:r>
              <a:t/>
            </a:r>
            <a:endParaRPr/>
          </a:p>
          <a:p xmlns:a="http://schemas.openxmlformats.org/drawingml/2006/main">
            <a:r>
              <a:t>- Budget flex time in Module 3 for questions and disagreement about risk.</a:t>
            </a:r>
            <a:endParaRPr/>
          </a:p>
          <a:p xmlns:a="http://schemas.openxmlformats.org/drawingml/2006/main">
            <a:r>
              <a:t>- Protect time for the Module 2 lab, and check whether participants can identify errors and verify outputs afterward.</a:t>
            </a:r>
            <a:endParaRPr/>
          </a:p>
          <a:p xmlns:a="http://schemas.openxmlformats.org/drawingml/2006/main">
            <a:r>
              <a:t>- Adapt synthetic scenarios to familiar workflows, without identifiable employee cases or confidential documents.</a:t>
            </a:r>
            <a:endParaRPr/>
          </a:p>
          <a:p xmlns:a="http://schemas.openxmlformats.org/drawingml/2006/main">
            <a:r>
              <a:t>- Keep an AI skeptic on the facilitation team if possible. The best discussions happen when the room has range.</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snapshot: 13 October 2026. Curriculum SHA-256: 5ee769258ac9b95a3c514b64dcd5b22215e40bac8621054ffb452bffc244827a. This deck summarizes the source; no human evaluation, delivery outcome or legal approval is claimed.</a:t>
            </a:r>
            <a:endParaRPr/>
          </a:p>
          <a:p xmlns:a="http://schemas.openxmlformats.org/drawingml/2006/main">
            <a:r>
              <a:t/>
            </a:r>
            <a:endParaRPr/>
          </a:p>
          <a:p xmlns:a="http://schemas.openxmlformats.org/drawingml/2006/main">
            <a:r>
              <a:t># HR AI literacy curriculum</a:t>
            </a:r>
            <a:endParaRPr/>
          </a:p>
          <a:p xmlns:a="http://schemas.openxmlformats.org/drawingml/2006/main">
            <a:r>
              <a:t/>
            </a:r>
            <a:endParaRPr/>
          </a:p>
          <a:p xmlns:a="http://schemas.openxmlformats.org/drawingml/2006/main">
            <a:r>
              <a:t>A 4-module learning program for HR professionals at all experience levels. Designed to be delivered as a facilitated series over 4–6 weeks, or adapted for self-paced completion.</a:t>
            </a:r>
            <a:endParaRPr/>
          </a:p>
          <a:p xmlns:a="http://schemas.openxmlformats.org/drawingml/2006/main">
            <a:r>
              <a:t/>
            </a:r>
            <a:endParaRPr/>
          </a:p>
          <a:p xmlns:a="http://schemas.openxmlformats.org/drawingml/2006/main">
            <a:r>
              <a:t>**Total time:** about 7 hours of sessions, plus async reading and hands-on practice (roughly 8 hours in all)</a:t>
            </a:r>
            <a:endParaRPr/>
          </a:p>
          <a:p xmlns:a="http://schemas.openxmlformats.org/drawingml/2006/main">
            <a:r>
              <a:t>**Format:** Workshop + async reading + hands-on practice</a:t>
            </a:r>
            <a:endParaRPr/>
          </a:p>
          <a:p xmlns:a="http://schemas.openxmlformats.org/drawingml/2006/main">
            <a:r>
              <a:t>**Audience:** All People Team members</a:t>
            </a:r>
            <a:endParaRPr/>
          </a:p>
          <a:p xmlns:a="http://schemas.openxmlformats.org/drawingml/2006/main">
            <a:r>
              <a:t>**Prerequisite:** None</a:t>
            </a:r>
            <a:endParaRPr/>
          </a:p>
          <a:p xmlns:a="http://schemas.openxmlformats.org/drawingml/2006/main">
            <a:r>
              <a:t/>
            </a:r>
            <a:endParaRPr/>
          </a:p>
          <a:p xmlns:a="http://schemas.openxmlformats.org/drawingml/2006/main">
            <a:r>
              <a:t>**Lab prerequisite:** The facilitator confirms an organization-approved tool,</a:t>
            </a:r>
            <a:endParaRPr/>
          </a:p>
          <a:p xmlns:a="http://schemas.openxmlformats.org/drawingml/2006/main">
            <a:r>
              <a:t>provider handling, and a synthetic-only data boundary before any exercise.</a:t>
            </a:r>
            <a:endParaRPr/>
          </a:p>
          <a:p xmlns:a="http://schemas.openxmlformats.org/drawingml/2006/main">
            <a:r>
              <a:t>Modules 1-3 and the required governance approvals precede any real-work pilot.</a:t>
            </a:r>
            <a:endParaRPr/>
          </a:p>
          <a:p xmlns:a="http://schemas.openxmlformats.org/drawingml/2006/main">
            <a:r>
              <a:t>This curriculum does not authorize employee-data processing.</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Program overview</a:t>
            </a:r>
            <a:endParaRPr/>
          </a:p>
          <a:p xmlns:a="http://schemas.openxmlformats.org/drawingml/2006/main">
            <a:r>
              <a:t/>
            </a:r>
            <a:endParaRPr/>
          </a:p>
          <a:p xmlns:a="http://schemas.openxmlformats.org/drawingml/2006/main">
            <a:r>
              <a:t>| Module | Title | Duration | Format |</a:t>
            </a:r>
            <a:endParaRPr/>
          </a:p>
          <a:p xmlns:a="http://schemas.openxmlformats.org/drawingml/2006/main">
            <a:r>
              <a:t>|---|---|---|---|</a:t>
            </a:r>
            <a:endParaRPr/>
          </a:p>
          <a:p xmlns:a="http://schemas.openxmlformats.org/drawingml/2006/main">
            <a:r>
              <a:t>| 1 | How AI works, what HR professionals actually need to know | 90 min | Workshop |</a:t>
            </a:r>
            <a:endParaRPr/>
          </a:p>
          <a:p xmlns:a="http://schemas.openxmlformats.org/drawingml/2006/main">
            <a:r>
              <a:t>| 2 | Using AI in your daily HR work | 2 hours | Workshop + lab |</a:t>
            </a:r>
            <a:endParaRPr/>
          </a:p>
          <a:p xmlns:a="http://schemas.openxmlformats.org/drawingml/2006/main">
            <a:r>
              <a:t>| 3 | Governance, ethics, and responsible use | 90 min | Workshop |</a:t>
            </a:r>
            <a:endParaRPr/>
          </a:p>
          <a:p xmlns:a="http://schemas.openxmlformats.org/drawingml/2006/main">
            <a:r>
              <a:t>| 4 | Building and scaling AI use cases | 2 hours | Workshop + project |</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1: How AI works, what HR professionals actually need to know</a:t>
            </a:r>
            <a:endParaRPr/>
          </a:p>
          <a:p xmlns:a="http://schemas.openxmlformats.org/drawingml/2006/main">
            <a:r>
              <a:t/>
            </a:r>
            <a:endParaRPr/>
          </a:p>
          <a:p xmlns:a="http://schemas.openxmlformats.org/drawingml/2006/main">
            <a:r>
              <a:t>**Learning objectives:**</a:t>
            </a:r>
            <a:endParaRPr/>
          </a:p>
          <a:p xmlns:a="http://schemas.openxmlformats.org/drawingml/2006/main">
            <a:r>
              <a:t>- Explain the difference between traditional automation and generative AI</a:t>
            </a:r>
            <a:endParaRPr/>
          </a:p>
          <a:p xmlns:a="http://schemas.openxmlformats.org/drawingml/2006/main">
            <a:r>
              <a:t>- Describe why AI "hallucinates" and how to mitigate it in HR contexts</a:t>
            </a:r>
            <a:endParaRPr/>
          </a:p>
          <a:p xmlns:a="http://schemas.openxmlformats.org/drawingml/2006/main">
            <a:r>
              <a:t>- Identify which HR tasks are good candidates for AI assistance and which are not</a:t>
            </a:r>
            <a:endParaRPr/>
          </a:p>
          <a:p xmlns:a="http://schemas.openxmlformats.org/drawingml/2006/main">
            <a:r>
              <a:t/>
            </a:r>
            <a:endParaRPr/>
          </a:p>
          <a:p xmlns:a="http://schemas.openxmlformats.org/drawingml/2006/main">
            <a:r>
              <a:t>**Session outline (90 minutes):**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0:00–0:10 | Opening: What do you already believe about AI? (quick poll + discussion) |</a:t>
            </a:r>
            <a:endParaRPr/>
          </a:p>
          <a:p xmlns:a="http://schemas.openxmlformats.org/drawingml/2006/main">
            <a:r>
              <a:t>| 0:10–0:30 | Concept: How LLMs work, without the jargon (facilitator presentation) |</a:t>
            </a:r>
            <a:endParaRPr/>
          </a:p>
          <a:p xmlns:a="http://schemas.openxmlformats.org/drawingml/2006/main">
            <a:r>
              <a:t>| 0:30–0:45 | Concept: Hallucination, confidence, and why AI makes things up |</a:t>
            </a:r>
            <a:endParaRPr/>
          </a:p>
          <a:p xmlns:a="http://schemas.openxmlformats.org/drawingml/2006/main">
            <a:r>
              <a:t>| 0:45–1:05 | Exercise: Spot the hallucination (participants identify errors in AI-generated HR content) |</a:t>
            </a:r>
            <a:endParaRPr/>
          </a:p>
          <a:p xmlns:a="http://schemas.openxmlformats.org/drawingml/2006/main">
            <a:r>
              <a:t>| 1:05–1:20 | Discussion: Where should HR use AI? Where should we be cautious? |</a:t>
            </a:r>
            <a:endParaRPr/>
          </a:p>
          <a:p xmlns:a="http://schemas.openxmlformats.org/drawingml/2006/main">
            <a:r>
              <a:t>| 1:20–1:30 | Wrap-up + homework: Try one AI tool before next session |</a:t>
            </a:r>
            <a:endParaRPr/>
          </a:p>
          <a:p xmlns:a="http://schemas.openxmlformats.org/drawingml/2006/main">
            <a:r>
              <a:t/>
            </a:r>
            <a:endParaRPr/>
          </a:p>
          <a:p xmlns:a="http://schemas.openxmlformats.org/drawingml/2006/main">
            <a:r>
              <a:t>**Key concepts to cover:**</a:t>
            </a:r>
            <a:endParaRPr/>
          </a:p>
          <a:p xmlns:a="http://schemas.openxmlformats.org/drawingml/2006/main">
            <a:r>
              <a:t/>
            </a:r>
            <a:endParaRPr/>
          </a:p>
          <a:p xmlns:a="http://schemas.openxmlformats.org/drawingml/2006/main">
            <a:r>
              <a:t>*What LLMs actually are:*</a:t>
            </a:r>
            <a:endParaRPr/>
          </a:p>
          <a:p xmlns:a="http://schemas.openxmlformats.org/drawingml/2006/main">
            <a:r>
              <a:t>Large language models predict the next most likely word given context. They don't "know" things the way a database knows things, they pattern-match against training data. This is why they can sound authoritative while being wrong.</a:t>
            </a:r>
            <a:endParaRPr/>
          </a:p>
          <a:p xmlns:a="http://schemas.openxmlformats.org/drawingml/2006/main">
            <a:r>
              <a:t/>
            </a:r>
            <a:endParaRPr/>
          </a:p>
          <a:p xmlns:a="http://schemas.openxmlformats.org/drawingml/2006/main">
            <a:r>
              <a:t>*The spectrum from rules to agents:*</a:t>
            </a:r>
            <a:endParaRPr/>
          </a:p>
          <a:p xmlns:a="http://schemas.openxmlformats.org/drawingml/2006/main">
            <a:r>
              <a:t>```</a:t>
            </a:r>
            <a:endParaRPr/>
          </a:p>
          <a:p xmlns:a="http://schemas.openxmlformats.org/drawingml/2006/main">
            <a:r>
              <a:t>Rules            →  Assist / Augment              →  Agent</a:t>
            </a:r>
            <a:endParaRPr/>
          </a:p>
          <a:p xmlns:a="http://schemas.openxmlformats.org/drawingml/2006/main">
            <a:r>
              <a:t>(deterministic)     (a person decides or owns)       (a model acts across several steps)</a:t>
            </a:r>
            <a:endParaRPr/>
          </a:p>
          <a:p xmlns:a="http://schemas.openxmlformats.org/drawingml/2006/main">
            <a:r>
              <a:t>```</a:t>
            </a:r>
            <a:endParaRPr/>
          </a:p>
          <a:p xmlns:a="http://schemas.openxmlformats.org/drawingml/2006/main">
            <a:r>
              <a:t>Use rules when rules reliably give the right answer. Most HR uses of AI belong in the middle. An agent, where a model takes several actions through tools with limited review between them, has to earn that autonomy through evidence and brings new governance requirements.</a:t>
            </a:r>
            <a:endParaRPr/>
          </a:p>
          <a:p xmlns:a="http://schemas.openxmlformats.org/drawingml/2006/main">
            <a:r>
              <a:t/>
            </a:r>
            <a:endParaRPr/>
          </a:p>
          <a:p xmlns:a="http://schemas.openxmlformats.org/drawingml/2006/main">
            <a:r>
              <a:t>*Prompt quality drives output quality:*</a:t>
            </a:r>
            <a:endParaRPr/>
          </a:p>
          <a:p xmlns:a="http://schemas.openxmlformats.org/drawingml/2006/main">
            <a:r>
              <a:t>Clear prompts help define a task and its boundaries. Output quality also depends on the model, source material, workflow controls, and verification. A well-written prompt does not establish factual accuracy or safe HR judgment.</a:t>
            </a:r>
            <a:endParaRPr/>
          </a:p>
          <a:p xmlns:a="http://schemas.openxmlformats.org/drawingml/2006/main">
            <a:r>
              <a:t/>
            </a:r>
            <a:endParaRPr/>
          </a:p>
          <a:p xmlns:a="http://schemas.openxmlformats.org/drawingml/2006/main">
            <a:r>
              <a:t>**Pre-reading (assign before session):**</a:t>
            </a:r>
            <a:endParaRPr/>
          </a:p>
          <a:p xmlns:a="http://schemas.openxmlformats.org/drawingml/2006/main">
            <a:r>
              <a:t>- [Your organization's AI use policy](../03-governance/ai-use-policy.md)</a:t>
            </a:r>
            <a:endParaRPr/>
          </a:p>
          <a:p xmlns:a="http://schemas.openxmlformats.org/drawingml/2006/main">
            <a:r>
              <a:t>- One-page primer on generative AI for non-technical audiences (create or source)</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2: Using AI in your daily HR work</a:t>
            </a:r>
            <a:endParaRPr/>
          </a:p>
          <a:p xmlns:a="http://schemas.openxmlformats.org/drawingml/2006/main">
            <a:r>
              <a:t/>
            </a:r>
            <a:endParaRPr/>
          </a:p>
          <a:p xmlns:a="http://schemas.openxmlformats.org/drawingml/2006/main">
            <a:r>
              <a:t>**Learning objectives:**</a:t>
            </a:r>
            <a:endParaRPr/>
          </a:p>
          <a:p xmlns:a="http://schemas.openxmlformats.org/drawingml/2006/main">
            <a:r>
              <a:t>- Write effective prompts for HR use cases</a:t>
            </a:r>
            <a:endParaRPr/>
          </a:p>
          <a:p xmlns:a="http://schemas.openxmlformats.org/drawingml/2006/main">
            <a:r>
              <a:t>- Use the prompt library for at least 3 HR workflows</a:t>
            </a:r>
            <a:endParaRPr/>
          </a:p>
          <a:p xmlns:a="http://schemas.openxmlformats.org/drawingml/2006/main">
            <a:r>
              <a:t>- Identify when to use AI, when to verify AI output, and when not to use it</a:t>
            </a:r>
            <a:endParaRPr/>
          </a:p>
          <a:p xmlns:a="http://schemas.openxmlformats.org/drawingml/2006/main">
            <a:r>
              <a:t/>
            </a:r>
            <a:endParaRPr/>
          </a:p>
          <a:p xmlns:a="http://schemas.openxmlformats.org/drawingml/2006/main">
            <a:r>
              <a:t>**Session outline (2 hours including lab):**</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Share-back from Module 1 homework, what did you try, what happened? |</a:t>
            </a:r>
            <a:endParaRPr/>
          </a:p>
          <a:p xmlns:a="http://schemas.openxmlformats.org/drawingml/2006/main">
            <a:r>
              <a:t>| 0:15–0:45 | Prompt engineering for HR: the four elements of a good prompt |</a:t>
            </a:r>
            <a:endParaRPr/>
          </a:p>
          <a:p xmlns:a="http://schemas.openxmlformats.org/drawingml/2006/main">
            <a:r>
              <a:t>| 0:45–1:10 | Live demo: Onboarding plan, performance review draft, policy Q&amp;A |</a:t>
            </a:r>
            <a:endParaRPr/>
          </a:p>
          <a:p xmlns:a="http://schemas.openxmlformats.org/drawingml/2006/main">
            <a:r>
              <a:t>| 1:10–1:50 | Hands-on lab: Each participant works through 2 prompts using synthetic HR scenarios in organization-approved tools |</a:t>
            </a:r>
            <a:endParaRPr/>
          </a:p>
          <a:p xmlns:a="http://schemas.openxmlformats.org/drawingml/2006/main">
            <a:r>
              <a:t>| 1:50–2:00 | Debrief: What surprised you? What didn't work? |</a:t>
            </a:r>
            <a:endParaRPr/>
          </a:p>
          <a:p xmlns:a="http://schemas.openxmlformats.org/drawingml/2006/main">
            <a:r>
              <a:t/>
            </a:r>
            <a:endParaRPr/>
          </a:p>
          <a:p xmlns:a="http://schemas.openxmlformats.org/drawingml/2006/main">
            <a:r>
              <a:t>**The four elements of an effective HR prompt:**</a:t>
            </a:r>
            <a:endParaRPr/>
          </a:p>
          <a:p xmlns:a="http://schemas.openxmlformats.org/drawingml/2006/main">
            <a:r>
              <a:t/>
            </a:r>
            <a:endParaRPr/>
          </a:p>
          <a:p xmlns:a="http://schemas.openxmlformats.org/drawingml/2006/main">
            <a:r>
              <a:t>1. **Role**: Define the task perspective, such as drafting support for an HRBP. A role instruction does not give the model professional authority.</a:t>
            </a:r>
            <a:endParaRPr/>
          </a:p>
          <a:p xmlns:a="http://schemas.openxmlformats.org/drawingml/2006/main">
            <a:r>
              <a:t/>
            </a:r>
            <a:endParaRPr/>
          </a:p>
          <a:p xmlns:a="http://schemas.openxmlformats.org/drawingml/2006/main">
            <a:r>
              <a:t>2. **Context**: Provide the specific details the AI needs. Role, tenure, team size, situation. Don't make the AI guess.</a:t>
            </a:r>
            <a:endParaRPr/>
          </a:p>
          <a:p xmlns:a="http://schemas.openxmlformats.org/drawingml/2006/main">
            <a:r>
              <a:t/>
            </a:r>
            <a:endParaRPr/>
          </a:p>
          <a:p xmlns:a="http://schemas.openxmlformats.org/drawingml/2006/main">
            <a:r>
              <a:t>3. **Task**: State clearly what you want it to produce. One output per prompt. "Draft a..." is clearer than "Help me with..."</a:t>
            </a:r>
            <a:endParaRPr/>
          </a:p>
          <a:p xmlns:a="http://schemas.openxmlformats.org/drawingml/2006/main">
            <a:r>
              <a:t/>
            </a:r>
            <a:endParaRPr/>
          </a:p>
          <a:p xmlns:a="http://schemas.openxmlformats.org/drawingml/2006/main">
            <a:r>
              <a:t>4. **Constraints**: Define length, tone, format, exclusions, and the verification needed. Check whether the output follows them.</a:t>
            </a:r>
            <a:endParaRPr/>
          </a:p>
          <a:p xmlns:a="http://schemas.openxmlformats.org/drawingml/2006/main">
            <a:r>
              <a:t/>
            </a:r>
            <a:endParaRPr/>
          </a:p>
          <a:p xmlns:a="http://schemas.openxmlformats.org/drawingml/2006/main">
            <a:r>
              <a:t>**Lab instructions:**</a:t>
            </a:r>
            <a:endParaRPr/>
          </a:p>
          <a:p xmlns:a="http://schemas.openxmlformats.org/drawingml/2006/main">
            <a:r>
              <a:t/>
            </a:r>
            <a:endParaRPr/>
          </a:p>
          <a:p xmlns:a="http://schemas.openxmlformats.org/drawingml/2006/main">
            <a:r>
              <a:t>Participants choose 2 prompts from the library that are relevant to their current work:</a:t>
            </a:r>
            <a:endParaRPr/>
          </a:p>
          <a:p xmlns:a="http://schemas.openxmlformats.org/drawingml/2006/main">
            <a:r>
              <a:t>1. Run the prompt with a fictional HR scenario in an organization-approved tool. Do not upload real employee, candidate, compensation, or confidential employer information.</a:t>
            </a:r>
            <a:endParaRPr/>
          </a:p>
          <a:p xmlns:a="http://schemas.openxmlformats.org/drawingml/2006/main">
            <a:r>
              <a:t>2. Evaluate the output: What's useful? What's wrong or missing? What would you change before using it?</a:t>
            </a:r>
            <a:endParaRPr/>
          </a:p>
          <a:p xmlns:a="http://schemas.openxmlformats.org/drawingml/2006/main">
            <a:r>
              <a:t>3. Iterate: Modify the prompt once based on what you learned and run it again</a:t>
            </a:r>
            <a:endParaRPr/>
          </a:p>
          <a:p xmlns:a="http://schemas.openxmlformats.org/drawingml/2006/main">
            <a:r>
              <a:t>4. Note: What changed between run 1 and run 2?</a:t>
            </a:r>
            <a:endParaRPr/>
          </a:p>
          <a:p xmlns:a="http://schemas.openxmlformats.org/drawingml/2006/main">
            <a:r>
              <a:t/>
            </a:r>
            <a:endParaRPr/>
          </a:p>
          <a:p xmlns:a="http://schemas.openxmlformats.org/drawingml/2006/main">
            <a:r>
              <a:t>**The verify-before-use rule:**</a:t>
            </a:r>
            <a:endParaRPr/>
          </a:p>
          <a:p xmlns:a="http://schemas.openxmlformats.org/drawingml/2006/main">
            <a:r>
              <a:t/>
            </a:r>
            <a:endParaRPr/>
          </a:p>
          <a:p xmlns:a="http://schemas.openxmlformats.org/drawingml/2006/main">
            <a:r>
              <a:t>Introduce and reinforce this heuristic:</a:t>
            </a:r>
            <a:endParaRPr/>
          </a:p>
          <a:p xmlns:a="http://schemas.openxmlformats.org/drawingml/2006/main">
            <a:r>
              <a:t>- Policy details → always verify against source system before sharing</a:t>
            </a:r>
            <a:endParaRPr/>
          </a:p>
          <a:p xmlns:a="http://schemas.openxmlformats.org/drawingml/2006/main">
            <a:r>
              <a:t>- Legal requirements → always verify with Legal before relying on</a:t>
            </a:r>
            <a:endParaRPr/>
          </a:p>
          <a:p xmlns:a="http://schemas.openxmlformats.org/drawingml/2006/main">
            <a:r>
              <a:t>- Factual claims → spot-check against a known source</a:t>
            </a:r>
            <a:endParaRPr/>
          </a:p>
          <a:p xmlns:a="http://schemas.openxmlformats.org/drawingml/2006/main">
            <a:r>
              <a:t>- Tone and content → always read before sending; AI doesn't know your audience</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3: Governance, ethics, and responsible use</a:t>
            </a:r>
            <a:endParaRPr/>
          </a:p>
          <a:p xmlns:a="http://schemas.openxmlformats.org/drawingml/2006/main">
            <a:r>
              <a:t/>
            </a:r>
            <a:endParaRPr/>
          </a:p>
          <a:p xmlns:a="http://schemas.openxmlformats.org/drawingml/2006/main">
            <a:r>
              <a:t>**Learning objectives:**</a:t>
            </a:r>
            <a:endParaRPr/>
          </a:p>
          <a:p xmlns:a="http://schemas.openxmlformats.org/drawingml/2006/main">
            <a:r>
              <a:t>- Apply the organization's AI use policy to real HR scenarios</a:t>
            </a:r>
            <a:endParaRPr/>
          </a:p>
          <a:p xmlns:a="http://schemas.openxmlformats.org/drawingml/2006/main">
            <a:r>
              <a:t>- Identify the key legal risk areas in HR AI (bias, privacy, employment law)</a:t>
            </a:r>
            <a:endParaRPr/>
          </a:p>
          <a:p xmlns:a="http://schemas.openxmlformats.org/drawingml/2006/main">
            <a:r>
              <a:t>- Complete a basic risk assessment for a new use case</a:t>
            </a:r>
            <a:endParaRPr/>
          </a:p>
          <a:p xmlns:a="http://schemas.openxmlformats.org/drawingml/2006/main">
            <a:r>
              <a:t/>
            </a:r>
            <a:endParaRPr/>
          </a:p>
          <a:p xmlns:a="http://schemas.openxmlformats.org/drawingml/2006/main">
            <a:r>
              <a:t>**Session outline (90 minutes):**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Case study: Three HR AI failures and what we can learn (discussion) |</a:t>
            </a:r>
            <a:endParaRPr/>
          </a:p>
          <a:p xmlns:a="http://schemas.openxmlformats.org/drawingml/2006/main">
            <a:r>
              <a:t>| 0:15–0:40 | Framework: What makes AI use in HR risky? Legal and ethical dimensions |</a:t>
            </a:r>
            <a:endParaRPr/>
          </a:p>
          <a:p xmlns:a="http://schemas.openxmlformats.org/drawingml/2006/main">
            <a:r>
              <a:t>| 0:40–1:00 | Scenario practice: Is this use case okay? (small groups, 4 scenarios) |</a:t>
            </a:r>
            <a:endParaRPr/>
          </a:p>
          <a:p xmlns:a="http://schemas.openxmlformats.org/drawingml/2006/main">
            <a:r>
              <a:t>| 1:00–1:20 | Walk-through: The risk assessment template |</a:t>
            </a:r>
            <a:endParaRPr/>
          </a:p>
          <a:p xmlns:a="http://schemas.openxmlformats.org/drawingml/2006/main">
            <a:r>
              <a:t>| 1:20–1:30 | Q&amp;A + open discussion |</a:t>
            </a:r>
            <a:endParaRPr/>
          </a:p>
          <a:p xmlns:a="http://schemas.openxmlformats.org/drawingml/2006/main">
            <a:r>
              <a:t/>
            </a:r>
            <a:endParaRPr/>
          </a:p>
          <a:p xmlns:a="http://schemas.openxmlformats.org/drawingml/2006/main">
            <a:r>
              <a:t>&gt; **Note on regulatory currency:** Use the [Key dates for HR](../03-governance/README.md#key-dates-for-hr) and its linked primary sources as the dated reference. The slides summarize risk questions; they are not a complete legal reference. Have Legal verify jurisdiction, scope, obligations, and effective dates before delivery or adoption.</a:t>
            </a:r>
            <a:endParaRPr/>
          </a:p>
          <a:p xmlns:a="http://schemas.openxmlformats.org/drawingml/2006/main">
            <a:r>
              <a:t/>
            </a:r>
            <a:endParaRPr/>
          </a:p>
          <a:p xmlns:a="http://schemas.openxmlformats.org/drawingml/2006/main">
            <a:r>
              <a:t>**Key legal risk areas to cover:**</a:t>
            </a:r>
            <a:endParaRPr/>
          </a:p>
          <a:p xmlns:a="http://schemas.openxmlformats.org/drawingml/2006/main">
            <a:r>
              <a:t/>
            </a:r>
            <a:endParaRPr/>
          </a:p>
          <a:p xmlns:a="http://schemas.openxmlformats.org/drawingml/2006/main">
            <a:r>
              <a:t>*Bias and disparate impact:*</a:t>
            </a:r>
            <a:endParaRPr/>
          </a:p>
          <a:p xmlns:a="http://schemas.openxmlformats.org/drawingml/2006/main">
            <a:r>
              <a:t>AI trained on historical HR data can encode and amplify past discrimination. A history in which 80% of engineering hires were male is a reason to examine labels, features, selection effects, and group outcomes; that proportion alone does not determine how a model will score resumes. Adverse impact testing is a core control. It is required by law in some jurisdictions (NYC Local Law 144 mandates an annual bias audit for covered tools) and expected as evidence of reasonable care in many others. Confirm the cadence with Legal. See the [NIST AI RMF](https://www.nist.gov/itl/ai-risk-management-framework).</a:t>
            </a:r>
            <a:endParaRPr/>
          </a:p>
          <a:p xmlns:a="http://schemas.openxmlformats.org/drawingml/2006/main">
            <a:r>
              <a:t/>
            </a:r>
            <a:endParaRPr/>
          </a:p>
          <a:p xmlns:a="http://schemas.openxmlformats.org/drawingml/2006/main">
            <a:r>
              <a:t>*Illinois AI Video Interview Act, NYC Local Law 144, and emerging state laws:*</a:t>
            </a:r>
            <a:endParaRPr/>
          </a:p>
          <a:p xmlns:a="http://schemas.openxmlformats.org/drawingml/2006/main">
            <a:r>
              <a:t>Several jurisdictions now require disclosure, impact assessments, or consent for AI use in hiring. Illinois's AI Video Interview Act ([820 ILCS 42](https://www.ilga.gov/Legislation/ILCS/Articles?ActID=4015&amp;ChapterID=68)) governs AI analysis of recorded video interviews, including notice and consent before the interview. Confirm its current requirements against the statute before relying on them. Illinois also amended its Human Rights Act via HB 3773 (effective January 1, 2026) to broadly prohibit discriminatory AI use in hiring and promotion, not just video interviews. A companion law, Public Act 104-0425 (SB 2487, effective January 1, 2026), gives the Human Rights Commission tiered civil penalty authority for violations: up to $16,000 for a first offense, up to $42,500 with one prior violation within five years, up to $70,000 for two or more within seven years. The regulatory landscape is shifting quickly. Use cases involving hiring must be reviewed against current state law.</a:t>
            </a:r>
            <a:endParaRPr/>
          </a:p>
          <a:p xmlns:a="http://schemas.openxmlformats.org/drawingml/2006/main">
            <a:r>
              <a:t/>
            </a:r>
            <a:endParaRPr/>
          </a:p>
          <a:p xmlns:a="http://schemas.openxmlformats.org/drawingml/2006/main">
            <a:r>
              <a:t>NYC Local Law 144 enforcement is entering a stricter phase. A December 2025 NY State Comptroller audit found DCWP's enforcement "ineffective": DCWP's own review of 32 companies' bias-audit disclosures caught 1 likely non-compliance issue, where the Comptroller's review of the same 32 found at least 17. Expect more investigations and higher penalties as DCWP responds to the audit's recommendations, not just the disclosure-and-audit paperwork the law describes on paper.</a:t>
            </a:r>
            <a:endParaRPr/>
          </a:p>
          <a:p xmlns:a="http://schemas.openxmlformats.org/drawingml/2006/main">
            <a:r>
              <a:t/>
            </a:r>
            <a:endParaRPr/>
          </a:p>
          <a:p xmlns:a="http://schemas.openxmlformats.org/drawingml/2006/main">
            <a:r>
              <a:t>*Colorado's Automated Decision-Making Technology Act:*</a:t>
            </a:r>
            <a:endParaRPr/>
          </a:p>
          <a:p xmlns:a="http://schemas.openxmlformats.org/drawingml/2006/main">
            <a:r>
              <a:t>Colorado SB26-189 (signed 14 May 2026, Colo. Sess. Laws ch. 131) repeals and replaces the state's 2024 AI consumer protection law. It covers "consequential decisions," including employment, made using automated decision-making technology (ADMT) that materially influences the outcome. Starting January 1, 2027, developers must give deployers technical documentation on intended use, training data categories, known limitations, and human review instructions. Deployers will owe consumers notice at the point of interaction, and within 30 days of any adverse consequential decision, a plain-language explanation plus the right to request human review and reconsideration. Records must be retained 3 years. The attorney general enforces under the Colorado Consumer Protection Act, with a 60-day cure period through January 1, 2030.</a:t>
            </a:r>
            <a:endParaRPr/>
          </a:p>
          <a:p xmlns:a="http://schemas.openxmlformats.org/drawingml/2006/main">
            <a:r>
              <a:t/>
            </a:r>
            <a:endParaRPr/>
          </a:p>
          <a:p xmlns:a="http://schemas.openxmlformats.org/drawingml/2006/main">
            <a:r>
              <a:t>*Connecticut: AI Responsibility and Transparency Act (Public Act 26-15):*</a:t>
            </a:r>
            <a:endParaRPr/>
          </a:p>
          <a:p xmlns:a="http://schemas.openxmlformats.org/drawingml/2006/main">
            <a:r>
              <a:t>Connecticut's SB 5 became Public Act 26-15 in June 2026. It is the most comprehensive state AI employment statute enacted so far, and it phases in across two years. Read the dates carefully, because the parts that bite first are not the disclosure rules.</a:t>
            </a:r>
            <a:endParaRPr/>
          </a:p>
          <a:p xmlns:a="http://schemas.openxmlformats.org/drawingml/2006/main">
            <a:r>
              <a:t/>
            </a:r>
            <a:endParaRPr/>
          </a:p>
          <a:p xmlns:a="http://schemas.openxmlformats.org/drawingml/2006/main">
            <a:r>
              <a:t>Live October 1, 2026:</a:t>
            </a:r>
            <a:endParaRPr/>
          </a:p>
          <a:p xmlns:a="http://schemas.openxmlformats.org/drawingml/2006/main">
            <a:r>
              <a:t/>
            </a:r>
            <a:endParaRPr/>
          </a:p>
          <a:p xmlns:a="http://schemas.openxmlformats.org/drawingml/2006/main">
            <a:r>
              <a:t>- **AI is not a defense.** Sections 13 and 14 amend Conn. Gen. Stat. 46a-60 so that using an automated employment-related decision technology is not a defense against a discrimination complaint. The commission or court may consider the quality, efficacy, recency, and scope of anti-bias testing, its results, and the employer's response. This does not establish that a stale audit is always worse than no audit, or that testing guarantees a favorable legal outcome. Preserve the testing evidence and corrective actions for counsel review. Source: [Public Act 26-15](https://www.cga.ct.gov/2026/ACT/PA/PDF/2026PA-00015-R00SB-00005-PA.PDF).</a:t>
            </a:r>
            <a:endParaRPr/>
          </a:p>
          <a:p xmlns:a="http://schemas.openxmlformats.org/drawingml/2006/main">
            <a:r>
              <a:t>- **WARN notices.** Section 26 requires any employer serving a federal WARN notice under 29 USC 2102(a) to disclose to the Connecticut Labor Department whether the layoffs relate to the employer's use of AI or other technological change. Note the disclosure runs to the department, not to affected employees.</a:t>
            </a:r>
            <a:endParaRPr/>
          </a:p>
          <a:p xmlns:a="http://schemas.openxmlformats.org/drawingml/2006/main">
            <a:r>
              <a:t/>
            </a:r>
            <a:endParaRPr/>
          </a:p>
          <a:p xmlns:a="http://schemas.openxmlformats.org/drawingml/2006/main">
            <a:r>
              <a:t>Live October 1, 2027 (sections 7 to 12 take effect in 2026, but the duties attach only to technology deployed on or after October 1, 2027):</a:t>
            </a:r>
            <a:endParaRPr/>
          </a:p>
          <a:p xmlns:a="http://schemas.openxmlformats.org/drawingml/2006/main">
            <a:r>
              <a:t/>
            </a:r>
            <a:endParaRPr/>
          </a:p>
          <a:p xmlns:a="http://schemas.openxmlformats.org/drawingml/2006/main">
            <a:r>
              <a:t>- Scope is set by "substantial factor," defined as a factor that meaningfully alters the outcome of an employment-related decision. Covered decisions are hiring, promotion, discipline, discharge, renewal, selection for training or apprenticeship, and terms, privileges or conditions of employment. Carved out: nonmaterial changes to job tasks or hours, and decisions about workplace health and safety, scheduling, and productivity monitoring.</a:t>
            </a:r>
            <a:endParaRPr/>
          </a:p>
          <a:p xmlns:a="http://schemas.openxmlformats.org/drawingml/2006/main">
            <a:r>
              <a:t>- Developers must give deployers the information deployers need to meet their duties, but only where the tool was advertised, marketed, configured, contracted for, sold, or licensed to materially influence an employment decision.</a:t>
            </a:r>
            <a:endParaRPr/>
          </a:p>
          <a:p xmlns:a="http://schemas.openxmlformats.org/drawingml/2006/main">
            <a:r>
              <a:t>- Deployers must disclose in plain language when an employee or applicant is interacting with the technology, unless a reasonable person would find it obvious.</a:t>
            </a:r>
            <a:endParaRPr/>
          </a:p>
          <a:p xmlns:a="http://schemas.openxmlformats.org/drawingml/2006/main">
            <a:r>
              <a:t>- Before the decision is made, deployers must give written notice covering six specific points: that the technology was deployed, its purpose and the nature of the decision, the tool's trade name, the categories of personal data analyzed and how they will be assessed, the sources of that data, and deployer contact information.</a:t>
            </a:r>
            <a:endParaRPr/>
          </a:p>
          <a:p xmlns:a="http://schemas.openxmlformats.org/drawingml/2006/main">
            <a:r>
              <a:t>- Trade secrets can be withheld, but the withholding party must send notice saying what is being withheld and why.</a:t>
            </a:r>
            <a:endParaRPr/>
          </a:p>
          <a:p xmlns:a="http://schemas.openxmlformats.org/drawingml/2006/main">
            <a:r>
              <a:t/>
            </a:r>
            <a:endParaRPr/>
          </a:p>
          <a:p xmlns:a="http://schemas.openxmlformats.org/drawingml/2006/main">
            <a:r>
              <a:t>Enforcement is narrower than the obligations suggest: violations are unfair or deceptive trade practices under CUTPA, enforced **solely by the Attorney General**, with an explicit statement that the act creates **no private right of action**. Violations occurring on or before December 31, 2027 carry a 60-day cure period.</a:t>
            </a:r>
            <a:endParaRPr/>
          </a:p>
          <a:p xmlns:a="http://schemas.openxmlformats.org/drawingml/2006/main">
            <a:r>
              <a:t/>
            </a:r>
            <a:endParaRPr/>
          </a:p>
          <a:p xmlns:a="http://schemas.openxmlformats.org/drawingml/2006/main">
            <a:r>
              <a:t>One provision to catch in procurement: Section 8(c) lets a developer contract to assume the deployer's disclosure and notice duties, provided the contract is explicit about which duties transfer. That is a negotiating lever worth asking every vendor about. See the [vendor intake checklist](../03-governance/vendor-intake-checklist.md).</a:t>
            </a:r>
            <a:endParaRPr/>
          </a:p>
          <a:p xmlns:a="http://schemas.openxmlformats.org/drawingml/2006/main">
            <a:r>
              <a:t/>
            </a:r>
            <a:endParaRPr/>
          </a:p>
          <a:p xmlns:a="http://schemas.openxmlformats.org/drawingml/2006/main">
            <a:r>
              <a:t>*California: FEHA algorithmic discrimination rules and CPPA ADMT regulations:*</a:t>
            </a:r>
            <a:endParaRPr/>
          </a:p>
          <a:p xmlns:a="http://schemas.openxmlformats.org/drawingml/2006/main">
            <a:r>
              <a:t>The Civil Rights Council's FEHA regulations on automated decision systems took effect October 1, 2025: they prohibit AI-driven disparate treatment or disparate impact in employment decisions, require four years of recordkeeping, and hold employers liable for discriminatory outcomes even when the tool comes from a third-party vendor. Separately, the [CPPA regulation package](https://cppa.ca.gov/announcements/2025/20250923.html) took effect January 1, 2026. Covered businesses must begin risk-assessment compliance in 2026; ADMT notice and consumer-rights compliance begins January 1, 2027. These dates govern different duties. Review the [final regulations](https://cppa.ca.gov/regulations/ccpa_updates.html) for scope, opt-out exceptions, appeal conditions, and transition rules for processing already underway.</a:t>
            </a:r>
            <a:endParaRPr/>
          </a:p>
          <a:p xmlns:a="http://schemas.openxmlformats.org/drawingml/2006/main">
            <a:r>
              <a:t/>
            </a:r>
            <a:endParaRPr/>
          </a:p>
          <a:p xmlns:a="http://schemas.openxmlformats.org/drawingml/2006/main">
            <a:r>
              <a:t>Four California workplace bills were approved and chaptered on 30 September 2026. All four are enacted law, with obligations beginning in 2027. The chaptered texts were reviewed on 9 October 2026. AB 1883, SB 951, and AB 1331 take effect on 1 January 2027 under [California Constitution Article IV, section 8(c)(1)](https://leginfo.legislature.ca.gov/faces/codes_displayText.xhtml?lawCode=CONS&amp;division=&amp;title=&amp;part=&amp;chapter=&amp;article=IV); none contains an urgency clause or a later operative-date provision. SB 947 takes effect on that date but expressly makes its new Labor Code part operative on 1 July 2027. See the [source register](../03-governance/claims/california-workplace-laws.json) and the [Governor's signing announcement](https://www.gov.ca.gov/2026/09/30/californias-nation-leading-ai-framework-just-got-stronger-governor-newsom-signs-more-first-in-the-nation-worker-protections-and-more/).</a:t>
            </a:r>
            <a:endParaRPr/>
          </a:p>
          <a:p xmlns:a="http://schemas.openxmlformats.org/drawingml/2006/main">
            <a:r>
              <a:t/>
            </a:r>
            <a:endParaRPr/>
          </a:p>
          <a:p xmlns:a="http://schemas.openxmlformats.org/drawingml/2006/main">
            <a:r>
              <a:t>- **[AB 1883](https://leginfo.legislature.ca.gov/faces/billNavClient.xhtml?bill_id=202520260AB1883)** (workplace surveillance tools, Chapter 853, Statutes of 2026) adds Labor Code Part 5.8 to bar employers from using AI-driven surveillance tools to recognize or infer an employee's emotional state, or to collect neural data, meaning data measured from the central or peripheral nervous system and not inferred from nonneural information. Safety uses are preserved, and there is a narrow carve-out for federally mandated aerospace and national security work. Enforcement runs through the Labor Commissioner or a public prosecutor, with penalties up to $500 per violation. It was enrolled on 3 September 2026 and approved by the Governor on 30 September 2026. Some published summaries report 3 September as the signing date; that is the enrollment date.</a:t>
            </a:r>
            <a:endParaRPr/>
          </a:p>
          <a:p xmlns:a="http://schemas.openxmlformats.org/drawingml/2006/main">
            <a:r>
              <a:t>- **[SB 947](https://leginfo.legislature.ca.gov/faces/billTextClient.xhtml?bill_id=202520260SB947)** (the "No Robo Bosses Act," Chapter 859, Statutes of 2026) is **operative 1 July 2027**, under new Labor Code section 1526.7. It bars sole reliance on an ADS for discipline or termination. Primary reliance requires human corroboration and written post-use notice when the decision is communicated. If corroboration fails, or the reviewer finds the output inaccurate, incomplete, or misleading, the employer must not use that output for the decision. The employee may request a meaningful description of their own data used by the ADS. Check the collective bargaining and federal-operation exceptions in sections 1526.5 and 1526.6.</a:t>
            </a:r>
            <a:endParaRPr/>
          </a:p>
          <a:p xmlns:a="http://schemas.openxmlformats.org/drawingml/2006/main">
            <a:r>
              <a:t>- **[SB 951](https://leginfo.legislature.ca.gov/faces/billTextClient.xhtml?bill_id=202520260SB951)** (Chapter 860, Statutes of 2026), **effective 1 January 2027**, adds technology-displacement information to an otherwise required Cal/WARN notice when AI or automation causes the event wholly or substantially. New Labor Code section 1401(d) requires affected jobs and locations, functions being automated, the technology category, and a technology-displacement heading. It retains the existing 60-day notice period. It does not enact the earlier proposal for a 90-day notice or an employer hiring-freeze notice; section 1402.7 instead requires an EDD study by 1 January 2028. Assess Cal/WARN coverage and exceptions before applying the notice requirement.</a:t>
            </a:r>
            <a:endParaRPr/>
          </a:p>
          <a:p xmlns:a="http://schemas.openxmlformats.org/drawingml/2006/main">
            <a:r>
              <a:t>- **[AB 1331](https://leginfo.legislature.ca.gov/faces/billTextClient.xhtml?bill_id=202520260AB1331)** (Chapter 851, Statutes of 2026), **effective 1 January 2027**, limits workplace bathroom surveillance and lets employees leave surveillance tools behind when entering a bathroom. New Labor Code section 1561 includes exceptions for court orders, one-time entry/exit checks, voluntary possession, and certain identification or safety devices. The tool definition reaches beyond AI. Review the full exceptions in sections 1561, 1564, and 1565 before changing monitoring practices.</a:t>
            </a:r>
            <a:endParaRPr/>
          </a:p>
          <a:p xmlns:a="http://schemas.openxmlformats.org/drawingml/2006/main">
            <a:r>
              <a:t/>
            </a:r>
            <a:endParaRPr/>
          </a:p>
          <a:p xmlns:a="http://schemas.openxmlformats.org/drawingml/2006/main">
            <a:r>
              <a:t>*Texas: Responsible AI Governance Act (TRAIGA):*</a:t>
            </a:r>
            <a:endParaRPr/>
          </a:p>
          <a:p xmlns:a="http://schemas.openxmlformats.org/drawingml/2006/main">
            <a:r>
              <a:t>Effective January 1, 2026 (HB 149, signed June 22, 2025). Narrower than Illinois or Colorado: TRAIGA prohibits intentional AI-based discrimination but does not create disparate impact liability, and the Attorney General has exclusive enforcement authority with a 60-day cure period before action.</a:t>
            </a:r>
            <a:endParaRPr/>
          </a:p>
          <a:p xmlns:a="http://schemas.openxmlformats.org/drawingml/2006/main">
            <a:r>
              <a:t/>
            </a:r>
            <a:endParaRPr/>
          </a:p>
          <a:p xmlns:a="http://schemas.openxmlformats.org/drawingml/2006/main">
            <a:r>
              <a:t>*New Jersey: no AI statute, but existing discrimination law already reaches AI:*</a:t>
            </a:r>
            <a:endParaRPr/>
          </a:p>
          <a:p xmlns:a="http://schemas.openxmlformats.org/drawingml/2006/main">
            <a:r>
              <a:t>New Jersey is the case that breaks the habit of scanning for AI-specific bills. It has no AI hiring statute. In January 2025 the Office of the Attorney General and the Division on Civil Rights issued guidance stating that the Law Against Discrimination (N.J.S.A. 10:5-1 et seq.) applies to algorithmic discrimination the same way it has long applied to other discriminatory conduct, in employment among other contexts. Three points matter for HR practice:</a:t>
            </a:r>
            <a:endParaRPr/>
          </a:p>
          <a:p xmlns:a="http://schemas.openxmlformats.org/drawingml/2006/main">
            <a:r>
              <a:t/>
            </a:r>
            <a:endParaRPr/>
          </a:p>
          <a:p xmlns:a="http://schemas.openxmlformats.org/drawingml/2006/main">
            <a:r>
              <a:t>- **No intent required, and a vendor tool is not a defense.** The guidance states that a covered entity "is not shielded from liability for algorithmic discrimination that results from the entity's use of an automated decision-making tool simply because the tool was developed by a third party or because the entity does not understand the inner workings of the tool."</a:t>
            </a:r>
            <a:endParaRPr/>
          </a:p>
          <a:p xmlns:a="http://schemas.openxmlformats.org/drawingml/2006/main">
            <a:r>
              <a:t>- **Disparate impact is covered.** Use of a tool with a disproportionate effect on a protected class is prohibited unless it is necessary to achieve a substantial, legitimate, nondiscriminatory interest and there is no less discriminatory alternative. Whether the employer tested the tool for bias or evaluated alternatives may be weighed as relevant evidence, which is the same pattern as Connecticut: your fairness audit becomes evidence.</a:t>
            </a:r>
            <a:endParaRPr/>
          </a:p>
          <a:p xmlns:a="http://schemas.openxmlformats.org/drawingml/2006/main">
            <a:r>
              <a:t>- **Reasonable accommodations are in scope.** A tool can violate the LAD by being inaccessible or by penalizing someone who uses an accommodation. The guidance's example is a typing-speed screen that cannot read a non-traditional keyboard.</a:t>
            </a:r>
            <a:endParaRPr/>
          </a:p>
          <a:p xmlns:a="http://schemas.openxmlformats.org/drawingml/2006/main">
            <a:r>
              <a:t/>
            </a:r>
            <a:endParaRPr/>
          </a:p>
          <a:p xmlns:a="http://schemas.openxmlformats.org/drawingml/2006/main">
            <a:r>
              <a:t>Two limits to state accurately when you teach this. The guidance is interpretive: it says on its face that it imposes no requirements beyond the LAD and will not be enforced as a substitute for enforcing the LAD. And it carries no effective date, because the underlying statute has been in force for decades. Do not present it as a new obligation that switched on in 2025. The takeaway for the class is the general one: a state with no AI bill is not a state with no AI exposure.</a:t>
            </a:r>
            <a:endParaRPr/>
          </a:p>
          <a:p xmlns:a="http://schemas.openxmlformats.org/drawingml/2006/main">
            <a:r>
              <a:t/>
            </a:r>
            <a:endParaRPr/>
          </a:p>
          <a:p xmlns:a="http://schemas.openxmlformats.org/drawingml/2006/main">
            <a:r>
              <a:t>*GDPR and CCPA:*</a:t>
            </a:r>
            <a:endParaRPr/>
          </a:p>
          <a:p xmlns:a="http://schemas.openxmlformats.org/drawingml/2006/main">
            <a:r>
              <a:t>Employees in covered jurisdictions have rights regarding automated decision-making. Know which of your employees are covered and how your AI use cases interact with their rights. See the California-specific rules above for the current state of play there.</a:t>
            </a:r>
            <a:endParaRPr/>
          </a:p>
          <a:p xmlns:a="http://schemas.openxmlformats.org/drawingml/2006/main">
            <a:r>
              <a:t/>
            </a:r>
            <a:endParaRPr/>
          </a:p>
          <a:p xmlns:a="http://schemas.openxmlformats.org/drawingml/2006/main">
            <a:r>
              <a:t>*UK: Data (Use and Access) Act 2025 replaces GDPR Article 22:*</a:t>
            </a:r>
            <a:endParaRPr/>
          </a:p>
          <a:p xmlns:a="http://schemas.openxmlformats.org/drawingml/2006/main">
            <a:r>
              <a:t>Section 80 of the UK's Data (Use and Access) Act 2025 took effect February 5, 2026 (Commencement Regulations SI 2026/82) and substitutes Article 22 of the UK GDPR with new Articles 22A to 22D. The new regime permits solely automated "significant decisions," those with a legal or similarly significant effect, more broadly than before, but requires safeguards: notice to the individual, the ability to make representations, the right to human intervention, and the right to contest the decision. Stricter restrictions still apply where special category data is used. Treat this as a distinct regime from EU GDPR Article 22, not an equivalent, for any AI use case touching UK-based workers or candidates.</a:t>
            </a:r>
            <a:endParaRPr/>
          </a:p>
          <a:p xmlns:a="http://schemas.openxmlformats.org/drawingml/2006/main">
            <a:r>
              <a:t/>
            </a:r>
            <a:endParaRPr/>
          </a:p>
          <a:p xmlns:a="http://schemas.openxmlformats.org/drawingml/2006/main">
            <a:r>
              <a:t>The ICO is already signaling how it will police this in recruitment specifically. A March 2026 ICO report on automated decision-making in hiring found many employers don't recognize they're doing ADM at all, and that "human review" in practice often amounts to rubber-stamping rather than a reviewer with real authority to change the outcome. Following that report, the ICO opened a consultation on draft ADM guidance, worth checking for the final version before relying on the March findings alone. Build the oversight role description to survive that scrutiny, not just to check the box.</a:t>
            </a:r>
            <a:endParaRPr/>
          </a:p>
          <a:p xmlns:a="http://schemas.openxmlformats.org/drawingml/2006/main">
            <a:r>
              <a:t/>
            </a:r>
            <a:endParaRPr/>
          </a:p>
          <a:p xmlns:a="http://schemas.openxmlformats.org/drawingml/2006/main">
            <a:r>
              <a:t>*Canada: no federal AI employment law, but Ontario requires disclosure:*</a:t>
            </a:r>
            <a:endParaRPr/>
          </a:p>
          <a:p xmlns:a="http://schemas.openxmlformats.org/drawingml/2006/main">
            <a:r>
              <a:t>Canada's federal AI bill (AIDA, part of Bill C-27) died when Parliament prorogued in January 2025 and has not been revived. AI regulation there runs through existing privacy, human rights, and sector law instead. Ontario is the exception: since January 1, 2026, employers with 25+ employees must disclose in publicly advertised job postings whether AI is used to screen, assess, or select candidates (Employment Standards Act, 2000 amendment).</a:t>
            </a:r>
            <a:endParaRPr/>
          </a:p>
          <a:p xmlns:a="http://schemas.openxmlformats.org/drawingml/2006/main">
            <a:r>
              <a:t/>
            </a:r>
            <a:endParaRPr/>
          </a:p>
          <a:p xmlns:a="http://schemas.openxmlformats.org/drawingml/2006/main">
            <a:r>
              <a:t>*The "AI as a manager" trap:*</a:t>
            </a:r>
            <a:endParaRPr/>
          </a:p>
          <a:p xmlns:a="http://schemas.openxmlformats.org/drawingml/2006/main">
            <a:r>
              <a:t>AI that monitors, evaluates, or scores employees without their knowledge, even for legitimate purposes, creates legal and trust exposure. Transparency is not just ethical, it's protective.</a:t>
            </a:r>
            <a:endParaRPr/>
          </a:p>
          <a:p xmlns:a="http://schemas.openxmlformats.org/drawingml/2006/main">
            <a:r>
              <a:t/>
            </a:r>
            <a:endParaRPr/>
          </a:p>
          <a:p xmlns:a="http://schemas.openxmlformats.org/drawingml/2006/main">
            <a:r>
              <a:t>**Scenario practice cards:**</a:t>
            </a:r>
            <a:endParaRPr/>
          </a:p>
          <a:p xmlns:a="http://schemas.openxmlformats.org/drawingml/2006/main">
            <a:r>
              <a:t/>
            </a:r>
            <a:endParaRPr/>
          </a:p>
          <a:p xmlns:a="http://schemas.openxmlformats.org/drawingml/2006/main">
            <a:r>
              <a:t>Print or share these four scenarios. Groups of 3–4 discuss: Is this use appropriate? What are the risks? What would you change?</a:t>
            </a:r>
            <a:endParaRPr/>
          </a:p>
          <a:p xmlns:a="http://schemas.openxmlformats.org/drawingml/2006/main">
            <a:r>
              <a:t/>
            </a:r>
            <a:endParaRPr/>
          </a:p>
          <a:p xmlns:a="http://schemas.openxmlformats.org/drawingml/2006/main">
            <a:r>
              <a:t>&gt; **Scenario A:** An AI tool automatically rejects resumes with gaps of more than 6 months without showing them to a recruiter.</a:t>
            </a:r>
            <a:endParaRPr/>
          </a:p>
          <a:p xmlns:a="http://schemas.openxmlformats.org/drawingml/2006/main">
            <a:r>
              <a:t/>
            </a:r>
            <a:endParaRPr/>
          </a:p>
          <a:p xmlns:a="http://schemas.openxmlformats.org/drawingml/2006/main">
            <a:r>
              <a:t>&gt; **Scenario B:** An HRBP uses an AI writing assistant to draft a PIP for an employee, then reviews and edits it before sharing with the manager.</a:t>
            </a:r>
            <a:endParaRPr/>
          </a:p>
          <a:p xmlns:a="http://schemas.openxmlformats.org/drawingml/2006/main">
            <a:r>
              <a:t/>
            </a:r>
            <a:endParaRPr/>
          </a:p>
          <a:p xmlns:a="http://schemas.openxmlformats.org/drawingml/2006/main">
            <a:r>
              <a:t>&gt; **Scenario C:** People Analytics builds an attrition risk model that scores all employees monthly and shares the scores directly with managers.</a:t>
            </a:r>
            <a:endParaRPr/>
          </a:p>
          <a:p xmlns:a="http://schemas.openxmlformats.org/drawingml/2006/main">
            <a:r>
              <a:t/>
            </a:r>
            <a:endParaRPr/>
          </a:p>
          <a:p xmlns:a="http://schemas.openxmlformats.org/drawingml/2006/main">
            <a:r>
              <a:t>&gt; **Scenario D:** An AI chatbot answers benefits questions for employees. It sometimes gives incorrect information but flags that users should confirm with HR.</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4: Building and scaling AI use cases</a:t>
            </a:r>
            <a:endParaRPr/>
          </a:p>
          <a:p xmlns:a="http://schemas.openxmlformats.org/drawingml/2006/main">
            <a:r>
              <a:t/>
            </a:r>
            <a:endParaRPr/>
          </a:p>
          <a:p xmlns:a="http://schemas.openxmlformats.org/drawingml/2006/main">
            <a:r>
              <a:t>**Learning objectives:**</a:t>
            </a:r>
            <a:endParaRPr/>
          </a:p>
          <a:p xmlns:a="http://schemas.openxmlformats.org/drawingml/2006/main">
            <a:r>
              <a:t>- Apply the prioritization matrix to identify your team's highest-value AI use cases</a:t>
            </a:r>
            <a:endParaRPr/>
          </a:p>
          <a:p xmlns:a="http://schemas.openxmlformats.org/drawingml/2006/main">
            <a:r>
              <a:t>- Define a use case with clear success metrics and governance requirements</a:t>
            </a:r>
            <a:endParaRPr/>
          </a:p>
          <a:p xmlns:a="http://schemas.openxmlformats.org/drawingml/2006/main">
            <a:r>
              <a:t>- Draft a basic implementation plan for a low-complexity use case</a:t>
            </a:r>
            <a:endParaRPr/>
          </a:p>
          <a:p xmlns:a="http://schemas.openxmlformats.org/drawingml/2006/main">
            <a:r>
              <a:t/>
            </a:r>
            <a:endParaRPr/>
          </a:p>
          <a:p xmlns:a="http://schemas.openxmlformats.org/drawingml/2006/main">
            <a:r>
              <a:t>**Session outline (2 hours):**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Opening: What does "scaling AI in HR" actually mean? |</a:t>
            </a:r>
            <a:endParaRPr/>
          </a:p>
          <a:p xmlns:a="http://schemas.openxmlformats.org/drawingml/2006/main">
            <a:r>
              <a:t>| 0:15–0:45 | Framework: From idea to deployment, the use case lifecycle |</a:t>
            </a:r>
            <a:endParaRPr/>
          </a:p>
          <a:p xmlns:a="http://schemas.openxmlformats.org/drawingml/2006/main">
            <a:r>
              <a:t>| 0:45–1:15 | Team exercise: Prioritization matrix applied to your team's top 5 ideas |</a:t>
            </a:r>
            <a:endParaRPr/>
          </a:p>
          <a:p xmlns:a="http://schemas.openxmlformats.org/drawingml/2006/main">
            <a:r>
              <a:t>| 1:15–1:45 | Small group: Draft a one-page use case spec for your top-ranked idea |</a:t>
            </a:r>
            <a:endParaRPr/>
          </a:p>
          <a:p xmlns:a="http://schemas.openxmlformats.org/drawingml/2006/main">
            <a:r>
              <a:t>| 1:45–2:00 | Gallery walk + feedback |</a:t>
            </a:r>
            <a:endParaRPr/>
          </a:p>
          <a:p xmlns:a="http://schemas.openxmlformats.org/drawingml/2006/main">
            <a:r>
              <a:t/>
            </a:r>
            <a:endParaRPr/>
          </a:p>
          <a:p xmlns:a="http://schemas.openxmlformats.org/drawingml/2006/main">
            <a:r>
              <a:t>**Use case lifecycle:**</a:t>
            </a:r>
            <a:endParaRPr/>
          </a:p>
          <a:p xmlns:a="http://schemas.openxmlformats.org/drawingml/2006/main">
            <a:r>
              <a:t/>
            </a:r>
            <a:endParaRPr/>
          </a:p>
          <a:p xmlns:a="http://schemas.openxmlformats.org/drawingml/2006/main">
            <a:r>
              <a:t>```</a:t>
            </a:r>
            <a:endParaRPr/>
          </a:p>
          <a:p xmlns:a="http://schemas.openxmlformats.org/drawingml/2006/main">
            <a:r>
              <a:t>Discover → Prioritize → Design → Pilot → Evaluate → Scale</a:t>
            </a:r>
            <a:endParaRPr/>
          </a:p>
          <a:p xmlns:a="http://schemas.openxmlformats.org/drawingml/2006/main">
            <a:r>
              <a:t>   ↑                                          |</a:t>
            </a:r>
            <a:endParaRPr/>
          </a:p>
          <a:p xmlns:a="http://schemas.openxmlformats.org/drawingml/2006/main">
            <a:r>
              <a:t>   └──────────────── iterate ─────────────────┘</a:t>
            </a:r>
            <a:endParaRPr/>
          </a:p>
          <a:p xmlns:a="http://schemas.openxmlformats.org/drawingml/2006/main">
            <a:r>
              <a:t>```</a:t>
            </a:r>
            <a:endParaRPr/>
          </a:p>
          <a:p xmlns:a="http://schemas.openxmlformats.org/drawingml/2006/main">
            <a:r>
              <a:t/>
            </a:r>
            <a:endParaRPr/>
          </a:p>
          <a:p xmlns:a="http://schemas.openxmlformats.org/drawingml/2006/main">
            <a:r>
              <a:t>- **Discover:** What problem are we solving? Who feels it most?</a:t>
            </a:r>
            <a:endParaRPr/>
          </a:p>
          <a:p xmlns:a="http://schemas.openxmlformats.org/drawingml/2006/main">
            <a:r>
              <a:t>- **Prioritize:** Use the matrix. Don't skip this.</a:t>
            </a:r>
            <a:endParaRPr/>
          </a:p>
          <a:p xmlns:a="http://schemas.openxmlformats.org/drawingml/2006/main">
            <a:r>
              <a:t>- **Design:** Define inputs, outputs, human review gates, success metrics, and fallback</a:t>
            </a:r>
            <a:endParaRPr/>
          </a:p>
          <a:p xmlns:a="http://schemas.openxmlformats.org/drawingml/2006/main">
            <a:r>
              <a:t>- **Pilot:** Small scope, high observation. 4–8 weeks.</a:t>
            </a:r>
            <a:endParaRPr/>
          </a:p>
          <a:p xmlns:a="http://schemas.openxmlformats.org/drawingml/2006/main">
            <a:r>
              <a:t>- **Evaluate:** Did it work? For whom? What didn't?</a:t>
            </a:r>
            <a:endParaRPr/>
          </a:p>
          <a:p xmlns:a="http://schemas.openxmlformats.org/drawingml/2006/main">
            <a:r>
              <a:t>- **Scale:** Expand with the lessons from pilot baked in</a:t>
            </a:r>
            <a:endParaRPr/>
          </a:p>
          <a:p xmlns:a="http://schemas.openxmlformats.org/drawingml/2006/main">
            <a:r>
              <a:t/>
            </a:r>
            <a:endParaRPr/>
          </a:p>
          <a:p xmlns:a="http://schemas.openxmlformats.org/drawingml/2006/main">
            <a:r>
              <a:t>**One-page use case spec template:**</a:t>
            </a:r>
            <a:endParaRPr/>
          </a:p>
          <a:p xmlns:a="http://schemas.openxmlformats.org/drawingml/2006/main">
            <a:r>
              <a:t/>
            </a:r>
            <a:endParaRPr/>
          </a:p>
          <a:p xmlns:a="http://schemas.openxmlformats.org/drawingml/2006/main">
            <a:r>
              <a:t>Participants complete this for their team's top-ranked use case:</a:t>
            </a:r>
            <a:endParaRPr/>
          </a:p>
          <a:p xmlns:a="http://schemas.openxmlformats.org/drawingml/2006/main">
            <a:r>
              <a:t/>
            </a:r>
            <a:endParaRPr/>
          </a:p>
          <a:p xmlns:a="http://schemas.openxmlformats.org/drawingml/2006/main">
            <a:r>
              <a:t>```</a:t>
            </a:r>
            <a:endParaRPr/>
          </a:p>
          <a:p xmlns:a="http://schemas.openxmlformats.org/drawingml/2006/main">
            <a:r>
              <a:t>Use case name:</a:t>
            </a:r>
            <a:endParaRPr/>
          </a:p>
          <a:p xmlns:a="http://schemas.openxmlformats.org/drawingml/2006/main">
            <a:r>
              <a:t>Problem it solves (1 sentence):</a:t>
            </a:r>
            <a:endParaRPr/>
          </a:p>
          <a:p xmlns:a="http://schemas.openxmlformats.org/drawingml/2006/main">
            <a:r>
              <a:t>Who benefits and how:</a:t>
            </a:r>
            <a:endParaRPr/>
          </a:p>
          <a:p xmlns:a="http://schemas.openxmlformats.org/drawingml/2006/main">
            <a:r>
              <a:t>AI approach (Rules / Augment / Assist / Human-led / Analytics):</a:t>
            </a:r>
            <a:endParaRPr/>
          </a:p>
          <a:p xmlns:a="http://schemas.openxmlformats.org/drawingml/2006/main">
            <a:r>
              <a:t>Data needed:</a:t>
            </a:r>
            <a:endParaRPr/>
          </a:p>
          <a:p xmlns:a="http://schemas.openxmlformats.org/drawingml/2006/main">
            <a:r>
              <a:t>Human review gate:</a:t>
            </a:r>
            <a:endParaRPr/>
          </a:p>
          <a:p xmlns:a="http://schemas.openxmlformats.org/drawingml/2006/main">
            <a:r>
              <a:t>Success metric(s):</a:t>
            </a:r>
            <a:endParaRPr/>
          </a:p>
          <a:p xmlns:a="http://schemas.openxmlformats.org/drawingml/2006/main">
            <a:r>
              <a:t>What could go wrong:</a:t>
            </a:r>
            <a:endParaRPr/>
          </a:p>
          <a:p xmlns:a="http://schemas.openxmlformats.org/drawingml/2006/main">
            <a:r>
              <a:t>Governance requirements (from risk assessment):</a:t>
            </a:r>
            <a:endParaRPr/>
          </a:p>
          <a:p xmlns:a="http://schemas.openxmlformats.org/drawingml/2006/main">
            <a:r>
              <a:t>First step to move forward:</a:t>
            </a:r>
            <a:endParaRPr/>
          </a:p>
          <a:p xmlns:a="http://schemas.openxmlformats.org/drawingml/2006/main">
            <a:r>
              <a:t>```</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Assessment and certification</a:t>
            </a:r>
            <a:endParaRPr/>
          </a:p>
          <a:p xmlns:a="http://schemas.openxmlformats.org/drawingml/2006/main">
            <a:r>
              <a:t/>
            </a:r>
            <a:endParaRPr/>
          </a:p>
          <a:p xmlns:a="http://schemas.openxmlformats.org/drawingml/2006/main">
            <a:r>
              <a:t>An organization may choose to give participants who complete all four modules</a:t>
            </a:r>
            <a:endParaRPr/>
          </a:p>
          <a:p xmlns:a="http://schemas.openxmlformats.org/drawingml/2006/main">
            <a:r>
              <a:t>and the hands-on components an **HR AI Practitioner** acknowledgment. This is a</a:t>
            </a:r>
            <a:endParaRPr/>
          </a:p>
          <a:p xmlns:a="http://schemas.openxmlformats.org/drawingml/2006/main">
            <a:r>
              <a:t>proposed internal recognition, not an accredited certification or evidence of</a:t>
            </a:r>
            <a:endParaRPr/>
          </a:p>
          <a:p xmlns:a="http://schemas.openxmlformats.org/drawingml/2006/main">
            <a:r>
              <a:t>professional competence. No delivery or learning outcome is claimed here.</a:t>
            </a:r>
            <a:endParaRPr/>
          </a:p>
          <a:p xmlns:a="http://schemas.openxmlformats.org/drawingml/2006/main">
            <a:r>
              <a:t/>
            </a:r>
            <a:endParaRPr/>
          </a:p>
          <a:p xmlns:a="http://schemas.openxmlformats.org/drawingml/2006/main">
            <a:r>
              <a:t>Optional extension: Participants who complete a full use case spec and present it to the HR Technology team are recognized as **HR AI Champions**, an informal internal designation that supports peer enablement.</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Facilitator notes</a:t>
            </a:r>
            <a:endParaRPr/>
          </a:p>
          <a:p xmlns:a="http://schemas.openxmlformats.org/drawingml/2006/main">
            <a:r>
              <a:t/>
            </a:r>
            <a:endParaRPr/>
          </a:p>
          <a:p xmlns:a="http://schemas.openxmlformats.org/drawingml/2006/main">
            <a:r>
              <a:t>These are facilitation suggestions, not measured delivery findings. Use synthetic examples; removing names alone does not establish anonymity. Do not upload real employee, candidate, compensation, or employer-confidential information for a training exercise.</a:t>
            </a:r>
            <a:endParaRPr/>
          </a:p>
          <a:p xmlns:a="http://schemas.openxmlformats.org/drawingml/2006/main">
            <a:r>
              <a:t/>
            </a:r>
            <a:endParaRPr/>
          </a:p>
          <a:p xmlns:a="http://schemas.openxmlformats.org/drawingml/2006/main">
            <a:r>
              <a:t>- Budget flex time in Module 3 for questions and disagreement about risk.</a:t>
            </a:r>
            <a:endParaRPr/>
          </a:p>
          <a:p xmlns:a="http://schemas.openxmlformats.org/drawingml/2006/main">
            <a:r>
              <a:t>- Protect time for the Module 2 lab, and check whether participants can identify errors and verify outputs afterward.</a:t>
            </a:r>
            <a:endParaRPr/>
          </a:p>
          <a:p xmlns:a="http://schemas.openxmlformats.org/drawingml/2006/main">
            <a:r>
              <a:t>- Adapt synthetic scenarios to familiar workflows, without identifiable employee cases or confidential documents.</a:t>
            </a:r>
            <a:endParaRPr/>
          </a:p>
          <a:p xmlns:a="http://schemas.openxmlformats.org/drawingml/2006/main">
            <a:r>
              <a:t>- Keep an AI skeptic on the facilitation team if possible. The best discussions happen when the room has range.</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snapshot: 13 October 2026. Curriculum SHA-256: 5ee769258ac9b95a3c514b64dcd5b22215e40bac8621054ffb452bffc244827a. This deck summarizes the source; no human evaluation, delivery outcome or legal approval is claimed.</a:t>
            </a:r>
            <a:endParaRPr/>
          </a:p>
          <a:p xmlns:a="http://schemas.openxmlformats.org/drawingml/2006/main">
            <a:r>
              <a:t/>
            </a:r>
            <a:endParaRPr/>
          </a:p>
          <a:p xmlns:a="http://schemas.openxmlformats.org/drawingml/2006/main">
            <a:r>
              <a:t># HR AI literacy curriculum</a:t>
            </a:r>
            <a:endParaRPr/>
          </a:p>
          <a:p xmlns:a="http://schemas.openxmlformats.org/drawingml/2006/main">
            <a:r>
              <a:t/>
            </a:r>
            <a:endParaRPr/>
          </a:p>
          <a:p xmlns:a="http://schemas.openxmlformats.org/drawingml/2006/main">
            <a:r>
              <a:t>A 4-module learning program for HR professionals at all experience levels. Designed to be delivered as a facilitated series over 4–6 weeks, or adapted for self-paced completion.</a:t>
            </a:r>
            <a:endParaRPr/>
          </a:p>
          <a:p xmlns:a="http://schemas.openxmlformats.org/drawingml/2006/main">
            <a:r>
              <a:t/>
            </a:r>
            <a:endParaRPr/>
          </a:p>
          <a:p xmlns:a="http://schemas.openxmlformats.org/drawingml/2006/main">
            <a:r>
              <a:t>**Total time:** about 7 hours of sessions, plus async reading and hands-on practice (roughly 8 hours in all)</a:t>
            </a:r>
            <a:endParaRPr/>
          </a:p>
          <a:p xmlns:a="http://schemas.openxmlformats.org/drawingml/2006/main">
            <a:r>
              <a:t>**Format:** Workshop + async reading + hands-on practice</a:t>
            </a:r>
            <a:endParaRPr/>
          </a:p>
          <a:p xmlns:a="http://schemas.openxmlformats.org/drawingml/2006/main">
            <a:r>
              <a:t>**Audience:** All People Team members</a:t>
            </a:r>
            <a:endParaRPr/>
          </a:p>
          <a:p xmlns:a="http://schemas.openxmlformats.org/drawingml/2006/main">
            <a:r>
              <a:t>**Prerequisite:** None</a:t>
            </a:r>
            <a:endParaRPr/>
          </a:p>
          <a:p xmlns:a="http://schemas.openxmlformats.org/drawingml/2006/main">
            <a:r>
              <a:t/>
            </a:r>
            <a:endParaRPr/>
          </a:p>
          <a:p xmlns:a="http://schemas.openxmlformats.org/drawingml/2006/main">
            <a:r>
              <a:t>**Lab prerequisite:** The facilitator confirms an organization-approved tool,</a:t>
            </a:r>
            <a:endParaRPr/>
          </a:p>
          <a:p xmlns:a="http://schemas.openxmlformats.org/drawingml/2006/main">
            <a:r>
              <a:t>provider handling, and a synthetic-only data boundary before any exercise.</a:t>
            </a:r>
            <a:endParaRPr/>
          </a:p>
          <a:p xmlns:a="http://schemas.openxmlformats.org/drawingml/2006/main">
            <a:r>
              <a:t>Modules 1-3 and the required governance approvals precede any real-work pilot.</a:t>
            </a:r>
            <a:endParaRPr/>
          </a:p>
          <a:p xmlns:a="http://schemas.openxmlformats.org/drawingml/2006/main">
            <a:r>
              <a:t>This curriculum does not authorize employee-data processing.</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Program overview</a:t>
            </a:r>
            <a:endParaRPr/>
          </a:p>
          <a:p xmlns:a="http://schemas.openxmlformats.org/drawingml/2006/main">
            <a:r>
              <a:t/>
            </a:r>
            <a:endParaRPr/>
          </a:p>
          <a:p xmlns:a="http://schemas.openxmlformats.org/drawingml/2006/main">
            <a:r>
              <a:t>| Module | Title | Duration | Format |</a:t>
            </a:r>
            <a:endParaRPr/>
          </a:p>
          <a:p xmlns:a="http://schemas.openxmlformats.org/drawingml/2006/main">
            <a:r>
              <a:t>|---|---|---|---|</a:t>
            </a:r>
            <a:endParaRPr/>
          </a:p>
          <a:p xmlns:a="http://schemas.openxmlformats.org/drawingml/2006/main">
            <a:r>
              <a:t>| 1 | How AI works, what HR professionals actually need to know | 90 min | Workshop |</a:t>
            </a:r>
            <a:endParaRPr/>
          </a:p>
          <a:p xmlns:a="http://schemas.openxmlformats.org/drawingml/2006/main">
            <a:r>
              <a:t>| 2 | Using AI in your daily HR work | 2 hours | Workshop + lab |</a:t>
            </a:r>
            <a:endParaRPr/>
          </a:p>
          <a:p xmlns:a="http://schemas.openxmlformats.org/drawingml/2006/main">
            <a:r>
              <a:t>| 3 | Governance, ethics, and responsible use | 90 min | Workshop |</a:t>
            </a:r>
            <a:endParaRPr/>
          </a:p>
          <a:p xmlns:a="http://schemas.openxmlformats.org/drawingml/2006/main">
            <a:r>
              <a:t>| 4 | Building and scaling AI use cases | 2 hours | Workshop + project |</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1: How AI works, what HR professionals actually need to know</a:t>
            </a:r>
            <a:endParaRPr/>
          </a:p>
          <a:p xmlns:a="http://schemas.openxmlformats.org/drawingml/2006/main">
            <a:r>
              <a:t/>
            </a:r>
            <a:endParaRPr/>
          </a:p>
          <a:p xmlns:a="http://schemas.openxmlformats.org/drawingml/2006/main">
            <a:r>
              <a:t>**Learning objectives:**</a:t>
            </a:r>
            <a:endParaRPr/>
          </a:p>
          <a:p xmlns:a="http://schemas.openxmlformats.org/drawingml/2006/main">
            <a:r>
              <a:t>- Explain the difference between traditional automation and generative AI</a:t>
            </a:r>
            <a:endParaRPr/>
          </a:p>
          <a:p xmlns:a="http://schemas.openxmlformats.org/drawingml/2006/main">
            <a:r>
              <a:t>- Describe why AI "hallucinates" and how to mitigate it in HR contexts</a:t>
            </a:r>
            <a:endParaRPr/>
          </a:p>
          <a:p xmlns:a="http://schemas.openxmlformats.org/drawingml/2006/main">
            <a:r>
              <a:t>- Identify which HR tasks are good candidates for AI assistance and which are not</a:t>
            </a:r>
            <a:endParaRPr/>
          </a:p>
          <a:p xmlns:a="http://schemas.openxmlformats.org/drawingml/2006/main">
            <a:r>
              <a:t/>
            </a:r>
            <a:endParaRPr/>
          </a:p>
          <a:p xmlns:a="http://schemas.openxmlformats.org/drawingml/2006/main">
            <a:r>
              <a:t>**Session outline (90 minutes):**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0:00–0:10 | Opening: What do you already believe about AI? (quick poll + discussion) |</a:t>
            </a:r>
            <a:endParaRPr/>
          </a:p>
          <a:p xmlns:a="http://schemas.openxmlformats.org/drawingml/2006/main">
            <a:r>
              <a:t>| 0:10–0:30 | Concept: How LLMs work, without the jargon (facilitator presentation) |</a:t>
            </a:r>
            <a:endParaRPr/>
          </a:p>
          <a:p xmlns:a="http://schemas.openxmlformats.org/drawingml/2006/main">
            <a:r>
              <a:t>| 0:30–0:45 | Concept: Hallucination, confidence, and why AI makes things up |</a:t>
            </a:r>
            <a:endParaRPr/>
          </a:p>
          <a:p xmlns:a="http://schemas.openxmlformats.org/drawingml/2006/main">
            <a:r>
              <a:t>| 0:45–1:05 | Exercise: Spot the hallucination (participants identify errors in AI-generated HR content) |</a:t>
            </a:r>
            <a:endParaRPr/>
          </a:p>
          <a:p xmlns:a="http://schemas.openxmlformats.org/drawingml/2006/main">
            <a:r>
              <a:t>| 1:05–1:20 | Discussion: Where should HR use AI? Where should we be cautious? |</a:t>
            </a:r>
            <a:endParaRPr/>
          </a:p>
          <a:p xmlns:a="http://schemas.openxmlformats.org/drawingml/2006/main">
            <a:r>
              <a:t>| 1:20–1:30 | Wrap-up + homework: Try one AI tool before next session |</a:t>
            </a:r>
            <a:endParaRPr/>
          </a:p>
          <a:p xmlns:a="http://schemas.openxmlformats.org/drawingml/2006/main">
            <a:r>
              <a:t/>
            </a:r>
            <a:endParaRPr/>
          </a:p>
          <a:p xmlns:a="http://schemas.openxmlformats.org/drawingml/2006/main">
            <a:r>
              <a:t>**Key concepts to cover:**</a:t>
            </a:r>
            <a:endParaRPr/>
          </a:p>
          <a:p xmlns:a="http://schemas.openxmlformats.org/drawingml/2006/main">
            <a:r>
              <a:t/>
            </a:r>
            <a:endParaRPr/>
          </a:p>
          <a:p xmlns:a="http://schemas.openxmlformats.org/drawingml/2006/main">
            <a:r>
              <a:t>*What LLMs actually are:*</a:t>
            </a:r>
            <a:endParaRPr/>
          </a:p>
          <a:p xmlns:a="http://schemas.openxmlformats.org/drawingml/2006/main">
            <a:r>
              <a:t>Large language models predict the next most likely word given context. They don't "know" things the way a database knows things, they pattern-match against training data. This is why they can sound authoritative while being wrong.</a:t>
            </a:r>
            <a:endParaRPr/>
          </a:p>
          <a:p xmlns:a="http://schemas.openxmlformats.org/drawingml/2006/main">
            <a:r>
              <a:t/>
            </a:r>
            <a:endParaRPr/>
          </a:p>
          <a:p xmlns:a="http://schemas.openxmlformats.org/drawingml/2006/main">
            <a:r>
              <a:t>*The spectrum from rules to agents:*</a:t>
            </a:r>
            <a:endParaRPr/>
          </a:p>
          <a:p xmlns:a="http://schemas.openxmlformats.org/drawingml/2006/main">
            <a:r>
              <a:t>```</a:t>
            </a:r>
            <a:endParaRPr/>
          </a:p>
          <a:p xmlns:a="http://schemas.openxmlformats.org/drawingml/2006/main">
            <a:r>
              <a:t>Rules            →  Assist / Augment              →  Agent</a:t>
            </a:r>
            <a:endParaRPr/>
          </a:p>
          <a:p xmlns:a="http://schemas.openxmlformats.org/drawingml/2006/main">
            <a:r>
              <a:t>(deterministic)     (a person decides or owns)       (a model acts across several steps)</a:t>
            </a:r>
            <a:endParaRPr/>
          </a:p>
          <a:p xmlns:a="http://schemas.openxmlformats.org/drawingml/2006/main">
            <a:r>
              <a:t>```</a:t>
            </a:r>
            <a:endParaRPr/>
          </a:p>
          <a:p xmlns:a="http://schemas.openxmlformats.org/drawingml/2006/main">
            <a:r>
              <a:t>Use rules when rules reliably give the right answer. Most HR uses of AI belong in the middle. An agent, where a model takes several actions through tools with limited review between them, has to earn that autonomy through evidence and brings new governance requirements.</a:t>
            </a:r>
            <a:endParaRPr/>
          </a:p>
          <a:p xmlns:a="http://schemas.openxmlformats.org/drawingml/2006/main">
            <a:r>
              <a:t/>
            </a:r>
            <a:endParaRPr/>
          </a:p>
          <a:p xmlns:a="http://schemas.openxmlformats.org/drawingml/2006/main">
            <a:r>
              <a:t>*Prompt quality drives output quality:*</a:t>
            </a:r>
            <a:endParaRPr/>
          </a:p>
          <a:p xmlns:a="http://schemas.openxmlformats.org/drawingml/2006/main">
            <a:r>
              <a:t>Clear prompts help define a task and its boundaries. Output quality also depends on the model, source material, workflow controls, and verification. A well-written prompt does not establish factual accuracy or safe HR judgment.</a:t>
            </a:r>
            <a:endParaRPr/>
          </a:p>
          <a:p xmlns:a="http://schemas.openxmlformats.org/drawingml/2006/main">
            <a:r>
              <a:t/>
            </a:r>
            <a:endParaRPr/>
          </a:p>
          <a:p xmlns:a="http://schemas.openxmlformats.org/drawingml/2006/main">
            <a:r>
              <a:t>**Pre-reading (assign before session):**</a:t>
            </a:r>
            <a:endParaRPr/>
          </a:p>
          <a:p xmlns:a="http://schemas.openxmlformats.org/drawingml/2006/main">
            <a:r>
              <a:t>- [Your organization's AI use policy](../03-governance/ai-use-policy.md)</a:t>
            </a:r>
            <a:endParaRPr/>
          </a:p>
          <a:p xmlns:a="http://schemas.openxmlformats.org/drawingml/2006/main">
            <a:r>
              <a:t>- One-page primer on generative AI for non-technical audiences (create or source)</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2: Using AI in your daily HR work</a:t>
            </a:r>
            <a:endParaRPr/>
          </a:p>
          <a:p xmlns:a="http://schemas.openxmlformats.org/drawingml/2006/main">
            <a:r>
              <a:t/>
            </a:r>
            <a:endParaRPr/>
          </a:p>
          <a:p xmlns:a="http://schemas.openxmlformats.org/drawingml/2006/main">
            <a:r>
              <a:t>**Learning objectives:**</a:t>
            </a:r>
            <a:endParaRPr/>
          </a:p>
          <a:p xmlns:a="http://schemas.openxmlformats.org/drawingml/2006/main">
            <a:r>
              <a:t>- Write effective prompts for HR use cases</a:t>
            </a:r>
            <a:endParaRPr/>
          </a:p>
          <a:p xmlns:a="http://schemas.openxmlformats.org/drawingml/2006/main">
            <a:r>
              <a:t>- Use the prompt library for at least 3 HR workflows</a:t>
            </a:r>
            <a:endParaRPr/>
          </a:p>
          <a:p xmlns:a="http://schemas.openxmlformats.org/drawingml/2006/main">
            <a:r>
              <a:t>- Identify when to use AI, when to verify AI output, and when not to use it</a:t>
            </a:r>
            <a:endParaRPr/>
          </a:p>
          <a:p xmlns:a="http://schemas.openxmlformats.org/drawingml/2006/main">
            <a:r>
              <a:t/>
            </a:r>
            <a:endParaRPr/>
          </a:p>
          <a:p xmlns:a="http://schemas.openxmlformats.org/drawingml/2006/main">
            <a:r>
              <a:t>**Session outline (2 hours including lab):**</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Share-back from Module 1 homework, what did you try, what happened? |</a:t>
            </a:r>
            <a:endParaRPr/>
          </a:p>
          <a:p xmlns:a="http://schemas.openxmlformats.org/drawingml/2006/main">
            <a:r>
              <a:t>| 0:15–0:45 | Prompt engineering for HR: the four elements of a good prompt |</a:t>
            </a:r>
            <a:endParaRPr/>
          </a:p>
          <a:p xmlns:a="http://schemas.openxmlformats.org/drawingml/2006/main">
            <a:r>
              <a:t>| 0:45–1:10 | Live demo: Onboarding plan, performance review draft, policy Q&amp;A |</a:t>
            </a:r>
            <a:endParaRPr/>
          </a:p>
          <a:p xmlns:a="http://schemas.openxmlformats.org/drawingml/2006/main">
            <a:r>
              <a:t>| 1:10–1:50 | Hands-on lab: Each participant works through 2 prompts using synthetic HR scenarios in organization-approved tools |</a:t>
            </a:r>
            <a:endParaRPr/>
          </a:p>
          <a:p xmlns:a="http://schemas.openxmlformats.org/drawingml/2006/main">
            <a:r>
              <a:t>| 1:50–2:00 | Debrief: What surprised you? What didn't work? |</a:t>
            </a:r>
            <a:endParaRPr/>
          </a:p>
          <a:p xmlns:a="http://schemas.openxmlformats.org/drawingml/2006/main">
            <a:r>
              <a:t/>
            </a:r>
            <a:endParaRPr/>
          </a:p>
          <a:p xmlns:a="http://schemas.openxmlformats.org/drawingml/2006/main">
            <a:r>
              <a:t>**The four elements of an effective HR prompt:**</a:t>
            </a:r>
            <a:endParaRPr/>
          </a:p>
          <a:p xmlns:a="http://schemas.openxmlformats.org/drawingml/2006/main">
            <a:r>
              <a:t/>
            </a:r>
            <a:endParaRPr/>
          </a:p>
          <a:p xmlns:a="http://schemas.openxmlformats.org/drawingml/2006/main">
            <a:r>
              <a:t>1. **Role**: Define the task perspective, such as drafting support for an HRBP. A role instruction does not give the model professional authority.</a:t>
            </a:r>
            <a:endParaRPr/>
          </a:p>
          <a:p xmlns:a="http://schemas.openxmlformats.org/drawingml/2006/main">
            <a:r>
              <a:t/>
            </a:r>
            <a:endParaRPr/>
          </a:p>
          <a:p xmlns:a="http://schemas.openxmlformats.org/drawingml/2006/main">
            <a:r>
              <a:t>2. **Context**: Provide the specific details the AI needs. Role, tenure, team size, situation. Don't make the AI guess.</a:t>
            </a:r>
            <a:endParaRPr/>
          </a:p>
          <a:p xmlns:a="http://schemas.openxmlformats.org/drawingml/2006/main">
            <a:r>
              <a:t/>
            </a:r>
            <a:endParaRPr/>
          </a:p>
          <a:p xmlns:a="http://schemas.openxmlformats.org/drawingml/2006/main">
            <a:r>
              <a:t>3. **Task**: State clearly what you want it to produce. One output per prompt. "Draft a..." is clearer than "Help me with..."</a:t>
            </a:r>
            <a:endParaRPr/>
          </a:p>
          <a:p xmlns:a="http://schemas.openxmlformats.org/drawingml/2006/main">
            <a:r>
              <a:t/>
            </a:r>
            <a:endParaRPr/>
          </a:p>
          <a:p xmlns:a="http://schemas.openxmlformats.org/drawingml/2006/main">
            <a:r>
              <a:t>4. **Constraints**: Define length, tone, format, exclusions, and the verification needed. Check whether the output follows them.</a:t>
            </a:r>
            <a:endParaRPr/>
          </a:p>
          <a:p xmlns:a="http://schemas.openxmlformats.org/drawingml/2006/main">
            <a:r>
              <a:t/>
            </a:r>
            <a:endParaRPr/>
          </a:p>
          <a:p xmlns:a="http://schemas.openxmlformats.org/drawingml/2006/main">
            <a:r>
              <a:t>**Lab instructions:**</a:t>
            </a:r>
            <a:endParaRPr/>
          </a:p>
          <a:p xmlns:a="http://schemas.openxmlformats.org/drawingml/2006/main">
            <a:r>
              <a:t/>
            </a:r>
            <a:endParaRPr/>
          </a:p>
          <a:p xmlns:a="http://schemas.openxmlformats.org/drawingml/2006/main">
            <a:r>
              <a:t>Participants choose 2 prompts from the library that are relevant to their current work:</a:t>
            </a:r>
            <a:endParaRPr/>
          </a:p>
          <a:p xmlns:a="http://schemas.openxmlformats.org/drawingml/2006/main">
            <a:r>
              <a:t>1. Run the prompt with a fictional HR scenario in an organization-approved tool. Do not upload real employee, candidate, compensation, or confidential employer information.</a:t>
            </a:r>
            <a:endParaRPr/>
          </a:p>
          <a:p xmlns:a="http://schemas.openxmlformats.org/drawingml/2006/main">
            <a:r>
              <a:t>2. Evaluate the output: What's useful? What's wrong or missing? What would you change before using it?</a:t>
            </a:r>
            <a:endParaRPr/>
          </a:p>
          <a:p xmlns:a="http://schemas.openxmlformats.org/drawingml/2006/main">
            <a:r>
              <a:t>3. Iterate: Modify the prompt once based on what you learned and run it again</a:t>
            </a:r>
            <a:endParaRPr/>
          </a:p>
          <a:p xmlns:a="http://schemas.openxmlformats.org/drawingml/2006/main">
            <a:r>
              <a:t>4. Note: What changed between run 1 and run 2?</a:t>
            </a:r>
            <a:endParaRPr/>
          </a:p>
          <a:p xmlns:a="http://schemas.openxmlformats.org/drawingml/2006/main">
            <a:r>
              <a:t/>
            </a:r>
            <a:endParaRPr/>
          </a:p>
          <a:p xmlns:a="http://schemas.openxmlformats.org/drawingml/2006/main">
            <a:r>
              <a:t>**The verify-before-use rule:**</a:t>
            </a:r>
            <a:endParaRPr/>
          </a:p>
          <a:p xmlns:a="http://schemas.openxmlformats.org/drawingml/2006/main">
            <a:r>
              <a:t/>
            </a:r>
            <a:endParaRPr/>
          </a:p>
          <a:p xmlns:a="http://schemas.openxmlformats.org/drawingml/2006/main">
            <a:r>
              <a:t>Introduce and reinforce this heuristic:</a:t>
            </a:r>
            <a:endParaRPr/>
          </a:p>
          <a:p xmlns:a="http://schemas.openxmlformats.org/drawingml/2006/main">
            <a:r>
              <a:t>- Policy details → always verify against source system before sharing</a:t>
            </a:r>
            <a:endParaRPr/>
          </a:p>
          <a:p xmlns:a="http://schemas.openxmlformats.org/drawingml/2006/main">
            <a:r>
              <a:t>- Legal requirements → always verify with Legal before relying on</a:t>
            </a:r>
            <a:endParaRPr/>
          </a:p>
          <a:p xmlns:a="http://schemas.openxmlformats.org/drawingml/2006/main">
            <a:r>
              <a:t>- Factual claims → spot-check against a known source</a:t>
            </a:r>
            <a:endParaRPr/>
          </a:p>
          <a:p xmlns:a="http://schemas.openxmlformats.org/drawingml/2006/main">
            <a:r>
              <a:t>- Tone and content → always read before sending; AI doesn't know your audience</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3: Governance, ethics, and responsible use</a:t>
            </a:r>
            <a:endParaRPr/>
          </a:p>
          <a:p xmlns:a="http://schemas.openxmlformats.org/drawingml/2006/main">
            <a:r>
              <a:t/>
            </a:r>
            <a:endParaRPr/>
          </a:p>
          <a:p xmlns:a="http://schemas.openxmlformats.org/drawingml/2006/main">
            <a:r>
              <a:t>**Learning objectives:**</a:t>
            </a:r>
            <a:endParaRPr/>
          </a:p>
          <a:p xmlns:a="http://schemas.openxmlformats.org/drawingml/2006/main">
            <a:r>
              <a:t>- Apply the organization's AI use policy to real HR scenarios</a:t>
            </a:r>
            <a:endParaRPr/>
          </a:p>
          <a:p xmlns:a="http://schemas.openxmlformats.org/drawingml/2006/main">
            <a:r>
              <a:t>- Identify the key legal risk areas in HR AI (bias, privacy, employment law)</a:t>
            </a:r>
            <a:endParaRPr/>
          </a:p>
          <a:p xmlns:a="http://schemas.openxmlformats.org/drawingml/2006/main">
            <a:r>
              <a:t>- Complete a basic risk assessment for a new use case</a:t>
            </a:r>
            <a:endParaRPr/>
          </a:p>
          <a:p xmlns:a="http://schemas.openxmlformats.org/drawingml/2006/main">
            <a:r>
              <a:t/>
            </a:r>
            <a:endParaRPr/>
          </a:p>
          <a:p xmlns:a="http://schemas.openxmlformats.org/drawingml/2006/main">
            <a:r>
              <a:t>**Session outline (90 minutes):**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Case study: Three HR AI failures and what we can learn (discussion) |</a:t>
            </a:r>
            <a:endParaRPr/>
          </a:p>
          <a:p xmlns:a="http://schemas.openxmlformats.org/drawingml/2006/main">
            <a:r>
              <a:t>| 0:15–0:40 | Framework: What makes AI use in HR risky? Legal and ethical dimensions |</a:t>
            </a:r>
            <a:endParaRPr/>
          </a:p>
          <a:p xmlns:a="http://schemas.openxmlformats.org/drawingml/2006/main">
            <a:r>
              <a:t>| 0:40–1:00 | Scenario practice: Is this use case okay? (small groups, 4 scenarios) |</a:t>
            </a:r>
            <a:endParaRPr/>
          </a:p>
          <a:p xmlns:a="http://schemas.openxmlformats.org/drawingml/2006/main">
            <a:r>
              <a:t>| 1:00–1:20 | Walk-through: The risk assessment template |</a:t>
            </a:r>
            <a:endParaRPr/>
          </a:p>
          <a:p xmlns:a="http://schemas.openxmlformats.org/drawingml/2006/main">
            <a:r>
              <a:t>| 1:20–1:30 | Q&amp;A + open discussion |</a:t>
            </a:r>
            <a:endParaRPr/>
          </a:p>
          <a:p xmlns:a="http://schemas.openxmlformats.org/drawingml/2006/main">
            <a:r>
              <a:t/>
            </a:r>
            <a:endParaRPr/>
          </a:p>
          <a:p xmlns:a="http://schemas.openxmlformats.org/drawingml/2006/main">
            <a:r>
              <a:t>&gt; **Note on regulatory currency:** Use the [Key dates for HR](../03-governance/README.md#key-dates-for-hr) and its linked primary sources as the dated reference. The slides summarize risk questions; they are not a complete legal reference. Have Legal verify jurisdiction, scope, obligations, and effective dates before delivery or adoption.</a:t>
            </a:r>
            <a:endParaRPr/>
          </a:p>
          <a:p xmlns:a="http://schemas.openxmlformats.org/drawingml/2006/main">
            <a:r>
              <a:t/>
            </a:r>
            <a:endParaRPr/>
          </a:p>
          <a:p xmlns:a="http://schemas.openxmlformats.org/drawingml/2006/main">
            <a:r>
              <a:t>**Key legal risk areas to cover:**</a:t>
            </a:r>
            <a:endParaRPr/>
          </a:p>
          <a:p xmlns:a="http://schemas.openxmlformats.org/drawingml/2006/main">
            <a:r>
              <a:t/>
            </a:r>
            <a:endParaRPr/>
          </a:p>
          <a:p xmlns:a="http://schemas.openxmlformats.org/drawingml/2006/main">
            <a:r>
              <a:t>*Bias and disparate impact:*</a:t>
            </a:r>
            <a:endParaRPr/>
          </a:p>
          <a:p xmlns:a="http://schemas.openxmlformats.org/drawingml/2006/main">
            <a:r>
              <a:t>AI trained on historical HR data can encode and amplify past discrimination. A history in which 80% of engineering hires were male is a reason to examine labels, features, selection effects, and group outcomes; that proportion alone does not determine how a model will score resumes. Adverse impact testing is a core control. It is required by law in some jurisdictions (NYC Local Law 144 mandates an annual bias audit for covered tools) and expected as evidence of reasonable care in many others. Confirm the cadence with Legal. See the [NIST AI RMF](https://www.nist.gov/itl/ai-risk-management-framework).</a:t>
            </a:r>
            <a:endParaRPr/>
          </a:p>
          <a:p xmlns:a="http://schemas.openxmlformats.org/drawingml/2006/main">
            <a:r>
              <a:t/>
            </a:r>
            <a:endParaRPr/>
          </a:p>
          <a:p xmlns:a="http://schemas.openxmlformats.org/drawingml/2006/main">
            <a:r>
              <a:t>*Illinois AI Video Interview Act, NYC Local Law 144, and emerging state laws:*</a:t>
            </a:r>
            <a:endParaRPr/>
          </a:p>
          <a:p xmlns:a="http://schemas.openxmlformats.org/drawingml/2006/main">
            <a:r>
              <a:t>Several jurisdictions now require disclosure, impact assessments, or consent for AI use in hiring. Illinois's AI Video Interview Act ([820 ILCS 42](https://www.ilga.gov/Legislation/ILCS/Articles?ActID=4015&amp;ChapterID=68)) governs AI analysis of recorded video interviews, including notice and consent before the interview. Confirm its current requirements against the statute before relying on them. Illinois also amended its Human Rights Act via HB 3773 (effective January 1, 2026) to broadly prohibit discriminatory AI use in hiring and promotion, not just video interviews. A companion law, Public Act 104-0425 (SB 2487, effective January 1, 2026), gives the Human Rights Commission tiered civil penalty authority for violations: up to $16,000 for a first offense, up to $42,500 with one prior violation within five years, up to $70,000 for two or more within seven years. The regulatory landscape is shifting quickly. Use cases involving hiring must be reviewed against current state law.</a:t>
            </a:r>
            <a:endParaRPr/>
          </a:p>
          <a:p xmlns:a="http://schemas.openxmlformats.org/drawingml/2006/main">
            <a:r>
              <a:t/>
            </a:r>
            <a:endParaRPr/>
          </a:p>
          <a:p xmlns:a="http://schemas.openxmlformats.org/drawingml/2006/main">
            <a:r>
              <a:t>NYC Local Law 144 enforcement is entering a stricter phase. A December 2025 NY State Comptroller audit found DCWP's enforcement "ineffective": DCWP's own review of 32 companies' bias-audit disclosures caught 1 likely non-compliance issue, where the Comptroller's review of the same 32 found at least 17. Expect more investigations and higher penalties as DCWP responds to the audit's recommendations, not just the disclosure-and-audit paperwork the law describes on paper.</a:t>
            </a:r>
            <a:endParaRPr/>
          </a:p>
          <a:p xmlns:a="http://schemas.openxmlformats.org/drawingml/2006/main">
            <a:r>
              <a:t/>
            </a:r>
            <a:endParaRPr/>
          </a:p>
          <a:p xmlns:a="http://schemas.openxmlformats.org/drawingml/2006/main">
            <a:r>
              <a:t>*Colorado's Automated Decision-Making Technology Act:*</a:t>
            </a:r>
            <a:endParaRPr/>
          </a:p>
          <a:p xmlns:a="http://schemas.openxmlformats.org/drawingml/2006/main">
            <a:r>
              <a:t>Colorado SB26-189 (signed 14 May 2026, Colo. Sess. Laws ch. 131) repeals and replaces the state's 2024 AI consumer protection law. It covers "consequential decisions," including employment, made using automated decision-making technology (ADMT) that materially influences the outcome. Starting January 1, 2027, developers must give deployers technical documentation on intended use, training data categories, known limitations, and human review instructions. Deployers will owe consumers notice at the point of interaction, and within 30 days of any adverse consequential decision, a plain-language explanation plus the right to request human review and reconsideration. Records must be retained 3 years. The attorney general enforces under the Colorado Consumer Protection Act, with a 60-day cure period through January 1, 2030.</a:t>
            </a:r>
            <a:endParaRPr/>
          </a:p>
          <a:p xmlns:a="http://schemas.openxmlformats.org/drawingml/2006/main">
            <a:r>
              <a:t/>
            </a:r>
            <a:endParaRPr/>
          </a:p>
          <a:p xmlns:a="http://schemas.openxmlformats.org/drawingml/2006/main">
            <a:r>
              <a:t>*Connecticut: AI Responsibility and Transparency Act (Public Act 26-15):*</a:t>
            </a:r>
            <a:endParaRPr/>
          </a:p>
          <a:p xmlns:a="http://schemas.openxmlformats.org/drawingml/2006/main">
            <a:r>
              <a:t>Connecticut's SB 5 became Public Act 26-15 in June 2026. It is the most comprehensive state AI employment statute enacted so far, and it phases in across two years. Read the dates carefully, because the parts that bite first are not the disclosure rules.</a:t>
            </a:r>
            <a:endParaRPr/>
          </a:p>
          <a:p xmlns:a="http://schemas.openxmlformats.org/drawingml/2006/main">
            <a:r>
              <a:t/>
            </a:r>
            <a:endParaRPr/>
          </a:p>
          <a:p xmlns:a="http://schemas.openxmlformats.org/drawingml/2006/main">
            <a:r>
              <a:t>Live October 1, 2026:</a:t>
            </a:r>
            <a:endParaRPr/>
          </a:p>
          <a:p xmlns:a="http://schemas.openxmlformats.org/drawingml/2006/main">
            <a:r>
              <a:t/>
            </a:r>
            <a:endParaRPr/>
          </a:p>
          <a:p xmlns:a="http://schemas.openxmlformats.org/drawingml/2006/main">
            <a:r>
              <a:t>- **AI is not a defense.** Sections 13 and 14 amend Conn. Gen. Stat. 46a-60 so that using an automated employment-related decision technology is not a defense against a discrimination complaint. The commission or court may consider the quality, efficacy, recency, and scope of anti-bias testing, its results, and the employer's response. This does not establish that a stale audit is always worse than no audit, or that testing guarantees a favorable legal outcome. Preserve the testing evidence and corrective actions for counsel review. Source: [Public Act 26-15](https://www.cga.ct.gov/2026/ACT/PA/PDF/2026PA-00015-R00SB-00005-PA.PDF).</a:t>
            </a:r>
            <a:endParaRPr/>
          </a:p>
          <a:p xmlns:a="http://schemas.openxmlformats.org/drawingml/2006/main">
            <a:r>
              <a:t>- **WARN notices.** Section 26 requires any employer serving a federal WARN notice under 29 USC 2102(a) to disclose to the Connecticut Labor Department whether the layoffs relate to the employer's use of AI or other technological change. Note the disclosure runs to the department, not to affected employees.</a:t>
            </a:r>
            <a:endParaRPr/>
          </a:p>
          <a:p xmlns:a="http://schemas.openxmlformats.org/drawingml/2006/main">
            <a:r>
              <a:t/>
            </a:r>
            <a:endParaRPr/>
          </a:p>
          <a:p xmlns:a="http://schemas.openxmlformats.org/drawingml/2006/main">
            <a:r>
              <a:t>Live October 1, 2027 (sections 7 to 12 take effect in 2026, but the duties attach only to technology deployed on or after October 1, 2027):</a:t>
            </a:r>
            <a:endParaRPr/>
          </a:p>
          <a:p xmlns:a="http://schemas.openxmlformats.org/drawingml/2006/main">
            <a:r>
              <a:t/>
            </a:r>
            <a:endParaRPr/>
          </a:p>
          <a:p xmlns:a="http://schemas.openxmlformats.org/drawingml/2006/main">
            <a:r>
              <a:t>- Scope is set by "substantial factor," defined as a factor that meaningfully alters the outcome of an employment-related decision. Covered decisions are hiring, promotion, discipline, discharge, renewal, selection for training or apprenticeship, and terms, privileges or conditions of employment. Carved out: nonmaterial changes to job tasks or hours, and decisions about workplace health and safety, scheduling, and productivity monitoring.</a:t>
            </a:r>
            <a:endParaRPr/>
          </a:p>
          <a:p xmlns:a="http://schemas.openxmlformats.org/drawingml/2006/main">
            <a:r>
              <a:t>- Developers must give deployers the information deployers need to meet their duties, but only where the tool was advertised, marketed, configured, contracted for, sold, or licensed to materially influence an employment decision.</a:t>
            </a:r>
            <a:endParaRPr/>
          </a:p>
          <a:p xmlns:a="http://schemas.openxmlformats.org/drawingml/2006/main">
            <a:r>
              <a:t>- Deployers must disclose in plain language when an employee or applicant is interacting with the technology, unless a reasonable person would find it obvious.</a:t>
            </a:r>
            <a:endParaRPr/>
          </a:p>
          <a:p xmlns:a="http://schemas.openxmlformats.org/drawingml/2006/main">
            <a:r>
              <a:t>- Before the decision is made, deployers must give written notice covering six specific points: that the technology was deployed, its purpose and the nature of the decision, the tool's trade name, the categories of personal data analyzed and how they will be assessed, the sources of that data, and deployer contact information.</a:t>
            </a:r>
            <a:endParaRPr/>
          </a:p>
          <a:p xmlns:a="http://schemas.openxmlformats.org/drawingml/2006/main">
            <a:r>
              <a:t>- Trade secrets can be withheld, but the withholding party must send notice saying what is being withheld and why.</a:t>
            </a:r>
            <a:endParaRPr/>
          </a:p>
          <a:p xmlns:a="http://schemas.openxmlformats.org/drawingml/2006/main">
            <a:r>
              <a:t/>
            </a:r>
            <a:endParaRPr/>
          </a:p>
          <a:p xmlns:a="http://schemas.openxmlformats.org/drawingml/2006/main">
            <a:r>
              <a:t>Enforcement is narrower than the obligations suggest: violations are unfair or deceptive trade practices under CUTPA, enforced **solely by the Attorney General**, with an explicit statement that the act creates **no private right of action**. Violations occurring on or before December 31, 2027 carry a 60-day cure period.</a:t>
            </a:r>
            <a:endParaRPr/>
          </a:p>
          <a:p xmlns:a="http://schemas.openxmlformats.org/drawingml/2006/main">
            <a:r>
              <a:t/>
            </a:r>
            <a:endParaRPr/>
          </a:p>
          <a:p xmlns:a="http://schemas.openxmlformats.org/drawingml/2006/main">
            <a:r>
              <a:t>One provision to catch in procurement: Section 8(c) lets a developer contract to assume the deployer's disclosure and notice duties, provided the contract is explicit about which duties transfer. That is a negotiating lever worth asking every vendor about. See the [vendor intake checklist](../03-governance/vendor-intake-checklist.md).</a:t>
            </a:r>
            <a:endParaRPr/>
          </a:p>
          <a:p xmlns:a="http://schemas.openxmlformats.org/drawingml/2006/main">
            <a:r>
              <a:t/>
            </a:r>
            <a:endParaRPr/>
          </a:p>
          <a:p xmlns:a="http://schemas.openxmlformats.org/drawingml/2006/main">
            <a:r>
              <a:t>*California: FEHA algorithmic discrimination rules and CPPA ADMT regulations:*</a:t>
            </a:r>
            <a:endParaRPr/>
          </a:p>
          <a:p xmlns:a="http://schemas.openxmlformats.org/drawingml/2006/main">
            <a:r>
              <a:t>The Civil Rights Council's FEHA regulations on automated decision systems took effect October 1, 2025: they prohibit AI-driven disparate treatment or disparate impact in employment decisions, require four years of recordkeeping, and hold employers liable for discriminatory outcomes even when the tool comes from a third-party vendor. Separately, the [CPPA regulation package](https://cppa.ca.gov/announcements/2025/20250923.html) took effect January 1, 2026. Covered businesses must begin risk-assessment compliance in 2026; ADMT notice and consumer-rights compliance begins January 1, 2027. These dates govern different duties. Review the [final regulations](https://cppa.ca.gov/regulations/ccpa_updates.html) for scope, opt-out exceptions, appeal conditions, and transition rules for processing already underway.</a:t>
            </a:r>
            <a:endParaRPr/>
          </a:p>
          <a:p xmlns:a="http://schemas.openxmlformats.org/drawingml/2006/main">
            <a:r>
              <a:t/>
            </a:r>
            <a:endParaRPr/>
          </a:p>
          <a:p xmlns:a="http://schemas.openxmlformats.org/drawingml/2006/main">
            <a:r>
              <a:t>Four California workplace bills were approved and chaptered on 30 September 2026. All four are enacted law, with obligations beginning in 2027. The chaptered texts were reviewed on 9 October 2026. AB 1883, SB 951, and AB 1331 take effect on 1 January 2027 under [California Constitution Article IV, section 8(c)(1)](https://leginfo.legislature.ca.gov/faces/codes_displayText.xhtml?lawCode=CONS&amp;division=&amp;title=&amp;part=&amp;chapter=&amp;article=IV); none contains an urgency clause or a later operative-date provision. SB 947 takes effect on that date but expressly makes its new Labor Code part operative on 1 July 2027. See the [source register](../03-governance/claims/california-workplace-laws.json) and the [Governor's signing announcement](https://www.gov.ca.gov/2026/09/30/californias-nation-leading-ai-framework-just-got-stronger-governor-newsom-signs-more-first-in-the-nation-worker-protections-and-more/).</a:t>
            </a:r>
            <a:endParaRPr/>
          </a:p>
          <a:p xmlns:a="http://schemas.openxmlformats.org/drawingml/2006/main">
            <a:r>
              <a:t/>
            </a:r>
            <a:endParaRPr/>
          </a:p>
          <a:p xmlns:a="http://schemas.openxmlformats.org/drawingml/2006/main">
            <a:r>
              <a:t>- **[AB 1883](https://leginfo.legislature.ca.gov/faces/billNavClient.xhtml?bill_id=202520260AB1883)** (workplace surveillance tools, Chapter 853, Statutes of 2026) adds Labor Code Part 5.8 to bar employers from using AI-driven surveillance tools to recognize or infer an employee's emotional state, or to collect neural data, meaning data measured from the central or peripheral nervous system and not inferred from nonneural information. Safety uses are preserved, and there is a narrow carve-out for federally mandated aerospace and national security work. Enforcement runs through the Labor Commissioner or a public prosecutor, with penalties up to $500 per violation. It was enrolled on 3 September 2026 and approved by the Governor on 30 September 2026. Some published summaries report 3 September as the signing date; that is the enrollment date.</a:t>
            </a:r>
            <a:endParaRPr/>
          </a:p>
          <a:p xmlns:a="http://schemas.openxmlformats.org/drawingml/2006/main">
            <a:r>
              <a:t>- **[SB 947](https://leginfo.legislature.ca.gov/faces/billTextClient.xhtml?bill_id=202520260SB947)** (the "No Robo Bosses Act," Chapter 859, Statutes of 2026) is **operative 1 July 2027**, under new Labor Code section 1526.7. It bars sole reliance on an ADS for discipline or termination. Primary reliance requires human corroboration and written post-use notice when the decision is communicated. If corroboration fails, or the reviewer finds the output inaccurate, incomplete, or misleading, the employer must not use that output for the decision. The employee may request a meaningful description of their own data used by the ADS. Check the collective bargaining and federal-operation exceptions in sections 1526.5 and 1526.6.</a:t>
            </a:r>
            <a:endParaRPr/>
          </a:p>
          <a:p xmlns:a="http://schemas.openxmlformats.org/drawingml/2006/main">
            <a:r>
              <a:t>- **[SB 951](https://leginfo.legislature.ca.gov/faces/billTextClient.xhtml?bill_id=202520260SB951)** (Chapter 860, Statutes of 2026), **effective 1 January 2027**, adds technology-displacement information to an otherwise required Cal/WARN notice when AI or automation causes the event wholly or substantially. New Labor Code section 1401(d) requires affected jobs and locations, functions being automated, the technology category, and a technology-displacement heading. It retains the existing 60-day notice period. It does not enact the earlier proposal for a 90-day notice or an employer hiring-freeze notice; section 1402.7 instead requires an EDD study by 1 January 2028. Assess Cal/WARN coverage and exceptions before applying the notice requirement.</a:t>
            </a:r>
            <a:endParaRPr/>
          </a:p>
          <a:p xmlns:a="http://schemas.openxmlformats.org/drawingml/2006/main">
            <a:r>
              <a:t>- **[AB 1331](https://leginfo.legislature.ca.gov/faces/billTextClient.xhtml?bill_id=202520260AB1331)** (Chapter 851, Statutes of 2026), **effective 1 January 2027**, limits workplace bathroom surveillance and lets employees leave surveillance tools behind when entering a bathroom. New Labor Code section 1561 includes exceptions for court orders, one-time entry/exit checks, voluntary possession, and certain identification or safety devices. The tool definition reaches beyond AI. Review the full exceptions in sections 1561, 1564, and 1565 before changing monitoring practices.</a:t>
            </a:r>
            <a:endParaRPr/>
          </a:p>
          <a:p xmlns:a="http://schemas.openxmlformats.org/drawingml/2006/main">
            <a:r>
              <a:t/>
            </a:r>
            <a:endParaRPr/>
          </a:p>
          <a:p xmlns:a="http://schemas.openxmlformats.org/drawingml/2006/main">
            <a:r>
              <a:t>*Texas: Responsible AI Governance Act (TRAIGA):*</a:t>
            </a:r>
            <a:endParaRPr/>
          </a:p>
          <a:p xmlns:a="http://schemas.openxmlformats.org/drawingml/2006/main">
            <a:r>
              <a:t>Effective January 1, 2026 (HB 149, signed June 22, 2025). Narrower than Illinois or Colorado: TRAIGA prohibits intentional AI-based discrimination but does not create disparate impact liability, and the Attorney General has exclusive enforcement authority with a 60-day cure period before action.</a:t>
            </a:r>
            <a:endParaRPr/>
          </a:p>
          <a:p xmlns:a="http://schemas.openxmlformats.org/drawingml/2006/main">
            <a:r>
              <a:t/>
            </a:r>
            <a:endParaRPr/>
          </a:p>
          <a:p xmlns:a="http://schemas.openxmlformats.org/drawingml/2006/main">
            <a:r>
              <a:t>*New Jersey: no AI statute, but existing discrimination law already reaches AI:*</a:t>
            </a:r>
            <a:endParaRPr/>
          </a:p>
          <a:p xmlns:a="http://schemas.openxmlformats.org/drawingml/2006/main">
            <a:r>
              <a:t>New Jersey is the case that breaks the habit of scanning for AI-specific bills. It has no AI hiring statute. In January 2025 the Office of the Attorney General and the Division on Civil Rights issued guidance stating that the Law Against Discrimination (N.J.S.A. 10:5-1 et seq.) applies to algorithmic discrimination the same way it has long applied to other discriminatory conduct, in employment among other contexts. Three points matter for HR practice:</a:t>
            </a:r>
            <a:endParaRPr/>
          </a:p>
          <a:p xmlns:a="http://schemas.openxmlformats.org/drawingml/2006/main">
            <a:r>
              <a:t/>
            </a:r>
            <a:endParaRPr/>
          </a:p>
          <a:p xmlns:a="http://schemas.openxmlformats.org/drawingml/2006/main">
            <a:r>
              <a:t>- **No intent required, and a vendor tool is not a defense.** The guidance states that a covered entity "is not shielded from liability for algorithmic discrimination that results from the entity's use of an automated decision-making tool simply because the tool was developed by a third party or because the entity does not understand the inner workings of the tool."</a:t>
            </a:r>
            <a:endParaRPr/>
          </a:p>
          <a:p xmlns:a="http://schemas.openxmlformats.org/drawingml/2006/main">
            <a:r>
              <a:t>- **Disparate impact is covered.** Use of a tool with a disproportionate effect on a protected class is prohibited unless it is necessary to achieve a substantial, legitimate, nondiscriminatory interest and there is no less discriminatory alternative. Whether the employer tested the tool for bias or evaluated alternatives may be weighed as relevant evidence, which is the same pattern as Connecticut: your fairness audit becomes evidence.</a:t>
            </a:r>
            <a:endParaRPr/>
          </a:p>
          <a:p xmlns:a="http://schemas.openxmlformats.org/drawingml/2006/main">
            <a:r>
              <a:t>- **Reasonable accommodations are in scope.** A tool can violate the LAD by being inaccessible or by penalizing someone who uses an accommodation. The guidance's example is a typing-speed screen that cannot read a non-traditional keyboard.</a:t>
            </a:r>
            <a:endParaRPr/>
          </a:p>
          <a:p xmlns:a="http://schemas.openxmlformats.org/drawingml/2006/main">
            <a:r>
              <a:t/>
            </a:r>
            <a:endParaRPr/>
          </a:p>
          <a:p xmlns:a="http://schemas.openxmlformats.org/drawingml/2006/main">
            <a:r>
              <a:t>Two limits to state accurately when you teach this. The guidance is interpretive: it says on its face that it imposes no requirements beyond the LAD and will not be enforced as a substitute for enforcing the LAD. And it carries no effective date, because the underlying statute has been in force for decades. Do not present it as a new obligation that switched on in 2025. The takeaway for the class is the general one: a state with no AI bill is not a state with no AI exposure.</a:t>
            </a:r>
            <a:endParaRPr/>
          </a:p>
          <a:p xmlns:a="http://schemas.openxmlformats.org/drawingml/2006/main">
            <a:r>
              <a:t/>
            </a:r>
            <a:endParaRPr/>
          </a:p>
          <a:p xmlns:a="http://schemas.openxmlformats.org/drawingml/2006/main">
            <a:r>
              <a:t>*GDPR and CCPA:*</a:t>
            </a:r>
            <a:endParaRPr/>
          </a:p>
          <a:p xmlns:a="http://schemas.openxmlformats.org/drawingml/2006/main">
            <a:r>
              <a:t>Employees in covered jurisdictions have rights regarding automated decision-making. Know which of your employees are covered and how your AI use cases interact with their rights. See the California-specific rules above for the current state of play there.</a:t>
            </a:r>
            <a:endParaRPr/>
          </a:p>
          <a:p xmlns:a="http://schemas.openxmlformats.org/drawingml/2006/main">
            <a:r>
              <a:t/>
            </a:r>
            <a:endParaRPr/>
          </a:p>
          <a:p xmlns:a="http://schemas.openxmlformats.org/drawingml/2006/main">
            <a:r>
              <a:t>*UK: Data (Use and Access) Act 2025 replaces GDPR Article 22:*</a:t>
            </a:r>
            <a:endParaRPr/>
          </a:p>
          <a:p xmlns:a="http://schemas.openxmlformats.org/drawingml/2006/main">
            <a:r>
              <a:t>Section 80 of the UK's Data (Use and Access) Act 2025 took effect February 5, 2026 (Commencement Regulations SI 2026/82) and substitutes Article 22 of the UK GDPR with new Articles 22A to 22D. The new regime permits solely automated "significant decisions," those with a legal or similarly significant effect, more broadly than before, but requires safeguards: notice to the individual, the ability to make representations, the right to human intervention, and the right to contest the decision. Stricter restrictions still apply where special category data is used. Treat this as a distinct regime from EU GDPR Article 22, not an equivalent, for any AI use case touching UK-based workers or candidates.</a:t>
            </a:r>
            <a:endParaRPr/>
          </a:p>
          <a:p xmlns:a="http://schemas.openxmlformats.org/drawingml/2006/main">
            <a:r>
              <a:t/>
            </a:r>
            <a:endParaRPr/>
          </a:p>
          <a:p xmlns:a="http://schemas.openxmlformats.org/drawingml/2006/main">
            <a:r>
              <a:t>The ICO is already signaling how it will police this in recruitment specifically. A March 2026 ICO report on automated decision-making in hiring found many employers don't recognize they're doing ADM at all, and that "human review" in practice often amounts to rubber-stamping rather than a reviewer with real authority to change the outcome. Following that report, the ICO opened a consultation on draft ADM guidance, worth checking for the final version before relying on the March findings alone. Build the oversight role description to survive that scrutiny, not just to check the box.</a:t>
            </a:r>
            <a:endParaRPr/>
          </a:p>
          <a:p xmlns:a="http://schemas.openxmlformats.org/drawingml/2006/main">
            <a:r>
              <a:t/>
            </a:r>
            <a:endParaRPr/>
          </a:p>
          <a:p xmlns:a="http://schemas.openxmlformats.org/drawingml/2006/main">
            <a:r>
              <a:t>*Canada: no federal AI employment law, but Ontario requires disclosure:*</a:t>
            </a:r>
            <a:endParaRPr/>
          </a:p>
          <a:p xmlns:a="http://schemas.openxmlformats.org/drawingml/2006/main">
            <a:r>
              <a:t>Canada's federal AI bill (AIDA, part of Bill C-27) died when Parliament prorogued in January 2025 and has not been revived. AI regulation there runs through existing privacy, human rights, and sector law instead. Ontario is the exception: since January 1, 2026, employers with 25+ employees must disclose in publicly advertised job postings whether AI is used to screen, assess, or select candidates (Employment Standards Act, 2000 amendment).</a:t>
            </a:r>
            <a:endParaRPr/>
          </a:p>
          <a:p xmlns:a="http://schemas.openxmlformats.org/drawingml/2006/main">
            <a:r>
              <a:t/>
            </a:r>
            <a:endParaRPr/>
          </a:p>
          <a:p xmlns:a="http://schemas.openxmlformats.org/drawingml/2006/main">
            <a:r>
              <a:t>*The "AI as a manager" trap:*</a:t>
            </a:r>
            <a:endParaRPr/>
          </a:p>
          <a:p xmlns:a="http://schemas.openxmlformats.org/drawingml/2006/main">
            <a:r>
              <a:t>AI that monitors, evaluates, or scores employees without their knowledge, even for legitimate purposes, creates legal and trust exposure. Transparency is not just ethical, it's protective.</a:t>
            </a:r>
            <a:endParaRPr/>
          </a:p>
          <a:p xmlns:a="http://schemas.openxmlformats.org/drawingml/2006/main">
            <a:r>
              <a:t/>
            </a:r>
            <a:endParaRPr/>
          </a:p>
          <a:p xmlns:a="http://schemas.openxmlformats.org/drawingml/2006/main">
            <a:r>
              <a:t>**Scenario practice cards:**</a:t>
            </a:r>
            <a:endParaRPr/>
          </a:p>
          <a:p xmlns:a="http://schemas.openxmlformats.org/drawingml/2006/main">
            <a:r>
              <a:t/>
            </a:r>
            <a:endParaRPr/>
          </a:p>
          <a:p xmlns:a="http://schemas.openxmlformats.org/drawingml/2006/main">
            <a:r>
              <a:t>Print or share these four scenarios. Groups of 3–4 discuss: Is this use appropriate? What are the risks? What would you change?</a:t>
            </a:r>
            <a:endParaRPr/>
          </a:p>
          <a:p xmlns:a="http://schemas.openxmlformats.org/drawingml/2006/main">
            <a:r>
              <a:t/>
            </a:r>
            <a:endParaRPr/>
          </a:p>
          <a:p xmlns:a="http://schemas.openxmlformats.org/drawingml/2006/main">
            <a:r>
              <a:t>&gt; **Scenario A:** An AI tool automatically rejects resumes with gaps of more than 6 months without showing them to a recruiter.</a:t>
            </a:r>
            <a:endParaRPr/>
          </a:p>
          <a:p xmlns:a="http://schemas.openxmlformats.org/drawingml/2006/main">
            <a:r>
              <a:t/>
            </a:r>
            <a:endParaRPr/>
          </a:p>
          <a:p xmlns:a="http://schemas.openxmlformats.org/drawingml/2006/main">
            <a:r>
              <a:t>&gt; **Scenario B:** An HRBP uses an AI writing assistant to draft a PIP for an employee, then reviews and edits it before sharing with the manager.</a:t>
            </a:r>
            <a:endParaRPr/>
          </a:p>
          <a:p xmlns:a="http://schemas.openxmlformats.org/drawingml/2006/main">
            <a:r>
              <a:t/>
            </a:r>
            <a:endParaRPr/>
          </a:p>
          <a:p xmlns:a="http://schemas.openxmlformats.org/drawingml/2006/main">
            <a:r>
              <a:t>&gt; **Scenario C:** People Analytics builds an attrition risk model that scores all employees monthly and shares the scores directly with managers.</a:t>
            </a:r>
            <a:endParaRPr/>
          </a:p>
          <a:p xmlns:a="http://schemas.openxmlformats.org/drawingml/2006/main">
            <a:r>
              <a:t/>
            </a:r>
            <a:endParaRPr/>
          </a:p>
          <a:p xmlns:a="http://schemas.openxmlformats.org/drawingml/2006/main">
            <a:r>
              <a:t>&gt; **Scenario D:** An AI chatbot answers benefits questions for employees. It sometimes gives incorrect information but flags that users should confirm with HR.</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4: Building and scaling AI use cases</a:t>
            </a:r>
            <a:endParaRPr/>
          </a:p>
          <a:p xmlns:a="http://schemas.openxmlformats.org/drawingml/2006/main">
            <a:r>
              <a:t/>
            </a:r>
            <a:endParaRPr/>
          </a:p>
          <a:p xmlns:a="http://schemas.openxmlformats.org/drawingml/2006/main">
            <a:r>
              <a:t>**Learning objectives:**</a:t>
            </a:r>
            <a:endParaRPr/>
          </a:p>
          <a:p xmlns:a="http://schemas.openxmlformats.org/drawingml/2006/main">
            <a:r>
              <a:t>- Apply the prioritization matrix to identify your team's highest-value AI use cases</a:t>
            </a:r>
            <a:endParaRPr/>
          </a:p>
          <a:p xmlns:a="http://schemas.openxmlformats.org/drawingml/2006/main">
            <a:r>
              <a:t>- Define a use case with clear success metrics and governance requirements</a:t>
            </a:r>
            <a:endParaRPr/>
          </a:p>
          <a:p xmlns:a="http://schemas.openxmlformats.org/drawingml/2006/main">
            <a:r>
              <a:t>- Draft a basic implementation plan for a low-complexity use case</a:t>
            </a:r>
            <a:endParaRPr/>
          </a:p>
          <a:p xmlns:a="http://schemas.openxmlformats.org/drawingml/2006/main">
            <a:r>
              <a:t/>
            </a:r>
            <a:endParaRPr/>
          </a:p>
          <a:p xmlns:a="http://schemas.openxmlformats.org/drawingml/2006/main">
            <a:r>
              <a:t>**Session outline (2 hours):**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Opening: What does "scaling AI in HR" actually mean? |</a:t>
            </a:r>
            <a:endParaRPr/>
          </a:p>
          <a:p xmlns:a="http://schemas.openxmlformats.org/drawingml/2006/main">
            <a:r>
              <a:t>| 0:15–0:45 | Framework: From idea to deployment, the use case lifecycle |</a:t>
            </a:r>
            <a:endParaRPr/>
          </a:p>
          <a:p xmlns:a="http://schemas.openxmlformats.org/drawingml/2006/main">
            <a:r>
              <a:t>| 0:45–1:15 | Team exercise: Prioritization matrix applied to your team's top 5 ideas |</a:t>
            </a:r>
            <a:endParaRPr/>
          </a:p>
          <a:p xmlns:a="http://schemas.openxmlformats.org/drawingml/2006/main">
            <a:r>
              <a:t>| 1:15–1:45 | Small group: Draft a one-page use case spec for your top-ranked idea |</a:t>
            </a:r>
            <a:endParaRPr/>
          </a:p>
          <a:p xmlns:a="http://schemas.openxmlformats.org/drawingml/2006/main">
            <a:r>
              <a:t>| 1:45–2:00 | Gallery walk + feedback |</a:t>
            </a:r>
            <a:endParaRPr/>
          </a:p>
          <a:p xmlns:a="http://schemas.openxmlformats.org/drawingml/2006/main">
            <a:r>
              <a:t/>
            </a:r>
            <a:endParaRPr/>
          </a:p>
          <a:p xmlns:a="http://schemas.openxmlformats.org/drawingml/2006/main">
            <a:r>
              <a:t>**Use case lifecycle:**</a:t>
            </a:r>
            <a:endParaRPr/>
          </a:p>
          <a:p xmlns:a="http://schemas.openxmlformats.org/drawingml/2006/main">
            <a:r>
              <a:t/>
            </a:r>
            <a:endParaRPr/>
          </a:p>
          <a:p xmlns:a="http://schemas.openxmlformats.org/drawingml/2006/main">
            <a:r>
              <a:t>```</a:t>
            </a:r>
            <a:endParaRPr/>
          </a:p>
          <a:p xmlns:a="http://schemas.openxmlformats.org/drawingml/2006/main">
            <a:r>
              <a:t>Discover → Prioritize → Design → Pilot → Evaluate → Scale</a:t>
            </a:r>
            <a:endParaRPr/>
          </a:p>
          <a:p xmlns:a="http://schemas.openxmlformats.org/drawingml/2006/main">
            <a:r>
              <a:t>   ↑                                          |</a:t>
            </a:r>
            <a:endParaRPr/>
          </a:p>
          <a:p xmlns:a="http://schemas.openxmlformats.org/drawingml/2006/main">
            <a:r>
              <a:t>   └──────────────── iterate ─────────────────┘</a:t>
            </a:r>
            <a:endParaRPr/>
          </a:p>
          <a:p xmlns:a="http://schemas.openxmlformats.org/drawingml/2006/main">
            <a:r>
              <a:t>```</a:t>
            </a:r>
            <a:endParaRPr/>
          </a:p>
          <a:p xmlns:a="http://schemas.openxmlformats.org/drawingml/2006/main">
            <a:r>
              <a:t/>
            </a:r>
            <a:endParaRPr/>
          </a:p>
          <a:p xmlns:a="http://schemas.openxmlformats.org/drawingml/2006/main">
            <a:r>
              <a:t>- **Discover:** What problem are we solving? Who feels it most?</a:t>
            </a:r>
            <a:endParaRPr/>
          </a:p>
          <a:p xmlns:a="http://schemas.openxmlformats.org/drawingml/2006/main">
            <a:r>
              <a:t>- **Prioritize:** Use the matrix. Don't skip this.</a:t>
            </a:r>
            <a:endParaRPr/>
          </a:p>
          <a:p xmlns:a="http://schemas.openxmlformats.org/drawingml/2006/main">
            <a:r>
              <a:t>- **Design:** Define inputs, outputs, human review gates, success metrics, and fallback</a:t>
            </a:r>
            <a:endParaRPr/>
          </a:p>
          <a:p xmlns:a="http://schemas.openxmlformats.org/drawingml/2006/main">
            <a:r>
              <a:t>- **Pilot:** Small scope, high observation. 4–8 weeks.</a:t>
            </a:r>
            <a:endParaRPr/>
          </a:p>
          <a:p xmlns:a="http://schemas.openxmlformats.org/drawingml/2006/main">
            <a:r>
              <a:t>- **Evaluate:** Did it work? For whom? What didn't?</a:t>
            </a:r>
            <a:endParaRPr/>
          </a:p>
          <a:p xmlns:a="http://schemas.openxmlformats.org/drawingml/2006/main">
            <a:r>
              <a:t>- **Scale:** Expand with the lessons from pilot baked in</a:t>
            </a:r>
            <a:endParaRPr/>
          </a:p>
          <a:p xmlns:a="http://schemas.openxmlformats.org/drawingml/2006/main">
            <a:r>
              <a:t/>
            </a:r>
            <a:endParaRPr/>
          </a:p>
          <a:p xmlns:a="http://schemas.openxmlformats.org/drawingml/2006/main">
            <a:r>
              <a:t>**One-page use case spec template:**</a:t>
            </a:r>
            <a:endParaRPr/>
          </a:p>
          <a:p xmlns:a="http://schemas.openxmlformats.org/drawingml/2006/main">
            <a:r>
              <a:t/>
            </a:r>
            <a:endParaRPr/>
          </a:p>
          <a:p xmlns:a="http://schemas.openxmlformats.org/drawingml/2006/main">
            <a:r>
              <a:t>Participants complete this for their team's top-ranked use case:</a:t>
            </a:r>
            <a:endParaRPr/>
          </a:p>
          <a:p xmlns:a="http://schemas.openxmlformats.org/drawingml/2006/main">
            <a:r>
              <a:t/>
            </a:r>
            <a:endParaRPr/>
          </a:p>
          <a:p xmlns:a="http://schemas.openxmlformats.org/drawingml/2006/main">
            <a:r>
              <a:t>```</a:t>
            </a:r>
            <a:endParaRPr/>
          </a:p>
          <a:p xmlns:a="http://schemas.openxmlformats.org/drawingml/2006/main">
            <a:r>
              <a:t>Use case name:</a:t>
            </a:r>
            <a:endParaRPr/>
          </a:p>
          <a:p xmlns:a="http://schemas.openxmlformats.org/drawingml/2006/main">
            <a:r>
              <a:t>Problem it solves (1 sentence):</a:t>
            </a:r>
            <a:endParaRPr/>
          </a:p>
          <a:p xmlns:a="http://schemas.openxmlformats.org/drawingml/2006/main">
            <a:r>
              <a:t>Who benefits and how:</a:t>
            </a:r>
            <a:endParaRPr/>
          </a:p>
          <a:p xmlns:a="http://schemas.openxmlformats.org/drawingml/2006/main">
            <a:r>
              <a:t>AI approach (Rules / Augment / Assist / Human-led / Analytics):</a:t>
            </a:r>
            <a:endParaRPr/>
          </a:p>
          <a:p xmlns:a="http://schemas.openxmlformats.org/drawingml/2006/main">
            <a:r>
              <a:t>Data needed:</a:t>
            </a:r>
            <a:endParaRPr/>
          </a:p>
          <a:p xmlns:a="http://schemas.openxmlformats.org/drawingml/2006/main">
            <a:r>
              <a:t>Human review gate:</a:t>
            </a:r>
            <a:endParaRPr/>
          </a:p>
          <a:p xmlns:a="http://schemas.openxmlformats.org/drawingml/2006/main">
            <a:r>
              <a:t>Success metric(s):</a:t>
            </a:r>
            <a:endParaRPr/>
          </a:p>
          <a:p xmlns:a="http://schemas.openxmlformats.org/drawingml/2006/main">
            <a:r>
              <a:t>What could go wrong:</a:t>
            </a:r>
            <a:endParaRPr/>
          </a:p>
          <a:p xmlns:a="http://schemas.openxmlformats.org/drawingml/2006/main">
            <a:r>
              <a:t>Governance requirements (from risk assessment):</a:t>
            </a:r>
            <a:endParaRPr/>
          </a:p>
          <a:p xmlns:a="http://schemas.openxmlformats.org/drawingml/2006/main">
            <a:r>
              <a:t>First step to move forward:</a:t>
            </a:r>
            <a:endParaRPr/>
          </a:p>
          <a:p xmlns:a="http://schemas.openxmlformats.org/drawingml/2006/main">
            <a:r>
              <a:t>```</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Assessment and certification</a:t>
            </a:r>
            <a:endParaRPr/>
          </a:p>
          <a:p xmlns:a="http://schemas.openxmlformats.org/drawingml/2006/main">
            <a:r>
              <a:t/>
            </a:r>
            <a:endParaRPr/>
          </a:p>
          <a:p xmlns:a="http://schemas.openxmlformats.org/drawingml/2006/main">
            <a:r>
              <a:t>An organization may choose to give participants who complete all four modules</a:t>
            </a:r>
            <a:endParaRPr/>
          </a:p>
          <a:p xmlns:a="http://schemas.openxmlformats.org/drawingml/2006/main">
            <a:r>
              <a:t>and the hands-on components an **HR AI Practitioner** acknowledgment. This is a</a:t>
            </a:r>
            <a:endParaRPr/>
          </a:p>
          <a:p xmlns:a="http://schemas.openxmlformats.org/drawingml/2006/main">
            <a:r>
              <a:t>proposed internal recognition, not an accredited certification or evidence of</a:t>
            </a:r>
            <a:endParaRPr/>
          </a:p>
          <a:p xmlns:a="http://schemas.openxmlformats.org/drawingml/2006/main">
            <a:r>
              <a:t>professional competence. No delivery or learning outcome is claimed here.</a:t>
            </a:r>
            <a:endParaRPr/>
          </a:p>
          <a:p xmlns:a="http://schemas.openxmlformats.org/drawingml/2006/main">
            <a:r>
              <a:t/>
            </a:r>
            <a:endParaRPr/>
          </a:p>
          <a:p xmlns:a="http://schemas.openxmlformats.org/drawingml/2006/main">
            <a:r>
              <a:t>Optional extension: Participants who complete a full use case spec and present it to the HR Technology team are recognized as **HR AI Champions**, an informal internal designation that supports peer enablement.</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Facilitator notes</a:t>
            </a:r>
            <a:endParaRPr/>
          </a:p>
          <a:p xmlns:a="http://schemas.openxmlformats.org/drawingml/2006/main">
            <a:r>
              <a:t/>
            </a:r>
            <a:endParaRPr/>
          </a:p>
          <a:p xmlns:a="http://schemas.openxmlformats.org/drawingml/2006/main">
            <a:r>
              <a:t>These are facilitation suggestions, not measured delivery findings. Use synthetic examples; removing names alone does not establish anonymity. Do not upload real employee, candidate, compensation, or employer-confidential information for a training exercise.</a:t>
            </a:r>
            <a:endParaRPr/>
          </a:p>
          <a:p xmlns:a="http://schemas.openxmlformats.org/drawingml/2006/main">
            <a:r>
              <a:t/>
            </a:r>
            <a:endParaRPr/>
          </a:p>
          <a:p xmlns:a="http://schemas.openxmlformats.org/drawingml/2006/main">
            <a:r>
              <a:t>- Budget flex time in Module 3 for questions and disagreement about risk.</a:t>
            </a:r>
            <a:endParaRPr/>
          </a:p>
          <a:p xmlns:a="http://schemas.openxmlformats.org/drawingml/2006/main">
            <a:r>
              <a:t>- Protect time for the Module 2 lab, and check whether participants can identify errors and verify outputs afterward.</a:t>
            </a:r>
            <a:endParaRPr/>
          </a:p>
          <a:p xmlns:a="http://schemas.openxmlformats.org/drawingml/2006/main">
            <a:r>
              <a:t>- Adapt synthetic scenarios to familiar workflows, without identifiable employee cases or confidential documents.</a:t>
            </a:r>
            <a:endParaRPr/>
          </a:p>
          <a:p xmlns:a="http://schemas.openxmlformats.org/drawingml/2006/main">
            <a:r>
              <a:t>- Keep an AI skeptic on the facilitation team if possible. The best discussions happen when the room has range.</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snapshot: 13 October 2026. Curriculum SHA-256: 5ee769258ac9b95a3c514b64dcd5b22215e40bac8621054ffb452bffc244827a. This deck summarizes the source; no human evaluation, delivery outcome or legal approval is claimed.</a:t>
            </a:r>
            <a:endParaRPr/>
          </a:p>
          <a:p xmlns:a="http://schemas.openxmlformats.org/drawingml/2006/main">
            <a:r>
              <a:t/>
            </a:r>
            <a:endParaRPr/>
          </a:p>
          <a:p xmlns:a="http://schemas.openxmlformats.org/drawingml/2006/main">
            <a:r>
              <a:t># HR AI literacy curriculum</a:t>
            </a:r>
            <a:endParaRPr/>
          </a:p>
          <a:p xmlns:a="http://schemas.openxmlformats.org/drawingml/2006/main">
            <a:r>
              <a:t/>
            </a:r>
            <a:endParaRPr/>
          </a:p>
          <a:p xmlns:a="http://schemas.openxmlformats.org/drawingml/2006/main">
            <a:r>
              <a:t>A 4-module learning program for HR professionals at all experience levels. Designed to be delivered as a facilitated series over 4–6 weeks, or adapted for self-paced completion.</a:t>
            </a:r>
            <a:endParaRPr/>
          </a:p>
          <a:p xmlns:a="http://schemas.openxmlformats.org/drawingml/2006/main">
            <a:r>
              <a:t/>
            </a:r>
            <a:endParaRPr/>
          </a:p>
          <a:p xmlns:a="http://schemas.openxmlformats.org/drawingml/2006/main">
            <a:r>
              <a:t>**Total time:** about 7 hours of sessions, plus async reading and hands-on practice (roughly 8 hours in all)</a:t>
            </a:r>
            <a:endParaRPr/>
          </a:p>
          <a:p xmlns:a="http://schemas.openxmlformats.org/drawingml/2006/main">
            <a:r>
              <a:t>**Format:** Workshop + async reading + hands-on practice</a:t>
            </a:r>
            <a:endParaRPr/>
          </a:p>
          <a:p xmlns:a="http://schemas.openxmlformats.org/drawingml/2006/main">
            <a:r>
              <a:t>**Audience:** All People Team members</a:t>
            </a:r>
            <a:endParaRPr/>
          </a:p>
          <a:p xmlns:a="http://schemas.openxmlformats.org/drawingml/2006/main">
            <a:r>
              <a:t>**Prerequisite:** None</a:t>
            </a:r>
            <a:endParaRPr/>
          </a:p>
          <a:p xmlns:a="http://schemas.openxmlformats.org/drawingml/2006/main">
            <a:r>
              <a:t/>
            </a:r>
            <a:endParaRPr/>
          </a:p>
          <a:p xmlns:a="http://schemas.openxmlformats.org/drawingml/2006/main">
            <a:r>
              <a:t>**Lab prerequisite:** The facilitator confirms an organization-approved tool,</a:t>
            </a:r>
            <a:endParaRPr/>
          </a:p>
          <a:p xmlns:a="http://schemas.openxmlformats.org/drawingml/2006/main">
            <a:r>
              <a:t>provider handling, and a synthetic-only data boundary before any exercise.</a:t>
            </a:r>
            <a:endParaRPr/>
          </a:p>
          <a:p xmlns:a="http://schemas.openxmlformats.org/drawingml/2006/main">
            <a:r>
              <a:t>Modules 1-3 and the required governance approvals precede any real-work pilot.</a:t>
            </a:r>
            <a:endParaRPr/>
          </a:p>
          <a:p xmlns:a="http://schemas.openxmlformats.org/drawingml/2006/main">
            <a:r>
              <a:t>This curriculum does not authorize employee-data processing.</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Program overview</a:t>
            </a:r>
            <a:endParaRPr/>
          </a:p>
          <a:p xmlns:a="http://schemas.openxmlformats.org/drawingml/2006/main">
            <a:r>
              <a:t/>
            </a:r>
            <a:endParaRPr/>
          </a:p>
          <a:p xmlns:a="http://schemas.openxmlformats.org/drawingml/2006/main">
            <a:r>
              <a:t>| Module | Title | Duration | Format |</a:t>
            </a:r>
            <a:endParaRPr/>
          </a:p>
          <a:p xmlns:a="http://schemas.openxmlformats.org/drawingml/2006/main">
            <a:r>
              <a:t>|---|---|---|---|</a:t>
            </a:r>
            <a:endParaRPr/>
          </a:p>
          <a:p xmlns:a="http://schemas.openxmlformats.org/drawingml/2006/main">
            <a:r>
              <a:t>| 1 | How AI works, what HR professionals actually need to know | 90 min | Workshop |</a:t>
            </a:r>
            <a:endParaRPr/>
          </a:p>
          <a:p xmlns:a="http://schemas.openxmlformats.org/drawingml/2006/main">
            <a:r>
              <a:t>| 2 | Using AI in your daily HR work | 2 hours | Workshop + lab |</a:t>
            </a:r>
            <a:endParaRPr/>
          </a:p>
          <a:p xmlns:a="http://schemas.openxmlformats.org/drawingml/2006/main">
            <a:r>
              <a:t>| 3 | Governance, ethics, and responsible use | 90 min | Workshop |</a:t>
            </a:r>
            <a:endParaRPr/>
          </a:p>
          <a:p xmlns:a="http://schemas.openxmlformats.org/drawingml/2006/main">
            <a:r>
              <a:t>| 4 | Building and scaling AI use cases | 2 hours | Workshop + project |</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1: How AI works, what HR professionals actually need to know</a:t>
            </a:r>
            <a:endParaRPr/>
          </a:p>
          <a:p xmlns:a="http://schemas.openxmlformats.org/drawingml/2006/main">
            <a:r>
              <a:t/>
            </a:r>
            <a:endParaRPr/>
          </a:p>
          <a:p xmlns:a="http://schemas.openxmlformats.org/drawingml/2006/main">
            <a:r>
              <a:t>**Learning objectives:**</a:t>
            </a:r>
            <a:endParaRPr/>
          </a:p>
          <a:p xmlns:a="http://schemas.openxmlformats.org/drawingml/2006/main">
            <a:r>
              <a:t>- Explain the difference between traditional automation and generative AI</a:t>
            </a:r>
            <a:endParaRPr/>
          </a:p>
          <a:p xmlns:a="http://schemas.openxmlformats.org/drawingml/2006/main">
            <a:r>
              <a:t>- Describe why AI "hallucinates" and how to mitigate it in HR contexts</a:t>
            </a:r>
            <a:endParaRPr/>
          </a:p>
          <a:p xmlns:a="http://schemas.openxmlformats.org/drawingml/2006/main">
            <a:r>
              <a:t>- Identify which HR tasks are good candidates for AI assistance and which are not</a:t>
            </a:r>
            <a:endParaRPr/>
          </a:p>
          <a:p xmlns:a="http://schemas.openxmlformats.org/drawingml/2006/main">
            <a:r>
              <a:t/>
            </a:r>
            <a:endParaRPr/>
          </a:p>
          <a:p xmlns:a="http://schemas.openxmlformats.org/drawingml/2006/main">
            <a:r>
              <a:t>**Session outline (90 minutes):**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0:00–0:10 | Opening: What do you already believe about AI? (quick poll + discussion) |</a:t>
            </a:r>
            <a:endParaRPr/>
          </a:p>
          <a:p xmlns:a="http://schemas.openxmlformats.org/drawingml/2006/main">
            <a:r>
              <a:t>| 0:10–0:30 | Concept: How LLMs work, without the jargon (facilitator presentation) |</a:t>
            </a:r>
            <a:endParaRPr/>
          </a:p>
          <a:p xmlns:a="http://schemas.openxmlformats.org/drawingml/2006/main">
            <a:r>
              <a:t>| 0:30–0:45 | Concept: Hallucination, confidence, and why AI makes things up |</a:t>
            </a:r>
            <a:endParaRPr/>
          </a:p>
          <a:p xmlns:a="http://schemas.openxmlformats.org/drawingml/2006/main">
            <a:r>
              <a:t>| 0:45–1:05 | Exercise: Spot the hallucination (participants identify errors in AI-generated HR content) |</a:t>
            </a:r>
            <a:endParaRPr/>
          </a:p>
          <a:p xmlns:a="http://schemas.openxmlformats.org/drawingml/2006/main">
            <a:r>
              <a:t>| 1:05–1:20 | Discussion: Where should HR use AI? Where should we be cautious? |</a:t>
            </a:r>
            <a:endParaRPr/>
          </a:p>
          <a:p xmlns:a="http://schemas.openxmlformats.org/drawingml/2006/main">
            <a:r>
              <a:t>| 1:20–1:30 | Wrap-up + homework: Try one AI tool before next session |</a:t>
            </a:r>
            <a:endParaRPr/>
          </a:p>
          <a:p xmlns:a="http://schemas.openxmlformats.org/drawingml/2006/main">
            <a:r>
              <a:t/>
            </a:r>
            <a:endParaRPr/>
          </a:p>
          <a:p xmlns:a="http://schemas.openxmlformats.org/drawingml/2006/main">
            <a:r>
              <a:t>**Key concepts to cover:**</a:t>
            </a:r>
            <a:endParaRPr/>
          </a:p>
          <a:p xmlns:a="http://schemas.openxmlformats.org/drawingml/2006/main">
            <a:r>
              <a:t/>
            </a:r>
            <a:endParaRPr/>
          </a:p>
          <a:p xmlns:a="http://schemas.openxmlformats.org/drawingml/2006/main">
            <a:r>
              <a:t>*What LLMs actually are:*</a:t>
            </a:r>
            <a:endParaRPr/>
          </a:p>
          <a:p xmlns:a="http://schemas.openxmlformats.org/drawingml/2006/main">
            <a:r>
              <a:t>Large language models predict the next most likely word given context. They don't "know" things the way a database knows things, they pattern-match against training data. This is why they can sound authoritative while being wrong.</a:t>
            </a:r>
            <a:endParaRPr/>
          </a:p>
          <a:p xmlns:a="http://schemas.openxmlformats.org/drawingml/2006/main">
            <a:r>
              <a:t/>
            </a:r>
            <a:endParaRPr/>
          </a:p>
          <a:p xmlns:a="http://schemas.openxmlformats.org/drawingml/2006/main">
            <a:r>
              <a:t>*The spectrum from rules to agents:*</a:t>
            </a:r>
            <a:endParaRPr/>
          </a:p>
          <a:p xmlns:a="http://schemas.openxmlformats.org/drawingml/2006/main">
            <a:r>
              <a:t>```</a:t>
            </a:r>
            <a:endParaRPr/>
          </a:p>
          <a:p xmlns:a="http://schemas.openxmlformats.org/drawingml/2006/main">
            <a:r>
              <a:t>Rules            →  Assist / Augment              →  Agent</a:t>
            </a:r>
            <a:endParaRPr/>
          </a:p>
          <a:p xmlns:a="http://schemas.openxmlformats.org/drawingml/2006/main">
            <a:r>
              <a:t>(deterministic)     (a person decides or owns)       (a model acts across several steps)</a:t>
            </a:r>
            <a:endParaRPr/>
          </a:p>
          <a:p xmlns:a="http://schemas.openxmlformats.org/drawingml/2006/main">
            <a:r>
              <a:t>```</a:t>
            </a:r>
            <a:endParaRPr/>
          </a:p>
          <a:p xmlns:a="http://schemas.openxmlformats.org/drawingml/2006/main">
            <a:r>
              <a:t>Use rules when rules reliably give the right answer. Most HR uses of AI belong in the middle. An agent, where a model takes several actions through tools with limited review between them, has to earn that autonomy through evidence and brings new governance requirements.</a:t>
            </a:r>
            <a:endParaRPr/>
          </a:p>
          <a:p xmlns:a="http://schemas.openxmlformats.org/drawingml/2006/main">
            <a:r>
              <a:t/>
            </a:r>
            <a:endParaRPr/>
          </a:p>
          <a:p xmlns:a="http://schemas.openxmlformats.org/drawingml/2006/main">
            <a:r>
              <a:t>*Prompt quality drives output quality:*</a:t>
            </a:r>
            <a:endParaRPr/>
          </a:p>
          <a:p xmlns:a="http://schemas.openxmlformats.org/drawingml/2006/main">
            <a:r>
              <a:t>Clear prompts help define a task and its boundaries. Output quality also depends on the model, source material, workflow controls, and verification. A well-written prompt does not establish factual accuracy or safe HR judgment.</a:t>
            </a:r>
            <a:endParaRPr/>
          </a:p>
          <a:p xmlns:a="http://schemas.openxmlformats.org/drawingml/2006/main">
            <a:r>
              <a:t/>
            </a:r>
            <a:endParaRPr/>
          </a:p>
          <a:p xmlns:a="http://schemas.openxmlformats.org/drawingml/2006/main">
            <a:r>
              <a:t>**Pre-reading (assign before session):**</a:t>
            </a:r>
            <a:endParaRPr/>
          </a:p>
          <a:p xmlns:a="http://schemas.openxmlformats.org/drawingml/2006/main">
            <a:r>
              <a:t>- [Your organization's AI use policy](../03-governance/ai-use-policy.md)</a:t>
            </a:r>
            <a:endParaRPr/>
          </a:p>
          <a:p xmlns:a="http://schemas.openxmlformats.org/drawingml/2006/main">
            <a:r>
              <a:t>- One-page primer on generative AI for non-technical audiences (create or source)</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2: Using AI in your daily HR work</a:t>
            </a:r>
            <a:endParaRPr/>
          </a:p>
          <a:p xmlns:a="http://schemas.openxmlformats.org/drawingml/2006/main">
            <a:r>
              <a:t/>
            </a:r>
            <a:endParaRPr/>
          </a:p>
          <a:p xmlns:a="http://schemas.openxmlformats.org/drawingml/2006/main">
            <a:r>
              <a:t>**Learning objectives:**</a:t>
            </a:r>
            <a:endParaRPr/>
          </a:p>
          <a:p xmlns:a="http://schemas.openxmlformats.org/drawingml/2006/main">
            <a:r>
              <a:t>- Write effective prompts for HR use cases</a:t>
            </a:r>
            <a:endParaRPr/>
          </a:p>
          <a:p xmlns:a="http://schemas.openxmlformats.org/drawingml/2006/main">
            <a:r>
              <a:t>- Use the prompt library for at least 3 HR workflows</a:t>
            </a:r>
            <a:endParaRPr/>
          </a:p>
          <a:p xmlns:a="http://schemas.openxmlformats.org/drawingml/2006/main">
            <a:r>
              <a:t>- Identify when to use AI, when to verify AI output, and when not to use it</a:t>
            </a:r>
            <a:endParaRPr/>
          </a:p>
          <a:p xmlns:a="http://schemas.openxmlformats.org/drawingml/2006/main">
            <a:r>
              <a:t/>
            </a:r>
            <a:endParaRPr/>
          </a:p>
          <a:p xmlns:a="http://schemas.openxmlformats.org/drawingml/2006/main">
            <a:r>
              <a:t>**Session outline (2 hours including lab):**</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Share-back from Module 1 homework, what did you try, what happened? |</a:t>
            </a:r>
            <a:endParaRPr/>
          </a:p>
          <a:p xmlns:a="http://schemas.openxmlformats.org/drawingml/2006/main">
            <a:r>
              <a:t>| 0:15–0:45 | Prompt engineering for HR: the four elements of a good prompt |</a:t>
            </a:r>
            <a:endParaRPr/>
          </a:p>
          <a:p xmlns:a="http://schemas.openxmlformats.org/drawingml/2006/main">
            <a:r>
              <a:t>| 0:45–1:10 | Live demo: Onboarding plan, performance review draft, policy Q&amp;A |</a:t>
            </a:r>
            <a:endParaRPr/>
          </a:p>
          <a:p xmlns:a="http://schemas.openxmlformats.org/drawingml/2006/main">
            <a:r>
              <a:t>| 1:10–1:50 | Hands-on lab: Each participant works through 2 prompts using synthetic HR scenarios in organization-approved tools |</a:t>
            </a:r>
            <a:endParaRPr/>
          </a:p>
          <a:p xmlns:a="http://schemas.openxmlformats.org/drawingml/2006/main">
            <a:r>
              <a:t>| 1:50–2:00 | Debrief: What surprised you? What didn't work? |</a:t>
            </a:r>
            <a:endParaRPr/>
          </a:p>
          <a:p xmlns:a="http://schemas.openxmlformats.org/drawingml/2006/main">
            <a:r>
              <a:t/>
            </a:r>
            <a:endParaRPr/>
          </a:p>
          <a:p xmlns:a="http://schemas.openxmlformats.org/drawingml/2006/main">
            <a:r>
              <a:t>**The four elements of an effective HR prompt:**</a:t>
            </a:r>
            <a:endParaRPr/>
          </a:p>
          <a:p xmlns:a="http://schemas.openxmlformats.org/drawingml/2006/main">
            <a:r>
              <a:t/>
            </a:r>
            <a:endParaRPr/>
          </a:p>
          <a:p xmlns:a="http://schemas.openxmlformats.org/drawingml/2006/main">
            <a:r>
              <a:t>1. **Role**: Define the task perspective, such as drafting support for an HRBP. A role instruction does not give the model professional authority.</a:t>
            </a:r>
            <a:endParaRPr/>
          </a:p>
          <a:p xmlns:a="http://schemas.openxmlformats.org/drawingml/2006/main">
            <a:r>
              <a:t/>
            </a:r>
            <a:endParaRPr/>
          </a:p>
          <a:p xmlns:a="http://schemas.openxmlformats.org/drawingml/2006/main">
            <a:r>
              <a:t>2. **Context**: Provide the specific details the AI needs. Role, tenure, team size, situation. Don't make the AI guess.</a:t>
            </a:r>
            <a:endParaRPr/>
          </a:p>
          <a:p xmlns:a="http://schemas.openxmlformats.org/drawingml/2006/main">
            <a:r>
              <a:t/>
            </a:r>
            <a:endParaRPr/>
          </a:p>
          <a:p xmlns:a="http://schemas.openxmlformats.org/drawingml/2006/main">
            <a:r>
              <a:t>3. **Task**: State clearly what you want it to produce. One output per prompt. "Draft a..." is clearer than "Help me with..."</a:t>
            </a:r>
            <a:endParaRPr/>
          </a:p>
          <a:p xmlns:a="http://schemas.openxmlformats.org/drawingml/2006/main">
            <a:r>
              <a:t/>
            </a:r>
            <a:endParaRPr/>
          </a:p>
          <a:p xmlns:a="http://schemas.openxmlformats.org/drawingml/2006/main">
            <a:r>
              <a:t>4. **Constraints**: Define length, tone, format, exclusions, and the verification needed. Check whether the output follows them.</a:t>
            </a:r>
            <a:endParaRPr/>
          </a:p>
          <a:p xmlns:a="http://schemas.openxmlformats.org/drawingml/2006/main">
            <a:r>
              <a:t/>
            </a:r>
            <a:endParaRPr/>
          </a:p>
          <a:p xmlns:a="http://schemas.openxmlformats.org/drawingml/2006/main">
            <a:r>
              <a:t>**Lab instructions:**</a:t>
            </a:r>
            <a:endParaRPr/>
          </a:p>
          <a:p xmlns:a="http://schemas.openxmlformats.org/drawingml/2006/main">
            <a:r>
              <a:t/>
            </a:r>
            <a:endParaRPr/>
          </a:p>
          <a:p xmlns:a="http://schemas.openxmlformats.org/drawingml/2006/main">
            <a:r>
              <a:t>Participants choose 2 prompts from the library that are relevant to their current work:</a:t>
            </a:r>
            <a:endParaRPr/>
          </a:p>
          <a:p xmlns:a="http://schemas.openxmlformats.org/drawingml/2006/main">
            <a:r>
              <a:t>1. Run the prompt with a fictional HR scenario in an organization-approved tool. Do not upload real employee, candidate, compensation, or confidential employer information.</a:t>
            </a:r>
            <a:endParaRPr/>
          </a:p>
          <a:p xmlns:a="http://schemas.openxmlformats.org/drawingml/2006/main">
            <a:r>
              <a:t>2. Evaluate the output: What's useful? What's wrong or missing? What would you change before using it?</a:t>
            </a:r>
            <a:endParaRPr/>
          </a:p>
          <a:p xmlns:a="http://schemas.openxmlformats.org/drawingml/2006/main">
            <a:r>
              <a:t>3. Iterate: Modify the prompt once based on what you learned and run it again</a:t>
            </a:r>
            <a:endParaRPr/>
          </a:p>
          <a:p xmlns:a="http://schemas.openxmlformats.org/drawingml/2006/main">
            <a:r>
              <a:t>4. Note: What changed between run 1 and run 2?</a:t>
            </a:r>
            <a:endParaRPr/>
          </a:p>
          <a:p xmlns:a="http://schemas.openxmlformats.org/drawingml/2006/main">
            <a:r>
              <a:t/>
            </a:r>
            <a:endParaRPr/>
          </a:p>
          <a:p xmlns:a="http://schemas.openxmlformats.org/drawingml/2006/main">
            <a:r>
              <a:t>**The verify-before-use rule:**</a:t>
            </a:r>
            <a:endParaRPr/>
          </a:p>
          <a:p xmlns:a="http://schemas.openxmlformats.org/drawingml/2006/main">
            <a:r>
              <a:t/>
            </a:r>
            <a:endParaRPr/>
          </a:p>
          <a:p xmlns:a="http://schemas.openxmlformats.org/drawingml/2006/main">
            <a:r>
              <a:t>Introduce and reinforce this heuristic:</a:t>
            </a:r>
            <a:endParaRPr/>
          </a:p>
          <a:p xmlns:a="http://schemas.openxmlformats.org/drawingml/2006/main">
            <a:r>
              <a:t>- Policy details → always verify against source system before sharing</a:t>
            </a:r>
            <a:endParaRPr/>
          </a:p>
          <a:p xmlns:a="http://schemas.openxmlformats.org/drawingml/2006/main">
            <a:r>
              <a:t>- Legal requirements → always verify with Legal before relying on</a:t>
            </a:r>
            <a:endParaRPr/>
          </a:p>
          <a:p xmlns:a="http://schemas.openxmlformats.org/drawingml/2006/main">
            <a:r>
              <a:t>- Factual claims → spot-check against a known source</a:t>
            </a:r>
            <a:endParaRPr/>
          </a:p>
          <a:p xmlns:a="http://schemas.openxmlformats.org/drawingml/2006/main">
            <a:r>
              <a:t>- Tone and content → always read before sending; AI doesn't know your audience</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3: Governance, ethics, and responsible use</a:t>
            </a:r>
            <a:endParaRPr/>
          </a:p>
          <a:p xmlns:a="http://schemas.openxmlformats.org/drawingml/2006/main">
            <a:r>
              <a:t/>
            </a:r>
            <a:endParaRPr/>
          </a:p>
          <a:p xmlns:a="http://schemas.openxmlformats.org/drawingml/2006/main">
            <a:r>
              <a:t>**Learning objectives:**</a:t>
            </a:r>
            <a:endParaRPr/>
          </a:p>
          <a:p xmlns:a="http://schemas.openxmlformats.org/drawingml/2006/main">
            <a:r>
              <a:t>- Apply the organization's AI use policy to real HR scenarios</a:t>
            </a:r>
            <a:endParaRPr/>
          </a:p>
          <a:p xmlns:a="http://schemas.openxmlformats.org/drawingml/2006/main">
            <a:r>
              <a:t>- Identify the key legal risk areas in HR AI (bias, privacy, employment law)</a:t>
            </a:r>
            <a:endParaRPr/>
          </a:p>
          <a:p xmlns:a="http://schemas.openxmlformats.org/drawingml/2006/main">
            <a:r>
              <a:t>- Complete a basic risk assessment for a new use case</a:t>
            </a:r>
            <a:endParaRPr/>
          </a:p>
          <a:p xmlns:a="http://schemas.openxmlformats.org/drawingml/2006/main">
            <a:r>
              <a:t/>
            </a:r>
            <a:endParaRPr/>
          </a:p>
          <a:p xmlns:a="http://schemas.openxmlformats.org/drawingml/2006/main">
            <a:r>
              <a:t>**Session outline (90 minutes):**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Case study: Three HR AI failures and what we can learn (discussion) |</a:t>
            </a:r>
            <a:endParaRPr/>
          </a:p>
          <a:p xmlns:a="http://schemas.openxmlformats.org/drawingml/2006/main">
            <a:r>
              <a:t>| 0:15–0:40 | Framework: What makes AI use in HR risky? Legal and ethical dimensions |</a:t>
            </a:r>
            <a:endParaRPr/>
          </a:p>
          <a:p xmlns:a="http://schemas.openxmlformats.org/drawingml/2006/main">
            <a:r>
              <a:t>| 0:40–1:00 | Scenario practice: Is this use case okay? (small groups, 4 scenarios) |</a:t>
            </a:r>
            <a:endParaRPr/>
          </a:p>
          <a:p xmlns:a="http://schemas.openxmlformats.org/drawingml/2006/main">
            <a:r>
              <a:t>| 1:00–1:20 | Walk-through: The risk assessment template |</a:t>
            </a:r>
            <a:endParaRPr/>
          </a:p>
          <a:p xmlns:a="http://schemas.openxmlformats.org/drawingml/2006/main">
            <a:r>
              <a:t>| 1:20–1:30 | Q&amp;A + open discussion |</a:t>
            </a:r>
            <a:endParaRPr/>
          </a:p>
          <a:p xmlns:a="http://schemas.openxmlformats.org/drawingml/2006/main">
            <a:r>
              <a:t/>
            </a:r>
            <a:endParaRPr/>
          </a:p>
          <a:p xmlns:a="http://schemas.openxmlformats.org/drawingml/2006/main">
            <a:r>
              <a:t>&gt; **Note on regulatory currency:** Use the [Key dates for HR](../03-governance/README.md#key-dates-for-hr) and its linked primary sources as the dated reference. The slides summarize risk questions; they are not a complete legal reference. Have Legal verify jurisdiction, scope, obligations, and effective dates before delivery or adoption.</a:t>
            </a:r>
            <a:endParaRPr/>
          </a:p>
          <a:p xmlns:a="http://schemas.openxmlformats.org/drawingml/2006/main">
            <a:r>
              <a:t/>
            </a:r>
            <a:endParaRPr/>
          </a:p>
          <a:p xmlns:a="http://schemas.openxmlformats.org/drawingml/2006/main">
            <a:r>
              <a:t>**Key legal risk areas to cover:**</a:t>
            </a:r>
            <a:endParaRPr/>
          </a:p>
          <a:p xmlns:a="http://schemas.openxmlformats.org/drawingml/2006/main">
            <a:r>
              <a:t/>
            </a:r>
            <a:endParaRPr/>
          </a:p>
          <a:p xmlns:a="http://schemas.openxmlformats.org/drawingml/2006/main">
            <a:r>
              <a:t>*Bias and disparate impact:*</a:t>
            </a:r>
            <a:endParaRPr/>
          </a:p>
          <a:p xmlns:a="http://schemas.openxmlformats.org/drawingml/2006/main">
            <a:r>
              <a:t>AI trained on historical HR data can encode and amplify past discrimination. A history in which 80% of engineering hires were male is a reason to examine labels, features, selection effects, and group outcomes; that proportion alone does not determine how a model will score resumes. Adverse impact testing is a core control. It is required by law in some jurisdictions (NYC Local Law 144 mandates an annual bias audit for covered tools) and expected as evidence of reasonable care in many others. Confirm the cadence with Legal. See the [NIST AI RMF](https://www.nist.gov/itl/ai-risk-management-framework).</a:t>
            </a:r>
            <a:endParaRPr/>
          </a:p>
          <a:p xmlns:a="http://schemas.openxmlformats.org/drawingml/2006/main">
            <a:r>
              <a:t/>
            </a:r>
            <a:endParaRPr/>
          </a:p>
          <a:p xmlns:a="http://schemas.openxmlformats.org/drawingml/2006/main">
            <a:r>
              <a:t>*Illinois AI Video Interview Act, NYC Local Law 144, and emerging state laws:*</a:t>
            </a:r>
            <a:endParaRPr/>
          </a:p>
          <a:p xmlns:a="http://schemas.openxmlformats.org/drawingml/2006/main">
            <a:r>
              <a:t>Several jurisdictions now require disclosure, impact assessments, or consent for AI use in hiring. Illinois's AI Video Interview Act ([820 ILCS 42](https://www.ilga.gov/Legislation/ILCS/Articles?ActID=4015&amp;ChapterID=68)) governs AI analysis of recorded video interviews, including notice and consent before the interview. Confirm its current requirements against the statute before relying on them. Illinois also amended its Human Rights Act via HB 3773 (effective January 1, 2026) to broadly prohibit discriminatory AI use in hiring and promotion, not just video interviews. A companion law, Public Act 104-0425 (SB 2487, effective January 1, 2026), gives the Human Rights Commission tiered civil penalty authority for violations: up to $16,000 for a first offense, up to $42,500 with one prior violation within five years, up to $70,000 for two or more within seven years. The regulatory landscape is shifting quickly. Use cases involving hiring must be reviewed against current state law.</a:t>
            </a:r>
            <a:endParaRPr/>
          </a:p>
          <a:p xmlns:a="http://schemas.openxmlformats.org/drawingml/2006/main">
            <a:r>
              <a:t/>
            </a:r>
            <a:endParaRPr/>
          </a:p>
          <a:p xmlns:a="http://schemas.openxmlformats.org/drawingml/2006/main">
            <a:r>
              <a:t>NYC Local Law 144 enforcement is entering a stricter phase. A December 2025 NY State Comptroller audit found DCWP's enforcement "ineffective": DCWP's own review of 32 companies' bias-audit disclosures caught 1 likely non-compliance issue, where the Comptroller's review of the same 32 found at least 17. Expect more investigations and higher penalties as DCWP responds to the audit's recommendations, not just the disclosure-and-audit paperwork the law describes on paper.</a:t>
            </a:r>
            <a:endParaRPr/>
          </a:p>
          <a:p xmlns:a="http://schemas.openxmlformats.org/drawingml/2006/main">
            <a:r>
              <a:t/>
            </a:r>
            <a:endParaRPr/>
          </a:p>
          <a:p xmlns:a="http://schemas.openxmlformats.org/drawingml/2006/main">
            <a:r>
              <a:t>*Colorado's Automated Decision-Making Technology Act:*</a:t>
            </a:r>
            <a:endParaRPr/>
          </a:p>
          <a:p xmlns:a="http://schemas.openxmlformats.org/drawingml/2006/main">
            <a:r>
              <a:t>Colorado SB26-189 (signed 14 May 2026, Colo. Sess. Laws ch. 131) repeals and replaces the state's 2024 AI consumer protection law. It covers "consequential decisions," including employment, made using automated decision-making technology (ADMT) that materially influences the outcome. Starting January 1, 2027, developers must give deployers technical documentation on intended use, training data categories, known limitations, and human review instructions. Deployers will owe consumers notice at the point of interaction, and within 30 days of any adverse consequential decision, a plain-language explanation plus the right to request human review and reconsideration. Records must be retained 3 years. The attorney general enforces under the Colorado Consumer Protection Act, with a 60-day cure period through January 1, 2030.</a:t>
            </a:r>
            <a:endParaRPr/>
          </a:p>
          <a:p xmlns:a="http://schemas.openxmlformats.org/drawingml/2006/main">
            <a:r>
              <a:t/>
            </a:r>
            <a:endParaRPr/>
          </a:p>
          <a:p xmlns:a="http://schemas.openxmlformats.org/drawingml/2006/main">
            <a:r>
              <a:t>*Connecticut: AI Responsibility and Transparency Act (Public Act 26-15):*</a:t>
            </a:r>
            <a:endParaRPr/>
          </a:p>
          <a:p xmlns:a="http://schemas.openxmlformats.org/drawingml/2006/main">
            <a:r>
              <a:t>Connecticut's SB 5 became Public Act 26-15 in June 2026. It is the most comprehensive state AI employment statute enacted so far, and it phases in across two years. Read the dates carefully, because the parts that bite first are not the disclosure rules.</a:t>
            </a:r>
            <a:endParaRPr/>
          </a:p>
          <a:p xmlns:a="http://schemas.openxmlformats.org/drawingml/2006/main">
            <a:r>
              <a:t/>
            </a:r>
            <a:endParaRPr/>
          </a:p>
          <a:p xmlns:a="http://schemas.openxmlformats.org/drawingml/2006/main">
            <a:r>
              <a:t>Live October 1, 2026:</a:t>
            </a:r>
            <a:endParaRPr/>
          </a:p>
          <a:p xmlns:a="http://schemas.openxmlformats.org/drawingml/2006/main">
            <a:r>
              <a:t/>
            </a:r>
            <a:endParaRPr/>
          </a:p>
          <a:p xmlns:a="http://schemas.openxmlformats.org/drawingml/2006/main">
            <a:r>
              <a:t>- **AI is not a defense.** Sections 13 and 14 amend Conn. Gen. Stat. 46a-60 so that using an automated employment-related decision technology is not a defense against a discrimination complaint. The commission or court may consider the quality, efficacy, recency, and scope of anti-bias testing, its results, and the employer's response. This does not establish that a stale audit is always worse than no audit, or that testing guarantees a favorable legal outcome. Preserve the testing evidence and corrective actions for counsel review. Source: [Public Act 26-15](https://www.cga.ct.gov/2026/ACT/PA/PDF/2026PA-00015-R00SB-00005-PA.PDF).</a:t>
            </a:r>
            <a:endParaRPr/>
          </a:p>
          <a:p xmlns:a="http://schemas.openxmlformats.org/drawingml/2006/main">
            <a:r>
              <a:t>- **WARN notices.** Section 26 requires any employer serving a federal WARN notice under 29 USC 2102(a) to disclose to the Connecticut Labor Department whether the layoffs relate to the employer's use of AI or other technological change. Note the disclosure runs to the department, not to affected employees.</a:t>
            </a:r>
            <a:endParaRPr/>
          </a:p>
          <a:p xmlns:a="http://schemas.openxmlformats.org/drawingml/2006/main">
            <a:r>
              <a:t/>
            </a:r>
            <a:endParaRPr/>
          </a:p>
          <a:p xmlns:a="http://schemas.openxmlformats.org/drawingml/2006/main">
            <a:r>
              <a:t>Live October 1, 2027 (sections 7 to 12 take effect in 2026, but the duties attach only to technology deployed on or after October 1, 2027):</a:t>
            </a:r>
            <a:endParaRPr/>
          </a:p>
          <a:p xmlns:a="http://schemas.openxmlformats.org/drawingml/2006/main">
            <a:r>
              <a:t/>
            </a:r>
            <a:endParaRPr/>
          </a:p>
          <a:p xmlns:a="http://schemas.openxmlformats.org/drawingml/2006/main">
            <a:r>
              <a:t>- Scope is set by "substantial factor," defined as a factor that meaningfully alters the outcome of an employment-related decision. Covered decisions are hiring, promotion, discipline, discharge, renewal, selection for training or apprenticeship, and terms, privileges or conditions of employment. Carved out: nonmaterial changes to job tasks or hours, and decisions about workplace health and safety, scheduling, and productivity monitoring.</a:t>
            </a:r>
            <a:endParaRPr/>
          </a:p>
          <a:p xmlns:a="http://schemas.openxmlformats.org/drawingml/2006/main">
            <a:r>
              <a:t>- Developers must give deployers the information deployers need to meet their duties, but only where the tool was advertised, marketed, configured, contracted for, sold, or licensed to materially influence an employment decision.</a:t>
            </a:r>
            <a:endParaRPr/>
          </a:p>
          <a:p xmlns:a="http://schemas.openxmlformats.org/drawingml/2006/main">
            <a:r>
              <a:t>- Deployers must disclose in plain language when an employee or applicant is interacting with the technology, unless a reasonable person would find it obvious.</a:t>
            </a:r>
            <a:endParaRPr/>
          </a:p>
          <a:p xmlns:a="http://schemas.openxmlformats.org/drawingml/2006/main">
            <a:r>
              <a:t>- Before the decision is made, deployers must give written notice covering six specific points: that the technology was deployed, its purpose and the nature of the decision, the tool's trade name, the categories of personal data analyzed and how they will be assessed, the sources of that data, and deployer contact information.</a:t>
            </a:r>
            <a:endParaRPr/>
          </a:p>
          <a:p xmlns:a="http://schemas.openxmlformats.org/drawingml/2006/main">
            <a:r>
              <a:t>- Trade secrets can be withheld, but the withholding party must send notice saying what is being withheld and why.</a:t>
            </a:r>
            <a:endParaRPr/>
          </a:p>
          <a:p xmlns:a="http://schemas.openxmlformats.org/drawingml/2006/main">
            <a:r>
              <a:t/>
            </a:r>
            <a:endParaRPr/>
          </a:p>
          <a:p xmlns:a="http://schemas.openxmlformats.org/drawingml/2006/main">
            <a:r>
              <a:t>Enforcement is narrower than the obligations suggest: violations are unfair or deceptive trade practices under CUTPA, enforced **solely by the Attorney General**, with an explicit statement that the act creates **no private right of action**. Violations occurring on or before December 31, 2027 carry a 60-day cure period.</a:t>
            </a:r>
            <a:endParaRPr/>
          </a:p>
          <a:p xmlns:a="http://schemas.openxmlformats.org/drawingml/2006/main">
            <a:r>
              <a:t/>
            </a:r>
            <a:endParaRPr/>
          </a:p>
          <a:p xmlns:a="http://schemas.openxmlformats.org/drawingml/2006/main">
            <a:r>
              <a:t>One provision to catch in procurement: Section 8(c) lets a developer contract to assume the deployer's disclosure and notice duties, provided the contract is explicit about which duties transfer. That is a negotiating lever worth asking every vendor about. See the [vendor intake checklist](../03-governance/vendor-intake-checklist.md).</a:t>
            </a:r>
            <a:endParaRPr/>
          </a:p>
          <a:p xmlns:a="http://schemas.openxmlformats.org/drawingml/2006/main">
            <a:r>
              <a:t/>
            </a:r>
            <a:endParaRPr/>
          </a:p>
          <a:p xmlns:a="http://schemas.openxmlformats.org/drawingml/2006/main">
            <a:r>
              <a:t>*California: FEHA algorithmic discrimination rules and CPPA ADMT regulations:*</a:t>
            </a:r>
            <a:endParaRPr/>
          </a:p>
          <a:p xmlns:a="http://schemas.openxmlformats.org/drawingml/2006/main">
            <a:r>
              <a:t>The Civil Rights Council's FEHA regulations on automated decision systems took effect October 1, 2025: they prohibit AI-driven disparate treatment or disparate impact in employment decisions, require four years of recordkeeping, and hold employers liable for discriminatory outcomes even when the tool comes from a third-party vendor. Separately, the [CPPA regulation package](https://cppa.ca.gov/announcements/2025/20250923.html) took effect January 1, 2026. Covered businesses must begin risk-assessment compliance in 2026; ADMT notice and consumer-rights compliance begins January 1, 2027. These dates govern different duties. Review the [final regulations](https://cppa.ca.gov/regulations/ccpa_updates.html) for scope, opt-out exceptions, appeal conditions, and transition rules for processing already underway.</a:t>
            </a:r>
            <a:endParaRPr/>
          </a:p>
          <a:p xmlns:a="http://schemas.openxmlformats.org/drawingml/2006/main">
            <a:r>
              <a:t/>
            </a:r>
            <a:endParaRPr/>
          </a:p>
          <a:p xmlns:a="http://schemas.openxmlformats.org/drawingml/2006/main">
            <a:r>
              <a:t>Four California workplace bills were approved and chaptered on 30 September 2026. All four are enacted law, with obligations beginning in 2027. The chaptered texts were reviewed on 9 October 2026. AB 1883, SB 951, and AB 1331 take effect on 1 January 2027 under [California Constitution Article IV, section 8(c)(1)](https://leginfo.legislature.ca.gov/faces/codes_displayText.xhtml?lawCode=CONS&amp;division=&amp;title=&amp;part=&amp;chapter=&amp;article=IV); none contains an urgency clause or a later operative-date provision. SB 947 takes effect on that date but expressly makes its new Labor Code part operative on 1 July 2027. See the [source register](../03-governance/claims/california-workplace-laws.json) and the [Governor's signing announcement](https://www.gov.ca.gov/2026/09/30/californias-nation-leading-ai-framework-just-got-stronger-governor-newsom-signs-more-first-in-the-nation-worker-protections-and-more/).</a:t>
            </a:r>
            <a:endParaRPr/>
          </a:p>
          <a:p xmlns:a="http://schemas.openxmlformats.org/drawingml/2006/main">
            <a:r>
              <a:t/>
            </a:r>
            <a:endParaRPr/>
          </a:p>
          <a:p xmlns:a="http://schemas.openxmlformats.org/drawingml/2006/main">
            <a:r>
              <a:t>- **[AB 1883](https://leginfo.legislature.ca.gov/faces/billNavClient.xhtml?bill_id=202520260AB1883)** (workplace surveillance tools, Chapter 853, Statutes of 2026) adds Labor Code Part 5.8 to bar employers from using AI-driven surveillance tools to recognize or infer an employee's emotional state, or to collect neural data, meaning data measured from the central or peripheral nervous system and not inferred from nonneural information. Safety uses are preserved, and there is a narrow carve-out for federally mandated aerospace and national security work. Enforcement runs through the Labor Commissioner or a public prosecutor, with penalties up to $500 per violation. It was enrolled on 3 September 2026 and approved by the Governor on 30 September 2026. Some published summaries report 3 September as the signing date; that is the enrollment date.</a:t>
            </a:r>
            <a:endParaRPr/>
          </a:p>
          <a:p xmlns:a="http://schemas.openxmlformats.org/drawingml/2006/main">
            <a:r>
              <a:t>- **[SB 947](https://leginfo.legislature.ca.gov/faces/billTextClient.xhtml?bill_id=202520260SB947)** (the "No Robo Bosses Act," Chapter 859, Statutes of 2026) is **operative 1 July 2027**, under new Labor Code section 1526.7. It bars sole reliance on an ADS for discipline or termination. Primary reliance requires human corroboration and written post-use notice when the decision is communicated. If corroboration fails, or the reviewer finds the output inaccurate, incomplete, or misleading, the employer must not use that output for the decision. The employee may request a meaningful description of their own data used by the ADS. Check the collective bargaining and federal-operation exceptions in sections 1526.5 and 1526.6.</a:t>
            </a:r>
            <a:endParaRPr/>
          </a:p>
          <a:p xmlns:a="http://schemas.openxmlformats.org/drawingml/2006/main">
            <a:r>
              <a:t>- **[SB 951](https://leginfo.legislature.ca.gov/faces/billTextClient.xhtml?bill_id=202520260SB951)** (Chapter 860, Statutes of 2026), **effective 1 January 2027**, adds technology-displacement information to an otherwise required Cal/WARN notice when AI or automation causes the event wholly or substantially. New Labor Code section 1401(d) requires affected jobs and locations, functions being automated, the technology category, and a technology-displacement heading. It retains the existing 60-day notice period. It does not enact the earlier proposal for a 90-day notice or an employer hiring-freeze notice; section 1402.7 instead requires an EDD study by 1 January 2028. Assess Cal/WARN coverage and exceptions before applying the notice requirement.</a:t>
            </a:r>
            <a:endParaRPr/>
          </a:p>
          <a:p xmlns:a="http://schemas.openxmlformats.org/drawingml/2006/main">
            <a:r>
              <a:t>- **[AB 1331](https://leginfo.legislature.ca.gov/faces/billTextClient.xhtml?bill_id=202520260AB1331)** (Chapter 851, Statutes of 2026), **effective 1 January 2027**, limits workplace bathroom surveillance and lets employees leave surveillance tools behind when entering a bathroom. New Labor Code section 1561 includes exceptions for court orders, one-time entry/exit checks, voluntary possession, and certain identification or safety devices. The tool definition reaches beyond AI. Review the full exceptions in sections 1561, 1564, and 1565 before changing monitoring practices.</a:t>
            </a:r>
            <a:endParaRPr/>
          </a:p>
          <a:p xmlns:a="http://schemas.openxmlformats.org/drawingml/2006/main">
            <a:r>
              <a:t/>
            </a:r>
            <a:endParaRPr/>
          </a:p>
          <a:p xmlns:a="http://schemas.openxmlformats.org/drawingml/2006/main">
            <a:r>
              <a:t>*Texas: Responsible AI Governance Act (TRAIGA):*</a:t>
            </a:r>
            <a:endParaRPr/>
          </a:p>
          <a:p xmlns:a="http://schemas.openxmlformats.org/drawingml/2006/main">
            <a:r>
              <a:t>Effective January 1, 2026 (HB 149, signed June 22, 2025). Narrower than Illinois or Colorado: TRAIGA prohibits intentional AI-based discrimination but does not create disparate impact liability, and the Attorney General has exclusive enforcement authority with a 60-day cure period before action.</a:t>
            </a:r>
            <a:endParaRPr/>
          </a:p>
          <a:p xmlns:a="http://schemas.openxmlformats.org/drawingml/2006/main">
            <a:r>
              <a:t/>
            </a:r>
            <a:endParaRPr/>
          </a:p>
          <a:p xmlns:a="http://schemas.openxmlformats.org/drawingml/2006/main">
            <a:r>
              <a:t>*New Jersey: no AI statute, but existing discrimination law already reaches AI:*</a:t>
            </a:r>
            <a:endParaRPr/>
          </a:p>
          <a:p xmlns:a="http://schemas.openxmlformats.org/drawingml/2006/main">
            <a:r>
              <a:t>New Jersey is the case that breaks the habit of scanning for AI-specific bills. It has no AI hiring statute. In January 2025 the Office of the Attorney General and the Division on Civil Rights issued guidance stating that the Law Against Discrimination (N.J.S.A. 10:5-1 et seq.) applies to algorithmic discrimination the same way it has long applied to other discriminatory conduct, in employment among other contexts. Three points matter for HR practice:</a:t>
            </a:r>
            <a:endParaRPr/>
          </a:p>
          <a:p xmlns:a="http://schemas.openxmlformats.org/drawingml/2006/main">
            <a:r>
              <a:t/>
            </a:r>
            <a:endParaRPr/>
          </a:p>
          <a:p xmlns:a="http://schemas.openxmlformats.org/drawingml/2006/main">
            <a:r>
              <a:t>- **No intent required, and a vendor tool is not a defense.** The guidance states that a covered entity "is not shielded from liability for algorithmic discrimination that results from the entity's use of an automated decision-making tool simply because the tool was developed by a third party or because the entity does not understand the inner workings of the tool."</a:t>
            </a:r>
            <a:endParaRPr/>
          </a:p>
          <a:p xmlns:a="http://schemas.openxmlformats.org/drawingml/2006/main">
            <a:r>
              <a:t>- **Disparate impact is covered.** Use of a tool with a disproportionate effect on a protected class is prohibited unless it is necessary to achieve a substantial, legitimate, nondiscriminatory interest and there is no less discriminatory alternative. Whether the employer tested the tool for bias or evaluated alternatives may be weighed as relevant evidence, which is the same pattern as Connecticut: your fairness audit becomes evidence.</a:t>
            </a:r>
            <a:endParaRPr/>
          </a:p>
          <a:p xmlns:a="http://schemas.openxmlformats.org/drawingml/2006/main">
            <a:r>
              <a:t>- **Reasonable accommodations are in scope.** A tool can violate the LAD by being inaccessible or by penalizing someone who uses an accommodation. The guidance's example is a typing-speed screen that cannot read a non-traditional keyboard.</a:t>
            </a:r>
            <a:endParaRPr/>
          </a:p>
          <a:p xmlns:a="http://schemas.openxmlformats.org/drawingml/2006/main">
            <a:r>
              <a:t/>
            </a:r>
            <a:endParaRPr/>
          </a:p>
          <a:p xmlns:a="http://schemas.openxmlformats.org/drawingml/2006/main">
            <a:r>
              <a:t>Two limits to state accurately when you teach this. The guidance is interpretive: it says on its face that it imposes no requirements beyond the LAD and will not be enforced as a substitute for enforcing the LAD. And it carries no effective date, because the underlying statute has been in force for decades. Do not present it as a new obligation that switched on in 2025. The takeaway for the class is the general one: a state with no AI bill is not a state with no AI exposure.</a:t>
            </a:r>
            <a:endParaRPr/>
          </a:p>
          <a:p xmlns:a="http://schemas.openxmlformats.org/drawingml/2006/main">
            <a:r>
              <a:t/>
            </a:r>
            <a:endParaRPr/>
          </a:p>
          <a:p xmlns:a="http://schemas.openxmlformats.org/drawingml/2006/main">
            <a:r>
              <a:t>*GDPR and CCPA:*</a:t>
            </a:r>
            <a:endParaRPr/>
          </a:p>
          <a:p xmlns:a="http://schemas.openxmlformats.org/drawingml/2006/main">
            <a:r>
              <a:t>Employees in covered jurisdictions have rights regarding automated decision-making. Know which of your employees are covered and how your AI use cases interact with their rights. See the California-specific rules above for the current state of play there.</a:t>
            </a:r>
            <a:endParaRPr/>
          </a:p>
          <a:p xmlns:a="http://schemas.openxmlformats.org/drawingml/2006/main">
            <a:r>
              <a:t/>
            </a:r>
            <a:endParaRPr/>
          </a:p>
          <a:p xmlns:a="http://schemas.openxmlformats.org/drawingml/2006/main">
            <a:r>
              <a:t>*UK: Data (Use and Access) Act 2025 replaces GDPR Article 22:*</a:t>
            </a:r>
            <a:endParaRPr/>
          </a:p>
          <a:p xmlns:a="http://schemas.openxmlformats.org/drawingml/2006/main">
            <a:r>
              <a:t>Section 80 of the UK's Data (Use and Access) Act 2025 took effect February 5, 2026 (Commencement Regulations SI 2026/82) and substitutes Article 22 of the UK GDPR with new Articles 22A to 22D. The new regime permits solely automated "significant decisions," those with a legal or similarly significant effect, more broadly than before, but requires safeguards: notice to the individual, the ability to make representations, the right to human intervention, and the right to contest the decision. Stricter restrictions still apply where special category data is used. Treat this as a distinct regime from EU GDPR Article 22, not an equivalent, for any AI use case touching UK-based workers or candidates.</a:t>
            </a:r>
            <a:endParaRPr/>
          </a:p>
          <a:p xmlns:a="http://schemas.openxmlformats.org/drawingml/2006/main">
            <a:r>
              <a:t/>
            </a:r>
            <a:endParaRPr/>
          </a:p>
          <a:p xmlns:a="http://schemas.openxmlformats.org/drawingml/2006/main">
            <a:r>
              <a:t>The ICO is already signaling how it will police this in recruitment specifically. A March 2026 ICO report on automated decision-making in hiring found many employers don't recognize they're doing ADM at all, and that "human review" in practice often amounts to rubber-stamping rather than a reviewer with real authority to change the outcome. Following that report, the ICO opened a consultation on draft ADM guidance, worth checking for the final version before relying on the March findings alone. Build the oversight role description to survive that scrutiny, not just to check the box.</a:t>
            </a:r>
            <a:endParaRPr/>
          </a:p>
          <a:p xmlns:a="http://schemas.openxmlformats.org/drawingml/2006/main">
            <a:r>
              <a:t/>
            </a:r>
            <a:endParaRPr/>
          </a:p>
          <a:p xmlns:a="http://schemas.openxmlformats.org/drawingml/2006/main">
            <a:r>
              <a:t>*Canada: no federal AI employment law, but Ontario requires disclosure:*</a:t>
            </a:r>
            <a:endParaRPr/>
          </a:p>
          <a:p xmlns:a="http://schemas.openxmlformats.org/drawingml/2006/main">
            <a:r>
              <a:t>Canada's federal AI bill (AIDA, part of Bill C-27) died when Parliament prorogued in January 2025 and has not been revived. AI regulation there runs through existing privacy, human rights, and sector law instead. Ontario is the exception: since January 1, 2026, employers with 25+ employees must disclose in publicly advertised job postings whether AI is used to screen, assess, or select candidates (Employment Standards Act, 2000 amendment).</a:t>
            </a:r>
            <a:endParaRPr/>
          </a:p>
          <a:p xmlns:a="http://schemas.openxmlformats.org/drawingml/2006/main">
            <a:r>
              <a:t/>
            </a:r>
            <a:endParaRPr/>
          </a:p>
          <a:p xmlns:a="http://schemas.openxmlformats.org/drawingml/2006/main">
            <a:r>
              <a:t>*The "AI as a manager" trap:*</a:t>
            </a:r>
            <a:endParaRPr/>
          </a:p>
          <a:p xmlns:a="http://schemas.openxmlformats.org/drawingml/2006/main">
            <a:r>
              <a:t>AI that monitors, evaluates, or scores employees without their knowledge, even for legitimate purposes, creates legal and trust exposure. Transparency is not just ethical, it's protective.</a:t>
            </a:r>
            <a:endParaRPr/>
          </a:p>
          <a:p xmlns:a="http://schemas.openxmlformats.org/drawingml/2006/main">
            <a:r>
              <a:t/>
            </a:r>
            <a:endParaRPr/>
          </a:p>
          <a:p xmlns:a="http://schemas.openxmlformats.org/drawingml/2006/main">
            <a:r>
              <a:t>**Scenario practice cards:**</a:t>
            </a:r>
            <a:endParaRPr/>
          </a:p>
          <a:p xmlns:a="http://schemas.openxmlformats.org/drawingml/2006/main">
            <a:r>
              <a:t/>
            </a:r>
            <a:endParaRPr/>
          </a:p>
          <a:p xmlns:a="http://schemas.openxmlformats.org/drawingml/2006/main">
            <a:r>
              <a:t>Print or share these four scenarios. Groups of 3–4 discuss: Is this use appropriate? What are the risks? What would you change?</a:t>
            </a:r>
            <a:endParaRPr/>
          </a:p>
          <a:p xmlns:a="http://schemas.openxmlformats.org/drawingml/2006/main">
            <a:r>
              <a:t/>
            </a:r>
            <a:endParaRPr/>
          </a:p>
          <a:p xmlns:a="http://schemas.openxmlformats.org/drawingml/2006/main">
            <a:r>
              <a:t>&gt; **Scenario A:** An AI tool automatically rejects resumes with gaps of more than 6 months without showing them to a recruiter.</a:t>
            </a:r>
            <a:endParaRPr/>
          </a:p>
          <a:p xmlns:a="http://schemas.openxmlformats.org/drawingml/2006/main">
            <a:r>
              <a:t/>
            </a:r>
            <a:endParaRPr/>
          </a:p>
          <a:p xmlns:a="http://schemas.openxmlformats.org/drawingml/2006/main">
            <a:r>
              <a:t>&gt; **Scenario B:** An HRBP uses an AI writing assistant to draft a PIP for an employee, then reviews and edits it before sharing with the manager.</a:t>
            </a:r>
            <a:endParaRPr/>
          </a:p>
          <a:p xmlns:a="http://schemas.openxmlformats.org/drawingml/2006/main">
            <a:r>
              <a:t/>
            </a:r>
            <a:endParaRPr/>
          </a:p>
          <a:p xmlns:a="http://schemas.openxmlformats.org/drawingml/2006/main">
            <a:r>
              <a:t>&gt; **Scenario C:** People Analytics builds an attrition risk model that scores all employees monthly and shares the scores directly with managers.</a:t>
            </a:r>
            <a:endParaRPr/>
          </a:p>
          <a:p xmlns:a="http://schemas.openxmlformats.org/drawingml/2006/main">
            <a:r>
              <a:t/>
            </a:r>
            <a:endParaRPr/>
          </a:p>
          <a:p xmlns:a="http://schemas.openxmlformats.org/drawingml/2006/main">
            <a:r>
              <a:t>&gt; **Scenario D:** An AI chatbot answers benefits questions for employees. It sometimes gives incorrect information but flags that users should confirm with HR.</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4: Building and scaling AI use cases</a:t>
            </a:r>
            <a:endParaRPr/>
          </a:p>
          <a:p xmlns:a="http://schemas.openxmlformats.org/drawingml/2006/main">
            <a:r>
              <a:t/>
            </a:r>
            <a:endParaRPr/>
          </a:p>
          <a:p xmlns:a="http://schemas.openxmlformats.org/drawingml/2006/main">
            <a:r>
              <a:t>**Learning objectives:**</a:t>
            </a:r>
            <a:endParaRPr/>
          </a:p>
          <a:p xmlns:a="http://schemas.openxmlformats.org/drawingml/2006/main">
            <a:r>
              <a:t>- Apply the prioritization matrix to identify your team's highest-value AI use cases</a:t>
            </a:r>
            <a:endParaRPr/>
          </a:p>
          <a:p xmlns:a="http://schemas.openxmlformats.org/drawingml/2006/main">
            <a:r>
              <a:t>- Define a use case with clear success metrics and governance requirements</a:t>
            </a:r>
            <a:endParaRPr/>
          </a:p>
          <a:p xmlns:a="http://schemas.openxmlformats.org/drawingml/2006/main">
            <a:r>
              <a:t>- Draft a basic implementation plan for a low-complexity use case</a:t>
            </a:r>
            <a:endParaRPr/>
          </a:p>
          <a:p xmlns:a="http://schemas.openxmlformats.org/drawingml/2006/main">
            <a:r>
              <a:t/>
            </a:r>
            <a:endParaRPr/>
          </a:p>
          <a:p xmlns:a="http://schemas.openxmlformats.org/drawingml/2006/main">
            <a:r>
              <a:t>**Session outline (2 hours):**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Opening: What does "scaling AI in HR" actually mean? |</a:t>
            </a:r>
            <a:endParaRPr/>
          </a:p>
          <a:p xmlns:a="http://schemas.openxmlformats.org/drawingml/2006/main">
            <a:r>
              <a:t>| 0:15–0:45 | Framework: From idea to deployment, the use case lifecycle |</a:t>
            </a:r>
            <a:endParaRPr/>
          </a:p>
          <a:p xmlns:a="http://schemas.openxmlformats.org/drawingml/2006/main">
            <a:r>
              <a:t>| 0:45–1:15 | Team exercise: Prioritization matrix applied to your team's top 5 ideas |</a:t>
            </a:r>
            <a:endParaRPr/>
          </a:p>
          <a:p xmlns:a="http://schemas.openxmlformats.org/drawingml/2006/main">
            <a:r>
              <a:t>| 1:15–1:45 | Small group: Draft a one-page use case spec for your top-ranked idea |</a:t>
            </a:r>
            <a:endParaRPr/>
          </a:p>
          <a:p xmlns:a="http://schemas.openxmlformats.org/drawingml/2006/main">
            <a:r>
              <a:t>| 1:45–2:00 | Gallery walk + feedback |</a:t>
            </a:r>
            <a:endParaRPr/>
          </a:p>
          <a:p xmlns:a="http://schemas.openxmlformats.org/drawingml/2006/main">
            <a:r>
              <a:t/>
            </a:r>
            <a:endParaRPr/>
          </a:p>
          <a:p xmlns:a="http://schemas.openxmlformats.org/drawingml/2006/main">
            <a:r>
              <a:t>**Use case lifecycle:**</a:t>
            </a:r>
            <a:endParaRPr/>
          </a:p>
          <a:p xmlns:a="http://schemas.openxmlformats.org/drawingml/2006/main">
            <a:r>
              <a:t/>
            </a:r>
            <a:endParaRPr/>
          </a:p>
          <a:p xmlns:a="http://schemas.openxmlformats.org/drawingml/2006/main">
            <a:r>
              <a:t>```</a:t>
            </a:r>
            <a:endParaRPr/>
          </a:p>
          <a:p xmlns:a="http://schemas.openxmlformats.org/drawingml/2006/main">
            <a:r>
              <a:t>Discover → Prioritize → Design → Pilot → Evaluate → Scale</a:t>
            </a:r>
            <a:endParaRPr/>
          </a:p>
          <a:p xmlns:a="http://schemas.openxmlformats.org/drawingml/2006/main">
            <a:r>
              <a:t>   ↑                                          |</a:t>
            </a:r>
            <a:endParaRPr/>
          </a:p>
          <a:p xmlns:a="http://schemas.openxmlformats.org/drawingml/2006/main">
            <a:r>
              <a:t>   └──────────────── iterate ─────────────────┘</a:t>
            </a:r>
            <a:endParaRPr/>
          </a:p>
          <a:p xmlns:a="http://schemas.openxmlformats.org/drawingml/2006/main">
            <a:r>
              <a:t>```</a:t>
            </a:r>
            <a:endParaRPr/>
          </a:p>
          <a:p xmlns:a="http://schemas.openxmlformats.org/drawingml/2006/main">
            <a:r>
              <a:t/>
            </a:r>
            <a:endParaRPr/>
          </a:p>
          <a:p xmlns:a="http://schemas.openxmlformats.org/drawingml/2006/main">
            <a:r>
              <a:t>- **Discover:** What problem are we solving? Who feels it most?</a:t>
            </a:r>
            <a:endParaRPr/>
          </a:p>
          <a:p xmlns:a="http://schemas.openxmlformats.org/drawingml/2006/main">
            <a:r>
              <a:t>- **Prioritize:** Use the matrix. Don't skip this.</a:t>
            </a:r>
            <a:endParaRPr/>
          </a:p>
          <a:p xmlns:a="http://schemas.openxmlformats.org/drawingml/2006/main">
            <a:r>
              <a:t>- **Design:** Define inputs, outputs, human review gates, success metrics, and fallback</a:t>
            </a:r>
            <a:endParaRPr/>
          </a:p>
          <a:p xmlns:a="http://schemas.openxmlformats.org/drawingml/2006/main">
            <a:r>
              <a:t>- **Pilot:** Small scope, high observation. 4–8 weeks.</a:t>
            </a:r>
            <a:endParaRPr/>
          </a:p>
          <a:p xmlns:a="http://schemas.openxmlformats.org/drawingml/2006/main">
            <a:r>
              <a:t>- **Evaluate:** Did it work? For whom? What didn't?</a:t>
            </a:r>
            <a:endParaRPr/>
          </a:p>
          <a:p xmlns:a="http://schemas.openxmlformats.org/drawingml/2006/main">
            <a:r>
              <a:t>- **Scale:** Expand with the lessons from pilot baked in</a:t>
            </a:r>
            <a:endParaRPr/>
          </a:p>
          <a:p xmlns:a="http://schemas.openxmlformats.org/drawingml/2006/main">
            <a:r>
              <a:t/>
            </a:r>
            <a:endParaRPr/>
          </a:p>
          <a:p xmlns:a="http://schemas.openxmlformats.org/drawingml/2006/main">
            <a:r>
              <a:t>**One-page use case spec template:**</a:t>
            </a:r>
            <a:endParaRPr/>
          </a:p>
          <a:p xmlns:a="http://schemas.openxmlformats.org/drawingml/2006/main">
            <a:r>
              <a:t/>
            </a:r>
            <a:endParaRPr/>
          </a:p>
          <a:p xmlns:a="http://schemas.openxmlformats.org/drawingml/2006/main">
            <a:r>
              <a:t>Participants complete this for their team's top-ranked use case:</a:t>
            </a:r>
            <a:endParaRPr/>
          </a:p>
          <a:p xmlns:a="http://schemas.openxmlformats.org/drawingml/2006/main">
            <a:r>
              <a:t/>
            </a:r>
            <a:endParaRPr/>
          </a:p>
          <a:p xmlns:a="http://schemas.openxmlformats.org/drawingml/2006/main">
            <a:r>
              <a:t>```</a:t>
            </a:r>
            <a:endParaRPr/>
          </a:p>
          <a:p xmlns:a="http://schemas.openxmlformats.org/drawingml/2006/main">
            <a:r>
              <a:t>Use case name:</a:t>
            </a:r>
            <a:endParaRPr/>
          </a:p>
          <a:p xmlns:a="http://schemas.openxmlformats.org/drawingml/2006/main">
            <a:r>
              <a:t>Problem it solves (1 sentence):</a:t>
            </a:r>
            <a:endParaRPr/>
          </a:p>
          <a:p xmlns:a="http://schemas.openxmlformats.org/drawingml/2006/main">
            <a:r>
              <a:t>Who benefits and how:</a:t>
            </a:r>
            <a:endParaRPr/>
          </a:p>
          <a:p xmlns:a="http://schemas.openxmlformats.org/drawingml/2006/main">
            <a:r>
              <a:t>AI approach (Rules / Augment / Assist / Human-led / Analytics):</a:t>
            </a:r>
            <a:endParaRPr/>
          </a:p>
          <a:p xmlns:a="http://schemas.openxmlformats.org/drawingml/2006/main">
            <a:r>
              <a:t>Data needed:</a:t>
            </a:r>
            <a:endParaRPr/>
          </a:p>
          <a:p xmlns:a="http://schemas.openxmlformats.org/drawingml/2006/main">
            <a:r>
              <a:t>Human review gate:</a:t>
            </a:r>
            <a:endParaRPr/>
          </a:p>
          <a:p xmlns:a="http://schemas.openxmlformats.org/drawingml/2006/main">
            <a:r>
              <a:t>Success metric(s):</a:t>
            </a:r>
            <a:endParaRPr/>
          </a:p>
          <a:p xmlns:a="http://schemas.openxmlformats.org/drawingml/2006/main">
            <a:r>
              <a:t>What could go wrong:</a:t>
            </a:r>
            <a:endParaRPr/>
          </a:p>
          <a:p xmlns:a="http://schemas.openxmlformats.org/drawingml/2006/main">
            <a:r>
              <a:t>Governance requirements (from risk assessment):</a:t>
            </a:r>
            <a:endParaRPr/>
          </a:p>
          <a:p xmlns:a="http://schemas.openxmlformats.org/drawingml/2006/main">
            <a:r>
              <a:t>First step to move forward:</a:t>
            </a:r>
            <a:endParaRPr/>
          </a:p>
          <a:p xmlns:a="http://schemas.openxmlformats.org/drawingml/2006/main">
            <a:r>
              <a:t>```</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Assessment and certification</a:t>
            </a:r>
            <a:endParaRPr/>
          </a:p>
          <a:p xmlns:a="http://schemas.openxmlformats.org/drawingml/2006/main">
            <a:r>
              <a:t/>
            </a:r>
            <a:endParaRPr/>
          </a:p>
          <a:p xmlns:a="http://schemas.openxmlformats.org/drawingml/2006/main">
            <a:r>
              <a:t>An organization may choose to give participants who complete all four modules</a:t>
            </a:r>
            <a:endParaRPr/>
          </a:p>
          <a:p xmlns:a="http://schemas.openxmlformats.org/drawingml/2006/main">
            <a:r>
              <a:t>and the hands-on components an **HR AI Practitioner** acknowledgment. This is a</a:t>
            </a:r>
            <a:endParaRPr/>
          </a:p>
          <a:p xmlns:a="http://schemas.openxmlformats.org/drawingml/2006/main">
            <a:r>
              <a:t>proposed internal recognition, not an accredited certification or evidence of</a:t>
            </a:r>
            <a:endParaRPr/>
          </a:p>
          <a:p xmlns:a="http://schemas.openxmlformats.org/drawingml/2006/main">
            <a:r>
              <a:t>professional competence. No delivery or learning outcome is claimed here.</a:t>
            </a:r>
            <a:endParaRPr/>
          </a:p>
          <a:p xmlns:a="http://schemas.openxmlformats.org/drawingml/2006/main">
            <a:r>
              <a:t/>
            </a:r>
            <a:endParaRPr/>
          </a:p>
          <a:p xmlns:a="http://schemas.openxmlformats.org/drawingml/2006/main">
            <a:r>
              <a:t>Optional extension: Participants who complete a full use case spec and present it to the HR Technology team are recognized as **HR AI Champions**, an informal internal designation that supports peer enablement.</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Facilitator notes</a:t>
            </a:r>
            <a:endParaRPr/>
          </a:p>
          <a:p xmlns:a="http://schemas.openxmlformats.org/drawingml/2006/main">
            <a:r>
              <a:t/>
            </a:r>
            <a:endParaRPr/>
          </a:p>
          <a:p xmlns:a="http://schemas.openxmlformats.org/drawingml/2006/main">
            <a:r>
              <a:t>These are facilitation suggestions, not measured delivery findings. Use synthetic examples; removing names alone does not establish anonymity. Do not upload real employee, candidate, compensation, or employer-confidential information for a training exercise.</a:t>
            </a:r>
            <a:endParaRPr/>
          </a:p>
          <a:p xmlns:a="http://schemas.openxmlformats.org/drawingml/2006/main">
            <a:r>
              <a:t/>
            </a:r>
            <a:endParaRPr/>
          </a:p>
          <a:p xmlns:a="http://schemas.openxmlformats.org/drawingml/2006/main">
            <a:r>
              <a:t>- Budget flex time in Module 3 for questions and disagreement about risk.</a:t>
            </a:r>
            <a:endParaRPr/>
          </a:p>
          <a:p xmlns:a="http://schemas.openxmlformats.org/drawingml/2006/main">
            <a:r>
              <a:t>- Protect time for the Module 2 lab, and check whether participants can identify errors and verify outputs afterward.</a:t>
            </a:r>
            <a:endParaRPr/>
          </a:p>
          <a:p xmlns:a="http://schemas.openxmlformats.org/drawingml/2006/main">
            <a:r>
              <a:t>- Adapt synthetic scenarios to familiar workflows, without identifiable employee cases or confidential documents.</a:t>
            </a:r>
            <a:endParaRPr/>
          </a:p>
          <a:p xmlns:a="http://schemas.openxmlformats.org/drawingml/2006/main">
            <a:r>
              <a:t>- Keep an AI skeptic on the facilitation team if possible. The best discussions happen when the room has range.</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snapshot: 13 October 2026. Curriculum SHA-256: 5ee769258ac9b95a3c514b64dcd5b22215e40bac8621054ffb452bffc244827a. This deck summarizes the source; no human evaluation, delivery outcome or legal approval is claimed.</a:t>
            </a:r>
            <a:endParaRPr/>
          </a:p>
          <a:p xmlns:a="http://schemas.openxmlformats.org/drawingml/2006/main">
            <a:r>
              <a:t/>
            </a:r>
            <a:endParaRPr/>
          </a:p>
          <a:p xmlns:a="http://schemas.openxmlformats.org/drawingml/2006/main">
            <a:r>
              <a:t># HR AI literacy curriculum</a:t>
            </a:r>
            <a:endParaRPr/>
          </a:p>
          <a:p xmlns:a="http://schemas.openxmlformats.org/drawingml/2006/main">
            <a:r>
              <a:t/>
            </a:r>
            <a:endParaRPr/>
          </a:p>
          <a:p xmlns:a="http://schemas.openxmlformats.org/drawingml/2006/main">
            <a:r>
              <a:t>A 4-module learning program for HR professionals at all experience levels. Designed to be delivered as a facilitated series over 4–6 weeks, or adapted for self-paced completion.</a:t>
            </a:r>
            <a:endParaRPr/>
          </a:p>
          <a:p xmlns:a="http://schemas.openxmlformats.org/drawingml/2006/main">
            <a:r>
              <a:t/>
            </a:r>
            <a:endParaRPr/>
          </a:p>
          <a:p xmlns:a="http://schemas.openxmlformats.org/drawingml/2006/main">
            <a:r>
              <a:t>**Total time:** about 7 hours of sessions, plus async reading and hands-on practice (roughly 8 hours in all)</a:t>
            </a:r>
            <a:endParaRPr/>
          </a:p>
          <a:p xmlns:a="http://schemas.openxmlformats.org/drawingml/2006/main">
            <a:r>
              <a:t>**Format:** Workshop + async reading + hands-on practice</a:t>
            </a:r>
            <a:endParaRPr/>
          </a:p>
          <a:p xmlns:a="http://schemas.openxmlformats.org/drawingml/2006/main">
            <a:r>
              <a:t>**Audience:** All People Team members</a:t>
            </a:r>
            <a:endParaRPr/>
          </a:p>
          <a:p xmlns:a="http://schemas.openxmlformats.org/drawingml/2006/main">
            <a:r>
              <a:t>**Prerequisite:** None</a:t>
            </a:r>
            <a:endParaRPr/>
          </a:p>
          <a:p xmlns:a="http://schemas.openxmlformats.org/drawingml/2006/main">
            <a:r>
              <a:t/>
            </a:r>
            <a:endParaRPr/>
          </a:p>
          <a:p xmlns:a="http://schemas.openxmlformats.org/drawingml/2006/main">
            <a:r>
              <a:t>**Lab prerequisite:** The facilitator confirms an organization-approved tool,</a:t>
            </a:r>
            <a:endParaRPr/>
          </a:p>
          <a:p xmlns:a="http://schemas.openxmlformats.org/drawingml/2006/main">
            <a:r>
              <a:t>provider handling, and a synthetic-only data boundary before any exercise.</a:t>
            </a:r>
            <a:endParaRPr/>
          </a:p>
          <a:p xmlns:a="http://schemas.openxmlformats.org/drawingml/2006/main">
            <a:r>
              <a:t>Modules 1-3 and the required governance approvals precede any real-work pilot.</a:t>
            </a:r>
            <a:endParaRPr/>
          </a:p>
          <a:p xmlns:a="http://schemas.openxmlformats.org/drawingml/2006/main">
            <a:r>
              <a:t>This curriculum does not authorize employee-data processing.</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Program overview</a:t>
            </a:r>
            <a:endParaRPr/>
          </a:p>
          <a:p xmlns:a="http://schemas.openxmlformats.org/drawingml/2006/main">
            <a:r>
              <a:t/>
            </a:r>
            <a:endParaRPr/>
          </a:p>
          <a:p xmlns:a="http://schemas.openxmlformats.org/drawingml/2006/main">
            <a:r>
              <a:t>| Module | Title | Duration | Format |</a:t>
            </a:r>
            <a:endParaRPr/>
          </a:p>
          <a:p xmlns:a="http://schemas.openxmlformats.org/drawingml/2006/main">
            <a:r>
              <a:t>|---|---|---|---|</a:t>
            </a:r>
            <a:endParaRPr/>
          </a:p>
          <a:p xmlns:a="http://schemas.openxmlformats.org/drawingml/2006/main">
            <a:r>
              <a:t>| 1 | How AI works, what HR professionals actually need to know | 90 min | Workshop |</a:t>
            </a:r>
            <a:endParaRPr/>
          </a:p>
          <a:p xmlns:a="http://schemas.openxmlformats.org/drawingml/2006/main">
            <a:r>
              <a:t>| 2 | Using AI in your daily HR work | 2 hours | Workshop + lab |</a:t>
            </a:r>
            <a:endParaRPr/>
          </a:p>
          <a:p xmlns:a="http://schemas.openxmlformats.org/drawingml/2006/main">
            <a:r>
              <a:t>| 3 | Governance, ethics, and responsible use | 90 min | Workshop |</a:t>
            </a:r>
            <a:endParaRPr/>
          </a:p>
          <a:p xmlns:a="http://schemas.openxmlformats.org/drawingml/2006/main">
            <a:r>
              <a:t>| 4 | Building and scaling AI use cases | 2 hours | Workshop + project |</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1: How AI works, what HR professionals actually need to know</a:t>
            </a:r>
            <a:endParaRPr/>
          </a:p>
          <a:p xmlns:a="http://schemas.openxmlformats.org/drawingml/2006/main">
            <a:r>
              <a:t/>
            </a:r>
            <a:endParaRPr/>
          </a:p>
          <a:p xmlns:a="http://schemas.openxmlformats.org/drawingml/2006/main">
            <a:r>
              <a:t>**Learning objectives:**</a:t>
            </a:r>
            <a:endParaRPr/>
          </a:p>
          <a:p xmlns:a="http://schemas.openxmlformats.org/drawingml/2006/main">
            <a:r>
              <a:t>- Explain the difference between traditional automation and generative AI</a:t>
            </a:r>
            <a:endParaRPr/>
          </a:p>
          <a:p xmlns:a="http://schemas.openxmlformats.org/drawingml/2006/main">
            <a:r>
              <a:t>- Describe why AI "hallucinates" and how to mitigate it in HR contexts</a:t>
            </a:r>
            <a:endParaRPr/>
          </a:p>
          <a:p xmlns:a="http://schemas.openxmlformats.org/drawingml/2006/main">
            <a:r>
              <a:t>- Identify which HR tasks are good candidates for AI assistance and which are not</a:t>
            </a:r>
            <a:endParaRPr/>
          </a:p>
          <a:p xmlns:a="http://schemas.openxmlformats.org/drawingml/2006/main">
            <a:r>
              <a:t/>
            </a:r>
            <a:endParaRPr/>
          </a:p>
          <a:p xmlns:a="http://schemas.openxmlformats.org/drawingml/2006/main">
            <a:r>
              <a:t>**Session outline (90 minutes):**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0:00–0:10 | Opening: What do you already believe about AI? (quick poll + discussion) |</a:t>
            </a:r>
            <a:endParaRPr/>
          </a:p>
          <a:p xmlns:a="http://schemas.openxmlformats.org/drawingml/2006/main">
            <a:r>
              <a:t>| 0:10–0:30 | Concept: How LLMs work, without the jargon (facilitator presentation) |</a:t>
            </a:r>
            <a:endParaRPr/>
          </a:p>
          <a:p xmlns:a="http://schemas.openxmlformats.org/drawingml/2006/main">
            <a:r>
              <a:t>| 0:30–0:45 | Concept: Hallucination, confidence, and why AI makes things up |</a:t>
            </a:r>
            <a:endParaRPr/>
          </a:p>
          <a:p xmlns:a="http://schemas.openxmlformats.org/drawingml/2006/main">
            <a:r>
              <a:t>| 0:45–1:05 | Exercise: Spot the hallucination (participants identify errors in AI-generated HR content) |</a:t>
            </a:r>
            <a:endParaRPr/>
          </a:p>
          <a:p xmlns:a="http://schemas.openxmlformats.org/drawingml/2006/main">
            <a:r>
              <a:t>| 1:05–1:20 | Discussion: Where should HR use AI? Where should we be cautious? |</a:t>
            </a:r>
            <a:endParaRPr/>
          </a:p>
          <a:p xmlns:a="http://schemas.openxmlformats.org/drawingml/2006/main">
            <a:r>
              <a:t>| 1:20–1:30 | Wrap-up + homework: Try one AI tool before next session |</a:t>
            </a:r>
            <a:endParaRPr/>
          </a:p>
          <a:p xmlns:a="http://schemas.openxmlformats.org/drawingml/2006/main">
            <a:r>
              <a:t/>
            </a:r>
            <a:endParaRPr/>
          </a:p>
          <a:p xmlns:a="http://schemas.openxmlformats.org/drawingml/2006/main">
            <a:r>
              <a:t>**Key concepts to cover:**</a:t>
            </a:r>
            <a:endParaRPr/>
          </a:p>
          <a:p xmlns:a="http://schemas.openxmlformats.org/drawingml/2006/main">
            <a:r>
              <a:t/>
            </a:r>
            <a:endParaRPr/>
          </a:p>
          <a:p xmlns:a="http://schemas.openxmlformats.org/drawingml/2006/main">
            <a:r>
              <a:t>*What LLMs actually are:*</a:t>
            </a:r>
            <a:endParaRPr/>
          </a:p>
          <a:p xmlns:a="http://schemas.openxmlformats.org/drawingml/2006/main">
            <a:r>
              <a:t>Large language models predict the next most likely word given context. They don't "know" things the way a database knows things, they pattern-match against training data. This is why they can sound authoritative while being wrong.</a:t>
            </a:r>
            <a:endParaRPr/>
          </a:p>
          <a:p xmlns:a="http://schemas.openxmlformats.org/drawingml/2006/main">
            <a:r>
              <a:t/>
            </a:r>
            <a:endParaRPr/>
          </a:p>
          <a:p xmlns:a="http://schemas.openxmlformats.org/drawingml/2006/main">
            <a:r>
              <a:t>*The spectrum from rules to agents:*</a:t>
            </a:r>
            <a:endParaRPr/>
          </a:p>
          <a:p xmlns:a="http://schemas.openxmlformats.org/drawingml/2006/main">
            <a:r>
              <a:t>```</a:t>
            </a:r>
            <a:endParaRPr/>
          </a:p>
          <a:p xmlns:a="http://schemas.openxmlformats.org/drawingml/2006/main">
            <a:r>
              <a:t>Rules            →  Assist / Augment              →  Agent</a:t>
            </a:r>
            <a:endParaRPr/>
          </a:p>
          <a:p xmlns:a="http://schemas.openxmlformats.org/drawingml/2006/main">
            <a:r>
              <a:t>(deterministic)     (a person decides or owns)       (a model acts across several steps)</a:t>
            </a:r>
            <a:endParaRPr/>
          </a:p>
          <a:p xmlns:a="http://schemas.openxmlformats.org/drawingml/2006/main">
            <a:r>
              <a:t>```</a:t>
            </a:r>
            <a:endParaRPr/>
          </a:p>
          <a:p xmlns:a="http://schemas.openxmlformats.org/drawingml/2006/main">
            <a:r>
              <a:t>Use rules when rules reliably give the right answer. Most HR uses of AI belong in the middle. An agent, where a model takes several actions through tools with limited review between them, has to earn that autonomy through evidence and brings new governance requirements.</a:t>
            </a:r>
            <a:endParaRPr/>
          </a:p>
          <a:p xmlns:a="http://schemas.openxmlformats.org/drawingml/2006/main">
            <a:r>
              <a:t/>
            </a:r>
            <a:endParaRPr/>
          </a:p>
          <a:p xmlns:a="http://schemas.openxmlformats.org/drawingml/2006/main">
            <a:r>
              <a:t>*Prompt quality drives output quality:*</a:t>
            </a:r>
            <a:endParaRPr/>
          </a:p>
          <a:p xmlns:a="http://schemas.openxmlformats.org/drawingml/2006/main">
            <a:r>
              <a:t>Clear prompts help define a task and its boundaries. Output quality also depends on the model, source material, workflow controls, and verification. A well-written prompt does not establish factual accuracy or safe HR judgment.</a:t>
            </a:r>
            <a:endParaRPr/>
          </a:p>
          <a:p xmlns:a="http://schemas.openxmlformats.org/drawingml/2006/main">
            <a:r>
              <a:t/>
            </a:r>
            <a:endParaRPr/>
          </a:p>
          <a:p xmlns:a="http://schemas.openxmlformats.org/drawingml/2006/main">
            <a:r>
              <a:t>**Pre-reading (assign before session):**</a:t>
            </a:r>
            <a:endParaRPr/>
          </a:p>
          <a:p xmlns:a="http://schemas.openxmlformats.org/drawingml/2006/main">
            <a:r>
              <a:t>- [Your organization's AI use policy](../03-governance/ai-use-policy.md)</a:t>
            </a:r>
            <a:endParaRPr/>
          </a:p>
          <a:p xmlns:a="http://schemas.openxmlformats.org/drawingml/2006/main">
            <a:r>
              <a:t>- One-page primer on generative AI for non-technical audiences (create or source)</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2: Using AI in your daily HR work</a:t>
            </a:r>
            <a:endParaRPr/>
          </a:p>
          <a:p xmlns:a="http://schemas.openxmlformats.org/drawingml/2006/main">
            <a:r>
              <a:t/>
            </a:r>
            <a:endParaRPr/>
          </a:p>
          <a:p xmlns:a="http://schemas.openxmlformats.org/drawingml/2006/main">
            <a:r>
              <a:t>**Learning objectives:**</a:t>
            </a:r>
            <a:endParaRPr/>
          </a:p>
          <a:p xmlns:a="http://schemas.openxmlformats.org/drawingml/2006/main">
            <a:r>
              <a:t>- Write effective prompts for HR use cases</a:t>
            </a:r>
            <a:endParaRPr/>
          </a:p>
          <a:p xmlns:a="http://schemas.openxmlformats.org/drawingml/2006/main">
            <a:r>
              <a:t>- Use the prompt library for at least 3 HR workflows</a:t>
            </a:r>
            <a:endParaRPr/>
          </a:p>
          <a:p xmlns:a="http://schemas.openxmlformats.org/drawingml/2006/main">
            <a:r>
              <a:t>- Identify when to use AI, when to verify AI output, and when not to use it</a:t>
            </a:r>
            <a:endParaRPr/>
          </a:p>
          <a:p xmlns:a="http://schemas.openxmlformats.org/drawingml/2006/main">
            <a:r>
              <a:t/>
            </a:r>
            <a:endParaRPr/>
          </a:p>
          <a:p xmlns:a="http://schemas.openxmlformats.org/drawingml/2006/main">
            <a:r>
              <a:t>**Session outline (2 hours including lab):**</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Share-back from Module 1 homework, what did you try, what happened? |</a:t>
            </a:r>
            <a:endParaRPr/>
          </a:p>
          <a:p xmlns:a="http://schemas.openxmlformats.org/drawingml/2006/main">
            <a:r>
              <a:t>| 0:15–0:45 | Prompt engineering for HR: the four elements of a good prompt |</a:t>
            </a:r>
            <a:endParaRPr/>
          </a:p>
          <a:p xmlns:a="http://schemas.openxmlformats.org/drawingml/2006/main">
            <a:r>
              <a:t>| 0:45–1:10 | Live demo: Onboarding plan, performance review draft, policy Q&amp;A |</a:t>
            </a:r>
            <a:endParaRPr/>
          </a:p>
          <a:p xmlns:a="http://schemas.openxmlformats.org/drawingml/2006/main">
            <a:r>
              <a:t>| 1:10–1:50 | Hands-on lab: Each participant works through 2 prompts using synthetic HR scenarios in organization-approved tools |</a:t>
            </a:r>
            <a:endParaRPr/>
          </a:p>
          <a:p xmlns:a="http://schemas.openxmlformats.org/drawingml/2006/main">
            <a:r>
              <a:t>| 1:50–2:00 | Debrief: What surprised you? What didn't work? |</a:t>
            </a:r>
            <a:endParaRPr/>
          </a:p>
          <a:p xmlns:a="http://schemas.openxmlformats.org/drawingml/2006/main">
            <a:r>
              <a:t/>
            </a:r>
            <a:endParaRPr/>
          </a:p>
          <a:p xmlns:a="http://schemas.openxmlformats.org/drawingml/2006/main">
            <a:r>
              <a:t>**The four elements of an effective HR prompt:**</a:t>
            </a:r>
            <a:endParaRPr/>
          </a:p>
          <a:p xmlns:a="http://schemas.openxmlformats.org/drawingml/2006/main">
            <a:r>
              <a:t/>
            </a:r>
            <a:endParaRPr/>
          </a:p>
          <a:p xmlns:a="http://schemas.openxmlformats.org/drawingml/2006/main">
            <a:r>
              <a:t>1. **Role**: Define the task perspective, such as drafting support for an HRBP. A role instruction does not give the model professional authority.</a:t>
            </a:r>
            <a:endParaRPr/>
          </a:p>
          <a:p xmlns:a="http://schemas.openxmlformats.org/drawingml/2006/main">
            <a:r>
              <a:t/>
            </a:r>
            <a:endParaRPr/>
          </a:p>
          <a:p xmlns:a="http://schemas.openxmlformats.org/drawingml/2006/main">
            <a:r>
              <a:t>2. **Context**: Provide the specific details the AI needs. Role, tenure, team size, situation. Don't make the AI guess.</a:t>
            </a:r>
            <a:endParaRPr/>
          </a:p>
          <a:p xmlns:a="http://schemas.openxmlformats.org/drawingml/2006/main">
            <a:r>
              <a:t/>
            </a:r>
            <a:endParaRPr/>
          </a:p>
          <a:p xmlns:a="http://schemas.openxmlformats.org/drawingml/2006/main">
            <a:r>
              <a:t>3. **Task**: State clearly what you want it to produce. One output per prompt. "Draft a..." is clearer than "Help me with..."</a:t>
            </a:r>
            <a:endParaRPr/>
          </a:p>
          <a:p xmlns:a="http://schemas.openxmlformats.org/drawingml/2006/main">
            <a:r>
              <a:t/>
            </a:r>
            <a:endParaRPr/>
          </a:p>
          <a:p xmlns:a="http://schemas.openxmlformats.org/drawingml/2006/main">
            <a:r>
              <a:t>4. **Constraints**: Define length, tone, format, exclusions, and the verification needed. Check whether the output follows them.</a:t>
            </a:r>
            <a:endParaRPr/>
          </a:p>
          <a:p xmlns:a="http://schemas.openxmlformats.org/drawingml/2006/main">
            <a:r>
              <a:t/>
            </a:r>
            <a:endParaRPr/>
          </a:p>
          <a:p xmlns:a="http://schemas.openxmlformats.org/drawingml/2006/main">
            <a:r>
              <a:t>**Lab instructions:**</a:t>
            </a:r>
            <a:endParaRPr/>
          </a:p>
          <a:p xmlns:a="http://schemas.openxmlformats.org/drawingml/2006/main">
            <a:r>
              <a:t/>
            </a:r>
            <a:endParaRPr/>
          </a:p>
          <a:p xmlns:a="http://schemas.openxmlformats.org/drawingml/2006/main">
            <a:r>
              <a:t>Participants choose 2 prompts from the library that are relevant to their current work:</a:t>
            </a:r>
            <a:endParaRPr/>
          </a:p>
          <a:p xmlns:a="http://schemas.openxmlformats.org/drawingml/2006/main">
            <a:r>
              <a:t>1. Run the prompt with a fictional HR scenario in an organization-approved tool. Do not upload real employee, candidate, compensation, or confidential employer information.</a:t>
            </a:r>
            <a:endParaRPr/>
          </a:p>
          <a:p xmlns:a="http://schemas.openxmlformats.org/drawingml/2006/main">
            <a:r>
              <a:t>2. Evaluate the output: What's useful? What's wrong or missing? What would you change before using it?</a:t>
            </a:r>
            <a:endParaRPr/>
          </a:p>
          <a:p xmlns:a="http://schemas.openxmlformats.org/drawingml/2006/main">
            <a:r>
              <a:t>3. Iterate: Modify the prompt once based on what you learned and run it again</a:t>
            </a:r>
            <a:endParaRPr/>
          </a:p>
          <a:p xmlns:a="http://schemas.openxmlformats.org/drawingml/2006/main">
            <a:r>
              <a:t>4. Note: What changed between run 1 and run 2?</a:t>
            </a:r>
            <a:endParaRPr/>
          </a:p>
          <a:p xmlns:a="http://schemas.openxmlformats.org/drawingml/2006/main">
            <a:r>
              <a:t/>
            </a:r>
            <a:endParaRPr/>
          </a:p>
          <a:p xmlns:a="http://schemas.openxmlformats.org/drawingml/2006/main">
            <a:r>
              <a:t>**The verify-before-use rule:**</a:t>
            </a:r>
            <a:endParaRPr/>
          </a:p>
          <a:p xmlns:a="http://schemas.openxmlformats.org/drawingml/2006/main">
            <a:r>
              <a:t/>
            </a:r>
            <a:endParaRPr/>
          </a:p>
          <a:p xmlns:a="http://schemas.openxmlformats.org/drawingml/2006/main">
            <a:r>
              <a:t>Introduce and reinforce this heuristic:</a:t>
            </a:r>
            <a:endParaRPr/>
          </a:p>
          <a:p xmlns:a="http://schemas.openxmlformats.org/drawingml/2006/main">
            <a:r>
              <a:t>- Policy details → always verify against source system before sharing</a:t>
            </a:r>
            <a:endParaRPr/>
          </a:p>
          <a:p xmlns:a="http://schemas.openxmlformats.org/drawingml/2006/main">
            <a:r>
              <a:t>- Legal requirements → always verify with Legal before relying on</a:t>
            </a:r>
            <a:endParaRPr/>
          </a:p>
          <a:p xmlns:a="http://schemas.openxmlformats.org/drawingml/2006/main">
            <a:r>
              <a:t>- Factual claims → spot-check against a known source</a:t>
            </a:r>
            <a:endParaRPr/>
          </a:p>
          <a:p xmlns:a="http://schemas.openxmlformats.org/drawingml/2006/main">
            <a:r>
              <a:t>- Tone and content → always read before sending; AI doesn't know your audience</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3: Governance, ethics, and responsible use</a:t>
            </a:r>
            <a:endParaRPr/>
          </a:p>
          <a:p xmlns:a="http://schemas.openxmlformats.org/drawingml/2006/main">
            <a:r>
              <a:t/>
            </a:r>
            <a:endParaRPr/>
          </a:p>
          <a:p xmlns:a="http://schemas.openxmlformats.org/drawingml/2006/main">
            <a:r>
              <a:t>**Learning objectives:**</a:t>
            </a:r>
            <a:endParaRPr/>
          </a:p>
          <a:p xmlns:a="http://schemas.openxmlformats.org/drawingml/2006/main">
            <a:r>
              <a:t>- Apply the organization's AI use policy to real HR scenarios</a:t>
            </a:r>
            <a:endParaRPr/>
          </a:p>
          <a:p xmlns:a="http://schemas.openxmlformats.org/drawingml/2006/main">
            <a:r>
              <a:t>- Identify the key legal risk areas in HR AI (bias, privacy, employment law)</a:t>
            </a:r>
            <a:endParaRPr/>
          </a:p>
          <a:p xmlns:a="http://schemas.openxmlformats.org/drawingml/2006/main">
            <a:r>
              <a:t>- Complete a basic risk assessment for a new use case</a:t>
            </a:r>
            <a:endParaRPr/>
          </a:p>
          <a:p xmlns:a="http://schemas.openxmlformats.org/drawingml/2006/main">
            <a:r>
              <a:t/>
            </a:r>
            <a:endParaRPr/>
          </a:p>
          <a:p xmlns:a="http://schemas.openxmlformats.org/drawingml/2006/main">
            <a:r>
              <a:t>**Session outline (90 minutes):**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Case study: Three HR AI failures and what we can learn (discussion) |</a:t>
            </a:r>
            <a:endParaRPr/>
          </a:p>
          <a:p xmlns:a="http://schemas.openxmlformats.org/drawingml/2006/main">
            <a:r>
              <a:t>| 0:15–0:40 | Framework: What makes AI use in HR risky? Legal and ethical dimensions |</a:t>
            </a:r>
            <a:endParaRPr/>
          </a:p>
          <a:p xmlns:a="http://schemas.openxmlformats.org/drawingml/2006/main">
            <a:r>
              <a:t>| 0:40–1:00 | Scenario practice: Is this use case okay? (small groups, 4 scenarios) |</a:t>
            </a:r>
            <a:endParaRPr/>
          </a:p>
          <a:p xmlns:a="http://schemas.openxmlformats.org/drawingml/2006/main">
            <a:r>
              <a:t>| 1:00–1:20 | Walk-through: The risk assessment template |</a:t>
            </a:r>
            <a:endParaRPr/>
          </a:p>
          <a:p xmlns:a="http://schemas.openxmlformats.org/drawingml/2006/main">
            <a:r>
              <a:t>| 1:20–1:30 | Q&amp;A + open discussion |</a:t>
            </a:r>
            <a:endParaRPr/>
          </a:p>
          <a:p xmlns:a="http://schemas.openxmlformats.org/drawingml/2006/main">
            <a:r>
              <a:t/>
            </a:r>
            <a:endParaRPr/>
          </a:p>
          <a:p xmlns:a="http://schemas.openxmlformats.org/drawingml/2006/main">
            <a:r>
              <a:t>&gt; **Note on regulatory currency:** Use the [Key dates for HR](../03-governance/README.md#key-dates-for-hr) and its linked primary sources as the dated reference. The slides summarize risk questions; they are not a complete legal reference. Have Legal verify jurisdiction, scope, obligations, and effective dates before delivery or adoption.</a:t>
            </a:r>
            <a:endParaRPr/>
          </a:p>
          <a:p xmlns:a="http://schemas.openxmlformats.org/drawingml/2006/main">
            <a:r>
              <a:t/>
            </a:r>
            <a:endParaRPr/>
          </a:p>
          <a:p xmlns:a="http://schemas.openxmlformats.org/drawingml/2006/main">
            <a:r>
              <a:t>**Key legal risk areas to cover:**</a:t>
            </a:r>
            <a:endParaRPr/>
          </a:p>
          <a:p xmlns:a="http://schemas.openxmlformats.org/drawingml/2006/main">
            <a:r>
              <a:t/>
            </a:r>
            <a:endParaRPr/>
          </a:p>
          <a:p xmlns:a="http://schemas.openxmlformats.org/drawingml/2006/main">
            <a:r>
              <a:t>*Bias and disparate impact:*</a:t>
            </a:r>
            <a:endParaRPr/>
          </a:p>
          <a:p xmlns:a="http://schemas.openxmlformats.org/drawingml/2006/main">
            <a:r>
              <a:t>AI trained on historical HR data can encode and amplify past discrimination. A history in which 80% of engineering hires were male is a reason to examine labels, features, selection effects, and group outcomes; that proportion alone does not determine how a model will score resumes. Adverse impact testing is a core control. It is required by law in some jurisdictions (NYC Local Law 144 mandates an annual bias audit for covered tools) and expected as evidence of reasonable care in many others. Confirm the cadence with Legal. See the [NIST AI RMF](https://www.nist.gov/itl/ai-risk-management-framework).</a:t>
            </a:r>
            <a:endParaRPr/>
          </a:p>
          <a:p xmlns:a="http://schemas.openxmlformats.org/drawingml/2006/main">
            <a:r>
              <a:t/>
            </a:r>
            <a:endParaRPr/>
          </a:p>
          <a:p xmlns:a="http://schemas.openxmlformats.org/drawingml/2006/main">
            <a:r>
              <a:t>*Illinois AI Video Interview Act, NYC Local Law 144, and emerging state laws:*</a:t>
            </a:r>
            <a:endParaRPr/>
          </a:p>
          <a:p xmlns:a="http://schemas.openxmlformats.org/drawingml/2006/main">
            <a:r>
              <a:t>Several jurisdictions now require disclosure, impact assessments, or consent for AI use in hiring. Illinois's AI Video Interview Act ([820 ILCS 42](https://www.ilga.gov/Legislation/ILCS/Articles?ActID=4015&amp;ChapterID=68)) governs AI analysis of recorded video interviews, including notice and consent before the interview. Confirm its current requirements against the statute before relying on them. Illinois also amended its Human Rights Act via HB 3773 (effective January 1, 2026) to broadly prohibit discriminatory AI use in hiring and promotion, not just video interviews. A companion law, Public Act 104-0425 (SB 2487, effective January 1, 2026), gives the Human Rights Commission tiered civil penalty authority for violations: up to $16,000 for a first offense, up to $42,500 with one prior violation within five years, up to $70,000 for two or more within seven years. The regulatory landscape is shifting quickly. Use cases involving hiring must be reviewed against current state law.</a:t>
            </a:r>
            <a:endParaRPr/>
          </a:p>
          <a:p xmlns:a="http://schemas.openxmlformats.org/drawingml/2006/main">
            <a:r>
              <a:t/>
            </a:r>
            <a:endParaRPr/>
          </a:p>
          <a:p xmlns:a="http://schemas.openxmlformats.org/drawingml/2006/main">
            <a:r>
              <a:t>NYC Local Law 144 enforcement is entering a stricter phase. A December 2025 NY State Comptroller audit found DCWP's enforcement "ineffective": DCWP's own review of 32 companies' bias-audit disclosures caught 1 likely non-compliance issue, where the Comptroller's review of the same 32 found at least 17. Expect more investigations and higher penalties as DCWP responds to the audit's recommendations, not just the disclosure-and-audit paperwork the law describes on paper.</a:t>
            </a:r>
            <a:endParaRPr/>
          </a:p>
          <a:p xmlns:a="http://schemas.openxmlformats.org/drawingml/2006/main">
            <a:r>
              <a:t/>
            </a:r>
            <a:endParaRPr/>
          </a:p>
          <a:p xmlns:a="http://schemas.openxmlformats.org/drawingml/2006/main">
            <a:r>
              <a:t>*Colorado's Automated Decision-Making Technology Act:*</a:t>
            </a:r>
            <a:endParaRPr/>
          </a:p>
          <a:p xmlns:a="http://schemas.openxmlformats.org/drawingml/2006/main">
            <a:r>
              <a:t>Colorado SB26-189 (signed 14 May 2026, Colo. Sess. Laws ch. 131) repeals and replaces the state's 2024 AI consumer protection law. It covers "consequential decisions," including employment, made using automated decision-making technology (ADMT) that materially influences the outcome. Starting January 1, 2027, developers must give deployers technical documentation on intended use, training data categories, known limitations, and human review instructions. Deployers will owe consumers notice at the point of interaction, and within 30 days of any adverse consequential decision, a plain-language explanation plus the right to request human review and reconsideration. Records must be retained 3 years. The attorney general enforces under the Colorado Consumer Protection Act, with a 60-day cure period through January 1, 2030.</a:t>
            </a:r>
            <a:endParaRPr/>
          </a:p>
          <a:p xmlns:a="http://schemas.openxmlformats.org/drawingml/2006/main">
            <a:r>
              <a:t/>
            </a:r>
            <a:endParaRPr/>
          </a:p>
          <a:p xmlns:a="http://schemas.openxmlformats.org/drawingml/2006/main">
            <a:r>
              <a:t>*Connecticut: AI Responsibility and Transparency Act (Public Act 26-15):*</a:t>
            </a:r>
            <a:endParaRPr/>
          </a:p>
          <a:p xmlns:a="http://schemas.openxmlformats.org/drawingml/2006/main">
            <a:r>
              <a:t>Connecticut's SB 5 became Public Act 26-15 in June 2026. It is the most comprehensive state AI employment statute enacted so far, and it phases in across two years. Read the dates carefully, because the parts that bite first are not the disclosure rules.</a:t>
            </a:r>
            <a:endParaRPr/>
          </a:p>
          <a:p xmlns:a="http://schemas.openxmlformats.org/drawingml/2006/main">
            <a:r>
              <a:t/>
            </a:r>
            <a:endParaRPr/>
          </a:p>
          <a:p xmlns:a="http://schemas.openxmlformats.org/drawingml/2006/main">
            <a:r>
              <a:t>Live October 1, 2026:</a:t>
            </a:r>
            <a:endParaRPr/>
          </a:p>
          <a:p xmlns:a="http://schemas.openxmlformats.org/drawingml/2006/main">
            <a:r>
              <a:t/>
            </a:r>
            <a:endParaRPr/>
          </a:p>
          <a:p xmlns:a="http://schemas.openxmlformats.org/drawingml/2006/main">
            <a:r>
              <a:t>- **AI is not a defense.** Sections 13 and 14 amend Conn. Gen. Stat. 46a-60 so that using an automated employment-related decision technology is not a defense against a discrimination complaint. The commission or court may consider the quality, efficacy, recency, and scope of anti-bias testing, its results, and the employer's response. This does not establish that a stale audit is always worse than no audit, or that testing guarantees a favorable legal outcome. Preserve the testing evidence and corrective actions for counsel review. Source: [Public Act 26-15](https://www.cga.ct.gov/2026/ACT/PA/PDF/2026PA-00015-R00SB-00005-PA.PDF).</a:t>
            </a:r>
            <a:endParaRPr/>
          </a:p>
          <a:p xmlns:a="http://schemas.openxmlformats.org/drawingml/2006/main">
            <a:r>
              <a:t>- **WARN notices.** Section 26 requires any employer serving a federal WARN notice under 29 USC 2102(a) to disclose to the Connecticut Labor Department whether the layoffs relate to the employer's use of AI or other technological change. Note the disclosure runs to the department, not to affected employees.</a:t>
            </a:r>
            <a:endParaRPr/>
          </a:p>
          <a:p xmlns:a="http://schemas.openxmlformats.org/drawingml/2006/main">
            <a:r>
              <a:t/>
            </a:r>
            <a:endParaRPr/>
          </a:p>
          <a:p xmlns:a="http://schemas.openxmlformats.org/drawingml/2006/main">
            <a:r>
              <a:t>Live October 1, 2027 (sections 7 to 12 take effect in 2026, but the duties attach only to technology deployed on or after October 1, 2027):</a:t>
            </a:r>
            <a:endParaRPr/>
          </a:p>
          <a:p xmlns:a="http://schemas.openxmlformats.org/drawingml/2006/main">
            <a:r>
              <a:t/>
            </a:r>
            <a:endParaRPr/>
          </a:p>
          <a:p xmlns:a="http://schemas.openxmlformats.org/drawingml/2006/main">
            <a:r>
              <a:t>- Scope is set by "substantial factor," defined as a factor that meaningfully alters the outcome of an employment-related decision. Covered decisions are hiring, promotion, discipline, discharge, renewal, selection for training or apprenticeship, and terms, privileges or conditions of employment. Carved out: nonmaterial changes to job tasks or hours, and decisions about workplace health and safety, scheduling, and productivity monitoring.</a:t>
            </a:r>
            <a:endParaRPr/>
          </a:p>
          <a:p xmlns:a="http://schemas.openxmlformats.org/drawingml/2006/main">
            <a:r>
              <a:t>- Developers must give deployers the information deployers need to meet their duties, but only where the tool was advertised, marketed, configured, contracted for, sold, or licensed to materially influence an employment decision.</a:t>
            </a:r>
            <a:endParaRPr/>
          </a:p>
          <a:p xmlns:a="http://schemas.openxmlformats.org/drawingml/2006/main">
            <a:r>
              <a:t>- Deployers must disclose in plain language when an employee or applicant is interacting with the technology, unless a reasonable person would find it obvious.</a:t>
            </a:r>
            <a:endParaRPr/>
          </a:p>
          <a:p xmlns:a="http://schemas.openxmlformats.org/drawingml/2006/main">
            <a:r>
              <a:t>- Before the decision is made, deployers must give written notice covering six specific points: that the technology was deployed, its purpose and the nature of the decision, the tool's trade name, the categories of personal data analyzed and how they will be assessed, the sources of that data, and deployer contact information.</a:t>
            </a:r>
            <a:endParaRPr/>
          </a:p>
          <a:p xmlns:a="http://schemas.openxmlformats.org/drawingml/2006/main">
            <a:r>
              <a:t>- Trade secrets can be withheld, but the withholding party must send notice saying what is being withheld and why.</a:t>
            </a:r>
            <a:endParaRPr/>
          </a:p>
          <a:p xmlns:a="http://schemas.openxmlformats.org/drawingml/2006/main">
            <a:r>
              <a:t/>
            </a:r>
            <a:endParaRPr/>
          </a:p>
          <a:p xmlns:a="http://schemas.openxmlformats.org/drawingml/2006/main">
            <a:r>
              <a:t>Enforcement is narrower than the obligations suggest: violations are unfair or deceptive trade practices under CUTPA, enforced **solely by the Attorney General**, with an explicit statement that the act creates **no private right of action**. Violations occurring on or before December 31, 2027 carry a 60-day cure period.</a:t>
            </a:r>
            <a:endParaRPr/>
          </a:p>
          <a:p xmlns:a="http://schemas.openxmlformats.org/drawingml/2006/main">
            <a:r>
              <a:t/>
            </a:r>
            <a:endParaRPr/>
          </a:p>
          <a:p xmlns:a="http://schemas.openxmlformats.org/drawingml/2006/main">
            <a:r>
              <a:t>One provision to catch in procurement: Section 8(c) lets a developer contract to assume the deployer's disclosure and notice duties, provided the contract is explicit about which duties transfer. That is a negotiating lever worth asking every vendor about. See the [vendor intake checklist](../03-governance/vendor-intake-checklist.md).</a:t>
            </a:r>
            <a:endParaRPr/>
          </a:p>
          <a:p xmlns:a="http://schemas.openxmlformats.org/drawingml/2006/main">
            <a:r>
              <a:t/>
            </a:r>
            <a:endParaRPr/>
          </a:p>
          <a:p xmlns:a="http://schemas.openxmlformats.org/drawingml/2006/main">
            <a:r>
              <a:t>*California: FEHA algorithmic discrimination rules and CPPA ADMT regulations:*</a:t>
            </a:r>
            <a:endParaRPr/>
          </a:p>
          <a:p xmlns:a="http://schemas.openxmlformats.org/drawingml/2006/main">
            <a:r>
              <a:t>The Civil Rights Council's FEHA regulations on automated decision systems took effect October 1, 2025: they prohibit AI-driven disparate treatment or disparate impact in employment decisions, require four years of recordkeeping, and hold employers liable for discriminatory outcomes even when the tool comes from a third-party vendor. Separately, the [CPPA regulation package](https://cppa.ca.gov/announcements/2025/20250923.html) took effect January 1, 2026. Covered businesses must begin risk-assessment compliance in 2026; ADMT notice and consumer-rights compliance begins January 1, 2027. These dates govern different duties. Review the [final regulations](https://cppa.ca.gov/regulations/ccpa_updates.html) for scope, opt-out exceptions, appeal conditions, and transition rules for processing already underway.</a:t>
            </a:r>
            <a:endParaRPr/>
          </a:p>
          <a:p xmlns:a="http://schemas.openxmlformats.org/drawingml/2006/main">
            <a:r>
              <a:t/>
            </a:r>
            <a:endParaRPr/>
          </a:p>
          <a:p xmlns:a="http://schemas.openxmlformats.org/drawingml/2006/main">
            <a:r>
              <a:t>Four California workplace bills were approved and chaptered on 30 September 2026. All four are enacted law, with obligations beginning in 2027. The chaptered texts were reviewed on 9 October 2026. AB 1883, SB 951, and AB 1331 take effect on 1 January 2027 under [California Constitution Article IV, section 8(c)(1)](https://leginfo.legislature.ca.gov/faces/codes_displayText.xhtml?lawCode=CONS&amp;division=&amp;title=&amp;part=&amp;chapter=&amp;article=IV); none contains an urgency clause or a later operative-date provision. SB 947 takes effect on that date but expressly makes its new Labor Code part operative on 1 July 2027. See the [source register](../03-governance/claims/california-workplace-laws.json) and the [Governor's signing announcement](https://www.gov.ca.gov/2026/09/30/californias-nation-leading-ai-framework-just-got-stronger-governor-newsom-signs-more-first-in-the-nation-worker-protections-and-more/).</a:t>
            </a:r>
            <a:endParaRPr/>
          </a:p>
          <a:p xmlns:a="http://schemas.openxmlformats.org/drawingml/2006/main">
            <a:r>
              <a:t/>
            </a:r>
            <a:endParaRPr/>
          </a:p>
          <a:p xmlns:a="http://schemas.openxmlformats.org/drawingml/2006/main">
            <a:r>
              <a:t>- **[AB 1883](https://leginfo.legislature.ca.gov/faces/billNavClient.xhtml?bill_id=202520260AB1883)** (workplace surveillance tools, Chapter 853, Statutes of 2026) adds Labor Code Part 5.8 to bar employers from using AI-driven surveillance tools to recognize or infer an employee's emotional state, or to collect neural data, meaning data measured from the central or peripheral nervous system and not inferred from nonneural information. Safety uses are preserved, and there is a narrow carve-out for federally mandated aerospace and national security work. Enforcement runs through the Labor Commissioner or a public prosecutor, with penalties up to $500 per violation. It was enrolled on 3 September 2026 and approved by the Governor on 30 September 2026. Some published summaries report 3 September as the signing date; that is the enrollment date.</a:t>
            </a:r>
            <a:endParaRPr/>
          </a:p>
          <a:p xmlns:a="http://schemas.openxmlformats.org/drawingml/2006/main">
            <a:r>
              <a:t>- **[SB 947](https://leginfo.legislature.ca.gov/faces/billTextClient.xhtml?bill_id=202520260SB947)** (the "No Robo Bosses Act," Chapter 859, Statutes of 2026) is **operative 1 July 2027**, under new Labor Code section 1526.7. It bars sole reliance on an ADS for discipline or termination. Primary reliance requires human corroboration and written post-use notice when the decision is communicated. If corroboration fails, or the reviewer finds the output inaccurate, incomplete, or misleading, the employer must not use that output for the decision. The employee may request a meaningful description of their own data used by the ADS. Check the collective bargaining and federal-operation exceptions in sections 1526.5 and 1526.6.</a:t>
            </a:r>
            <a:endParaRPr/>
          </a:p>
          <a:p xmlns:a="http://schemas.openxmlformats.org/drawingml/2006/main">
            <a:r>
              <a:t>- **[SB 951](https://leginfo.legislature.ca.gov/faces/billTextClient.xhtml?bill_id=202520260SB951)** (Chapter 860, Statutes of 2026), **effective 1 January 2027**, adds technology-displacement information to an otherwise required Cal/WARN notice when AI or automation causes the event wholly or substantially. New Labor Code section 1401(d) requires affected jobs and locations, functions being automated, the technology category, and a technology-displacement heading. It retains the existing 60-day notice period. It does not enact the earlier proposal for a 90-day notice or an employer hiring-freeze notice; section 1402.7 instead requires an EDD study by 1 January 2028. Assess Cal/WARN coverage and exceptions before applying the notice requirement.</a:t>
            </a:r>
            <a:endParaRPr/>
          </a:p>
          <a:p xmlns:a="http://schemas.openxmlformats.org/drawingml/2006/main">
            <a:r>
              <a:t>- **[AB 1331](https://leginfo.legislature.ca.gov/faces/billTextClient.xhtml?bill_id=202520260AB1331)** (Chapter 851, Statutes of 2026), **effective 1 January 2027**, limits workplace bathroom surveillance and lets employees leave surveillance tools behind when entering a bathroom. New Labor Code section 1561 includes exceptions for court orders, one-time entry/exit checks, voluntary possession, and certain identification or safety devices. The tool definition reaches beyond AI. Review the full exceptions in sections 1561, 1564, and 1565 before changing monitoring practices.</a:t>
            </a:r>
            <a:endParaRPr/>
          </a:p>
          <a:p xmlns:a="http://schemas.openxmlformats.org/drawingml/2006/main">
            <a:r>
              <a:t/>
            </a:r>
            <a:endParaRPr/>
          </a:p>
          <a:p xmlns:a="http://schemas.openxmlformats.org/drawingml/2006/main">
            <a:r>
              <a:t>*Texas: Responsible AI Governance Act (TRAIGA):*</a:t>
            </a:r>
            <a:endParaRPr/>
          </a:p>
          <a:p xmlns:a="http://schemas.openxmlformats.org/drawingml/2006/main">
            <a:r>
              <a:t>Effective January 1, 2026 (HB 149, signed June 22, 2025). Narrower than Illinois or Colorado: TRAIGA prohibits intentional AI-based discrimination but does not create disparate impact liability, and the Attorney General has exclusive enforcement authority with a 60-day cure period before action.</a:t>
            </a:r>
            <a:endParaRPr/>
          </a:p>
          <a:p xmlns:a="http://schemas.openxmlformats.org/drawingml/2006/main">
            <a:r>
              <a:t/>
            </a:r>
            <a:endParaRPr/>
          </a:p>
          <a:p xmlns:a="http://schemas.openxmlformats.org/drawingml/2006/main">
            <a:r>
              <a:t>*New Jersey: no AI statute, but existing discrimination law already reaches AI:*</a:t>
            </a:r>
            <a:endParaRPr/>
          </a:p>
          <a:p xmlns:a="http://schemas.openxmlformats.org/drawingml/2006/main">
            <a:r>
              <a:t>New Jersey is the case that breaks the habit of scanning for AI-specific bills. It has no AI hiring statute. In January 2025 the Office of the Attorney General and the Division on Civil Rights issued guidance stating that the Law Against Discrimination (N.J.S.A. 10:5-1 et seq.) applies to algorithmic discrimination the same way it has long applied to other discriminatory conduct, in employment among other contexts. Three points matter for HR practice:</a:t>
            </a:r>
            <a:endParaRPr/>
          </a:p>
          <a:p xmlns:a="http://schemas.openxmlformats.org/drawingml/2006/main">
            <a:r>
              <a:t/>
            </a:r>
            <a:endParaRPr/>
          </a:p>
          <a:p xmlns:a="http://schemas.openxmlformats.org/drawingml/2006/main">
            <a:r>
              <a:t>- **No intent required, and a vendor tool is not a defense.** The guidance states that a covered entity "is not shielded from liability for algorithmic discrimination that results from the entity's use of an automated decision-making tool simply because the tool was developed by a third party or because the entity does not understand the inner workings of the tool."</a:t>
            </a:r>
            <a:endParaRPr/>
          </a:p>
          <a:p xmlns:a="http://schemas.openxmlformats.org/drawingml/2006/main">
            <a:r>
              <a:t>- **Disparate impact is covered.** Use of a tool with a disproportionate effect on a protected class is prohibited unless it is necessary to achieve a substantial, legitimate, nondiscriminatory interest and there is no less discriminatory alternative. Whether the employer tested the tool for bias or evaluated alternatives may be weighed as relevant evidence, which is the same pattern as Connecticut: your fairness audit becomes evidence.</a:t>
            </a:r>
            <a:endParaRPr/>
          </a:p>
          <a:p xmlns:a="http://schemas.openxmlformats.org/drawingml/2006/main">
            <a:r>
              <a:t>- **Reasonable accommodations are in scope.** A tool can violate the LAD by being inaccessible or by penalizing someone who uses an accommodation. The guidance's example is a typing-speed screen that cannot read a non-traditional keyboard.</a:t>
            </a:r>
            <a:endParaRPr/>
          </a:p>
          <a:p xmlns:a="http://schemas.openxmlformats.org/drawingml/2006/main">
            <a:r>
              <a:t/>
            </a:r>
            <a:endParaRPr/>
          </a:p>
          <a:p xmlns:a="http://schemas.openxmlformats.org/drawingml/2006/main">
            <a:r>
              <a:t>Two limits to state accurately when you teach this. The guidance is interpretive: it says on its face that it imposes no requirements beyond the LAD and will not be enforced as a substitute for enforcing the LAD. And it carries no effective date, because the underlying statute has been in force for decades. Do not present it as a new obligation that switched on in 2025. The takeaway for the class is the general one: a state with no AI bill is not a state with no AI exposure.</a:t>
            </a:r>
            <a:endParaRPr/>
          </a:p>
          <a:p xmlns:a="http://schemas.openxmlformats.org/drawingml/2006/main">
            <a:r>
              <a:t/>
            </a:r>
            <a:endParaRPr/>
          </a:p>
          <a:p xmlns:a="http://schemas.openxmlformats.org/drawingml/2006/main">
            <a:r>
              <a:t>*GDPR and CCPA:*</a:t>
            </a:r>
            <a:endParaRPr/>
          </a:p>
          <a:p xmlns:a="http://schemas.openxmlformats.org/drawingml/2006/main">
            <a:r>
              <a:t>Employees in covered jurisdictions have rights regarding automated decision-making. Know which of your employees are covered and how your AI use cases interact with their rights. See the California-specific rules above for the current state of play there.</a:t>
            </a:r>
            <a:endParaRPr/>
          </a:p>
          <a:p xmlns:a="http://schemas.openxmlformats.org/drawingml/2006/main">
            <a:r>
              <a:t/>
            </a:r>
            <a:endParaRPr/>
          </a:p>
          <a:p xmlns:a="http://schemas.openxmlformats.org/drawingml/2006/main">
            <a:r>
              <a:t>*UK: Data (Use and Access) Act 2025 replaces GDPR Article 22:*</a:t>
            </a:r>
            <a:endParaRPr/>
          </a:p>
          <a:p xmlns:a="http://schemas.openxmlformats.org/drawingml/2006/main">
            <a:r>
              <a:t>Section 80 of the UK's Data (Use and Access) Act 2025 took effect February 5, 2026 (Commencement Regulations SI 2026/82) and substitutes Article 22 of the UK GDPR with new Articles 22A to 22D. The new regime permits solely automated "significant decisions," those with a legal or similarly significant effect, more broadly than before, but requires safeguards: notice to the individual, the ability to make representations, the right to human intervention, and the right to contest the decision. Stricter restrictions still apply where special category data is used. Treat this as a distinct regime from EU GDPR Article 22, not an equivalent, for any AI use case touching UK-based workers or candidates.</a:t>
            </a:r>
            <a:endParaRPr/>
          </a:p>
          <a:p xmlns:a="http://schemas.openxmlformats.org/drawingml/2006/main">
            <a:r>
              <a:t/>
            </a:r>
            <a:endParaRPr/>
          </a:p>
          <a:p xmlns:a="http://schemas.openxmlformats.org/drawingml/2006/main">
            <a:r>
              <a:t>The ICO is already signaling how it will police this in recruitment specifically. A March 2026 ICO report on automated decision-making in hiring found many employers don't recognize they're doing ADM at all, and that "human review" in practice often amounts to rubber-stamping rather than a reviewer with real authority to change the outcome. Following that report, the ICO opened a consultation on draft ADM guidance, worth checking for the final version before relying on the March findings alone. Build the oversight role description to survive that scrutiny, not just to check the box.</a:t>
            </a:r>
            <a:endParaRPr/>
          </a:p>
          <a:p xmlns:a="http://schemas.openxmlformats.org/drawingml/2006/main">
            <a:r>
              <a:t/>
            </a:r>
            <a:endParaRPr/>
          </a:p>
          <a:p xmlns:a="http://schemas.openxmlformats.org/drawingml/2006/main">
            <a:r>
              <a:t>*Canada: no federal AI employment law, but Ontario requires disclosure:*</a:t>
            </a:r>
            <a:endParaRPr/>
          </a:p>
          <a:p xmlns:a="http://schemas.openxmlformats.org/drawingml/2006/main">
            <a:r>
              <a:t>Canada's federal AI bill (AIDA, part of Bill C-27) died when Parliament prorogued in January 2025 and has not been revived. AI regulation there runs through existing privacy, human rights, and sector law instead. Ontario is the exception: since January 1, 2026, employers with 25+ employees must disclose in publicly advertised job postings whether AI is used to screen, assess, or select candidates (Employment Standards Act, 2000 amendment).</a:t>
            </a:r>
            <a:endParaRPr/>
          </a:p>
          <a:p xmlns:a="http://schemas.openxmlformats.org/drawingml/2006/main">
            <a:r>
              <a:t/>
            </a:r>
            <a:endParaRPr/>
          </a:p>
          <a:p xmlns:a="http://schemas.openxmlformats.org/drawingml/2006/main">
            <a:r>
              <a:t>*The "AI as a manager" trap:*</a:t>
            </a:r>
            <a:endParaRPr/>
          </a:p>
          <a:p xmlns:a="http://schemas.openxmlformats.org/drawingml/2006/main">
            <a:r>
              <a:t>AI that monitors, evaluates, or scores employees without their knowledge, even for legitimate purposes, creates legal and trust exposure. Transparency is not just ethical, it's protective.</a:t>
            </a:r>
            <a:endParaRPr/>
          </a:p>
          <a:p xmlns:a="http://schemas.openxmlformats.org/drawingml/2006/main">
            <a:r>
              <a:t/>
            </a:r>
            <a:endParaRPr/>
          </a:p>
          <a:p xmlns:a="http://schemas.openxmlformats.org/drawingml/2006/main">
            <a:r>
              <a:t>**Scenario practice cards:**</a:t>
            </a:r>
            <a:endParaRPr/>
          </a:p>
          <a:p xmlns:a="http://schemas.openxmlformats.org/drawingml/2006/main">
            <a:r>
              <a:t/>
            </a:r>
            <a:endParaRPr/>
          </a:p>
          <a:p xmlns:a="http://schemas.openxmlformats.org/drawingml/2006/main">
            <a:r>
              <a:t>Print or share these four scenarios. Groups of 3–4 discuss: Is this use appropriate? What are the risks? What would you change?</a:t>
            </a:r>
            <a:endParaRPr/>
          </a:p>
          <a:p xmlns:a="http://schemas.openxmlformats.org/drawingml/2006/main">
            <a:r>
              <a:t/>
            </a:r>
            <a:endParaRPr/>
          </a:p>
          <a:p xmlns:a="http://schemas.openxmlformats.org/drawingml/2006/main">
            <a:r>
              <a:t>&gt; **Scenario A:** An AI tool automatically rejects resumes with gaps of more than 6 months without showing them to a recruiter.</a:t>
            </a:r>
            <a:endParaRPr/>
          </a:p>
          <a:p xmlns:a="http://schemas.openxmlformats.org/drawingml/2006/main">
            <a:r>
              <a:t/>
            </a:r>
            <a:endParaRPr/>
          </a:p>
          <a:p xmlns:a="http://schemas.openxmlformats.org/drawingml/2006/main">
            <a:r>
              <a:t>&gt; **Scenario B:** An HRBP uses an AI writing assistant to draft a PIP for an employee, then reviews and edits it before sharing with the manager.</a:t>
            </a:r>
            <a:endParaRPr/>
          </a:p>
          <a:p xmlns:a="http://schemas.openxmlformats.org/drawingml/2006/main">
            <a:r>
              <a:t/>
            </a:r>
            <a:endParaRPr/>
          </a:p>
          <a:p xmlns:a="http://schemas.openxmlformats.org/drawingml/2006/main">
            <a:r>
              <a:t>&gt; **Scenario C:** People Analytics builds an attrition risk model that scores all employees monthly and shares the scores directly with managers.</a:t>
            </a:r>
            <a:endParaRPr/>
          </a:p>
          <a:p xmlns:a="http://schemas.openxmlformats.org/drawingml/2006/main">
            <a:r>
              <a:t/>
            </a:r>
            <a:endParaRPr/>
          </a:p>
          <a:p xmlns:a="http://schemas.openxmlformats.org/drawingml/2006/main">
            <a:r>
              <a:t>&gt; **Scenario D:** An AI chatbot answers benefits questions for employees. It sometimes gives incorrect information but flags that users should confirm with HR.</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4: Building and scaling AI use cases</a:t>
            </a:r>
            <a:endParaRPr/>
          </a:p>
          <a:p xmlns:a="http://schemas.openxmlformats.org/drawingml/2006/main">
            <a:r>
              <a:t/>
            </a:r>
            <a:endParaRPr/>
          </a:p>
          <a:p xmlns:a="http://schemas.openxmlformats.org/drawingml/2006/main">
            <a:r>
              <a:t>**Learning objectives:**</a:t>
            </a:r>
            <a:endParaRPr/>
          </a:p>
          <a:p xmlns:a="http://schemas.openxmlformats.org/drawingml/2006/main">
            <a:r>
              <a:t>- Apply the prioritization matrix to identify your team's highest-value AI use cases</a:t>
            </a:r>
            <a:endParaRPr/>
          </a:p>
          <a:p xmlns:a="http://schemas.openxmlformats.org/drawingml/2006/main">
            <a:r>
              <a:t>- Define a use case with clear success metrics and governance requirements</a:t>
            </a:r>
            <a:endParaRPr/>
          </a:p>
          <a:p xmlns:a="http://schemas.openxmlformats.org/drawingml/2006/main">
            <a:r>
              <a:t>- Draft a basic implementation plan for a low-complexity use case</a:t>
            </a:r>
            <a:endParaRPr/>
          </a:p>
          <a:p xmlns:a="http://schemas.openxmlformats.org/drawingml/2006/main">
            <a:r>
              <a:t/>
            </a:r>
            <a:endParaRPr/>
          </a:p>
          <a:p xmlns:a="http://schemas.openxmlformats.org/drawingml/2006/main">
            <a:r>
              <a:t>**Session outline (2 hours):**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Opening: What does "scaling AI in HR" actually mean? |</a:t>
            </a:r>
            <a:endParaRPr/>
          </a:p>
          <a:p xmlns:a="http://schemas.openxmlformats.org/drawingml/2006/main">
            <a:r>
              <a:t>| 0:15–0:45 | Framework: From idea to deployment, the use case lifecycle |</a:t>
            </a:r>
            <a:endParaRPr/>
          </a:p>
          <a:p xmlns:a="http://schemas.openxmlformats.org/drawingml/2006/main">
            <a:r>
              <a:t>| 0:45–1:15 | Team exercise: Prioritization matrix applied to your team's top 5 ideas |</a:t>
            </a:r>
            <a:endParaRPr/>
          </a:p>
          <a:p xmlns:a="http://schemas.openxmlformats.org/drawingml/2006/main">
            <a:r>
              <a:t>| 1:15–1:45 | Small group: Draft a one-page use case spec for your top-ranked idea |</a:t>
            </a:r>
            <a:endParaRPr/>
          </a:p>
          <a:p xmlns:a="http://schemas.openxmlformats.org/drawingml/2006/main">
            <a:r>
              <a:t>| 1:45–2:00 | Gallery walk + feedback |</a:t>
            </a:r>
            <a:endParaRPr/>
          </a:p>
          <a:p xmlns:a="http://schemas.openxmlformats.org/drawingml/2006/main">
            <a:r>
              <a:t/>
            </a:r>
            <a:endParaRPr/>
          </a:p>
          <a:p xmlns:a="http://schemas.openxmlformats.org/drawingml/2006/main">
            <a:r>
              <a:t>**Use case lifecycle:**</a:t>
            </a:r>
            <a:endParaRPr/>
          </a:p>
          <a:p xmlns:a="http://schemas.openxmlformats.org/drawingml/2006/main">
            <a:r>
              <a:t/>
            </a:r>
            <a:endParaRPr/>
          </a:p>
          <a:p xmlns:a="http://schemas.openxmlformats.org/drawingml/2006/main">
            <a:r>
              <a:t>```</a:t>
            </a:r>
            <a:endParaRPr/>
          </a:p>
          <a:p xmlns:a="http://schemas.openxmlformats.org/drawingml/2006/main">
            <a:r>
              <a:t>Discover → Prioritize → Design → Pilot → Evaluate → Scale</a:t>
            </a:r>
            <a:endParaRPr/>
          </a:p>
          <a:p xmlns:a="http://schemas.openxmlformats.org/drawingml/2006/main">
            <a:r>
              <a:t>   ↑                                          |</a:t>
            </a:r>
            <a:endParaRPr/>
          </a:p>
          <a:p xmlns:a="http://schemas.openxmlformats.org/drawingml/2006/main">
            <a:r>
              <a:t>   └──────────────── iterate ─────────────────┘</a:t>
            </a:r>
            <a:endParaRPr/>
          </a:p>
          <a:p xmlns:a="http://schemas.openxmlformats.org/drawingml/2006/main">
            <a:r>
              <a:t>```</a:t>
            </a:r>
            <a:endParaRPr/>
          </a:p>
          <a:p xmlns:a="http://schemas.openxmlformats.org/drawingml/2006/main">
            <a:r>
              <a:t/>
            </a:r>
            <a:endParaRPr/>
          </a:p>
          <a:p xmlns:a="http://schemas.openxmlformats.org/drawingml/2006/main">
            <a:r>
              <a:t>- **Discover:** What problem are we solving? Who feels it most?</a:t>
            </a:r>
            <a:endParaRPr/>
          </a:p>
          <a:p xmlns:a="http://schemas.openxmlformats.org/drawingml/2006/main">
            <a:r>
              <a:t>- **Prioritize:** Use the matrix. Don't skip this.</a:t>
            </a:r>
            <a:endParaRPr/>
          </a:p>
          <a:p xmlns:a="http://schemas.openxmlformats.org/drawingml/2006/main">
            <a:r>
              <a:t>- **Design:** Define inputs, outputs, human review gates, success metrics, and fallback</a:t>
            </a:r>
            <a:endParaRPr/>
          </a:p>
          <a:p xmlns:a="http://schemas.openxmlformats.org/drawingml/2006/main">
            <a:r>
              <a:t>- **Pilot:** Small scope, high observation. 4–8 weeks.</a:t>
            </a:r>
            <a:endParaRPr/>
          </a:p>
          <a:p xmlns:a="http://schemas.openxmlformats.org/drawingml/2006/main">
            <a:r>
              <a:t>- **Evaluate:** Did it work? For whom? What didn't?</a:t>
            </a:r>
            <a:endParaRPr/>
          </a:p>
          <a:p xmlns:a="http://schemas.openxmlformats.org/drawingml/2006/main">
            <a:r>
              <a:t>- **Scale:** Expand with the lessons from pilot baked in</a:t>
            </a:r>
            <a:endParaRPr/>
          </a:p>
          <a:p xmlns:a="http://schemas.openxmlformats.org/drawingml/2006/main">
            <a:r>
              <a:t/>
            </a:r>
            <a:endParaRPr/>
          </a:p>
          <a:p xmlns:a="http://schemas.openxmlformats.org/drawingml/2006/main">
            <a:r>
              <a:t>**One-page use case spec template:**</a:t>
            </a:r>
            <a:endParaRPr/>
          </a:p>
          <a:p xmlns:a="http://schemas.openxmlformats.org/drawingml/2006/main">
            <a:r>
              <a:t/>
            </a:r>
            <a:endParaRPr/>
          </a:p>
          <a:p xmlns:a="http://schemas.openxmlformats.org/drawingml/2006/main">
            <a:r>
              <a:t>Participants complete this for their team's top-ranked use case:</a:t>
            </a:r>
            <a:endParaRPr/>
          </a:p>
          <a:p xmlns:a="http://schemas.openxmlformats.org/drawingml/2006/main">
            <a:r>
              <a:t/>
            </a:r>
            <a:endParaRPr/>
          </a:p>
          <a:p xmlns:a="http://schemas.openxmlformats.org/drawingml/2006/main">
            <a:r>
              <a:t>```</a:t>
            </a:r>
            <a:endParaRPr/>
          </a:p>
          <a:p xmlns:a="http://schemas.openxmlformats.org/drawingml/2006/main">
            <a:r>
              <a:t>Use case name:</a:t>
            </a:r>
            <a:endParaRPr/>
          </a:p>
          <a:p xmlns:a="http://schemas.openxmlformats.org/drawingml/2006/main">
            <a:r>
              <a:t>Problem it solves (1 sentence):</a:t>
            </a:r>
            <a:endParaRPr/>
          </a:p>
          <a:p xmlns:a="http://schemas.openxmlformats.org/drawingml/2006/main">
            <a:r>
              <a:t>Who benefits and how:</a:t>
            </a:r>
            <a:endParaRPr/>
          </a:p>
          <a:p xmlns:a="http://schemas.openxmlformats.org/drawingml/2006/main">
            <a:r>
              <a:t>AI approach (Rules / Augment / Assist / Human-led / Analytics):</a:t>
            </a:r>
            <a:endParaRPr/>
          </a:p>
          <a:p xmlns:a="http://schemas.openxmlformats.org/drawingml/2006/main">
            <a:r>
              <a:t>Data needed:</a:t>
            </a:r>
            <a:endParaRPr/>
          </a:p>
          <a:p xmlns:a="http://schemas.openxmlformats.org/drawingml/2006/main">
            <a:r>
              <a:t>Human review gate:</a:t>
            </a:r>
            <a:endParaRPr/>
          </a:p>
          <a:p xmlns:a="http://schemas.openxmlformats.org/drawingml/2006/main">
            <a:r>
              <a:t>Success metric(s):</a:t>
            </a:r>
            <a:endParaRPr/>
          </a:p>
          <a:p xmlns:a="http://schemas.openxmlformats.org/drawingml/2006/main">
            <a:r>
              <a:t>What could go wrong:</a:t>
            </a:r>
            <a:endParaRPr/>
          </a:p>
          <a:p xmlns:a="http://schemas.openxmlformats.org/drawingml/2006/main">
            <a:r>
              <a:t>Governance requirements (from risk assessment):</a:t>
            </a:r>
            <a:endParaRPr/>
          </a:p>
          <a:p xmlns:a="http://schemas.openxmlformats.org/drawingml/2006/main">
            <a:r>
              <a:t>First step to move forward:</a:t>
            </a:r>
            <a:endParaRPr/>
          </a:p>
          <a:p xmlns:a="http://schemas.openxmlformats.org/drawingml/2006/main">
            <a:r>
              <a:t>```</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Assessment and certification</a:t>
            </a:r>
            <a:endParaRPr/>
          </a:p>
          <a:p xmlns:a="http://schemas.openxmlformats.org/drawingml/2006/main">
            <a:r>
              <a:t/>
            </a:r>
            <a:endParaRPr/>
          </a:p>
          <a:p xmlns:a="http://schemas.openxmlformats.org/drawingml/2006/main">
            <a:r>
              <a:t>An organization may choose to give participants who complete all four modules</a:t>
            </a:r>
            <a:endParaRPr/>
          </a:p>
          <a:p xmlns:a="http://schemas.openxmlformats.org/drawingml/2006/main">
            <a:r>
              <a:t>and the hands-on components an **HR AI Practitioner** acknowledgment. This is a</a:t>
            </a:r>
            <a:endParaRPr/>
          </a:p>
          <a:p xmlns:a="http://schemas.openxmlformats.org/drawingml/2006/main">
            <a:r>
              <a:t>proposed internal recognition, not an accredited certification or evidence of</a:t>
            </a:r>
            <a:endParaRPr/>
          </a:p>
          <a:p xmlns:a="http://schemas.openxmlformats.org/drawingml/2006/main">
            <a:r>
              <a:t>professional competence. No delivery or learning outcome is claimed here.</a:t>
            </a:r>
            <a:endParaRPr/>
          </a:p>
          <a:p xmlns:a="http://schemas.openxmlformats.org/drawingml/2006/main">
            <a:r>
              <a:t/>
            </a:r>
            <a:endParaRPr/>
          </a:p>
          <a:p xmlns:a="http://schemas.openxmlformats.org/drawingml/2006/main">
            <a:r>
              <a:t>Optional extension: Participants who complete a full use case spec and present it to the HR Technology team are recognized as **HR AI Champions**, an informal internal designation that supports peer enablement.</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Facilitator notes</a:t>
            </a:r>
            <a:endParaRPr/>
          </a:p>
          <a:p xmlns:a="http://schemas.openxmlformats.org/drawingml/2006/main">
            <a:r>
              <a:t/>
            </a:r>
            <a:endParaRPr/>
          </a:p>
          <a:p xmlns:a="http://schemas.openxmlformats.org/drawingml/2006/main">
            <a:r>
              <a:t>These are facilitation suggestions, not measured delivery findings. Use synthetic examples; removing names alone does not establish anonymity. Do not upload real employee, candidate, compensation, or employer-confidential information for a training exercise.</a:t>
            </a:r>
            <a:endParaRPr/>
          </a:p>
          <a:p xmlns:a="http://schemas.openxmlformats.org/drawingml/2006/main">
            <a:r>
              <a:t/>
            </a:r>
            <a:endParaRPr/>
          </a:p>
          <a:p xmlns:a="http://schemas.openxmlformats.org/drawingml/2006/main">
            <a:r>
              <a:t>- Budget flex time in Module 3 for questions and disagreement about risk.</a:t>
            </a:r>
            <a:endParaRPr/>
          </a:p>
          <a:p xmlns:a="http://schemas.openxmlformats.org/drawingml/2006/main">
            <a:r>
              <a:t>- Protect time for the Module 2 lab, and check whether participants can identify errors and verify outputs afterward.</a:t>
            </a:r>
            <a:endParaRPr/>
          </a:p>
          <a:p xmlns:a="http://schemas.openxmlformats.org/drawingml/2006/main">
            <a:r>
              <a:t>- Adapt synthetic scenarios to familiar workflows, without identifiable employee cases or confidential documents.</a:t>
            </a:r>
            <a:endParaRPr/>
          </a:p>
          <a:p xmlns:a="http://schemas.openxmlformats.org/drawingml/2006/main">
            <a:r>
              <a:t>- Keep an AI skeptic on the facilitation team if possible. The best discussions happen when the room has range.</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snapshot: 13 October 2026. Curriculum SHA-256: 5ee769258ac9b95a3c514b64dcd5b22215e40bac8621054ffb452bffc244827a. This deck summarizes the source; no human evaluation, delivery outcome or legal approval is claimed.</a:t>
            </a:r>
            <a:endParaRPr/>
          </a:p>
          <a:p xmlns:a="http://schemas.openxmlformats.org/drawingml/2006/main">
            <a:r>
              <a:t/>
            </a:r>
            <a:endParaRPr/>
          </a:p>
          <a:p xmlns:a="http://schemas.openxmlformats.org/drawingml/2006/main">
            <a:r>
              <a:t># HR AI literacy curriculum</a:t>
            </a:r>
            <a:endParaRPr/>
          </a:p>
          <a:p xmlns:a="http://schemas.openxmlformats.org/drawingml/2006/main">
            <a:r>
              <a:t/>
            </a:r>
            <a:endParaRPr/>
          </a:p>
          <a:p xmlns:a="http://schemas.openxmlformats.org/drawingml/2006/main">
            <a:r>
              <a:t>A 4-module learning program for HR professionals at all experience levels. Designed to be delivered as a facilitated series over 4–6 weeks, or adapted for self-paced completion.</a:t>
            </a:r>
            <a:endParaRPr/>
          </a:p>
          <a:p xmlns:a="http://schemas.openxmlformats.org/drawingml/2006/main">
            <a:r>
              <a:t/>
            </a:r>
            <a:endParaRPr/>
          </a:p>
          <a:p xmlns:a="http://schemas.openxmlformats.org/drawingml/2006/main">
            <a:r>
              <a:t>**Total time:** about 7 hours of sessions, plus async reading and hands-on practice (roughly 8 hours in all)</a:t>
            </a:r>
            <a:endParaRPr/>
          </a:p>
          <a:p xmlns:a="http://schemas.openxmlformats.org/drawingml/2006/main">
            <a:r>
              <a:t>**Format:** Workshop + async reading + hands-on practice</a:t>
            </a:r>
            <a:endParaRPr/>
          </a:p>
          <a:p xmlns:a="http://schemas.openxmlformats.org/drawingml/2006/main">
            <a:r>
              <a:t>**Audience:** All People Team members</a:t>
            </a:r>
            <a:endParaRPr/>
          </a:p>
          <a:p xmlns:a="http://schemas.openxmlformats.org/drawingml/2006/main">
            <a:r>
              <a:t>**Prerequisite:** None</a:t>
            </a:r>
            <a:endParaRPr/>
          </a:p>
          <a:p xmlns:a="http://schemas.openxmlformats.org/drawingml/2006/main">
            <a:r>
              <a:t/>
            </a:r>
            <a:endParaRPr/>
          </a:p>
          <a:p xmlns:a="http://schemas.openxmlformats.org/drawingml/2006/main">
            <a:r>
              <a:t>**Lab prerequisite:** The facilitator confirms an organization-approved tool,</a:t>
            </a:r>
            <a:endParaRPr/>
          </a:p>
          <a:p xmlns:a="http://schemas.openxmlformats.org/drawingml/2006/main">
            <a:r>
              <a:t>provider handling, and a synthetic-only data boundary before any exercise.</a:t>
            </a:r>
            <a:endParaRPr/>
          </a:p>
          <a:p xmlns:a="http://schemas.openxmlformats.org/drawingml/2006/main">
            <a:r>
              <a:t>Modules 1-3 and the required governance approvals precede any real-work pilot.</a:t>
            </a:r>
            <a:endParaRPr/>
          </a:p>
          <a:p xmlns:a="http://schemas.openxmlformats.org/drawingml/2006/main">
            <a:r>
              <a:t>This curriculum does not authorize employee-data processing.</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Program overview</a:t>
            </a:r>
            <a:endParaRPr/>
          </a:p>
          <a:p xmlns:a="http://schemas.openxmlformats.org/drawingml/2006/main">
            <a:r>
              <a:t/>
            </a:r>
            <a:endParaRPr/>
          </a:p>
          <a:p xmlns:a="http://schemas.openxmlformats.org/drawingml/2006/main">
            <a:r>
              <a:t>| Module | Title | Duration | Format |</a:t>
            </a:r>
            <a:endParaRPr/>
          </a:p>
          <a:p xmlns:a="http://schemas.openxmlformats.org/drawingml/2006/main">
            <a:r>
              <a:t>|---|---|---|---|</a:t>
            </a:r>
            <a:endParaRPr/>
          </a:p>
          <a:p xmlns:a="http://schemas.openxmlformats.org/drawingml/2006/main">
            <a:r>
              <a:t>| 1 | How AI works, what HR professionals actually need to know | 90 min | Workshop |</a:t>
            </a:r>
            <a:endParaRPr/>
          </a:p>
          <a:p xmlns:a="http://schemas.openxmlformats.org/drawingml/2006/main">
            <a:r>
              <a:t>| 2 | Using AI in your daily HR work | 2 hours | Workshop + lab |</a:t>
            </a:r>
            <a:endParaRPr/>
          </a:p>
          <a:p xmlns:a="http://schemas.openxmlformats.org/drawingml/2006/main">
            <a:r>
              <a:t>| 3 | Governance, ethics, and responsible use | 90 min | Workshop |</a:t>
            </a:r>
            <a:endParaRPr/>
          </a:p>
          <a:p xmlns:a="http://schemas.openxmlformats.org/drawingml/2006/main">
            <a:r>
              <a:t>| 4 | Building and scaling AI use cases | 2 hours | Workshop + project |</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1: How AI works, what HR professionals actually need to know</a:t>
            </a:r>
            <a:endParaRPr/>
          </a:p>
          <a:p xmlns:a="http://schemas.openxmlformats.org/drawingml/2006/main">
            <a:r>
              <a:t/>
            </a:r>
            <a:endParaRPr/>
          </a:p>
          <a:p xmlns:a="http://schemas.openxmlformats.org/drawingml/2006/main">
            <a:r>
              <a:t>**Learning objectives:**</a:t>
            </a:r>
            <a:endParaRPr/>
          </a:p>
          <a:p xmlns:a="http://schemas.openxmlformats.org/drawingml/2006/main">
            <a:r>
              <a:t>- Explain the difference between traditional automation and generative AI</a:t>
            </a:r>
            <a:endParaRPr/>
          </a:p>
          <a:p xmlns:a="http://schemas.openxmlformats.org/drawingml/2006/main">
            <a:r>
              <a:t>- Describe why AI "hallucinates" and how to mitigate it in HR contexts</a:t>
            </a:r>
            <a:endParaRPr/>
          </a:p>
          <a:p xmlns:a="http://schemas.openxmlformats.org/drawingml/2006/main">
            <a:r>
              <a:t>- Identify which HR tasks are good candidates for AI assistance and which are not</a:t>
            </a:r>
            <a:endParaRPr/>
          </a:p>
          <a:p xmlns:a="http://schemas.openxmlformats.org/drawingml/2006/main">
            <a:r>
              <a:t/>
            </a:r>
            <a:endParaRPr/>
          </a:p>
          <a:p xmlns:a="http://schemas.openxmlformats.org/drawingml/2006/main">
            <a:r>
              <a:t>**Session outline (90 minutes):**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0:00–0:10 | Opening: What do you already believe about AI? (quick poll + discussion) |</a:t>
            </a:r>
            <a:endParaRPr/>
          </a:p>
          <a:p xmlns:a="http://schemas.openxmlformats.org/drawingml/2006/main">
            <a:r>
              <a:t>| 0:10–0:30 | Concept: How LLMs work, without the jargon (facilitator presentation) |</a:t>
            </a:r>
            <a:endParaRPr/>
          </a:p>
          <a:p xmlns:a="http://schemas.openxmlformats.org/drawingml/2006/main">
            <a:r>
              <a:t>| 0:30–0:45 | Concept: Hallucination, confidence, and why AI makes things up |</a:t>
            </a:r>
            <a:endParaRPr/>
          </a:p>
          <a:p xmlns:a="http://schemas.openxmlformats.org/drawingml/2006/main">
            <a:r>
              <a:t>| 0:45–1:05 | Exercise: Spot the hallucination (participants identify errors in AI-generated HR content) |</a:t>
            </a:r>
            <a:endParaRPr/>
          </a:p>
          <a:p xmlns:a="http://schemas.openxmlformats.org/drawingml/2006/main">
            <a:r>
              <a:t>| 1:05–1:20 | Discussion: Where should HR use AI? Where should we be cautious? |</a:t>
            </a:r>
            <a:endParaRPr/>
          </a:p>
          <a:p xmlns:a="http://schemas.openxmlformats.org/drawingml/2006/main">
            <a:r>
              <a:t>| 1:20–1:30 | Wrap-up + homework: Try one AI tool before next session |</a:t>
            </a:r>
            <a:endParaRPr/>
          </a:p>
          <a:p xmlns:a="http://schemas.openxmlformats.org/drawingml/2006/main">
            <a:r>
              <a:t/>
            </a:r>
            <a:endParaRPr/>
          </a:p>
          <a:p xmlns:a="http://schemas.openxmlformats.org/drawingml/2006/main">
            <a:r>
              <a:t>**Key concepts to cover:**</a:t>
            </a:r>
            <a:endParaRPr/>
          </a:p>
          <a:p xmlns:a="http://schemas.openxmlformats.org/drawingml/2006/main">
            <a:r>
              <a:t/>
            </a:r>
            <a:endParaRPr/>
          </a:p>
          <a:p xmlns:a="http://schemas.openxmlformats.org/drawingml/2006/main">
            <a:r>
              <a:t>*What LLMs actually are:*</a:t>
            </a:r>
            <a:endParaRPr/>
          </a:p>
          <a:p xmlns:a="http://schemas.openxmlformats.org/drawingml/2006/main">
            <a:r>
              <a:t>Large language models predict the next most likely word given context. They don't "know" things the way a database knows things, they pattern-match against training data. This is why they can sound authoritative while being wrong.</a:t>
            </a:r>
            <a:endParaRPr/>
          </a:p>
          <a:p xmlns:a="http://schemas.openxmlformats.org/drawingml/2006/main">
            <a:r>
              <a:t/>
            </a:r>
            <a:endParaRPr/>
          </a:p>
          <a:p xmlns:a="http://schemas.openxmlformats.org/drawingml/2006/main">
            <a:r>
              <a:t>*The spectrum from rules to agents:*</a:t>
            </a:r>
            <a:endParaRPr/>
          </a:p>
          <a:p xmlns:a="http://schemas.openxmlformats.org/drawingml/2006/main">
            <a:r>
              <a:t>```</a:t>
            </a:r>
            <a:endParaRPr/>
          </a:p>
          <a:p xmlns:a="http://schemas.openxmlformats.org/drawingml/2006/main">
            <a:r>
              <a:t>Rules            →  Assist / Augment              →  Agent</a:t>
            </a:r>
            <a:endParaRPr/>
          </a:p>
          <a:p xmlns:a="http://schemas.openxmlformats.org/drawingml/2006/main">
            <a:r>
              <a:t>(deterministic)     (a person decides or owns)       (a model acts across several steps)</a:t>
            </a:r>
            <a:endParaRPr/>
          </a:p>
          <a:p xmlns:a="http://schemas.openxmlformats.org/drawingml/2006/main">
            <a:r>
              <a:t>```</a:t>
            </a:r>
            <a:endParaRPr/>
          </a:p>
          <a:p xmlns:a="http://schemas.openxmlformats.org/drawingml/2006/main">
            <a:r>
              <a:t>Use rules when rules reliably give the right answer. Most HR uses of AI belong in the middle. An agent, where a model takes several actions through tools with limited review between them, has to earn that autonomy through evidence and brings new governance requirements.</a:t>
            </a:r>
            <a:endParaRPr/>
          </a:p>
          <a:p xmlns:a="http://schemas.openxmlformats.org/drawingml/2006/main">
            <a:r>
              <a:t/>
            </a:r>
            <a:endParaRPr/>
          </a:p>
          <a:p xmlns:a="http://schemas.openxmlformats.org/drawingml/2006/main">
            <a:r>
              <a:t>*Prompt quality drives output quality:*</a:t>
            </a:r>
            <a:endParaRPr/>
          </a:p>
          <a:p xmlns:a="http://schemas.openxmlformats.org/drawingml/2006/main">
            <a:r>
              <a:t>Clear prompts help define a task and its boundaries. Output quality also depends on the model, source material, workflow controls, and verification. A well-written prompt does not establish factual accuracy or safe HR judgment.</a:t>
            </a:r>
            <a:endParaRPr/>
          </a:p>
          <a:p xmlns:a="http://schemas.openxmlformats.org/drawingml/2006/main">
            <a:r>
              <a:t/>
            </a:r>
            <a:endParaRPr/>
          </a:p>
          <a:p xmlns:a="http://schemas.openxmlformats.org/drawingml/2006/main">
            <a:r>
              <a:t>**Pre-reading (assign before session):**</a:t>
            </a:r>
            <a:endParaRPr/>
          </a:p>
          <a:p xmlns:a="http://schemas.openxmlformats.org/drawingml/2006/main">
            <a:r>
              <a:t>- [Your organization's AI use policy](../03-governance/ai-use-policy.md)</a:t>
            </a:r>
            <a:endParaRPr/>
          </a:p>
          <a:p xmlns:a="http://schemas.openxmlformats.org/drawingml/2006/main">
            <a:r>
              <a:t>- One-page primer on generative AI for non-technical audiences (create or source)</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2: Using AI in your daily HR work</a:t>
            </a:r>
            <a:endParaRPr/>
          </a:p>
          <a:p xmlns:a="http://schemas.openxmlformats.org/drawingml/2006/main">
            <a:r>
              <a:t/>
            </a:r>
            <a:endParaRPr/>
          </a:p>
          <a:p xmlns:a="http://schemas.openxmlformats.org/drawingml/2006/main">
            <a:r>
              <a:t>**Learning objectives:**</a:t>
            </a:r>
            <a:endParaRPr/>
          </a:p>
          <a:p xmlns:a="http://schemas.openxmlformats.org/drawingml/2006/main">
            <a:r>
              <a:t>- Write effective prompts for HR use cases</a:t>
            </a:r>
            <a:endParaRPr/>
          </a:p>
          <a:p xmlns:a="http://schemas.openxmlformats.org/drawingml/2006/main">
            <a:r>
              <a:t>- Use the prompt library for at least 3 HR workflows</a:t>
            </a:r>
            <a:endParaRPr/>
          </a:p>
          <a:p xmlns:a="http://schemas.openxmlformats.org/drawingml/2006/main">
            <a:r>
              <a:t>- Identify when to use AI, when to verify AI output, and when not to use it</a:t>
            </a:r>
            <a:endParaRPr/>
          </a:p>
          <a:p xmlns:a="http://schemas.openxmlformats.org/drawingml/2006/main">
            <a:r>
              <a:t/>
            </a:r>
            <a:endParaRPr/>
          </a:p>
          <a:p xmlns:a="http://schemas.openxmlformats.org/drawingml/2006/main">
            <a:r>
              <a:t>**Session outline (2 hours including lab):**</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Share-back from Module 1 homework, what did you try, what happened? |</a:t>
            </a:r>
            <a:endParaRPr/>
          </a:p>
          <a:p xmlns:a="http://schemas.openxmlformats.org/drawingml/2006/main">
            <a:r>
              <a:t>| 0:15–0:45 | Prompt engineering for HR: the four elements of a good prompt |</a:t>
            </a:r>
            <a:endParaRPr/>
          </a:p>
          <a:p xmlns:a="http://schemas.openxmlformats.org/drawingml/2006/main">
            <a:r>
              <a:t>| 0:45–1:10 | Live demo: Onboarding plan, performance review draft, policy Q&amp;A |</a:t>
            </a:r>
            <a:endParaRPr/>
          </a:p>
          <a:p xmlns:a="http://schemas.openxmlformats.org/drawingml/2006/main">
            <a:r>
              <a:t>| 1:10–1:50 | Hands-on lab: Each participant works through 2 prompts using synthetic HR scenarios in organization-approved tools |</a:t>
            </a:r>
            <a:endParaRPr/>
          </a:p>
          <a:p xmlns:a="http://schemas.openxmlformats.org/drawingml/2006/main">
            <a:r>
              <a:t>| 1:50–2:00 | Debrief: What surprised you? What didn't work? |</a:t>
            </a:r>
            <a:endParaRPr/>
          </a:p>
          <a:p xmlns:a="http://schemas.openxmlformats.org/drawingml/2006/main">
            <a:r>
              <a:t/>
            </a:r>
            <a:endParaRPr/>
          </a:p>
          <a:p xmlns:a="http://schemas.openxmlformats.org/drawingml/2006/main">
            <a:r>
              <a:t>**The four elements of an effective HR prompt:**</a:t>
            </a:r>
            <a:endParaRPr/>
          </a:p>
          <a:p xmlns:a="http://schemas.openxmlformats.org/drawingml/2006/main">
            <a:r>
              <a:t/>
            </a:r>
            <a:endParaRPr/>
          </a:p>
          <a:p xmlns:a="http://schemas.openxmlformats.org/drawingml/2006/main">
            <a:r>
              <a:t>1. **Role**: Define the task perspective, such as drafting support for an HRBP. A role instruction does not give the model professional authority.</a:t>
            </a:r>
            <a:endParaRPr/>
          </a:p>
          <a:p xmlns:a="http://schemas.openxmlformats.org/drawingml/2006/main">
            <a:r>
              <a:t/>
            </a:r>
            <a:endParaRPr/>
          </a:p>
          <a:p xmlns:a="http://schemas.openxmlformats.org/drawingml/2006/main">
            <a:r>
              <a:t>2. **Context**: Provide the specific details the AI needs. Role, tenure, team size, situation. Don't make the AI guess.</a:t>
            </a:r>
            <a:endParaRPr/>
          </a:p>
          <a:p xmlns:a="http://schemas.openxmlformats.org/drawingml/2006/main">
            <a:r>
              <a:t/>
            </a:r>
            <a:endParaRPr/>
          </a:p>
          <a:p xmlns:a="http://schemas.openxmlformats.org/drawingml/2006/main">
            <a:r>
              <a:t>3. **Task**: State clearly what you want it to produce. One output per prompt. "Draft a..." is clearer than "Help me with..."</a:t>
            </a:r>
            <a:endParaRPr/>
          </a:p>
          <a:p xmlns:a="http://schemas.openxmlformats.org/drawingml/2006/main">
            <a:r>
              <a:t/>
            </a:r>
            <a:endParaRPr/>
          </a:p>
          <a:p xmlns:a="http://schemas.openxmlformats.org/drawingml/2006/main">
            <a:r>
              <a:t>4. **Constraints**: Define length, tone, format, exclusions, and the verification needed. Check whether the output follows them.</a:t>
            </a:r>
            <a:endParaRPr/>
          </a:p>
          <a:p xmlns:a="http://schemas.openxmlformats.org/drawingml/2006/main">
            <a:r>
              <a:t/>
            </a:r>
            <a:endParaRPr/>
          </a:p>
          <a:p xmlns:a="http://schemas.openxmlformats.org/drawingml/2006/main">
            <a:r>
              <a:t>**Lab instructions:**</a:t>
            </a:r>
            <a:endParaRPr/>
          </a:p>
          <a:p xmlns:a="http://schemas.openxmlformats.org/drawingml/2006/main">
            <a:r>
              <a:t/>
            </a:r>
            <a:endParaRPr/>
          </a:p>
          <a:p xmlns:a="http://schemas.openxmlformats.org/drawingml/2006/main">
            <a:r>
              <a:t>Participants choose 2 prompts from the library that are relevant to their current work:</a:t>
            </a:r>
            <a:endParaRPr/>
          </a:p>
          <a:p xmlns:a="http://schemas.openxmlformats.org/drawingml/2006/main">
            <a:r>
              <a:t>1. Run the prompt with a fictional HR scenario in an organization-approved tool. Do not upload real employee, candidate, compensation, or confidential employer information.</a:t>
            </a:r>
            <a:endParaRPr/>
          </a:p>
          <a:p xmlns:a="http://schemas.openxmlformats.org/drawingml/2006/main">
            <a:r>
              <a:t>2. Evaluate the output: What's useful? What's wrong or missing? What would you change before using it?</a:t>
            </a:r>
            <a:endParaRPr/>
          </a:p>
          <a:p xmlns:a="http://schemas.openxmlformats.org/drawingml/2006/main">
            <a:r>
              <a:t>3. Iterate: Modify the prompt once based on what you learned and run it again</a:t>
            </a:r>
            <a:endParaRPr/>
          </a:p>
          <a:p xmlns:a="http://schemas.openxmlformats.org/drawingml/2006/main">
            <a:r>
              <a:t>4. Note: What changed between run 1 and run 2?</a:t>
            </a:r>
            <a:endParaRPr/>
          </a:p>
          <a:p xmlns:a="http://schemas.openxmlformats.org/drawingml/2006/main">
            <a:r>
              <a:t/>
            </a:r>
            <a:endParaRPr/>
          </a:p>
          <a:p xmlns:a="http://schemas.openxmlformats.org/drawingml/2006/main">
            <a:r>
              <a:t>**The verify-before-use rule:**</a:t>
            </a:r>
            <a:endParaRPr/>
          </a:p>
          <a:p xmlns:a="http://schemas.openxmlformats.org/drawingml/2006/main">
            <a:r>
              <a:t/>
            </a:r>
            <a:endParaRPr/>
          </a:p>
          <a:p xmlns:a="http://schemas.openxmlformats.org/drawingml/2006/main">
            <a:r>
              <a:t>Introduce and reinforce this heuristic:</a:t>
            </a:r>
            <a:endParaRPr/>
          </a:p>
          <a:p xmlns:a="http://schemas.openxmlformats.org/drawingml/2006/main">
            <a:r>
              <a:t>- Policy details → always verify against source system before sharing</a:t>
            </a:r>
            <a:endParaRPr/>
          </a:p>
          <a:p xmlns:a="http://schemas.openxmlformats.org/drawingml/2006/main">
            <a:r>
              <a:t>- Legal requirements → always verify with Legal before relying on</a:t>
            </a:r>
            <a:endParaRPr/>
          </a:p>
          <a:p xmlns:a="http://schemas.openxmlformats.org/drawingml/2006/main">
            <a:r>
              <a:t>- Factual claims → spot-check against a known source</a:t>
            </a:r>
            <a:endParaRPr/>
          </a:p>
          <a:p xmlns:a="http://schemas.openxmlformats.org/drawingml/2006/main">
            <a:r>
              <a:t>- Tone and content → always read before sending; AI doesn't know your audience</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3: Governance, ethics, and responsible use</a:t>
            </a:r>
            <a:endParaRPr/>
          </a:p>
          <a:p xmlns:a="http://schemas.openxmlformats.org/drawingml/2006/main">
            <a:r>
              <a:t/>
            </a:r>
            <a:endParaRPr/>
          </a:p>
          <a:p xmlns:a="http://schemas.openxmlformats.org/drawingml/2006/main">
            <a:r>
              <a:t>**Learning objectives:**</a:t>
            </a:r>
            <a:endParaRPr/>
          </a:p>
          <a:p xmlns:a="http://schemas.openxmlformats.org/drawingml/2006/main">
            <a:r>
              <a:t>- Apply the organization's AI use policy to real HR scenarios</a:t>
            </a:r>
            <a:endParaRPr/>
          </a:p>
          <a:p xmlns:a="http://schemas.openxmlformats.org/drawingml/2006/main">
            <a:r>
              <a:t>- Identify the key legal risk areas in HR AI (bias, privacy, employment law)</a:t>
            </a:r>
            <a:endParaRPr/>
          </a:p>
          <a:p xmlns:a="http://schemas.openxmlformats.org/drawingml/2006/main">
            <a:r>
              <a:t>- Complete a basic risk assessment for a new use case</a:t>
            </a:r>
            <a:endParaRPr/>
          </a:p>
          <a:p xmlns:a="http://schemas.openxmlformats.org/drawingml/2006/main">
            <a:r>
              <a:t/>
            </a:r>
            <a:endParaRPr/>
          </a:p>
          <a:p xmlns:a="http://schemas.openxmlformats.org/drawingml/2006/main">
            <a:r>
              <a:t>**Session outline (90 minutes):**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Case study: Three HR AI failures and what we can learn (discussion) |</a:t>
            </a:r>
            <a:endParaRPr/>
          </a:p>
          <a:p xmlns:a="http://schemas.openxmlformats.org/drawingml/2006/main">
            <a:r>
              <a:t>| 0:15–0:40 | Framework: What makes AI use in HR risky? Legal and ethical dimensions |</a:t>
            </a:r>
            <a:endParaRPr/>
          </a:p>
          <a:p xmlns:a="http://schemas.openxmlformats.org/drawingml/2006/main">
            <a:r>
              <a:t>| 0:40–1:00 | Scenario practice: Is this use case okay? (small groups, 4 scenarios) |</a:t>
            </a:r>
            <a:endParaRPr/>
          </a:p>
          <a:p xmlns:a="http://schemas.openxmlformats.org/drawingml/2006/main">
            <a:r>
              <a:t>| 1:00–1:20 | Walk-through: The risk assessment template |</a:t>
            </a:r>
            <a:endParaRPr/>
          </a:p>
          <a:p xmlns:a="http://schemas.openxmlformats.org/drawingml/2006/main">
            <a:r>
              <a:t>| 1:20–1:30 | Q&amp;A + open discussion |</a:t>
            </a:r>
            <a:endParaRPr/>
          </a:p>
          <a:p xmlns:a="http://schemas.openxmlformats.org/drawingml/2006/main">
            <a:r>
              <a:t/>
            </a:r>
            <a:endParaRPr/>
          </a:p>
          <a:p xmlns:a="http://schemas.openxmlformats.org/drawingml/2006/main">
            <a:r>
              <a:t>&gt; **Note on regulatory currency:** Use the [Key dates for HR](../03-governance/README.md#key-dates-for-hr) and its linked primary sources as the dated reference. The slides summarize risk questions; they are not a complete legal reference. Have Legal verify jurisdiction, scope, obligations, and effective dates before delivery or adoption.</a:t>
            </a:r>
            <a:endParaRPr/>
          </a:p>
          <a:p xmlns:a="http://schemas.openxmlformats.org/drawingml/2006/main">
            <a:r>
              <a:t/>
            </a:r>
            <a:endParaRPr/>
          </a:p>
          <a:p xmlns:a="http://schemas.openxmlformats.org/drawingml/2006/main">
            <a:r>
              <a:t>**Key legal risk areas to cover:**</a:t>
            </a:r>
            <a:endParaRPr/>
          </a:p>
          <a:p xmlns:a="http://schemas.openxmlformats.org/drawingml/2006/main">
            <a:r>
              <a:t/>
            </a:r>
            <a:endParaRPr/>
          </a:p>
          <a:p xmlns:a="http://schemas.openxmlformats.org/drawingml/2006/main">
            <a:r>
              <a:t>*Bias and disparate impact:*</a:t>
            </a:r>
            <a:endParaRPr/>
          </a:p>
          <a:p xmlns:a="http://schemas.openxmlformats.org/drawingml/2006/main">
            <a:r>
              <a:t>AI trained on historical HR data can encode and amplify past discrimination. A history in which 80% of engineering hires were male is a reason to examine labels, features, selection effects, and group outcomes; that proportion alone does not determine how a model will score resumes. Adverse impact testing is a core control. It is required by law in some jurisdictions (NYC Local Law 144 mandates an annual bias audit for covered tools) and expected as evidence of reasonable care in many others. Confirm the cadence with Legal. See the [NIST AI RMF](https://www.nist.gov/itl/ai-risk-management-framework).</a:t>
            </a:r>
            <a:endParaRPr/>
          </a:p>
          <a:p xmlns:a="http://schemas.openxmlformats.org/drawingml/2006/main">
            <a:r>
              <a:t/>
            </a:r>
            <a:endParaRPr/>
          </a:p>
          <a:p xmlns:a="http://schemas.openxmlformats.org/drawingml/2006/main">
            <a:r>
              <a:t>*Illinois AI Video Interview Act, NYC Local Law 144, and emerging state laws:*</a:t>
            </a:r>
            <a:endParaRPr/>
          </a:p>
          <a:p xmlns:a="http://schemas.openxmlformats.org/drawingml/2006/main">
            <a:r>
              <a:t>Several jurisdictions now require disclosure, impact assessments, or consent for AI use in hiring. Illinois's AI Video Interview Act ([820 ILCS 42](https://www.ilga.gov/Legislation/ILCS/Articles?ActID=4015&amp;ChapterID=68)) governs AI analysis of recorded video interviews, including notice and consent before the interview. Confirm its current requirements against the statute before relying on them. Illinois also amended its Human Rights Act via HB 3773 (effective January 1, 2026) to broadly prohibit discriminatory AI use in hiring and promotion, not just video interviews. A companion law, Public Act 104-0425 (SB 2487, effective January 1, 2026), gives the Human Rights Commission tiered civil penalty authority for violations: up to $16,000 for a first offense, up to $42,500 with one prior violation within five years, up to $70,000 for two or more within seven years. The regulatory landscape is shifting quickly. Use cases involving hiring must be reviewed against current state law.</a:t>
            </a:r>
            <a:endParaRPr/>
          </a:p>
          <a:p xmlns:a="http://schemas.openxmlformats.org/drawingml/2006/main">
            <a:r>
              <a:t/>
            </a:r>
            <a:endParaRPr/>
          </a:p>
          <a:p xmlns:a="http://schemas.openxmlformats.org/drawingml/2006/main">
            <a:r>
              <a:t>NYC Local Law 144 enforcement is entering a stricter phase. A December 2025 NY State Comptroller audit found DCWP's enforcement "ineffective": DCWP's own review of 32 companies' bias-audit disclosures caught 1 likely non-compliance issue, where the Comptroller's review of the same 32 found at least 17. Expect more investigations and higher penalties as DCWP responds to the audit's recommendations, not just the disclosure-and-audit paperwork the law describes on paper.</a:t>
            </a:r>
            <a:endParaRPr/>
          </a:p>
          <a:p xmlns:a="http://schemas.openxmlformats.org/drawingml/2006/main">
            <a:r>
              <a:t/>
            </a:r>
            <a:endParaRPr/>
          </a:p>
          <a:p xmlns:a="http://schemas.openxmlformats.org/drawingml/2006/main">
            <a:r>
              <a:t>*Colorado's Automated Decision-Making Technology Act:*</a:t>
            </a:r>
            <a:endParaRPr/>
          </a:p>
          <a:p xmlns:a="http://schemas.openxmlformats.org/drawingml/2006/main">
            <a:r>
              <a:t>Colorado SB26-189 (signed 14 May 2026, Colo. Sess. Laws ch. 131) repeals and replaces the state's 2024 AI consumer protection law. It covers "consequential decisions," including employment, made using automated decision-making technology (ADMT) that materially influences the outcome. Starting January 1, 2027, developers must give deployers technical documentation on intended use, training data categories, known limitations, and human review instructions. Deployers will owe consumers notice at the point of interaction, and within 30 days of any adverse consequential decision, a plain-language explanation plus the right to request human review and reconsideration. Records must be retained 3 years. The attorney general enforces under the Colorado Consumer Protection Act, with a 60-day cure period through January 1, 2030.</a:t>
            </a:r>
            <a:endParaRPr/>
          </a:p>
          <a:p xmlns:a="http://schemas.openxmlformats.org/drawingml/2006/main">
            <a:r>
              <a:t/>
            </a:r>
            <a:endParaRPr/>
          </a:p>
          <a:p xmlns:a="http://schemas.openxmlformats.org/drawingml/2006/main">
            <a:r>
              <a:t>*Connecticut: AI Responsibility and Transparency Act (Public Act 26-15):*</a:t>
            </a:r>
            <a:endParaRPr/>
          </a:p>
          <a:p xmlns:a="http://schemas.openxmlformats.org/drawingml/2006/main">
            <a:r>
              <a:t>Connecticut's SB 5 became Public Act 26-15 in June 2026. It is the most comprehensive state AI employment statute enacted so far, and it phases in across two years. Read the dates carefully, because the parts that bite first are not the disclosure rules.</a:t>
            </a:r>
            <a:endParaRPr/>
          </a:p>
          <a:p xmlns:a="http://schemas.openxmlformats.org/drawingml/2006/main">
            <a:r>
              <a:t/>
            </a:r>
            <a:endParaRPr/>
          </a:p>
          <a:p xmlns:a="http://schemas.openxmlformats.org/drawingml/2006/main">
            <a:r>
              <a:t>Live October 1, 2026:</a:t>
            </a:r>
            <a:endParaRPr/>
          </a:p>
          <a:p xmlns:a="http://schemas.openxmlformats.org/drawingml/2006/main">
            <a:r>
              <a:t/>
            </a:r>
            <a:endParaRPr/>
          </a:p>
          <a:p xmlns:a="http://schemas.openxmlformats.org/drawingml/2006/main">
            <a:r>
              <a:t>- **AI is not a defense.** Sections 13 and 14 amend Conn. Gen. Stat. 46a-60 so that using an automated employment-related decision technology is not a defense against a discrimination complaint. The commission or court may consider the quality, efficacy, recency, and scope of anti-bias testing, its results, and the employer's response. This does not establish that a stale audit is always worse than no audit, or that testing guarantees a favorable legal outcome. Preserve the testing evidence and corrective actions for counsel review. Source: [Public Act 26-15](https://www.cga.ct.gov/2026/ACT/PA/PDF/2026PA-00015-R00SB-00005-PA.PDF).</a:t>
            </a:r>
            <a:endParaRPr/>
          </a:p>
          <a:p xmlns:a="http://schemas.openxmlformats.org/drawingml/2006/main">
            <a:r>
              <a:t>- **WARN notices.** Section 26 requires any employer serving a federal WARN notice under 29 USC 2102(a) to disclose to the Connecticut Labor Department whether the layoffs relate to the employer's use of AI or other technological change. Note the disclosure runs to the department, not to affected employees.</a:t>
            </a:r>
            <a:endParaRPr/>
          </a:p>
          <a:p xmlns:a="http://schemas.openxmlformats.org/drawingml/2006/main">
            <a:r>
              <a:t/>
            </a:r>
            <a:endParaRPr/>
          </a:p>
          <a:p xmlns:a="http://schemas.openxmlformats.org/drawingml/2006/main">
            <a:r>
              <a:t>Live October 1, 2027 (sections 7 to 12 take effect in 2026, but the duties attach only to technology deployed on or after October 1, 2027):</a:t>
            </a:r>
            <a:endParaRPr/>
          </a:p>
          <a:p xmlns:a="http://schemas.openxmlformats.org/drawingml/2006/main">
            <a:r>
              <a:t/>
            </a:r>
            <a:endParaRPr/>
          </a:p>
          <a:p xmlns:a="http://schemas.openxmlformats.org/drawingml/2006/main">
            <a:r>
              <a:t>- Scope is set by "substantial factor," defined as a factor that meaningfully alters the outcome of an employment-related decision. Covered decisions are hiring, promotion, discipline, discharge, renewal, selection for training or apprenticeship, and terms, privileges or conditions of employment. Carved out: nonmaterial changes to job tasks or hours, and decisions about workplace health and safety, scheduling, and productivity monitoring.</a:t>
            </a:r>
            <a:endParaRPr/>
          </a:p>
          <a:p xmlns:a="http://schemas.openxmlformats.org/drawingml/2006/main">
            <a:r>
              <a:t>- Developers must give deployers the information deployers need to meet their duties, but only where the tool was advertised, marketed, configured, contracted for, sold, or licensed to materially influence an employment decision.</a:t>
            </a:r>
            <a:endParaRPr/>
          </a:p>
          <a:p xmlns:a="http://schemas.openxmlformats.org/drawingml/2006/main">
            <a:r>
              <a:t>- Deployers must disclose in plain language when an employee or applicant is interacting with the technology, unless a reasonable person would find it obvious.</a:t>
            </a:r>
            <a:endParaRPr/>
          </a:p>
          <a:p xmlns:a="http://schemas.openxmlformats.org/drawingml/2006/main">
            <a:r>
              <a:t>- Before the decision is made, deployers must give written notice covering six specific points: that the technology was deployed, its purpose and the nature of the decision, the tool's trade name, the categories of personal data analyzed and how they will be assessed, the sources of that data, and deployer contact information.</a:t>
            </a:r>
            <a:endParaRPr/>
          </a:p>
          <a:p xmlns:a="http://schemas.openxmlformats.org/drawingml/2006/main">
            <a:r>
              <a:t>- Trade secrets can be withheld, but the withholding party must send notice saying what is being withheld and why.</a:t>
            </a:r>
            <a:endParaRPr/>
          </a:p>
          <a:p xmlns:a="http://schemas.openxmlformats.org/drawingml/2006/main">
            <a:r>
              <a:t/>
            </a:r>
            <a:endParaRPr/>
          </a:p>
          <a:p xmlns:a="http://schemas.openxmlformats.org/drawingml/2006/main">
            <a:r>
              <a:t>Enforcement is narrower than the obligations suggest: violations are unfair or deceptive trade practices under CUTPA, enforced **solely by the Attorney General**, with an explicit statement that the act creates **no private right of action**. Violations occurring on or before December 31, 2027 carry a 60-day cure period.</a:t>
            </a:r>
            <a:endParaRPr/>
          </a:p>
          <a:p xmlns:a="http://schemas.openxmlformats.org/drawingml/2006/main">
            <a:r>
              <a:t/>
            </a:r>
            <a:endParaRPr/>
          </a:p>
          <a:p xmlns:a="http://schemas.openxmlformats.org/drawingml/2006/main">
            <a:r>
              <a:t>One provision to catch in procurement: Section 8(c) lets a developer contract to assume the deployer's disclosure and notice duties, provided the contract is explicit about which duties transfer. That is a negotiating lever worth asking every vendor about. See the [vendor intake checklist](../03-governance/vendor-intake-checklist.md).</a:t>
            </a:r>
            <a:endParaRPr/>
          </a:p>
          <a:p xmlns:a="http://schemas.openxmlformats.org/drawingml/2006/main">
            <a:r>
              <a:t/>
            </a:r>
            <a:endParaRPr/>
          </a:p>
          <a:p xmlns:a="http://schemas.openxmlformats.org/drawingml/2006/main">
            <a:r>
              <a:t>*California: FEHA algorithmic discrimination rules and CPPA ADMT regulations:*</a:t>
            </a:r>
            <a:endParaRPr/>
          </a:p>
          <a:p xmlns:a="http://schemas.openxmlformats.org/drawingml/2006/main">
            <a:r>
              <a:t>The Civil Rights Council's FEHA regulations on automated decision systems took effect October 1, 2025: they prohibit AI-driven disparate treatment or disparate impact in employment decisions, require four years of recordkeeping, and hold employers liable for discriminatory outcomes even when the tool comes from a third-party vendor. Separately, the [CPPA regulation package](https://cppa.ca.gov/announcements/2025/20250923.html) took effect January 1, 2026. Covered businesses must begin risk-assessment compliance in 2026; ADMT notice and consumer-rights compliance begins January 1, 2027. These dates govern different duties. Review the [final regulations](https://cppa.ca.gov/regulations/ccpa_updates.html) for scope, opt-out exceptions, appeal conditions, and transition rules for processing already underway.</a:t>
            </a:r>
            <a:endParaRPr/>
          </a:p>
          <a:p xmlns:a="http://schemas.openxmlformats.org/drawingml/2006/main">
            <a:r>
              <a:t/>
            </a:r>
            <a:endParaRPr/>
          </a:p>
          <a:p xmlns:a="http://schemas.openxmlformats.org/drawingml/2006/main">
            <a:r>
              <a:t>Four California workplace bills were approved and chaptered on 30 September 2026. All four are enacted law, with obligations beginning in 2027. The chaptered texts were reviewed on 9 October 2026. AB 1883, SB 951, and AB 1331 take effect on 1 January 2027 under [California Constitution Article IV, section 8(c)(1)](https://leginfo.legislature.ca.gov/faces/codes_displayText.xhtml?lawCode=CONS&amp;division=&amp;title=&amp;part=&amp;chapter=&amp;article=IV); none contains an urgency clause or a later operative-date provision. SB 947 takes effect on that date but expressly makes its new Labor Code part operative on 1 July 2027. See the [source register](../03-governance/claims/california-workplace-laws.json) and the [Governor's signing announcement](https://www.gov.ca.gov/2026/09/30/californias-nation-leading-ai-framework-just-got-stronger-governor-newsom-signs-more-first-in-the-nation-worker-protections-and-more/).</a:t>
            </a:r>
            <a:endParaRPr/>
          </a:p>
          <a:p xmlns:a="http://schemas.openxmlformats.org/drawingml/2006/main">
            <a:r>
              <a:t/>
            </a:r>
            <a:endParaRPr/>
          </a:p>
          <a:p xmlns:a="http://schemas.openxmlformats.org/drawingml/2006/main">
            <a:r>
              <a:t>- **[AB 1883](https://leginfo.legislature.ca.gov/faces/billNavClient.xhtml?bill_id=202520260AB1883)** (workplace surveillance tools, Chapter 853, Statutes of 2026) adds Labor Code Part 5.8 to bar employers from using AI-driven surveillance tools to recognize or infer an employee's emotional state, or to collect neural data, meaning data measured from the central or peripheral nervous system and not inferred from nonneural information. Safety uses are preserved, and there is a narrow carve-out for federally mandated aerospace and national security work. Enforcement runs through the Labor Commissioner or a public prosecutor, with penalties up to $500 per violation. It was enrolled on 3 September 2026 and approved by the Governor on 30 September 2026. Some published summaries report 3 September as the signing date; that is the enrollment date.</a:t>
            </a:r>
            <a:endParaRPr/>
          </a:p>
          <a:p xmlns:a="http://schemas.openxmlformats.org/drawingml/2006/main">
            <a:r>
              <a:t>- **[SB 947](https://leginfo.legislature.ca.gov/faces/billTextClient.xhtml?bill_id=202520260SB947)** (the "No Robo Bosses Act," Chapter 859, Statutes of 2026) is **operative 1 July 2027**, under new Labor Code section 1526.7. It bars sole reliance on an ADS for discipline or termination. Primary reliance requires human corroboration and written post-use notice when the decision is communicated. If corroboration fails, or the reviewer finds the output inaccurate, incomplete, or misleading, the employer must not use that output for the decision. The employee may request a meaningful description of their own data used by the ADS. Check the collective bargaining and federal-operation exceptions in sections 1526.5 and 1526.6.</a:t>
            </a:r>
            <a:endParaRPr/>
          </a:p>
          <a:p xmlns:a="http://schemas.openxmlformats.org/drawingml/2006/main">
            <a:r>
              <a:t>- **[SB 951](https://leginfo.legislature.ca.gov/faces/billTextClient.xhtml?bill_id=202520260SB951)** (Chapter 860, Statutes of 2026), **effective 1 January 2027**, adds technology-displacement information to an otherwise required Cal/WARN notice when AI or automation causes the event wholly or substantially. New Labor Code section 1401(d) requires affected jobs and locations, functions being automated, the technology category, and a technology-displacement heading. It retains the existing 60-day notice period. It does not enact the earlier proposal for a 90-day notice or an employer hiring-freeze notice; section 1402.7 instead requires an EDD study by 1 January 2028. Assess Cal/WARN coverage and exceptions before applying the notice requirement.</a:t>
            </a:r>
            <a:endParaRPr/>
          </a:p>
          <a:p xmlns:a="http://schemas.openxmlformats.org/drawingml/2006/main">
            <a:r>
              <a:t>- **[AB 1331](https://leginfo.legislature.ca.gov/faces/billTextClient.xhtml?bill_id=202520260AB1331)** (Chapter 851, Statutes of 2026), **effective 1 January 2027**, limits workplace bathroom surveillance and lets employees leave surveillance tools behind when entering a bathroom. New Labor Code section 1561 includes exceptions for court orders, one-time entry/exit checks, voluntary possession, and certain identification or safety devices. The tool definition reaches beyond AI. Review the full exceptions in sections 1561, 1564, and 1565 before changing monitoring practices.</a:t>
            </a:r>
            <a:endParaRPr/>
          </a:p>
          <a:p xmlns:a="http://schemas.openxmlformats.org/drawingml/2006/main">
            <a:r>
              <a:t/>
            </a:r>
            <a:endParaRPr/>
          </a:p>
          <a:p xmlns:a="http://schemas.openxmlformats.org/drawingml/2006/main">
            <a:r>
              <a:t>*Texas: Responsible AI Governance Act (TRAIGA):*</a:t>
            </a:r>
            <a:endParaRPr/>
          </a:p>
          <a:p xmlns:a="http://schemas.openxmlformats.org/drawingml/2006/main">
            <a:r>
              <a:t>Effective January 1, 2026 (HB 149, signed June 22, 2025). Narrower than Illinois or Colorado: TRAIGA prohibits intentional AI-based discrimination but does not create disparate impact liability, and the Attorney General has exclusive enforcement authority with a 60-day cure period before action.</a:t>
            </a:r>
            <a:endParaRPr/>
          </a:p>
          <a:p xmlns:a="http://schemas.openxmlformats.org/drawingml/2006/main">
            <a:r>
              <a:t/>
            </a:r>
            <a:endParaRPr/>
          </a:p>
          <a:p xmlns:a="http://schemas.openxmlformats.org/drawingml/2006/main">
            <a:r>
              <a:t>*New Jersey: no AI statute, but existing discrimination law already reaches AI:*</a:t>
            </a:r>
            <a:endParaRPr/>
          </a:p>
          <a:p xmlns:a="http://schemas.openxmlformats.org/drawingml/2006/main">
            <a:r>
              <a:t>New Jersey is the case that breaks the habit of scanning for AI-specific bills. It has no AI hiring statute. In January 2025 the Office of the Attorney General and the Division on Civil Rights issued guidance stating that the Law Against Discrimination (N.J.S.A. 10:5-1 et seq.) applies to algorithmic discrimination the same way it has long applied to other discriminatory conduct, in employment among other contexts. Three points matter for HR practice:</a:t>
            </a:r>
            <a:endParaRPr/>
          </a:p>
          <a:p xmlns:a="http://schemas.openxmlformats.org/drawingml/2006/main">
            <a:r>
              <a:t/>
            </a:r>
            <a:endParaRPr/>
          </a:p>
          <a:p xmlns:a="http://schemas.openxmlformats.org/drawingml/2006/main">
            <a:r>
              <a:t>- **No intent required, and a vendor tool is not a defense.** The guidance states that a covered entity "is not shielded from liability for algorithmic discrimination that results from the entity's use of an automated decision-making tool simply because the tool was developed by a third party or because the entity does not understand the inner workings of the tool."</a:t>
            </a:r>
            <a:endParaRPr/>
          </a:p>
          <a:p xmlns:a="http://schemas.openxmlformats.org/drawingml/2006/main">
            <a:r>
              <a:t>- **Disparate impact is covered.** Use of a tool with a disproportionate effect on a protected class is prohibited unless it is necessary to achieve a substantial, legitimate, nondiscriminatory interest and there is no less discriminatory alternative. Whether the employer tested the tool for bias or evaluated alternatives may be weighed as relevant evidence, which is the same pattern as Connecticut: your fairness audit becomes evidence.</a:t>
            </a:r>
            <a:endParaRPr/>
          </a:p>
          <a:p xmlns:a="http://schemas.openxmlformats.org/drawingml/2006/main">
            <a:r>
              <a:t>- **Reasonable accommodations are in scope.** A tool can violate the LAD by being inaccessible or by penalizing someone who uses an accommodation. The guidance's example is a typing-speed screen that cannot read a non-traditional keyboard.</a:t>
            </a:r>
            <a:endParaRPr/>
          </a:p>
          <a:p xmlns:a="http://schemas.openxmlformats.org/drawingml/2006/main">
            <a:r>
              <a:t/>
            </a:r>
            <a:endParaRPr/>
          </a:p>
          <a:p xmlns:a="http://schemas.openxmlformats.org/drawingml/2006/main">
            <a:r>
              <a:t>Two limits to state accurately when you teach this. The guidance is interpretive: it says on its face that it imposes no requirements beyond the LAD and will not be enforced as a substitute for enforcing the LAD. And it carries no effective date, because the underlying statute has been in force for decades. Do not present it as a new obligation that switched on in 2025. The takeaway for the class is the general one: a state with no AI bill is not a state with no AI exposure.</a:t>
            </a:r>
            <a:endParaRPr/>
          </a:p>
          <a:p xmlns:a="http://schemas.openxmlformats.org/drawingml/2006/main">
            <a:r>
              <a:t/>
            </a:r>
            <a:endParaRPr/>
          </a:p>
          <a:p xmlns:a="http://schemas.openxmlformats.org/drawingml/2006/main">
            <a:r>
              <a:t>*GDPR and CCPA:*</a:t>
            </a:r>
            <a:endParaRPr/>
          </a:p>
          <a:p xmlns:a="http://schemas.openxmlformats.org/drawingml/2006/main">
            <a:r>
              <a:t>Employees in covered jurisdictions have rights regarding automated decision-making. Know which of your employees are covered and how your AI use cases interact with their rights. See the California-specific rules above for the current state of play there.</a:t>
            </a:r>
            <a:endParaRPr/>
          </a:p>
          <a:p xmlns:a="http://schemas.openxmlformats.org/drawingml/2006/main">
            <a:r>
              <a:t/>
            </a:r>
            <a:endParaRPr/>
          </a:p>
          <a:p xmlns:a="http://schemas.openxmlformats.org/drawingml/2006/main">
            <a:r>
              <a:t>*UK: Data (Use and Access) Act 2025 replaces GDPR Article 22:*</a:t>
            </a:r>
            <a:endParaRPr/>
          </a:p>
          <a:p xmlns:a="http://schemas.openxmlformats.org/drawingml/2006/main">
            <a:r>
              <a:t>Section 80 of the UK's Data (Use and Access) Act 2025 took effect February 5, 2026 (Commencement Regulations SI 2026/82) and substitutes Article 22 of the UK GDPR with new Articles 22A to 22D. The new regime permits solely automated "significant decisions," those with a legal or similarly significant effect, more broadly than before, but requires safeguards: notice to the individual, the ability to make representations, the right to human intervention, and the right to contest the decision. Stricter restrictions still apply where special category data is used. Treat this as a distinct regime from EU GDPR Article 22, not an equivalent, for any AI use case touching UK-based workers or candidates.</a:t>
            </a:r>
            <a:endParaRPr/>
          </a:p>
          <a:p xmlns:a="http://schemas.openxmlformats.org/drawingml/2006/main">
            <a:r>
              <a:t/>
            </a:r>
            <a:endParaRPr/>
          </a:p>
          <a:p xmlns:a="http://schemas.openxmlformats.org/drawingml/2006/main">
            <a:r>
              <a:t>The ICO is already signaling how it will police this in recruitment specifically. A March 2026 ICO report on automated decision-making in hiring found many employers don't recognize they're doing ADM at all, and that "human review" in practice often amounts to rubber-stamping rather than a reviewer with real authority to change the outcome. Following that report, the ICO opened a consultation on draft ADM guidance, worth checking for the final version before relying on the March findings alone. Build the oversight role description to survive that scrutiny, not just to check the box.</a:t>
            </a:r>
            <a:endParaRPr/>
          </a:p>
          <a:p xmlns:a="http://schemas.openxmlformats.org/drawingml/2006/main">
            <a:r>
              <a:t/>
            </a:r>
            <a:endParaRPr/>
          </a:p>
          <a:p xmlns:a="http://schemas.openxmlformats.org/drawingml/2006/main">
            <a:r>
              <a:t>*Canada: no federal AI employment law, but Ontario requires disclosure:*</a:t>
            </a:r>
            <a:endParaRPr/>
          </a:p>
          <a:p xmlns:a="http://schemas.openxmlformats.org/drawingml/2006/main">
            <a:r>
              <a:t>Canada's federal AI bill (AIDA, part of Bill C-27) died when Parliament prorogued in January 2025 and has not been revived. AI regulation there runs through existing privacy, human rights, and sector law instead. Ontario is the exception: since January 1, 2026, employers with 25+ employees must disclose in publicly advertised job postings whether AI is used to screen, assess, or select candidates (Employment Standards Act, 2000 amendment).</a:t>
            </a:r>
            <a:endParaRPr/>
          </a:p>
          <a:p xmlns:a="http://schemas.openxmlformats.org/drawingml/2006/main">
            <a:r>
              <a:t/>
            </a:r>
            <a:endParaRPr/>
          </a:p>
          <a:p xmlns:a="http://schemas.openxmlformats.org/drawingml/2006/main">
            <a:r>
              <a:t>*The "AI as a manager" trap:*</a:t>
            </a:r>
            <a:endParaRPr/>
          </a:p>
          <a:p xmlns:a="http://schemas.openxmlformats.org/drawingml/2006/main">
            <a:r>
              <a:t>AI that monitors, evaluates, or scores employees without their knowledge, even for legitimate purposes, creates legal and trust exposure. Transparency is not just ethical, it's protective.</a:t>
            </a:r>
            <a:endParaRPr/>
          </a:p>
          <a:p xmlns:a="http://schemas.openxmlformats.org/drawingml/2006/main">
            <a:r>
              <a:t/>
            </a:r>
            <a:endParaRPr/>
          </a:p>
          <a:p xmlns:a="http://schemas.openxmlformats.org/drawingml/2006/main">
            <a:r>
              <a:t>**Scenario practice cards:**</a:t>
            </a:r>
            <a:endParaRPr/>
          </a:p>
          <a:p xmlns:a="http://schemas.openxmlformats.org/drawingml/2006/main">
            <a:r>
              <a:t/>
            </a:r>
            <a:endParaRPr/>
          </a:p>
          <a:p xmlns:a="http://schemas.openxmlformats.org/drawingml/2006/main">
            <a:r>
              <a:t>Print or share these four scenarios. Groups of 3–4 discuss: Is this use appropriate? What are the risks? What would you change?</a:t>
            </a:r>
            <a:endParaRPr/>
          </a:p>
          <a:p xmlns:a="http://schemas.openxmlformats.org/drawingml/2006/main">
            <a:r>
              <a:t/>
            </a:r>
            <a:endParaRPr/>
          </a:p>
          <a:p xmlns:a="http://schemas.openxmlformats.org/drawingml/2006/main">
            <a:r>
              <a:t>&gt; **Scenario A:** An AI tool automatically rejects resumes with gaps of more than 6 months without showing them to a recruiter.</a:t>
            </a:r>
            <a:endParaRPr/>
          </a:p>
          <a:p xmlns:a="http://schemas.openxmlformats.org/drawingml/2006/main">
            <a:r>
              <a:t/>
            </a:r>
            <a:endParaRPr/>
          </a:p>
          <a:p xmlns:a="http://schemas.openxmlformats.org/drawingml/2006/main">
            <a:r>
              <a:t>&gt; **Scenario B:** An HRBP uses an AI writing assistant to draft a PIP for an employee, then reviews and edits it before sharing with the manager.</a:t>
            </a:r>
            <a:endParaRPr/>
          </a:p>
          <a:p xmlns:a="http://schemas.openxmlformats.org/drawingml/2006/main">
            <a:r>
              <a:t/>
            </a:r>
            <a:endParaRPr/>
          </a:p>
          <a:p xmlns:a="http://schemas.openxmlformats.org/drawingml/2006/main">
            <a:r>
              <a:t>&gt; **Scenario C:** People Analytics builds an attrition risk model that scores all employees monthly and shares the scores directly with managers.</a:t>
            </a:r>
            <a:endParaRPr/>
          </a:p>
          <a:p xmlns:a="http://schemas.openxmlformats.org/drawingml/2006/main">
            <a:r>
              <a:t/>
            </a:r>
            <a:endParaRPr/>
          </a:p>
          <a:p xmlns:a="http://schemas.openxmlformats.org/drawingml/2006/main">
            <a:r>
              <a:t>&gt; **Scenario D:** An AI chatbot answers benefits questions for employees. It sometimes gives incorrect information but flags that users should confirm with HR.</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4: Building and scaling AI use cases</a:t>
            </a:r>
            <a:endParaRPr/>
          </a:p>
          <a:p xmlns:a="http://schemas.openxmlformats.org/drawingml/2006/main">
            <a:r>
              <a:t/>
            </a:r>
            <a:endParaRPr/>
          </a:p>
          <a:p xmlns:a="http://schemas.openxmlformats.org/drawingml/2006/main">
            <a:r>
              <a:t>**Learning objectives:**</a:t>
            </a:r>
            <a:endParaRPr/>
          </a:p>
          <a:p xmlns:a="http://schemas.openxmlformats.org/drawingml/2006/main">
            <a:r>
              <a:t>- Apply the prioritization matrix to identify your team's highest-value AI use cases</a:t>
            </a:r>
            <a:endParaRPr/>
          </a:p>
          <a:p xmlns:a="http://schemas.openxmlformats.org/drawingml/2006/main">
            <a:r>
              <a:t>- Define a use case with clear success metrics and governance requirements</a:t>
            </a:r>
            <a:endParaRPr/>
          </a:p>
          <a:p xmlns:a="http://schemas.openxmlformats.org/drawingml/2006/main">
            <a:r>
              <a:t>- Draft a basic implementation plan for a low-complexity use case</a:t>
            </a:r>
            <a:endParaRPr/>
          </a:p>
          <a:p xmlns:a="http://schemas.openxmlformats.org/drawingml/2006/main">
            <a:r>
              <a:t/>
            </a:r>
            <a:endParaRPr/>
          </a:p>
          <a:p xmlns:a="http://schemas.openxmlformats.org/drawingml/2006/main">
            <a:r>
              <a:t>**Session outline (2 hours):**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Opening: What does "scaling AI in HR" actually mean? |</a:t>
            </a:r>
            <a:endParaRPr/>
          </a:p>
          <a:p xmlns:a="http://schemas.openxmlformats.org/drawingml/2006/main">
            <a:r>
              <a:t>| 0:15–0:45 | Framework: From idea to deployment, the use case lifecycle |</a:t>
            </a:r>
            <a:endParaRPr/>
          </a:p>
          <a:p xmlns:a="http://schemas.openxmlformats.org/drawingml/2006/main">
            <a:r>
              <a:t>| 0:45–1:15 | Team exercise: Prioritization matrix applied to your team's top 5 ideas |</a:t>
            </a:r>
            <a:endParaRPr/>
          </a:p>
          <a:p xmlns:a="http://schemas.openxmlformats.org/drawingml/2006/main">
            <a:r>
              <a:t>| 1:15–1:45 | Small group: Draft a one-page use case spec for your top-ranked idea |</a:t>
            </a:r>
            <a:endParaRPr/>
          </a:p>
          <a:p xmlns:a="http://schemas.openxmlformats.org/drawingml/2006/main">
            <a:r>
              <a:t>| 1:45–2:00 | Gallery walk + feedback |</a:t>
            </a:r>
            <a:endParaRPr/>
          </a:p>
          <a:p xmlns:a="http://schemas.openxmlformats.org/drawingml/2006/main">
            <a:r>
              <a:t/>
            </a:r>
            <a:endParaRPr/>
          </a:p>
          <a:p xmlns:a="http://schemas.openxmlformats.org/drawingml/2006/main">
            <a:r>
              <a:t>**Use case lifecycle:**</a:t>
            </a:r>
            <a:endParaRPr/>
          </a:p>
          <a:p xmlns:a="http://schemas.openxmlformats.org/drawingml/2006/main">
            <a:r>
              <a:t/>
            </a:r>
            <a:endParaRPr/>
          </a:p>
          <a:p xmlns:a="http://schemas.openxmlformats.org/drawingml/2006/main">
            <a:r>
              <a:t>```</a:t>
            </a:r>
            <a:endParaRPr/>
          </a:p>
          <a:p xmlns:a="http://schemas.openxmlformats.org/drawingml/2006/main">
            <a:r>
              <a:t>Discover → Prioritize → Design → Pilot → Evaluate → Scale</a:t>
            </a:r>
            <a:endParaRPr/>
          </a:p>
          <a:p xmlns:a="http://schemas.openxmlformats.org/drawingml/2006/main">
            <a:r>
              <a:t>   ↑                                          |</a:t>
            </a:r>
            <a:endParaRPr/>
          </a:p>
          <a:p xmlns:a="http://schemas.openxmlformats.org/drawingml/2006/main">
            <a:r>
              <a:t>   └──────────────── iterate ─────────────────┘</a:t>
            </a:r>
            <a:endParaRPr/>
          </a:p>
          <a:p xmlns:a="http://schemas.openxmlformats.org/drawingml/2006/main">
            <a:r>
              <a:t>```</a:t>
            </a:r>
            <a:endParaRPr/>
          </a:p>
          <a:p xmlns:a="http://schemas.openxmlformats.org/drawingml/2006/main">
            <a:r>
              <a:t/>
            </a:r>
            <a:endParaRPr/>
          </a:p>
          <a:p xmlns:a="http://schemas.openxmlformats.org/drawingml/2006/main">
            <a:r>
              <a:t>- **Discover:** What problem are we solving? Who feels it most?</a:t>
            </a:r>
            <a:endParaRPr/>
          </a:p>
          <a:p xmlns:a="http://schemas.openxmlformats.org/drawingml/2006/main">
            <a:r>
              <a:t>- **Prioritize:** Use the matrix. Don't skip this.</a:t>
            </a:r>
            <a:endParaRPr/>
          </a:p>
          <a:p xmlns:a="http://schemas.openxmlformats.org/drawingml/2006/main">
            <a:r>
              <a:t>- **Design:** Define inputs, outputs, human review gates, success metrics, and fallback</a:t>
            </a:r>
            <a:endParaRPr/>
          </a:p>
          <a:p xmlns:a="http://schemas.openxmlformats.org/drawingml/2006/main">
            <a:r>
              <a:t>- **Pilot:** Small scope, high observation. 4–8 weeks.</a:t>
            </a:r>
            <a:endParaRPr/>
          </a:p>
          <a:p xmlns:a="http://schemas.openxmlformats.org/drawingml/2006/main">
            <a:r>
              <a:t>- **Evaluate:** Did it work? For whom? What didn't?</a:t>
            </a:r>
            <a:endParaRPr/>
          </a:p>
          <a:p xmlns:a="http://schemas.openxmlformats.org/drawingml/2006/main">
            <a:r>
              <a:t>- **Scale:** Expand with the lessons from pilot baked in</a:t>
            </a:r>
            <a:endParaRPr/>
          </a:p>
          <a:p xmlns:a="http://schemas.openxmlformats.org/drawingml/2006/main">
            <a:r>
              <a:t/>
            </a:r>
            <a:endParaRPr/>
          </a:p>
          <a:p xmlns:a="http://schemas.openxmlformats.org/drawingml/2006/main">
            <a:r>
              <a:t>**One-page use case spec template:**</a:t>
            </a:r>
            <a:endParaRPr/>
          </a:p>
          <a:p xmlns:a="http://schemas.openxmlformats.org/drawingml/2006/main">
            <a:r>
              <a:t/>
            </a:r>
            <a:endParaRPr/>
          </a:p>
          <a:p xmlns:a="http://schemas.openxmlformats.org/drawingml/2006/main">
            <a:r>
              <a:t>Participants complete this for their team's top-ranked use case:</a:t>
            </a:r>
            <a:endParaRPr/>
          </a:p>
          <a:p xmlns:a="http://schemas.openxmlformats.org/drawingml/2006/main">
            <a:r>
              <a:t/>
            </a:r>
            <a:endParaRPr/>
          </a:p>
          <a:p xmlns:a="http://schemas.openxmlformats.org/drawingml/2006/main">
            <a:r>
              <a:t>```</a:t>
            </a:r>
            <a:endParaRPr/>
          </a:p>
          <a:p xmlns:a="http://schemas.openxmlformats.org/drawingml/2006/main">
            <a:r>
              <a:t>Use case name:</a:t>
            </a:r>
            <a:endParaRPr/>
          </a:p>
          <a:p xmlns:a="http://schemas.openxmlformats.org/drawingml/2006/main">
            <a:r>
              <a:t>Problem it solves (1 sentence):</a:t>
            </a:r>
            <a:endParaRPr/>
          </a:p>
          <a:p xmlns:a="http://schemas.openxmlformats.org/drawingml/2006/main">
            <a:r>
              <a:t>Who benefits and how:</a:t>
            </a:r>
            <a:endParaRPr/>
          </a:p>
          <a:p xmlns:a="http://schemas.openxmlformats.org/drawingml/2006/main">
            <a:r>
              <a:t>AI approach (Rules / Augment / Assist / Human-led / Analytics):</a:t>
            </a:r>
            <a:endParaRPr/>
          </a:p>
          <a:p xmlns:a="http://schemas.openxmlformats.org/drawingml/2006/main">
            <a:r>
              <a:t>Data needed:</a:t>
            </a:r>
            <a:endParaRPr/>
          </a:p>
          <a:p xmlns:a="http://schemas.openxmlformats.org/drawingml/2006/main">
            <a:r>
              <a:t>Human review gate:</a:t>
            </a:r>
            <a:endParaRPr/>
          </a:p>
          <a:p xmlns:a="http://schemas.openxmlformats.org/drawingml/2006/main">
            <a:r>
              <a:t>Success metric(s):</a:t>
            </a:r>
            <a:endParaRPr/>
          </a:p>
          <a:p xmlns:a="http://schemas.openxmlformats.org/drawingml/2006/main">
            <a:r>
              <a:t>What could go wrong:</a:t>
            </a:r>
            <a:endParaRPr/>
          </a:p>
          <a:p xmlns:a="http://schemas.openxmlformats.org/drawingml/2006/main">
            <a:r>
              <a:t>Governance requirements (from risk assessment):</a:t>
            </a:r>
            <a:endParaRPr/>
          </a:p>
          <a:p xmlns:a="http://schemas.openxmlformats.org/drawingml/2006/main">
            <a:r>
              <a:t>First step to move forward:</a:t>
            </a:r>
            <a:endParaRPr/>
          </a:p>
          <a:p xmlns:a="http://schemas.openxmlformats.org/drawingml/2006/main">
            <a:r>
              <a:t>```</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Assessment and certification</a:t>
            </a:r>
            <a:endParaRPr/>
          </a:p>
          <a:p xmlns:a="http://schemas.openxmlformats.org/drawingml/2006/main">
            <a:r>
              <a:t/>
            </a:r>
            <a:endParaRPr/>
          </a:p>
          <a:p xmlns:a="http://schemas.openxmlformats.org/drawingml/2006/main">
            <a:r>
              <a:t>An organization may choose to give participants who complete all four modules</a:t>
            </a:r>
            <a:endParaRPr/>
          </a:p>
          <a:p xmlns:a="http://schemas.openxmlformats.org/drawingml/2006/main">
            <a:r>
              <a:t>and the hands-on components an **HR AI Practitioner** acknowledgment. This is a</a:t>
            </a:r>
            <a:endParaRPr/>
          </a:p>
          <a:p xmlns:a="http://schemas.openxmlformats.org/drawingml/2006/main">
            <a:r>
              <a:t>proposed internal recognition, not an accredited certification or evidence of</a:t>
            </a:r>
            <a:endParaRPr/>
          </a:p>
          <a:p xmlns:a="http://schemas.openxmlformats.org/drawingml/2006/main">
            <a:r>
              <a:t>professional competence. No delivery or learning outcome is claimed here.</a:t>
            </a:r>
            <a:endParaRPr/>
          </a:p>
          <a:p xmlns:a="http://schemas.openxmlformats.org/drawingml/2006/main">
            <a:r>
              <a:t/>
            </a:r>
            <a:endParaRPr/>
          </a:p>
          <a:p xmlns:a="http://schemas.openxmlformats.org/drawingml/2006/main">
            <a:r>
              <a:t>Optional extension: Participants who complete a full use case spec and present it to the HR Technology team are recognized as **HR AI Champions**, an informal internal designation that supports peer enablement.</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Facilitator notes</a:t>
            </a:r>
            <a:endParaRPr/>
          </a:p>
          <a:p xmlns:a="http://schemas.openxmlformats.org/drawingml/2006/main">
            <a:r>
              <a:t/>
            </a:r>
            <a:endParaRPr/>
          </a:p>
          <a:p xmlns:a="http://schemas.openxmlformats.org/drawingml/2006/main">
            <a:r>
              <a:t>These are facilitation suggestions, not measured delivery findings. Use synthetic examples; removing names alone does not establish anonymity. Do not upload real employee, candidate, compensation, or employer-confidential information for a training exercise.</a:t>
            </a:r>
            <a:endParaRPr/>
          </a:p>
          <a:p xmlns:a="http://schemas.openxmlformats.org/drawingml/2006/main">
            <a:r>
              <a:t/>
            </a:r>
            <a:endParaRPr/>
          </a:p>
          <a:p xmlns:a="http://schemas.openxmlformats.org/drawingml/2006/main">
            <a:r>
              <a:t>- Budget flex time in Module 3 for questions and disagreement about risk.</a:t>
            </a:r>
            <a:endParaRPr/>
          </a:p>
          <a:p xmlns:a="http://schemas.openxmlformats.org/drawingml/2006/main">
            <a:r>
              <a:t>- Protect time for the Module 2 lab, and check whether participants can identify errors and verify outputs afterward.</a:t>
            </a:r>
            <a:endParaRPr/>
          </a:p>
          <a:p xmlns:a="http://schemas.openxmlformats.org/drawingml/2006/main">
            <a:r>
              <a:t>- Adapt synthetic scenarios to familiar workflows, without identifiable employee cases or confidential documents.</a:t>
            </a:r>
            <a:endParaRPr/>
          </a:p>
          <a:p xmlns:a="http://schemas.openxmlformats.org/drawingml/2006/main">
            <a:r>
              <a:t>- Keep an AI skeptic on the facilitation team if possible. The best discussions happen when the room has range.</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snapshot: 13 October 2026. Curriculum SHA-256: 5ee769258ac9b95a3c514b64dcd5b22215e40bac8621054ffb452bffc244827a. This deck summarizes the source; no human evaluation, delivery outcome or legal approval is claimed.</a:t>
            </a:r>
            <a:endParaRPr/>
          </a:p>
          <a:p xmlns:a="http://schemas.openxmlformats.org/drawingml/2006/main">
            <a:r>
              <a:t/>
            </a:r>
            <a:endParaRPr/>
          </a:p>
          <a:p xmlns:a="http://schemas.openxmlformats.org/drawingml/2006/main">
            <a:r>
              <a:t># HR AI literacy curriculum</a:t>
            </a:r>
            <a:endParaRPr/>
          </a:p>
          <a:p xmlns:a="http://schemas.openxmlformats.org/drawingml/2006/main">
            <a:r>
              <a:t/>
            </a:r>
            <a:endParaRPr/>
          </a:p>
          <a:p xmlns:a="http://schemas.openxmlformats.org/drawingml/2006/main">
            <a:r>
              <a:t>A 4-module learning program for HR professionals at all experience levels. Designed to be delivered as a facilitated series over 4–6 weeks, or adapted for self-paced completion.</a:t>
            </a:r>
            <a:endParaRPr/>
          </a:p>
          <a:p xmlns:a="http://schemas.openxmlformats.org/drawingml/2006/main">
            <a:r>
              <a:t/>
            </a:r>
            <a:endParaRPr/>
          </a:p>
          <a:p xmlns:a="http://schemas.openxmlformats.org/drawingml/2006/main">
            <a:r>
              <a:t>**Total time:** about 7 hours of sessions, plus async reading and hands-on practice (roughly 8 hours in all)</a:t>
            </a:r>
            <a:endParaRPr/>
          </a:p>
          <a:p xmlns:a="http://schemas.openxmlformats.org/drawingml/2006/main">
            <a:r>
              <a:t>**Format:** Workshop + async reading + hands-on practice</a:t>
            </a:r>
            <a:endParaRPr/>
          </a:p>
          <a:p xmlns:a="http://schemas.openxmlformats.org/drawingml/2006/main">
            <a:r>
              <a:t>**Audience:** All People Team members</a:t>
            </a:r>
            <a:endParaRPr/>
          </a:p>
          <a:p xmlns:a="http://schemas.openxmlformats.org/drawingml/2006/main">
            <a:r>
              <a:t>**Prerequisite:** None</a:t>
            </a:r>
            <a:endParaRPr/>
          </a:p>
          <a:p xmlns:a="http://schemas.openxmlformats.org/drawingml/2006/main">
            <a:r>
              <a:t/>
            </a:r>
            <a:endParaRPr/>
          </a:p>
          <a:p xmlns:a="http://schemas.openxmlformats.org/drawingml/2006/main">
            <a:r>
              <a:t>**Lab prerequisite:** The facilitator confirms an organization-approved tool,</a:t>
            </a:r>
            <a:endParaRPr/>
          </a:p>
          <a:p xmlns:a="http://schemas.openxmlformats.org/drawingml/2006/main">
            <a:r>
              <a:t>provider handling, and a synthetic-only data boundary before any exercise.</a:t>
            </a:r>
            <a:endParaRPr/>
          </a:p>
          <a:p xmlns:a="http://schemas.openxmlformats.org/drawingml/2006/main">
            <a:r>
              <a:t>Modules 1-3 and the required governance approvals precede any real-work pilot.</a:t>
            </a:r>
            <a:endParaRPr/>
          </a:p>
          <a:p xmlns:a="http://schemas.openxmlformats.org/drawingml/2006/main">
            <a:r>
              <a:t>This curriculum does not authorize employee-data processing.</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Program overview</a:t>
            </a:r>
            <a:endParaRPr/>
          </a:p>
          <a:p xmlns:a="http://schemas.openxmlformats.org/drawingml/2006/main">
            <a:r>
              <a:t/>
            </a:r>
            <a:endParaRPr/>
          </a:p>
          <a:p xmlns:a="http://schemas.openxmlformats.org/drawingml/2006/main">
            <a:r>
              <a:t>| Module | Title | Duration | Format |</a:t>
            </a:r>
            <a:endParaRPr/>
          </a:p>
          <a:p xmlns:a="http://schemas.openxmlformats.org/drawingml/2006/main">
            <a:r>
              <a:t>|---|---|---|---|</a:t>
            </a:r>
            <a:endParaRPr/>
          </a:p>
          <a:p xmlns:a="http://schemas.openxmlformats.org/drawingml/2006/main">
            <a:r>
              <a:t>| 1 | How AI works, what HR professionals actually need to know | 90 min | Workshop |</a:t>
            </a:r>
            <a:endParaRPr/>
          </a:p>
          <a:p xmlns:a="http://schemas.openxmlformats.org/drawingml/2006/main">
            <a:r>
              <a:t>| 2 | Using AI in your daily HR work | 2 hours | Workshop + lab |</a:t>
            </a:r>
            <a:endParaRPr/>
          </a:p>
          <a:p xmlns:a="http://schemas.openxmlformats.org/drawingml/2006/main">
            <a:r>
              <a:t>| 3 | Governance, ethics, and responsible use | 90 min | Workshop |</a:t>
            </a:r>
            <a:endParaRPr/>
          </a:p>
          <a:p xmlns:a="http://schemas.openxmlformats.org/drawingml/2006/main">
            <a:r>
              <a:t>| 4 | Building and scaling AI use cases | 2 hours | Workshop + project |</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1: How AI works, what HR professionals actually need to know</a:t>
            </a:r>
            <a:endParaRPr/>
          </a:p>
          <a:p xmlns:a="http://schemas.openxmlformats.org/drawingml/2006/main">
            <a:r>
              <a:t/>
            </a:r>
            <a:endParaRPr/>
          </a:p>
          <a:p xmlns:a="http://schemas.openxmlformats.org/drawingml/2006/main">
            <a:r>
              <a:t>**Learning objectives:**</a:t>
            </a:r>
            <a:endParaRPr/>
          </a:p>
          <a:p xmlns:a="http://schemas.openxmlformats.org/drawingml/2006/main">
            <a:r>
              <a:t>- Explain the difference between traditional automation and generative AI</a:t>
            </a:r>
            <a:endParaRPr/>
          </a:p>
          <a:p xmlns:a="http://schemas.openxmlformats.org/drawingml/2006/main">
            <a:r>
              <a:t>- Describe why AI "hallucinates" and how to mitigate it in HR contexts</a:t>
            </a:r>
            <a:endParaRPr/>
          </a:p>
          <a:p xmlns:a="http://schemas.openxmlformats.org/drawingml/2006/main">
            <a:r>
              <a:t>- Identify which HR tasks are good candidates for AI assistance and which are not</a:t>
            </a:r>
            <a:endParaRPr/>
          </a:p>
          <a:p xmlns:a="http://schemas.openxmlformats.org/drawingml/2006/main">
            <a:r>
              <a:t/>
            </a:r>
            <a:endParaRPr/>
          </a:p>
          <a:p xmlns:a="http://schemas.openxmlformats.org/drawingml/2006/main">
            <a:r>
              <a:t>**Session outline (90 minutes):**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0:00–0:10 | Opening: What do you already believe about AI? (quick poll + discussion) |</a:t>
            </a:r>
            <a:endParaRPr/>
          </a:p>
          <a:p xmlns:a="http://schemas.openxmlformats.org/drawingml/2006/main">
            <a:r>
              <a:t>| 0:10–0:30 | Concept: How LLMs work, without the jargon (facilitator presentation) |</a:t>
            </a:r>
            <a:endParaRPr/>
          </a:p>
          <a:p xmlns:a="http://schemas.openxmlformats.org/drawingml/2006/main">
            <a:r>
              <a:t>| 0:30–0:45 | Concept: Hallucination, confidence, and why AI makes things up |</a:t>
            </a:r>
            <a:endParaRPr/>
          </a:p>
          <a:p xmlns:a="http://schemas.openxmlformats.org/drawingml/2006/main">
            <a:r>
              <a:t>| 0:45–1:05 | Exercise: Spot the hallucination (participants identify errors in AI-generated HR content) |</a:t>
            </a:r>
            <a:endParaRPr/>
          </a:p>
          <a:p xmlns:a="http://schemas.openxmlformats.org/drawingml/2006/main">
            <a:r>
              <a:t>| 1:05–1:20 | Discussion: Where should HR use AI? Where should we be cautious? |</a:t>
            </a:r>
            <a:endParaRPr/>
          </a:p>
          <a:p xmlns:a="http://schemas.openxmlformats.org/drawingml/2006/main">
            <a:r>
              <a:t>| 1:20–1:30 | Wrap-up + homework: Try one AI tool before next session |</a:t>
            </a:r>
            <a:endParaRPr/>
          </a:p>
          <a:p xmlns:a="http://schemas.openxmlformats.org/drawingml/2006/main">
            <a:r>
              <a:t/>
            </a:r>
            <a:endParaRPr/>
          </a:p>
          <a:p xmlns:a="http://schemas.openxmlformats.org/drawingml/2006/main">
            <a:r>
              <a:t>**Key concepts to cover:**</a:t>
            </a:r>
            <a:endParaRPr/>
          </a:p>
          <a:p xmlns:a="http://schemas.openxmlformats.org/drawingml/2006/main">
            <a:r>
              <a:t/>
            </a:r>
            <a:endParaRPr/>
          </a:p>
          <a:p xmlns:a="http://schemas.openxmlformats.org/drawingml/2006/main">
            <a:r>
              <a:t>*What LLMs actually are:*</a:t>
            </a:r>
            <a:endParaRPr/>
          </a:p>
          <a:p xmlns:a="http://schemas.openxmlformats.org/drawingml/2006/main">
            <a:r>
              <a:t>Large language models predict the next most likely word given context. They don't "know" things the way a database knows things, they pattern-match against training data. This is why they can sound authoritative while being wrong.</a:t>
            </a:r>
            <a:endParaRPr/>
          </a:p>
          <a:p xmlns:a="http://schemas.openxmlformats.org/drawingml/2006/main">
            <a:r>
              <a:t/>
            </a:r>
            <a:endParaRPr/>
          </a:p>
          <a:p xmlns:a="http://schemas.openxmlformats.org/drawingml/2006/main">
            <a:r>
              <a:t>*The spectrum from rules to agents:*</a:t>
            </a:r>
            <a:endParaRPr/>
          </a:p>
          <a:p xmlns:a="http://schemas.openxmlformats.org/drawingml/2006/main">
            <a:r>
              <a:t>```</a:t>
            </a:r>
            <a:endParaRPr/>
          </a:p>
          <a:p xmlns:a="http://schemas.openxmlformats.org/drawingml/2006/main">
            <a:r>
              <a:t>Rules            →  Assist / Augment              →  Agent</a:t>
            </a:r>
            <a:endParaRPr/>
          </a:p>
          <a:p xmlns:a="http://schemas.openxmlformats.org/drawingml/2006/main">
            <a:r>
              <a:t>(deterministic)     (a person decides or owns)       (a model acts across several steps)</a:t>
            </a:r>
            <a:endParaRPr/>
          </a:p>
          <a:p xmlns:a="http://schemas.openxmlformats.org/drawingml/2006/main">
            <a:r>
              <a:t>```</a:t>
            </a:r>
            <a:endParaRPr/>
          </a:p>
          <a:p xmlns:a="http://schemas.openxmlformats.org/drawingml/2006/main">
            <a:r>
              <a:t>Use rules when rules reliably give the right answer. Most HR uses of AI belong in the middle. An agent, where a model takes several actions through tools with limited review between them, has to earn that autonomy through evidence and brings new governance requirements.</a:t>
            </a:r>
            <a:endParaRPr/>
          </a:p>
          <a:p xmlns:a="http://schemas.openxmlformats.org/drawingml/2006/main">
            <a:r>
              <a:t/>
            </a:r>
            <a:endParaRPr/>
          </a:p>
          <a:p xmlns:a="http://schemas.openxmlformats.org/drawingml/2006/main">
            <a:r>
              <a:t>*Prompt quality drives output quality:*</a:t>
            </a:r>
            <a:endParaRPr/>
          </a:p>
          <a:p xmlns:a="http://schemas.openxmlformats.org/drawingml/2006/main">
            <a:r>
              <a:t>Clear prompts help define a task and its boundaries. Output quality also depends on the model, source material, workflow controls, and verification. A well-written prompt does not establish factual accuracy or safe HR judgment.</a:t>
            </a:r>
            <a:endParaRPr/>
          </a:p>
          <a:p xmlns:a="http://schemas.openxmlformats.org/drawingml/2006/main">
            <a:r>
              <a:t/>
            </a:r>
            <a:endParaRPr/>
          </a:p>
          <a:p xmlns:a="http://schemas.openxmlformats.org/drawingml/2006/main">
            <a:r>
              <a:t>**Pre-reading (assign before session):**</a:t>
            </a:r>
            <a:endParaRPr/>
          </a:p>
          <a:p xmlns:a="http://schemas.openxmlformats.org/drawingml/2006/main">
            <a:r>
              <a:t>- [Your organization's AI use policy](../03-governance/ai-use-policy.md)</a:t>
            </a:r>
            <a:endParaRPr/>
          </a:p>
          <a:p xmlns:a="http://schemas.openxmlformats.org/drawingml/2006/main">
            <a:r>
              <a:t>- One-page primer on generative AI for non-technical audiences (create or source)</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2: Using AI in your daily HR work</a:t>
            </a:r>
            <a:endParaRPr/>
          </a:p>
          <a:p xmlns:a="http://schemas.openxmlformats.org/drawingml/2006/main">
            <a:r>
              <a:t/>
            </a:r>
            <a:endParaRPr/>
          </a:p>
          <a:p xmlns:a="http://schemas.openxmlformats.org/drawingml/2006/main">
            <a:r>
              <a:t>**Learning objectives:**</a:t>
            </a:r>
            <a:endParaRPr/>
          </a:p>
          <a:p xmlns:a="http://schemas.openxmlformats.org/drawingml/2006/main">
            <a:r>
              <a:t>- Write effective prompts for HR use cases</a:t>
            </a:r>
            <a:endParaRPr/>
          </a:p>
          <a:p xmlns:a="http://schemas.openxmlformats.org/drawingml/2006/main">
            <a:r>
              <a:t>- Use the prompt library for at least 3 HR workflows</a:t>
            </a:r>
            <a:endParaRPr/>
          </a:p>
          <a:p xmlns:a="http://schemas.openxmlformats.org/drawingml/2006/main">
            <a:r>
              <a:t>- Identify when to use AI, when to verify AI output, and when not to use it</a:t>
            </a:r>
            <a:endParaRPr/>
          </a:p>
          <a:p xmlns:a="http://schemas.openxmlformats.org/drawingml/2006/main">
            <a:r>
              <a:t/>
            </a:r>
            <a:endParaRPr/>
          </a:p>
          <a:p xmlns:a="http://schemas.openxmlformats.org/drawingml/2006/main">
            <a:r>
              <a:t>**Session outline (2 hours including lab):**</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Share-back from Module 1 homework, what did you try, what happened? |</a:t>
            </a:r>
            <a:endParaRPr/>
          </a:p>
          <a:p xmlns:a="http://schemas.openxmlformats.org/drawingml/2006/main">
            <a:r>
              <a:t>| 0:15–0:45 | Prompt engineering for HR: the four elements of a good prompt |</a:t>
            </a:r>
            <a:endParaRPr/>
          </a:p>
          <a:p xmlns:a="http://schemas.openxmlformats.org/drawingml/2006/main">
            <a:r>
              <a:t>| 0:45–1:10 | Live demo: Onboarding plan, performance review draft, policy Q&amp;A |</a:t>
            </a:r>
            <a:endParaRPr/>
          </a:p>
          <a:p xmlns:a="http://schemas.openxmlformats.org/drawingml/2006/main">
            <a:r>
              <a:t>| 1:10–1:50 | Hands-on lab: Each participant works through 2 prompts using synthetic HR scenarios in organization-approved tools |</a:t>
            </a:r>
            <a:endParaRPr/>
          </a:p>
          <a:p xmlns:a="http://schemas.openxmlformats.org/drawingml/2006/main">
            <a:r>
              <a:t>| 1:50–2:00 | Debrief: What surprised you? What didn't work? |</a:t>
            </a:r>
            <a:endParaRPr/>
          </a:p>
          <a:p xmlns:a="http://schemas.openxmlformats.org/drawingml/2006/main">
            <a:r>
              <a:t/>
            </a:r>
            <a:endParaRPr/>
          </a:p>
          <a:p xmlns:a="http://schemas.openxmlformats.org/drawingml/2006/main">
            <a:r>
              <a:t>**The four elements of an effective HR prompt:**</a:t>
            </a:r>
            <a:endParaRPr/>
          </a:p>
          <a:p xmlns:a="http://schemas.openxmlformats.org/drawingml/2006/main">
            <a:r>
              <a:t/>
            </a:r>
            <a:endParaRPr/>
          </a:p>
          <a:p xmlns:a="http://schemas.openxmlformats.org/drawingml/2006/main">
            <a:r>
              <a:t>1. **Role**: Define the task perspective, such as drafting support for an HRBP. A role instruction does not give the model professional authority.</a:t>
            </a:r>
            <a:endParaRPr/>
          </a:p>
          <a:p xmlns:a="http://schemas.openxmlformats.org/drawingml/2006/main">
            <a:r>
              <a:t/>
            </a:r>
            <a:endParaRPr/>
          </a:p>
          <a:p xmlns:a="http://schemas.openxmlformats.org/drawingml/2006/main">
            <a:r>
              <a:t>2. **Context**: Provide the specific details the AI needs. Role, tenure, team size, situation. Don't make the AI guess.</a:t>
            </a:r>
            <a:endParaRPr/>
          </a:p>
          <a:p xmlns:a="http://schemas.openxmlformats.org/drawingml/2006/main">
            <a:r>
              <a:t/>
            </a:r>
            <a:endParaRPr/>
          </a:p>
          <a:p xmlns:a="http://schemas.openxmlformats.org/drawingml/2006/main">
            <a:r>
              <a:t>3. **Task**: State clearly what you want it to produce. One output per prompt. "Draft a..." is clearer than "Help me with..."</a:t>
            </a:r>
            <a:endParaRPr/>
          </a:p>
          <a:p xmlns:a="http://schemas.openxmlformats.org/drawingml/2006/main">
            <a:r>
              <a:t/>
            </a:r>
            <a:endParaRPr/>
          </a:p>
          <a:p xmlns:a="http://schemas.openxmlformats.org/drawingml/2006/main">
            <a:r>
              <a:t>4. **Constraints**: Define length, tone, format, exclusions, and the verification needed. Check whether the output follows them.</a:t>
            </a:r>
            <a:endParaRPr/>
          </a:p>
          <a:p xmlns:a="http://schemas.openxmlformats.org/drawingml/2006/main">
            <a:r>
              <a:t/>
            </a:r>
            <a:endParaRPr/>
          </a:p>
          <a:p xmlns:a="http://schemas.openxmlformats.org/drawingml/2006/main">
            <a:r>
              <a:t>**Lab instructions:**</a:t>
            </a:r>
            <a:endParaRPr/>
          </a:p>
          <a:p xmlns:a="http://schemas.openxmlformats.org/drawingml/2006/main">
            <a:r>
              <a:t/>
            </a:r>
            <a:endParaRPr/>
          </a:p>
          <a:p xmlns:a="http://schemas.openxmlformats.org/drawingml/2006/main">
            <a:r>
              <a:t>Participants choose 2 prompts from the library that are relevant to their current work:</a:t>
            </a:r>
            <a:endParaRPr/>
          </a:p>
          <a:p xmlns:a="http://schemas.openxmlformats.org/drawingml/2006/main">
            <a:r>
              <a:t>1. Run the prompt with a fictional HR scenario in an organization-approved tool. Do not upload real employee, candidate, compensation, or confidential employer information.</a:t>
            </a:r>
            <a:endParaRPr/>
          </a:p>
          <a:p xmlns:a="http://schemas.openxmlformats.org/drawingml/2006/main">
            <a:r>
              <a:t>2. Evaluate the output: What's useful? What's wrong or missing? What would you change before using it?</a:t>
            </a:r>
            <a:endParaRPr/>
          </a:p>
          <a:p xmlns:a="http://schemas.openxmlformats.org/drawingml/2006/main">
            <a:r>
              <a:t>3. Iterate: Modify the prompt once based on what you learned and run it again</a:t>
            </a:r>
            <a:endParaRPr/>
          </a:p>
          <a:p xmlns:a="http://schemas.openxmlformats.org/drawingml/2006/main">
            <a:r>
              <a:t>4. Note: What changed between run 1 and run 2?</a:t>
            </a:r>
            <a:endParaRPr/>
          </a:p>
          <a:p xmlns:a="http://schemas.openxmlformats.org/drawingml/2006/main">
            <a:r>
              <a:t/>
            </a:r>
            <a:endParaRPr/>
          </a:p>
          <a:p xmlns:a="http://schemas.openxmlformats.org/drawingml/2006/main">
            <a:r>
              <a:t>**The verify-before-use rule:**</a:t>
            </a:r>
            <a:endParaRPr/>
          </a:p>
          <a:p xmlns:a="http://schemas.openxmlformats.org/drawingml/2006/main">
            <a:r>
              <a:t/>
            </a:r>
            <a:endParaRPr/>
          </a:p>
          <a:p xmlns:a="http://schemas.openxmlformats.org/drawingml/2006/main">
            <a:r>
              <a:t>Introduce and reinforce this heuristic:</a:t>
            </a:r>
            <a:endParaRPr/>
          </a:p>
          <a:p xmlns:a="http://schemas.openxmlformats.org/drawingml/2006/main">
            <a:r>
              <a:t>- Policy details → always verify against source system before sharing</a:t>
            </a:r>
            <a:endParaRPr/>
          </a:p>
          <a:p xmlns:a="http://schemas.openxmlformats.org/drawingml/2006/main">
            <a:r>
              <a:t>- Legal requirements → always verify with Legal before relying on</a:t>
            </a:r>
            <a:endParaRPr/>
          </a:p>
          <a:p xmlns:a="http://schemas.openxmlformats.org/drawingml/2006/main">
            <a:r>
              <a:t>- Factual claims → spot-check against a known source</a:t>
            </a:r>
            <a:endParaRPr/>
          </a:p>
          <a:p xmlns:a="http://schemas.openxmlformats.org/drawingml/2006/main">
            <a:r>
              <a:t>- Tone and content → always read before sending; AI doesn't know your audience</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3: Governance, ethics, and responsible use</a:t>
            </a:r>
            <a:endParaRPr/>
          </a:p>
          <a:p xmlns:a="http://schemas.openxmlformats.org/drawingml/2006/main">
            <a:r>
              <a:t/>
            </a:r>
            <a:endParaRPr/>
          </a:p>
          <a:p xmlns:a="http://schemas.openxmlformats.org/drawingml/2006/main">
            <a:r>
              <a:t>**Learning objectives:**</a:t>
            </a:r>
            <a:endParaRPr/>
          </a:p>
          <a:p xmlns:a="http://schemas.openxmlformats.org/drawingml/2006/main">
            <a:r>
              <a:t>- Apply the organization's AI use policy to real HR scenarios</a:t>
            </a:r>
            <a:endParaRPr/>
          </a:p>
          <a:p xmlns:a="http://schemas.openxmlformats.org/drawingml/2006/main">
            <a:r>
              <a:t>- Identify the key legal risk areas in HR AI (bias, privacy, employment law)</a:t>
            </a:r>
            <a:endParaRPr/>
          </a:p>
          <a:p xmlns:a="http://schemas.openxmlformats.org/drawingml/2006/main">
            <a:r>
              <a:t>- Complete a basic risk assessment for a new use case</a:t>
            </a:r>
            <a:endParaRPr/>
          </a:p>
          <a:p xmlns:a="http://schemas.openxmlformats.org/drawingml/2006/main">
            <a:r>
              <a:t/>
            </a:r>
            <a:endParaRPr/>
          </a:p>
          <a:p xmlns:a="http://schemas.openxmlformats.org/drawingml/2006/main">
            <a:r>
              <a:t>**Session outline (90 minutes):**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Case study: Three HR AI failures and what we can learn (discussion) |</a:t>
            </a:r>
            <a:endParaRPr/>
          </a:p>
          <a:p xmlns:a="http://schemas.openxmlformats.org/drawingml/2006/main">
            <a:r>
              <a:t>| 0:15–0:40 | Framework: What makes AI use in HR risky? Legal and ethical dimensions |</a:t>
            </a:r>
            <a:endParaRPr/>
          </a:p>
          <a:p xmlns:a="http://schemas.openxmlformats.org/drawingml/2006/main">
            <a:r>
              <a:t>| 0:40–1:00 | Scenario practice: Is this use case okay? (small groups, 4 scenarios) |</a:t>
            </a:r>
            <a:endParaRPr/>
          </a:p>
          <a:p xmlns:a="http://schemas.openxmlformats.org/drawingml/2006/main">
            <a:r>
              <a:t>| 1:00–1:20 | Walk-through: The risk assessment template |</a:t>
            </a:r>
            <a:endParaRPr/>
          </a:p>
          <a:p xmlns:a="http://schemas.openxmlformats.org/drawingml/2006/main">
            <a:r>
              <a:t>| 1:20–1:30 | Q&amp;A + open discussion |</a:t>
            </a:r>
            <a:endParaRPr/>
          </a:p>
          <a:p xmlns:a="http://schemas.openxmlformats.org/drawingml/2006/main">
            <a:r>
              <a:t/>
            </a:r>
            <a:endParaRPr/>
          </a:p>
          <a:p xmlns:a="http://schemas.openxmlformats.org/drawingml/2006/main">
            <a:r>
              <a:t>&gt; **Note on regulatory currency:** Use the [Key dates for HR](../03-governance/README.md#key-dates-for-hr) and its linked primary sources as the dated reference. The slides summarize risk questions; they are not a complete legal reference. Have Legal verify jurisdiction, scope, obligations, and effective dates before delivery or adoption.</a:t>
            </a:r>
            <a:endParaRPr/>
          </a:p>
          <a:p xmlns:a="http://schemas.openxmlformats.org/drawingml/2006/main">
            <a:r>
              <a:t/>
            </a:r>
            <a:endParaRPr/>
          </a:p>
          <a:p xmlns:a="http://schemas.openxmlformats.org/drawingml/2006/main">
            <a:r>
              <a:t>**Key legal risk areas to cover:**</a:t>
            </a:r>
            <a:endParaRPr/>
          </a:p>
          <a:p xmlns:a="http://schemas.openxmlformats.org/drawingml/2006/main">
            <a:r>
              <a:t/>
            </a:r>
            <a:endParaRPr/>
          </a:p>
          <a:p xmlns:a="http://schemas.openxmlformats.org/drawingml/2006/main">
            <a:r>
              <a:t>*Bias and disparate impact:*</a:t>
            </a:r>
            <a:endParaRPr/>
          </a:p>
          <a:p xmlns:a="http://schemas.openxmlformats.org/drawingml/2006/main">
            <a:r>
              <a:t>AI trained on historical HR data can encode and amplify past discrimination. A history in which 80% of engineering hires were male is a reason to examine labels, features, selection effects, and group outcomes; that proportion alone does not determine how a model will score resumes. Adverse impact testing is a core control. It is required by law in some jurisdictions (NYC Local Law 144 mandates an annual bias audit for covered tools) and expected as evidence of reasonable care in many others. Confirm the cadence with Legal. See the [NIST AI RMF](https://www.nist.gov/itl/ai-risk-management-framework).</a:t>
            </a:r>
            <a:endParaRPr/>
          </a:p>
          <a:p xmlns:a="http://schemas.openxmlformats.org/drawingml/2006/main">
            <a:r>
              <a:t/>
            </a:r>
            <a:endParaRPr/>
          </a:p>
          <a:p xmlns:a="http://schemas.openxmlformats.org/drawingml/2006/main">
            <a:r>
              <a:t>*Illinois AI Video Interview Act, NYC Local Law 144, and emerging state laws:*</a:t>
            </a:r>
            <a:endParaRPr/>
          </a:p>
          <a:p xmlns:a="http://schemas.openxmlformats.org/drawingml/2006/main">
            <a:r>
              <a:t>Several jurisdictions now require disclosure, impact assessments, or consent for AI use in hiring. Illinois's AI Video Interview Act ([820 ILCS 42](https://www.ilga.gov/Legislation/ILCS/Articles?ActID=4015&amp;ChapterID=68)) governs AI analysis of recorded video interviews, including notice and consent before the interview. Confirm its current requirements against the statute before relying on them. Illinois also amended its Human Rights Act via HB 3773 (effective January 1, 2026) to broadly prohibit discriminatory AI use in hiring and promotion, not just video interviews. A companion law, Public Act 104-0425 (SB 2487, effective January 1, 2026), gives the Human Rights Commission tiered civil penalty authority for violations: up to $16,000 for a first offense, up to $42,500 with one prior violation within five years, up to $70,000 for two or more within seven years. The regulatory landscape is shifting quickly. Use cases involving hiring must be reviewed against current state law.</a:t>
            </a:r>
            <a:endParaRPr/>
          </a:p>
          <a:p xmlns:a="http://schemas.openxmlformats.org/drawingml/2006/main">
            <a:r>
              <a:t/>
            </a:r>
            <a:endParaRPr/>
          </a:p>
          <a:p xmlns:a="http://schemas.openxmlformats.org/drawingml/2006/main">
            <a:r>
              <a:t>NYC Local Law 144 enforcement is entering a stricter phase. A December 2025 NY State Comptroller audit found DCWP's enforcement "ineffective": DCWP's own review of 32 companies' bias-audit disclosures caught 1 likely non-compliance issue, where the Comptroller's review of the same 32 found at least 17. Expect more investigations and higher penalties as DCWP responds to the audit's recommendations, not just the disclosure-and-audit paperwork the law describes on paper.</a:t>
            </a:r>
            <a:endParaRPr/>
          </a:p>
          <a:p xmlns:a="http://schemas.openxmlformats.org/drawingml/2006/main">
            <a:r>
              <a:t/>
            </a:r>
            <a:endParaRPr/>
          </a:p>
          <a:p xmlns:a="http://schemas.openxmlformats.org/drawingml/2006/main">
            <a:r>
              <a:t>*Colorado's Automated Decision-Making Technology Act:*</a:t>
            </a:r>
            <a:endParaRPr/>
          </a:p>
          <a:p xmlns:a="http://schemas.openxmlformats.org/drawingml/2006/main">
            <a:r>
              <a:t>Colorado SB26-189 (signed 14 May 2026, Colo. Sess. Laws ch. 131) repeals and replaces the state's 2024 AI consumer protection law. It covers "consequential decisions," including employment, made using automated decision-making technology (ADMT) that materially influences the outcome. Starting January 1, 2027, developers must give deployers technical documentation on intended use, training data categories, known limitations, and human review instructions. Deployers will owe consumers notice at the point of interaction, and within 30 days of any adverse consequential decision, a plain-language explanation plus the right to request human review and reconsideration. Records must be retained 3 years. The attorney general enforces under the Colorado Consumer Protection Act, with a 60-day cure period through January 1, 2030.</a:t>
            </a:r>
            <a:endParaRPr/>
          </a:p>
          <a:p xmlns:a="http://schemas.openxmlformats.org/drawingml/2006/main">
            <a:r>
              <a:t/>
            </a:r>
            <a:endParaRPr/>
          </a:p>
          <a:p xmlns:a="http://schemas.openxmlformats.org/drawingml/2006/main">
            <a:r>
              <a:t>*Connecticut: AI Responsibility and Transparency Act (Public Act 26-15):*</a:t>
            </a:r>
            <a:endParaRPr/>
          </a:p>
          <a:p xmlns:a="http://schemas.openxmlformats.org/drawingml/2006/main">
            <a:r>
              <a:t>Connecticut's SB 5 became Public Act 26-15 in June 2026. It is the most comprehensive state AI employment statute enacted so far, and it phases in across two years. Read the dates carefully, because the parts that bite first are not the disclosure rules.</a:t>
            </a:r>
            <a:endParaRPr/>
          </a:p>
          <a:p xmlns:a="http://schemas.openxmlformats.org/drawingml/2006/main">
            <a:r>
              <a:t/>
            </a:r>
            <a:endParaRPr/>
          </a:p>
          <a:p xmlns:a="http://schemas.openxmlformats.org/drawingml/2006/main">
            <a:r>
              <a:t>Live October 1, 2026:</a:t>
            </a:r>
            <a:endParaRPr/>
          </a:p>
          <a:p xmlns:a="http://schemas.openxmlformats.org/drawingml/2006/main">
            <a:r>
              <a:t/>
            </a:r>
            <a:endParaRPr/>
          </a:p>
          <a:p xmlns:a="http://schemas.openxmlformats.org/drawingml/2006/main">
            <a:r>
              <a:t>- **AI is not a defense.** Sections 13 and 14 amend Conn. Gen. Stat. 46a-60 so that using an automated employment-related decision technology is not a defense against a discrimination complaint. The commission or court may consider the quality, efficacy, recency, and scope of anti-bias testing, its results, and the employer's response. This does not establish that a stale audit is always worse than no audit, or that testing guarantees a favorable legal outcome. Preserve the testing evidence and corrective actions for counsel review. Source: [Public Act 26-15](https://www.cga.ct.gov/2026/ACT/PA/PDF/2026PA-00015-R00SB-00005-PA.PDF).</a:t>
            </a:r>
            <a:endParaRPr/>
          </a:p>
          <a:p xmlns:a="http://schemas.openxmlformats.org/drawingml/2006/main">
            <a:r>
              <a:t>- **WARN notices.** Section 26 requires any employer serving a federal WARN notice under 29 USC 2102(a) to disclose to the Connecticut Labor Department whether the layoffs relate to the employer's use of AI or other technological change. Note the disclosure runs to the department, not to affected employees.</a:t>
            </a:r>
            <a:endParaRPr/>
          </a:p>
          <a:p xmlns:a="http://schemas.openxmlformats.org/drawingml/2006/main">
            <a:r>
              <a:t/>
            </a:r>
            <a:endParaRPr/>
          </a:p>
          <a:p xmlns:a="http://schemas.openxmlformats.org/drawingml/2006/main">
            <a:r>
              <a:t>Live October 1, 2027 (sections 7 to 12 take effect in 2026, but the duties attach only to technology deployed on or after October 1, 2027):</a:t>
            </a:r>
            <a:endParaRPr/>
          </a:p>
          <a:p xmlns:a="http://schemas.openxmlformats.org/drawingml/2006/main">
            <a:r>
              <a:t/>
            </a:r>
            <a:endParaRPr/>
          </a:p>
          <a:p xmlns:a="http://schemas.openxmlformats.org/drawingml/2006/main">
            <a:r>
              <a:t>- Scope is set by "substantial factor," defined as a factor that meaningfully alters the outcome of an employment-related decision. Covered decisions are hiring, promotion, discipline, discharge, renewal, selection for training or apprenticeship, and terms, privileges or conditions of employment. Carved out: nonmaterial changes to job tasks or hours, and decisions about workplace health and safety, scheduling, and productivity monitoring.</a:t>
            </a:r>
            <a:endParaRPr/>
          </a:p>
          <a:p xmlns:a="http://schemas.openxmlformats.org/drawingml/2006/main">
            <a:r>
              <a:t>- Developers must give deployers the information deployers need to meet their duties, but only where the tool was advertised, marketed, configured, contracted for, sold, or licensed to materially influence an employment decision.</a:t>
            </a:r>
            <a:endParaRPr/>
          </a:p>
          <a:p xmlns:a="http://schemas.openxmlformats.org/drawingml/2006/main">
            <a:r>
              <a:t>- Deployers must disclose in plain language when an employee or applicant is interacting with the technology, unless a reasonable person would find it obvious.</a:t>
            </a:r>
            <a:endParaRPr/>
          </a:p>
          <a:p xmlns:a="http://schemas.openxmlformats.org/drawingml/2006/main">
            <a:r>
              <a:t>- Before the decision is made, deployers must give written notice covering six specific points: that the technology was deployed, its purpose and the nature of the decision, the tool's trade name, the categories of personal data analyzed and how they will be assessed, the sources of that data, and deployer contact information.</a:t>
            </a:r>
            <a:endParaRPr/>
          </a:p>
          <a:p xmlns:a="http://schemas.openxmlformats.org/drawingml/2006/main">
            <a:r>
              <a:t>- Trade secrets can be withheld, but the withholding party must send notice saying what is being withheld and why.</a:t>
            </a:r>
            <a:endParaRPr/>
          </a:p>
          <a:p xmlns:a="http://schemas.openxmlformats.org/drawingml/2006/main">
            <a:r>
              <a:t/>
            </a:r>
            <a:endParaRPr/>
          </a:p>
          <a:p xmlns:a="http://schemas.openxmlformats.org/drawingml/2006/main">
            <a:r>
              <a:t>Enforcement is narrower than the obligations suggest: violations are unfair or deceptive trade practices under CUTPA, enforced **solely by the Attorney General**, with an explicit statement that the act creates **no private right of action**. Violations occurring on or before December 31, 2027 carry a 60-day cure period.</a:t>
            </a:r>
            <a:endParaRPr/>
          </a:p>
          <a:p xmlns:a="http://schemas.openxmlformats.org/drawingml/2006/main">
            <a:r>
              <a:t/>
            </a:r>
            <a:endParaRPr/>
          </a:p>
          <a:p xmlns:a="http://schemas.openxmlformats.org/drawingml/2006/main">
            <a:r>
              <a:t>One provision to catch in procurement: Section 8(c) lets a developer contract to assume the deployer's disclosure and notice duties, provided the contract is explicit about which duties transfer. That is a negotiating lever worth asking every vendor about. See the [vendor intake checklist](../03-governance/vendor-intake-checklist.md).</a:t>
            </a:r>
            <a:endParaRPr/>
          </a:p>
          <a:p xmlns:a="http://schemas.openxmlformats.org/drawingml/2006/main">
            <a:r>
              <a:t/>
            </a:r>
            <a:endParaRPr/>
          </a:p>
          <a:p xmlns:a="http://schemas.openxmlformats.org/drawingml/2006/main">
            <a:r>
              <a:t>*California: FEHA algorithmic discrimination rules and CPPA ADMT regulations:*</a:t>
            </a:r>
            <a:endParaRPr/>
          </a:p>
          <a:p xmlns:a="http://schemas.openxmlformats.org/drawingml/2006/main">
            <a:r>
              <a:t>The Civil Rights Council's FEHA regulations on automated decision systems took effect October 1, 2025: they prohibit AI-driven disparate treatment or disparate impact in employment decisions, require four years of recordkeeping, and hold employers liable for discriminatory outcomes even when the tool comes from a third-party vendor. Separately, the [CPPA regulation package](https://cppa.ca.gov/announcements/2025/20250923.html) took effect January 1, 2026. Covered businesses must begin risk-assessment compliance in 2026; ADMT notice and consumer-rights compliance begins January 1, 2027. These dates govern different duties. Review the [final regulations](https://cppa.ca.gov/regulations/ccpa_updates.html) for scope, opt-out exceptions, appeal conditions, and transition rules for processing already underway.</a:t>
            </a:r>
            <a:endParaRPr/>
          </a:p>
          <a:p xmlns:a="http://schemas.openxmlformats.org/drawingml/2006/main">
            <a:r>
              <a:t/>
            </a:r>
            <a:endParaRPr/>
          </a:p>
          <a:p xmlns:a="http://schemas.openxmlformats.org/drawingml/2006/main">
            <a:r>
              <a:t>Four California workplace bills were approved and chaptered on 30 September 2026. All four are enacted law, with obligations beginning in 2027. The chaptered texts were reviewed on 9 October 2026. AB 1883, SB 951, and AB 1331 take effect on 1 January 2027 under [California Constitution Article IV, section 8(c)(1)](https://leginfo.legislature.ca.gov/faces/codes_displayText.xhtml?lawCode=CONS&amp;division=&amp;title=&amp;part=&amp;chapter=&amp;article=IV); none contains an urgency clause or a later operative-date provision. SB 947 takes effect on that date but expressly makes its new Labor Code part operative on 1 July 2027. See the [source register](../03-governance/claims/california-workplace-laws.json) and the [Governor's signing announcement](https://www.gov.ca.gov/2026/09/30/californias-nation-leading-ai-framework-just-got-stronger-governor-newsom-signs-more-first-in-the-nation-worker-protections-and-more/).</a:t>
            </a:r>
            <a:endParaRPr/>
          </a:p>
          <a:p xmlns:a="http://schemas.openxmlformats.org/drawingml/2006/main">
            <a:r>
              <a:t/>
            </a:r>
            <a:endParaRPr/>
          </a:p>
          <a:p xmlns:a="http://schemas.openxmlformats.org/drawingml/2006/main">
            <a:r>
              <a:t>- **[AB 1883](https://leginfo.legislature.ca.gov/faces/billNavClient.xhtml?bill_id=202520260AB1883)** (workplace surveillance tools, Chapter 853, Statutes of 2026) adds Labor Code Part 5.8 to bar employers from using AI-driven surveillance tools to recognize or infer an employee's emotional state, or to collect neural data, meaning data measured from the central or peripheral nervous system and not inferred from nonneural information. Safety uses are preserved, and there is a narrow carve-out for federally mandated aerospace and national security work. Enforcement runs through the Labor Commissioner or a public prosecutor, with penalties up to $500 per violation. It was enrolled on 3 September 2026 and approved by the Governor on 30 September 2026. Some published summaries report 3 September as the signing date; that is the enrollment date.</a:t>
            </a:r>
            <a:endParaRPr/>
          </a:p>
          <a:p xmlns:a="http://schemas.openxmlformats.org/drawingml/2006/main">
            <a:r>
              <a:t>- **[SB 947](https://leginfo.legislature.ca.gov/faces/billTextClient.xhtml?bill_id=202520260SB947)** (the "No Robo Bosses Act," Chapter 859, Statutes of 2026) is **operative 1 July 2027**, under new Labor Code section 1526.7. It bars sole reliance on an ADS for discipline or termination. Primary reliance requires human corroboration and written post-use notice when the decision is communicated. If corroboration fails, or the reviewer finds the output inaccurate, incomplete, or misleading, the employer must not use that output for the decision. The employee may request a meaningful description of their own data used by the ADS. Check the collective bargaining and federal-operation exceptions in sections 1526.5 and 1526.6.</a:t>
            </a:r>
            <a:endParaRPr/>
          </a:p>
          <a:p xmlns:a="http://schemas.openxmlformats.org/drawingml/2006/main">
            <a:r>
              <a:t>- **[SB 951](https://leginfo.legislature.ca.gov/faces/billTextClient.xhtml?bill_id=202520260SB951)** (Chapter 860, Statutes of 2026), **effective 1 January 2027**, adds technology-displacement information to an otherwise required Cal/WARN notice when AI or automation causes the event wholly or substantially. New Labor Code section 1401(d) requires affected jobs and locations, functions being automated, the technology category, and a technology-displacement heading. It retains the existing 60-day notice period. It does not enact the earlier proposal for a 90-day notice or an employer hiring-freeze notice; section 1402.7 instead requires an EDD study by 1 January 2028. Assess Cal/WARN coverage and exceptions before applying the notice requirement.</a:t>
            </a:r>
            <a:endParaRPr/>
          </a:p>
          <a:p xmlns:a="http://schemas.openxmlformats.org/drawingml/2006/main">
            <a:r>
              <a:t>- **[AB 1331](https://leginfo.legislature.ca.gov/faces/billTextClient.xhtml?bill_id=202520260AB1331)** (Chapter 851, Statutes of 2026), **effective 1 January 2027**, limits workplace bathroom surveillance and lets employees leave surveillance tools behind when entering a bathroom. New Labor Code section 1561 includes exceptions for court orders, one-time entry/exit checks, voluntary possession, and certain identification or safety devices. The tool definition reaches beyond AI. Review the full exceptions in sections 1561, 1564, and 1565 before changing monitoring practices.</a:t>
            </a:r>
            <a:endParaRPr/>
          </a:p>
          <a:p xmlns:a="http://schemas.openxmlformats.org/drawingml/2006/main">
            <a:r>
              <a:t/>
            </a:r>
            <a:endParaRPr/>
          </a:p>
          <a:p xmlns:a="http://schemas.openxmlformats.org/drawingml/2006/main">
            <a:r>
              <a:t>*Texas: Responsible AI Governance Act (TRAIGA):*</a:t>
            </a:r>
            <a:endParaRPr/>
          </a:p>
          <a:p xmlns:a="http://schemas.openxmlformats.org/drawingml/2006/main">
            <a:r>
              <a:t>Effective January 1, 2026 (HB 149, signed June 22, 2025). Narrower than Illinois or Colorado: TRAIGA prohibits intentional AI-based discrimination but does not create disparate impact liability, and the Attorney General has exclusive enforcement authority with a 60-day cure period before action.</a:t>
            </a:r>
            <a:endParaRPr/>
          </a:p>
          <a:p xmlns:a="http://schemas.openxmlformats.org/drawingml/2006/main">
            <a:r>
              <a:t/>
            </a:r>
            <a:endParaRPr/>
          </a:p>
          <a:p xmlns:a="http://schemas.openxmlformats.org/drawingml/2006/main">
            <a:r>
              <a:t>*New Jersey: no AI statute, but existing discrimination law already reaches AI:*</a:t>
            </a:r>
            <a:endParaRPr/>
          </a:p>
          <a:p xmlns:a="http://schemas.openxmlformats.org/drawingml/2006/main">
            <a:r>
              <a:t>New Jersey is the case that breaks the habit of scanning for AI-specific bills. It has no AI hiring statute. In January 2025 the Office of the Attorney General and the Division on Civil Rights issued guidance stating that the Law Against Discrimination (N.J.S.A. 10:5-1 et seq.) applies to algorithmic discrimination the same way it has long applied to other discriminatory conduct, in employment among other contexts. Three points matter for HR practice:</a:t>
            </a:r>
            <a:endParaRPr/>
          </a:p>
          <a:p xmlns:a="http://schemas.openxmlformats.org/drawingml/2006/main">
            <a:r>
              <a:t/>
            </a:r>
            <a:endParaRPr/>
          </a:p>
          <a:p xmlns:a="http://schemas.openxmlformats.org/drawingml/2006/main">
            <a:r>
              <a:t>- **No intent required, and a vendor tool is not a defense.** The guidance states that a covered entity "is not shielded from liability for algorithmic discrimination that results from the entity's use of an automated decision-making tool simply because the tool was developed by a third party or because the entity does not understand the inner workings of the tool."</a:t>
            </a:r>
            <a:endParaRPr/>
          </a:p>
          <a:p xmlns:a="http://schemas.openxmlformats.org/drawingml/2006/main">
            <a:r>
              <a:t>- **Disparate impact is covered.** Use of a tool with a disproportionate effect on a protected class is prohibited unless it is necessary to achieve a substantial, legitimate, nondiscriminatory interest and there is no less discriminatory alternative. Whether the employer tested the tool for bias or evaluated alternatives may be weighed as relevant evidence, which is the same pattern as Connecticut: your fairness audit becomes evidence.</a:t>
            </a:r>
            <a:endParaRPr/>
          </a:p>
          <a:p xmlns:a="http://schemas.openxmlformats.org/drawingml/2006/main">
            <a:r>
              <a:t>- **Reasonable accommodations are in scope.** A tool can violate the LAD by being inaccessible or by penalizing someone who uses an accommodation. The guidance's example is a typing-speed screen that cannot read a non-traditional keyboard.</a:t>
            </a:r>
            <a:endParaRPr/>
          </a:p>
          <a:p xmlns:a="http://schemas.openxmlformats.org/drawingml/2006/main">
            <a:r>
              <a:t/>
            </a:r>
            <a:endParaRPr/>
          </a:p>
          <a:p xmlns:a="http://schemas.openxmlformats.org/drawingml/2006/main">
            <a:r>
              <a:t>Two limits to state accurately when you teach this. The guidance is interpretive: it says on its face that it imposes no requirements beyond the LAD and will not be enforced as a substitute for enforcing the LAD. And it carries no effective date, because the underlying statute has been in force for decades. Do not present it as a new obligation that switched on in 2025. The takeaway for the class is the general one: a state with no AI bill is not a state with no AI exposure.</a:t>
            </a:r>
            <a:endParaRPr/>
          </a:p>
          <a:p xmlns:a="http://schemas.openxmlformats.org/drawingml/2006/main">
            <a:r>
              <a:t/>
            </a:r>
            <a:endParaRPr/>
          </a:p>
          <a:p xmlns:a="http://schemas.openxmlformats.org/drawingml/2006/main">
            <a:r>
              <a:t>*GDPR and CCPA:*</a:t>
            </a:r>
            <a:endParaRPr/>
          </a:p>
          <a:p xmlns:a="http://schemas.openxmlformats.org/drawingml/2006/main">
            <a:r>
              <a:t>Employees in covered jurisdictions have rights regarding automated decision-making. Know which of your employees are covered and how your AI use cases interact with their rights. See the California-specific rules above for the current state of play there.</a:t>
            </a:r>
            <a:endParaRPr/>
          </a:p>
          <a:p xmlns:a="http://schemas.openxmlformats.org/drawingml/2006/main">
            <a:r>
              <a:t/>
            </a:r>
            <a:endParaRPr/>
          </a:p>
          <a:p xmlns:a="http://schemas.openxmlformats.org/drawingml/2006/main">
            <a:r>
              <a:t>*UK: Data (Use and Access) Act 2025 replaces GDPR Article 22:*</a:t>
            </a:r>
            <a:endParaRPr/>
          </a:p>
          <a:p xmlns:a="http://schemas.openxmlformats.org/drawingml/2006/main">
            <a:r>
              <a:t>Section 80 of the UK's Data (Use and Access) Act 2025 took effect February 5, 2026 (Commencement Regulations SI 2026/82) and substitutes Article 22 of the UK GDPR with new Articles 22A to 22D. The new regime permits solely automated "significant decisions," those with a legal or similarly significant effect, more broadly than before, but requires safeguards: notice to the individual, the ability to make representations, the right to human intervention, and the right to contest the decision. Stricter restrictions still apply where special category data is used. Treat this as a distinct regime from EU GDPR Article 22, not an equivalent, for any AI use case touching UK-based workers or candidates.</a:t>
            </a:r>
            <a:endParaRPr/>
          </a:p>
          <a:p xmlns:a="http://schemas.openxmlformats.org/drawingml/2006/main">
            <a:r>
              <a:t/>
            </a:r>
            <a:endParaRPr/>
          </a:p>
          <a:p xmlns:a="http://schemas.openxmlformats.org/drawingml/2006/main">
            <a:r>
              <a:t>The ICO is already signaling how it will police this in recruitment specifically. A March 2026 ICO report on automated decision-making in hiring found many employers don't recognize they're doing ADM at all, and that "human review" in practice often amounts to rubber-stamping rather than a reviewer with real authority to change the outcome. Following that report, the ICO opened a consultation on draft ADM guidance, worth checking for the final version before relying on the March findings alone. Build the oversight role description to survive that scrutiny, not just to check the box.</a:t>
            </a:r>
            <a:endParaRPr/>
          </a:p>
          <a:p xmlns:a="http://schemas.openxmlformats.org/drawingml/2006/main">
            <a:r>
              <a:t/>
            </a:r>
            <a:endParaRPr/>
          </a:p>
          <a:p xmlns:a="http://schemas.openxmlformats.org/drawingml/2006/main">
            <a:r>
              <a:t>*Canada: no federal AI employment law, but Ontario requires disclosure:*</a:t>
            </a:r>
            <a:endParaRPr/>
          </a:p>
          <a:p xmlns:a="http://schemas.openxmlformats.org/drawingml/2006/main">
            <a:r>
              <a:t>Canada's federal AI bill (AIDA, part of Bill C-27) died when Parliament prorogued in January 2025 and has not been revived. AI regulation there runs through existing privacy, human rights, and sector law instead. Ontario is the exception: since January 1, 2026, employers with 25+ employees must disclose in publicly advertised job postings whether AI is used to screen, assess, or select candidates (Employment Standards Act, 2000 amendment).</a:t>
            </a:r>
            <a:endParaRPr/>
          </a:p>
          <a:p xmlns:a="http://schemas.openxmlformats.org/drawingml/2006/main">
            <a:r>
              <a:t/>
            </a:r>
            <a:endParaRPr/>
          </a:p>
          <a:p xmlns:a="http://schemas.openxmlformats.org/drawingml/2006/main">
            <a:r>
              <a:t>*The "AI as a manager" trap:*</a:t>
            </a:r>
            <a:endParaRPr/>
          </a:p>
          <a:p xmlns:a="http://schemas.openxmlformats.org/drawingml/2006/main">
            <a:r>
              <a:t>AI that monitors, evaluates, or scores employees without their knowledge, even for legitimate purposes, creates legal and trust exposure. Transparency is not just ethical, it's protective.</a:t>
            </a:r>
            <a:endParaRPr/>
          </a:p>
          <a:p xmlns:a="http://schemas.openxmlformats.org/drawingml/2006/main">
            <a:r>
              <a:t/>
            </a:r>
            <a:endParaRPr/>
          </a:p>
          <a:p xmlns:a="http://schemas.openxmlformats.org/drawingml/2006/main">
            <a:r>
              <a:t>**Scenario practice cards:**</a:t>
            </a:r>
            <a:endParaRPr/>
          </a:p>
          <a:p xmlns:a="http://schemas.openxmlformats.org/drawingml/2006/main">
            <a:r>
              <a:t/>
            </a:r>
            <a:endParaRPr/>
          </a:p>
          <a:p xmlns:a="http://schemas.openxmlformats.org/drawingml/2006/main">
            <a:r>
              <a:t>Print or share these four scenarios. Groups of 3–4 discuss: Is this use appropriate? What are the risks? What would you change?</a:t>
            </a:r>
            <a:endParaRPr/>
          </a:p>
          <a:p xmlns:a="http://schemas.openxmlformats.org/drawingml/2006/main">
            <a:r>
              <a:t/>
            </a:r>
            <a:endParaRPr/>
          </a:p>
          <a:p xmlns:a="http://schemas.openxmlformats.org/drawingml/2006/main">
            <a:r>
              <a:t>&gt; **Scenario A:** An AI tool automatically rejects resumes with gaps of more than 6 months without showing them to a recruiter.</a:t>
            </a:r>
            <a:endParaRPr/>
          </a:p>
          <a:p xmlns:a="http://schemas.openxmlformats.org/drawingml/2006/main">
            <a:r>
              <a:t/>
            </a:r>
            <a:endParaRPr/>
          </a:p>
          <a:p xmlns:a="http://schemas.openxmlformats.org/drawingml/2006/main">
            <a:r>
              <a:t>&gt; **Scenario B:** An HRBP uses an AI writing assistant to draft a PIP for an employee, then reviews and edits it before sharing with the manager.</a:t>
            </a:r>
            <a:endParaRPr/>
          </a:p>
          <a:p xmlns:a="http://schemas.openxmlformats.org/drawingml/2006/main">
            <a:r>
              <a:t/>
            </a:r>
            <a:endParaRPr/>
          </a:p>
          <a:p xmlns:a="http://schemas.openxmlformats.org/drawingml/2006/main">
            <a:r>
              <a:t>&gt; **Scenario C:** People Analytics builds an attrition risk model that scores all employees monthly and shares the scores directly with managers.</a:t>
            </a:r>
            <a:endParaRPr/>
          </a:p>
          <a:p xmlns:a="http://schemas.openxmlformats.org/drawingml/2006/main">
            <a:r>
              <a:t/>
            </a:r>
            <a:endParaRPr/>
          </a:p>
          <a:p xmlns:a="http://schemas.openxmlformats.org/drawingml/2006/main">
            <a:r>
              <a:t>&gt; **Scenario D:** An AI chatbot answers benefits questions for employees. It sometimes gives incorrect information but flags that users should confirm with HR.</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4: Building and scaling AI use cases</a:t>
            </a:r>
            <a:endParaRPr/>
          </a:p>
          <a:p xmlns:a="http://schemas.openxmlformats.org/drawingml/2006/main">
            <a:r>
              <a:t/>
            </a:r>
            <a:endParaRPr/>
          </a:p>
          <a:p xmlns:a="http://schemas.openxmlformats.org/drawingml/2006/main">
            <a:r>
              <a:t>**Learning objectives:**</a:t>
            </a:r>
            <a:endParaRPr/>
          </a:p>
          <a:p xmlns:a="http://schemas.openxmlformats.org/drawingml/2006/main">
            <a:r>
              <a:t>- Apply the prioritization matrix to identify your team's highest-value AI use cases</a:t>
            </a:r>
            <a:endParaRPr/>
          </a:p>
          <a:p xmlns:a="http://schemas.openxmlformats.org/drawingml/2006/main">
            <a:r>
              <a:t>- Define a use case with clear success metrics and governance requirements</a:t>
            </a:r>
            <a:endParaRPr/>
          </a:p>
          <a:p xmlns:a="http://schemas.openxmlformats.org/drawingml/2006/main">
            <a:r>
              <a:t>- Draft a basic implementation plan for a low-complexity use case</a:t>
            </a:r>
            <a:endParaRPr/>
          </a:p>
          <a:p xmlns:a="http://schemas.openxmlformats.org/drawingml/2006/main">
            <a:r>
              <a:t/>
            </a:r>
            <a:endParaRPr/>
          </a:p>
          <a:p xmlns:a="http://schemas.openxmlformats.org/drawingml/2006/main">
            <a:r>
              <a:t>**Session outline (2 hours):**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Opening: What does "scaling AI in HR" actually mean? |</a:t>
            </a:r>
            <a:endParaRPr/>
          </a:p>
          <a:p xmlns:a="http://schemas.openxmlformats.org/drawingml/2006/main">
            <a:r>
              <a:t>| 0:15–0:45 | Framework: From idea to deployment, the use case lifecycle |</a:t>
            </a:r>
            <a:endParaRPr/>
          </a:p>
          <a:p xmlns:a="http://schemas.openxmlformats.org/drawingml/2006/main">
            <a:r>
              <a:t>| 0:45–1:15 | Team exercise: Prioritization matrix applied to your team's top 5 ideas |</a:t>
            </a:r>
            <a:endParaRPr/>
          </a:p>
          <a:p xmlns:a="http://schemas.openxmlformats.org/drawingml/2006/main">
            <a:r>
              <a:t>| 1:15–1:45 | Small group: Draft a one-page use case spec for your top-ranked idea |</a:t>
            </a:r>
            <a:endParaRPr/>
          </a:p>
          <a:p xmlns:a="http://schemas.openxmlformats.org/drawingml/2006/main">
            <a:r>
              <a:t>| 1:45–2:00 | Gallery walk + feedback |</a:t>
            </a:r>
            <a:endParaRPr/>
          </a:p>
          <a:p xmlns:a="http://schemas.openxmlformats.org/drawingml/2006/main">
            <a:r>
              <a:t/>
            </a:r>
            <a:endParaRPr/>
          </a:p>
          <a:p xmlns:a="http://schemas.openxmlformats.org/drawingml/2006/main">
            <a:r>
              <a:t>**Use case lifecycle:**</a:t>
            </a:r>
            <a:endParaRPr/>
          </a:p>
          <a:p xmlns:a="http://schemas.openxmlformats.org/drawingml/2006/main">
            <a:r>
              <a:t/>
            </a:r>
            <a:endParaRPr/>
          </a:p>
          <a:p xmlns:a="http://schemas.openxmlformats.org/drawingml/2006/main">
            <a:r>
              <a:t>```</a:t>
            </a:r>
            <a:endParaRPr/>
          </a:p>
          <a:p xmlns:a="http://schemas.openxmlformats.org/drawingml/2006/main">
            <a:r>
              <a:t>Discover → Prioritize → Design → Pilot → Evaluate → Scale</a:t>
            </a:r>
            <a:endParaRPr/>
          </a:p>
          <a:p xmlns:a="http://schemas.openxmlformats.org/drawingml/2006/main">
            <a:r>
              <a:t>   ↑                                          |</a:t>
            </a:r>
            <a:endParaRPr/>
          </a:p>
          <a:p xmlns:a="http://schemas.openxmlformats.org/drawingml/2006/main">
            <a:r>
              <a:t>   └──────────────── iterate ─────────────────┘</a:t>
            </a:r>
            <a:endParaRPr/>
          </a:p>
          <a:p xmlns:a="http://schemas.openxmlformats.org/drawingml/2006/main">
            <a:r>
              <a:t>```</a:t>
            </a:r>
            <a:endParaRPr/>
          </a:p>
          <a:p xmlns:a="http://schemas.openxmlformats.org/drawingml/2006/main">
            <a:r>
              <a:t/>
            </a:r>
            <a:endParaRPr/>
          </a:p>
          <a:p xmlns:a="http://schemas.openxmlformats.org/drawingml/2006/main">
            <a:r>
              <a:t>- **Discover:** What problem are we solving? Who feels it most?</a:t>
            </a:r>
            <a:endParaRPr/>
          </a:p>
          <a:p xmlns:a="http://schemas.openxmlformats.org/drawingml/2006/main">
            <a:r>
              <a:t>- **Prioritize:** Use the matrix. Don't skip this.</a:t>
            </a:r>
            <a:endParaRPr/>
          </a:p>
          <a:p xmlns:a="http://schemas.openxmlformats.org/drawingml/2006/main">
            <a:r>
              <a:t>- **Design:** Define inputs, outputs, human review gates, success metrics, and fallback</a:t>
            </a:r>
            <a:endParaRPr/>
          </a:p>
          <a:p xmlns:a="http://schemas.openxmlformats.org/drawingml/2006/main">
            <a:r>
              <a:t>- **Pilot:** Small scope, high observation. 4–8 weeks.</a:t>
            </a:r>
            <a:endParaRPr/>
          </a:p>
          <a:p xmlns:a="http://schemas.openxmlformats.org/drawingml/2006/main">
            <a:r>
              <a:t>- **Evaluate:** Did it work? For whom? What didn't?</a:t>
            </a:r>
            <a:endParaRPr/>
          </a:p>
          <a:p xmlns:a="http://schemas.openxmlformats.org/drawingml/2006/main">
            <a:r>
              <a:t>- **Scale:** Expand with the lessons from pilot baked in</a:t>
            </a:r>
            <a:endParaRPr/>
          </a:p>
          <a:p xmlns:a="http://schemas.openxmlformats.org/drawingml/2006/main">
            <a:r>
              <a:t/>
            </a:r>
            <a:endParaRPr/>
          </a:p>
          <a:p xmlns:a="http://schemas.openxmlformats.org/drawingml/2006/main">
            <a:r>
              <a:t>**One-page use case spec template:**</a:t>
            </a:r>
            <a:endParaRPr/>
          </a:p>
          <a:p xmlns:a="http://schemas.openxmlformats.org/drawingml/2006/main">
            <a:r>
              <a:t/>
            </a:r>
            <a:endParaRPr/>
          </a:p>
          <a:p xmlns:a="http://schemas.openxmlformats.org/drawingml/2006/main">
            <a:r>
              <a:t>Participants complete this for their team's top-ranked use case:</a:t>
            </a:r>
            <a:endParaRPr/>
          </a:p>
          <a:p xmlns:a="http://schemas.openxmlformats.org/drawingml/2006/main">
            <a:r>
              <a:t/>
            </a:r>
            <a:endParaRPr/>
          </a:p>
          <a:p xmlns:a="http://schemas.openxmlformats.org/drawingml/2006/main">
            <a:r>
              <a:t>```</a:t>
            </a:r>
            <a:endParaRPr/>
          </a:p>
          <a:p xmlns:a="http://schemas.openxmlformats.org/drawingml/2006/main">
            <a:r>
              <a:t>Use case name:</a:t>
            </a:r>
            <a:endParaRPr/>
          </a:p>
          <a:p xmlns:a="http://schemas.openxmlformats.org/drawingml/2006/main">
            <a:r>
              <a:t>Problem it solves (1 sentence):</a:t>
            </a:r>
            <a:endParaRPr/>
          </a:p>
          <a:p xmlns:a="http://schemas.openxmlformats.org/drawingml/2006/main">
            <a:r>
              <a:t>Who benefits and how:</a:t>
            </a:r>
            <a:endParaRPr/>
          </a:p>
          <a:p xmlns:a="http://schemas.openxmlformats.org/drawingml/2006/main">
            <a:r>
              <a:t>AI approach (Rules / Augment / Assist / Human-led / Analytics):</a:t>
            </a:r>
            <a:endParaRPr/>
          </a:p>
          <a:p xmlns:a="http://schemas.openxmlformats.org/drawingml/2006/main">
            <a:r>
              <a:t>Data needed:</a:t>
            </a:r>
            <a:endParaRPr/>
          </a:p>
          <a:p xmlns:a="http://schemas.openxmlformats.org/drawingml/2006/main">
            <a:r>
              <a:t>Human review gate:</a:t>
            </a:r>
            <a:endParaRPr/>
          </a:p>
          <a:p xmlns:a="http://schemas.openxmlformats.org/drawingml/2006/main">
            <a:r>
              <a:t>Success metric(s):</a:t>
            </a:r>
            <a:endParaRPr/>
          </a:p>
          <a:p xmlns:a="http://schemas.openxmlformats.org/drawingml/2006/main">
            <a:r>
              <a:t>What could go wrong:</a:t>
            </a:r>
            <a:endParaRPr/>
          </a:p>
          <a:p xmlns:a="http://schemas.openxmlformats.org/drawingml/2006/main">
            <a:r>
              <a:t>Governance requirements (from risk assessment):</a:t>
            </a:r>
            <a:endParaRPr/>
          </a:p>
          <a:p xmlns:a="http://schemas.openxmlformats.org/drawingml/2006/main">
            <a:r>
              <a:t>First step to move forward:</a:t>
            </a:r>
            <a:endParaRPr/>
          </a:p>
          <a:p xmlns:a="http://schemas.openxmlformats.org/drawingml/2006/main">
            <a:r>
              <a:t>```</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Assessment and certification</a:t>
            </a:r>
            <a:endParaRPr/>
          </a:p>
          <a:p xmlns:a="http://schemas.openxmlformats.org/drawingml/2006/main">
            <a:r>
              <a:t/>
            </a:r>
            <a:endParaRPr/>
          </a:p>
          <a:p xmlns:a="http://schemas.openxmlformats.org/drawingml/2006/main">
            <a:r>
              <a:t>An organization may choose to give participants who complete all four modules</a:t>
            </a:r>
            <a:endParaRPr/>
          </a:p>
          <a:p xmlns:a="http://schemas.openxmlformats.org/drawingml/2006/main">
            <a:r>
              <a:t>and the hands-on components an **HR AI Practitioner** acknowledgment. This is a</a:t>
            </a:r>
            <a:endParaRPr/>
          </a:p>
          <a:p xmlns:a="http://schemas.openxmlformats.org/drawingml/2006/main">
            <a:r>
              <a:t>proposed internal recognition, not an accredited certification or evidence of</a:t>
            </a:r>
            <a:endParaRPr/>
          </a:p>
          <a:p xmlns:a="http://schemas.openxmlformats.org/drawingml/2006/main">
            <a:r>
              <a:t>professional competence. No delivery or learning outcome is claimed here.</a:t>
            </a:r>
            <a:endParaRPr/>
          </a:p>
          <a:p xmlns:a="http://schemas.openxmlformats.org/drawingml/2006/main">
            <a:r>
              <a:t/>
            </a:r>
            <a:endParaRPr/>
          </a:p>
          <a:p xmlns:a="http://schemas.openxmlformats.org/drawingml/2006/main">
            <a:r>
              <a:t>Optional extension: Participants who complete a full use case spec and present it to the HR Technology team are recognized as **HR AI Champions**, an informal internal designation that supports peer enablement.</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Facilitator notes</a:t>
            </a:r>
            <a:endParaRPr/>
          </a:p>
          <a:p xmlns:a="http://schemas.openxmlformats.org/drawingml/2006/main">
            <a:r>
              <a:t/>
            </a:r>
            <a:endParaRPr/>
          </a:p>
          <a:p xmlns:a="http://schemas.openxmlformats.org/drawingml/2006/main">
            <a:r>
              <a:t>These are facilitation suggestions, not measured delivery findings. Use synthetic examples; removing names alone does not establish anonymity. Do not upload real employee, candidate, compensation, or employer-confidential information for a training exercise.</a:t>
            </a:r>
            <a:endParaRPr/>
          </a:p>
          <a:p xmlns:a="http://schemas.openxmlformats.org/drawingml/2006/main">
            <a:r>
              <a:t/>
            </a:r>
            <a:endParaRPr/>
          </a:p>
          <a:p xmlns:a="http://schemas.openxmlformats.org/drawingml/2006/main">
            <a:r>
              <a:t>- Budget flex time in Module 3 for questions and disagreement about risk.</a:t>
            </a:r>
            <a:endParaRPr/>
          </a:p>
          <a:p xmlns:a="http://schemas.openxmlformats.org/drawingml/2006/main">
            <a:r>
              <a:t>- Protect time for the Module 2 lab, and check whether participants can identify errors and verify outputs afterward.</a:t>
            </a:r>
            <a:endParaRPr/>
          </a:p>
          <a:p xmlns:a="http://schemas.openxmlformats.org/drawingml/2006/main">
            <a:r>
              <a:t>- Adapt synthetic scenarios to familiar workflows, without identifiable employee cases or confidential documents.</a:t>
            </a:r>
            <a:endParaRPr/>
          </a:p>
          <a:p xmlns:a="http://schemas.openxmlformats.org/drawingml/2006/main">
            <a:r>
              <a:t>- Keep an AI skeptic on the facilitation team if possible. The best discussions happen when the room has range.</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snapshot: 13 October 2026. Curriculum SHA-256: 5ee769258ac9b95a3c514b64dcd5b22215e40bac8621054ffb452bffc244827a. This deck summarizes the source; no human evaluation, delivery outcome or legal approval is claimed.</a:t>
            </a:r>
            <a:endParaRPr/>
          </a:p>
          <a:p xmlns:a="http://schemas.openxmlformats.org/drawingml/2006/main">
            <a:r>
              <a:t/>
            </a:r>
            <a:endParaRPr/>
          </a:p>
          <a:p xmlns:a="http://schemas.openxmlformats.org/drawingml/2006/main">
            <a:r>
              <a:t># HR AI literacy curriculum</a:t>
            </a:r>
            <a:endParaRPr/>
          </a:p>
          <a:p xmlns:a="http://schemas.openxmlformats.org/drawingml/2006/main">
            <a:r>
              <a:t/>
            </a:r>
            <a:endParaRPr/>
          </a:p>
          <a:p xmlns:a="http://schemas.openxmlformats.org/drawingml/2006/main">
            <a:r>
              <a:t>A 4-module learning program for HR professionals at all experience levels. Designed to be delivered as a facilitated series over 4–6 weeks, or adapted for self-paced completion.</a:t>
            </a:r>
            <a:endParaRPr/>
          </a:p>
          <a:p xmlns:a="http://schemas.openxmlformats.org/drawingml/2006/main">
            <a:r>
              <a:t/>
            </a:r>
            <a:endParaRPr/>
          </a:p>
          <a:p xmlns:a="http://schemas.openxmlformats.org/drawingml/2006/main">
            <a:r>
              <a:t>**Total time:** about 7 hours of sessions, plus async reading and hands-on practice (roughly 8 hours in all)</a:t>
            </a:r>
            <a:endParaRPr/>
          </a:p>
          <a:p xmlns:a="http://schemas.openxmlformats.org/drawingml/2006/main">
            <a:r>
              <a:t>**Format:** Workshop + async reading + hands-on practice</a:t>
            </a:r>
            <a:endParaRPr/>
          </a:p>
          <a:p xmlns:a="http://schemas.openxmlformats.org/drawingml/2006/main">
            <a:r>
              <a:t>**Audience:** All People Team members</a:t>
            </a:r>
            <a:endParaRPr/>
          </a:p>
          <a:p xmlns:a="http://schemas.openxmlformats.org/drawingml/2006/main">
            <a:r>
              <a:t>**Prerequisite:** None</a:t>
            </a:r>
            <a:endParaRPr/>
          </a:p>
          <a:p xmlns:a="http://schemas.openxmlformats.org/drawingml/2006/main">
            <a:r>
              <a:t/>
            </a:r>
            <a:endParaRPr/>
          </a:p>
          <a:p xmlns:a="http://schemas.openxmlformats.org/drawingml/2006/main">
            <a:r>
              <a:t>**Lab prerequisite:** The facilitator confirms an organization-approved tool,</a:t>
            </a:r>
            <a:endParaRPr/>
          </a:p>
          <a:p xmlns:a="http://schemas.openxmlformats.org/drawingml/2006/main">
            <a:r>
              <a:t>provider handling, and a synthetic-only data boundary before any exercise.</a:t>
            </a:r>
            <a:endParaRPr/>
          </a:p>
          <a:p xmlns:a="http://schemas.openxmlformats.org/drawingml/2006/main">
            <a:r>
              <a:t>Modules 1-3 and the required governance approvals precede any real-work pilot.</a:t>
            </a:r>
            <a:endParaRPr/>
          </a:p>
          <a:p xmlns:a="http://schemas.openxmlformats.org/drawingml/2006/main">
            <a:r>
              <a:t>This curriculum does not authorize employee-data processing.</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Program overview</a:t>
            </a:r>
            <a:endParaRPr/>
          </a:p>
          <a:p xmlns:a="http://schemas.openxmlformats.org/drawingml/2006/main">
            <a:r>
              <a:t/>
            </a:r>
            <a:endParaRPr/>
          </a:p>
          <a:p xmlns:a="http://schemas.openxmlformats.org/drawingml/2006/main">
            <a:r>
              <a:t>| Module | Title | Duration | Format |</a:t>
            </a:r>
            <a:endParaRPr/>
          </a:p>
          <a:p xmlns:a="http://schemas.openxmlformats.org/drawingml/2006/main">
            <a:r>
              <a:t>|---|---|---|---|</a:t>
            </a:r>
            <a:endParaRPr/>
          </a:p>
          <a:p xmlns:a="http://schemas.openxmlformats.org/drawingml/2006/main">
            <a:r>
              <a:t>| 1 | How AI works, what HR professionals actually need to know | 90 min | Workshop |</a:t>
            </a:r>
            <a:endParaRPr/>
          </a:p>
          <a:p xmlns:a="http://schemas.openxmlformats.org/drawingml/2006/main">
            <a:r>
              <a:t>| 2 | Using AI in your daily HR work | 2 hours | Workshop + lab |</a:t>
            </a:r>
            <a:endParaRPr/>
          </a:p>
          <a:p xmlns:a="http://schemas.openxmlformats.org/drawingml/2006/main">
            <a:r>
              <a:t>| 3 | Governance, ethics, and responsible use | 90 min | Workshop |</a:t>
            </a:r>
            <a:endParaRPr/>
          </a:p>
          <a:p xmlns:a="http://schemas.openxmlformats.org/drawingml/2006/main">
            <a:r>
              <a:t>| 4 | Building and scaling AI use cases | 2 hours | Workshop + project |</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1: How AI works, what HR professionals actually need to know</a:t>
            </a:r>
            <a:endParaRPr/>
          </a:p>
          <a:p xmlns:a="http://schemas.openxmlformats.org/drawingml/2006/main">
            <a:r>
              <a:t/>
            </a:r>
            <a:endParaRPr/>
          </a:p>
          <a:p xmlns:a="http://schemas.openxmlformats.org/drawingml/2006/main">
            <a:r>
              <a:t>**Learning objectives:**</a:t>
            </a:r>
            <a:endParaRPr/>
          </a:p>
          <a:p xmlns:a="http://schemas.openxmlformats.org/drawingml/2006/main">
            <a:r>
              <a:t>- Explain the difference between traditional automation and generative AI</a:t>
            </a:r>
            <a:endParaRPr/>
          </a:p>
          <a:p xmlns:a="http://schemas.openxmlformats.org/drawingml/2006/main">
            <a:r>
              <a:t>- Describe why AI "hallucinates" and how to mitigate it in HR contexts</a:t>
            </a:r>
            <a:endParaRPr/>
          </a:p>
          <a:p xmlns:a="http://schemas.openxmlformats.org/drawingml/2006/main">
            <a:r>
              <a:t>- Identify which HR tasks are good candidates for AI assistance and which are not</a:t>
            </a:r>
            <a:endParaRPr/>
          </a:p>
          <a:p xmlns:a="http://schemas.openxmlformats.org/drawingml/2006/main">
            <a:r>
              <a:t/>
            </a:r>
            <a:endParaRPr/>
          </a:p>
          <a:p xmlns:a="http://schemas.openxmlformats.org/drawingml/2006/main">
            <a:r>
              <a:t>**Session outline (90 minutes):**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0:00–0:10 | Opening: What do you already believe about AI? (quick poll + discussion) |</a:t>
            </a:r>
            <a:endParaRPr/>
          </a:p>
          <a:p xmlns:a="http://schemas.openxmlformats.org/drawingml/2006/main">
            <a:r>
              <a:t>| 0:10–0:30 | Concept: How LLMs work, without the jargon (facilitator presentation) |</a:t>
            </a:r>
            <a:endParaRPr/>
          </a:p>
          <a:p xmlns:a="http://schemas.openxmlformats.org/drawingml/2006/main">
            <a:r>
              <a:t>| 0:30–0:45 | Concept: Hallucination, confidence, and why AI makes things up |</a:t>
            </a:r>
            <a:endParaRPr/>
          </a:p>
          <a:p xmlns:a="http://schemas.openxmlformats.org/drawingml/2006/main">
            <a:r>
              <a:t>| 0:45–1:05 | Exercise: Spot the hallucination (participants identify errors in AI-generated HR content) |</a:t>
            </a:r>
            <a:endParaRPr/>
          </a:p>
          <a:p xmlns:a="http://schemas.openxmlformats.org/drawingml/2006/main">
            <a:r>
              <a:t>| 1:05–1:20 | Discussion: Where should HR use AI? Where should we be cautious? |</a:t>
            </a:r>
            <a:endParaRPr/>
          </a:p>
          <a:p xmlns:a="http://schemas.openxmlformats.org/drawingml/2006/main">
            <a:r>
              <a:t>| 1:20–1:30 | Wrap-up + homework: Try one AI tool before next session |</a:t>
            </a:r>
            <a:endParaRPr/>
          </a:p>
          <a:p xmlns:a="http://schemas.openxmlformats.org/drawingml/2006/main">
            <a:r>
              <a:t/>
            </a:r>
            <a:endParaRPr/>
          </a:p>
          <a:p xmlns:a="http://schemas.openxmlformats.org/drawingml/2006/main">
            <a:r>
              <a:t>**Key concepts to cover:**</a:t>
            </a:r>
            <a:endParaRPr/>
          </a:p>
          <a:p xmlns:a="http://schemas.openxmlformats.org/drawingml/2006/main">
            <a:r>
              <a:t/>
            </a:r>
            <a:endParaRPr/>
          </a:p>
          <a:p xmlns:a="http://schemas.openxmlformats.org/drawingml/2006/main">
            <a:r>
              <a:t>*What LLMs actually are:*</a:t>
            </a:r>
            <a:endParaRPr/>
          </a:p>
          <a:p xmlns:a="http://schemas.openxmlformats.org/drawingml/2006/main">
            <a:r>
              <a:t>Large language models predict the next most likely word given context. They don't "know" things the way a database knows things, they pattern-match against training data. This is why they can sound authoritative while being wrong.</a:t>
            </a:r>
            <a:endParaRPr/>
          </a:p>
          <a:p xmlns:a="http://schemas.openxmlformats.org/drawingml/2006/main">
            <a:r>
              <a:t/>
            </a:r>
            <a:endParaRPr/>
          </a:p>
          <a:p xmlns:a="http://schemas.openxmlformats.org/drawingml/2006/main">
            <a:r>
              <a:t>*The spectrum from rules to agents:*</a:t>
            </a:r>
            <a:endParaRPr/>
          </a:p>
          <a:p xmlns:a="http://schemas.openxmlformats.org/drawingml/2006/main">
            <a:r>
              <a:t>```</a:t>
            </a:r>
            <a:endParaRPr/>
          </a:p>
          <a:p xmlns:a="http://schemas.openxmlformats.org/drawingml/2006/main">
            <a:r>
              <a:t>Rules            →  Assist / Augment              →  Agent</a:t>
            </a:r>
            <a:endParaRPr/>
          </a:p>
          <a:p xmlns:a="http://schemas.openxmlformats.org/drawingml/2006/main">
            <a:r>
              <a:t>(deterministic)     (a person decides or owns)       (a model acts across several steps)</a:t>
            </a:r>
            <a:endParaRPr/>
          </a:p>
          <a:p xmlns:a="http://schemas.openxmlformats.org/drawingml/2006/main">
            <a:r>
              <a:t>```</a:t>
            </a:r>
            <a:endParaRPr/>
          </a:p>
          <a:p xmlns:a="http://schemas.openxmlformats.org/drawingml/2006/main">
            <a:r>
              <a:t>Use rules when rules reliably give the right answer. Most HR uses of AI belong in the middle. An agent, where a model takes several actions through tools with limited review between them, has to earn that autonomy through evidence and brings new governance requirements.</a:t>
            </a:r>
            <a:endParaRPr/>
          </a:p>
          <a:p xmlns:a="http://schemas.openxmlformats.org/drawingml/2006/main">
            <a:r>
              <a:t/>
            </a:r>
            <a:endParaRPr/>
          </a:p>
          <a:p xmlns:a="http://schemas.openxmlformats.org/drawingml/2006/main">
            <a:r>
              <a:t>*Prompt quality drives output quality:*</a:t>
            </a:r>
            <a:endParaRPr/>
          </a:p>
          <a:p xmlns:a="http://schemas.openxmlformats.org/drawingml/2006/main">
            <a:r>
              <a:t>Clear prompts help define a task and its boundaries. Output quality also depends on the model, source material, workflow controls, and verification. A well-written prompt does not establish factual accuracy or safe HR judgment.</a:t>
            </a:r>
            <a:endParaRPr/>
          </a:p>
          <a:p xmlns:a="http://schemas.openxmlformats.org/drawingml/2006/main">
            <a:r>
              <a:t/>
            </a:r>
            <a:endParaRPr/>
          </a:p>
          <a:p xmlns:a="http://schemas.openxmlformats.org/drawingml/2006/main">
            <a:r>
              <a:t>**Pre-reading (assign before session):**</a:t>
            </a:r>
            <a:endParaRPr/>
          </a:p>
          <a:p xmlns:a="http://schemas.openxmlformats.org/drawingml/2006/main">
            <a:r>
              <a:t>- [Your organization's AI use policy](../03-governance/ai-use-policy.md)</a:t>
            </a:r>
            <a:endParaRPr/>
          </a:p>
          <a:p xmlns:a="http://schemas.openxmlformats.org/drawingml/2006/main">
            <a:r>
              <a:t>- One-page primer on generative AI for non-technical audiences (create or source)</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2: Using AI in your daily HR work</a:t>
            </a:r>
            <a:endParaRPr/>
          </a:p>
          <a:p xmlns:a="http://schemas.openxmlformats.org/drawingml/2006/main">
            <a:r>
              <a:t/>
            </a:r>
            <a:endParaRPr/>
          </a:p>
          <a:p xmlns:a="http://schemas.openxmlformats.org/drawingml/2006/main">
            <a:r>
              <a:t>**Learning objectives:**</a:t>
            </a:r>
            <a:endParaRPr/>
          </a:p>
          <a:p xmlns:a="http://schemas.openxmlformats.org/drawingml/2006/main">
            <a:r>
              <a:t>- Write effective prompts for HR use cases</a:t>
            </a:r>
            <a:endParaRPr/>
          </a:p>
          <a:p xmlns:a="http://schemas.openxmlformats.org/drawingml/2006/main">
            <a:r>
              <a:t>- Use the prompt library for at least 3 HR workflows</a:t>
            </a:r>
            <a:endParaRPr/>
          </a:p>
          <a:p xmlns:a="http://schemas.openxmlformats.org/drawingml/2006/main">
            <a:r>
              <a:t>- Identify when to use AI, when to verify AI output, and when not to use it</a:t>
            </a:r>
            <a:endParaRPr/>
          </a:p>
          <a:p xmlns:a="http://schemas.openxmlformats.org/drawingml/2006/main">
            <a:r>
              <a:t/>
            </a:r>
            <a:endParaRPr/>
          </a:p>
          <a:p xmlns:a="http://schemas.openxmlformats.org/drawingml/2006/main">
            <a:r>
              <a:t>**Session outline (2 hours including lab):**</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Share-back from Module 1 homework, what did you try, what happened? |</a:t>
            </a:r>
            <a:endParaRPr/>
          </a:p>
          <a:p xmlns:a="http://schemas.openxmlformats.org/drawingml/2006/main">
            <a:r>
              <a:t>| 0:15–0:45 | Prompt engineering for HR: the four elements of a good prompt |</a:t>
            </a:r>
            <a:endParaRPr/>
          </a:p>
          <a:p xmlns:a="http://schemas.openxmlformats.org/drawingml/2006/main">
            <a:r>
              <a:t>| 0:45–1:10 | Live demo: Onboarding plan, performance review draft, policy Q&amp;A |</a:t>
            </a:r>
            <a:endParaRPr/>
          </a:p>
          <a:p xmlns:a="http://schemas.openxmlformats.org/drawingml/2006/main">
            <a:r>
              <a:t>| 1:10–1:50 | Hands-on lab: Each participant works through 2 prompts using synthetic HR scenarios in organization-approved tools |</a:t>
            </a:r>
            <a:endParaRPr/>
          </a:p>
          <a:p xmlns:a="http://schemas.openxmlformats.org/drawingml/2006/main">
            <a:r>
              <a:t>| 1:50–2:00 | Debrief: What surprised you? What didn't work? |</a:t>
            </a:r>
            <a:endParaRPr/>
          </a:p>
          <a:p xmlns:a="http://schemas.openxmlformats.org/drawingml/2006/main">
            <a:r>
              <a:t/>
            </a:r>
            <a:endParaRPr/>
          </a:p>
          <a:p xmlns:a="http://schemas.openxmlformats.org/drawingml/2006/main">
            <a:r>
              <a:t>**The four elements of an effective HR prompt:**</a:t>
            </a:r>
            <a:endParaRPr/>
          </a:p>
          <a:p xmlns:a="http://schemas.openxmlformats.org/drawingml/2006/main">
            <a:r>
              <a:t/>
            </a:r>
            <a:endParaRPr/>
          </a:p>
          <a:p xmlns:a="http://schemas.openxmlformats.org/drawingml/2006/main">
            <a:r>
              <a:t>1. **Role**: Define the task perspective, such as drafting support for an HRBP. A role instruction does not give the model professional authority.</a:t>
            </a:r>
            <a:endParaRPr/>
          </a:p>
          <a:p xmlns:a="http://schemas.openxmlformats.org/drawingml/2006/main">
            <a:r>
              <a:t/>
            </a:r>
            <a:endParaRPr/>
          </a:p>
          <a:p xmlns:a="http://schemas.openxmlformats.org/drawingml/2006/main">
            <a:r>
              <a:t>2. **Context**: Provide the specific details the AI needs. Role, tenure, team size, situation. Don't make the AI guess.</a:t>
            </a:r>
            <a:endParaRPr/>
          </a:p>
          <a:p xmlns:a="http://schemas.openxmlformats.org/drawingml/2006/main">
            <a:r>
              <a:t/>
            </a:r>
            <a:endParaRPr/>
          </a:p>
          <a:p xmlns:a="http://schemas.openxmlformats.org/drawingml/2006/main">
            <a:r>
              <a:t>3. **Task**: State clearly what you want it to produce. One output per prompt. "Draft a..." is clearer than "Help me with..."</a:t>
            </a:r>
            <a:endParaRPr/>
          </a:p>
          <a:p xmlns:a="http://schemas.openxmlformats.org/drawingml/2006/main">
            <a:r>
              <a:t/>
            </a:r>
            <a:endParaRPr/>
          </a:p>
          <a:p xmlns:a="http://schemas.openxmlformats.org/drawingml/2006/main">
            <a:r>
              <a:t>4. **Constraints**: Define length, tone, format, exclusions, and the verification needed. Check whether the output follows them.</a:t>
            </a:r>
            <a:endParaRPr/>
          </a:p>
          <a:p xmlns:a="http://schemas.openxmlformats.org/drawingml/2006/main">
            <a:r>
              <a:t/>
            </a:r>
            <a:endParaRPr/>
          </a:p>
          <a:p xmlns:a="http://schemas.openxmlformats.org/drawingml/2006/main">
            <a:r>
              <a:t>**Lab instructions:**</a:t>
            </a:r>
            <a:endParaRPr/>
          </a:p>
          <a:p xmlns:a="http://schemas.openxmlformats.org/drawingml/2006/main">
            <a:r>
              <a:t/>
            </a:r>
            <a:endParaRPr/>
          </a:p>
          <a:p xmlns:a="http://schemas.openxmlformats.org/drawingml/2006/main">
            <a:r>
              <a:t>Participants choose 2 prompts from the library that are relevant to their current work:</a:t>
            </a:r>
            <a:endParaRPr/>
          </a:p>
          <a:p xmlns:a="http://schemas.openxmlformats.org/drawingml/2006/main">
            <a:r>
              <a:t>1. Run the prompt with a fictional HR scenario in an organization-approved tool. Do not upload real employee, candidate, compensation, or confidential employer information.</a:t>
            </a:r>
            <a:endParaRPr/>
          </a:p>
          <a:p xmlns:a="http://schemas.openxmlformats.org/drawingml/2006/main">
            <a:r>
              <a:t>2. Evaluate the output: What's useful? What's wrong or missing? What would you change before using it?</a:t>
            </a:r>
            <a:endParaRPr/>
          </a:p>
          <a:p xmlns:a="http://schemas.openxmlformats.org/drawingml/2006/main">
            <a:r>
              <a:t>3. Iterate: Modify the prompt once based on what you learned and run it again</a:t>
            </a:r>
            <a:endParaRPr/>
          </a:p>
          <a:p xmlns:a="http://schemas.openxmlformats.org/drawingml/2006/main">
            <a:r>
              <a:t>4. Note: What changed between run 1 and run 2?</a:t>
            </a:r>
            <a:endParaRPr/>
          </a:p>
          <a:p xmlns:a="http://schemas.openxmlformats.org/drawingml/2006/main">
            <a:r>
              <a:t/>
            </a:r>
            <a:endParaRPr/>
          </a:p>
          <a:p xmlns:a="http://schemas.openxmlformats.org/drawingml/2006/main">
            <a:r>
              <a:t>**The verify-before-use rule:**</a:t>
            </a:r>
            <a:endParaRPr/>
          </a:p>
          <a:p xmlns:a="http://schemas.openxmlformats.org/drawingml/2006/main">
            <a:r>
              <a:t/>
            </a:r>
            <a:endParaRPr/>
          </a:p>
          <a:p xmlns:a="http://schemas.openxmlformats.org/drawingml/2006/main">
            <a:r>
              <a:t>Introduce and reinforce this heuristic:</a:t>
            </a:r>
            <a:endParaRPr/>
          </a:p>
          <a:p xmlns:a="http://schemas.openxmlformats.org/drawingml/2006/main">
            <a:r>
              <a:t>- Policy details → always verify against source system before sharing</a:t>
            </a:r>
            <a:endParaRPr/>
          </a:p>
          <a:p xmlns:a="http://schemas.openxmlformats.org/drawingml/2006/main">
            <a:r>
              <a:t>- Legal requirements → always verify with Legal before relying on</a:t>
            </a:r>
            <a:endParaRPr/>
          </a:p>
          <a:p xmlns:a="http://schemas.openxmlformats.org/drawingml/2006/main">
            <a:r>
              <a:t>- Factual claims → spot-check against a known source</a:t>
            </a:r>
            <a:endParaRPr/>
          </a:p>
          <a:p xmlns:a="http://schemas.openxmlformats.org/drawingml/2006/main">
            <a:r>
              <a:t>- Tone and content → always read before sending; AI doesn't know your audience</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3: Governance, ethics, and responsible use</a:t>
            </a:r>
            <a:endParaRPr/>
          </a:p>
          <a:p xmlns:a="http://schemas.openxmlformats.org/drawingml/2006/main">
            <a:r>
              <a:t/>
            </a:r>
            <a:endParaRPr/>
          </a:p>
          <a:p xmlns:a="http://schemas.openxmlformats.org/drawingml/2006/main">
            <a:r>
              <a:t>**Learning objectives:**</a:t>
            </a:r>
            <a:endParaRPr/>
          </a:p>
          <a:p xmlns:a="http://schemas.openxmlformats.org/drawingml/2006/main">
            <a:r>
              <a:t>- Apply the organization's AI use policy to real HR scenarios</a:t>
            </a:r>
            <a:endParaRPr/>
          </a:p>
          <a:p xmlns:a="http://schemas.openxmlformats.org/drawingml/2006/main">
            <a:r>
              <a:t>- Identify the key legal risk areas in HR AI (bias, privacy, employment law)</a:t>
            </a:r>
            <a:endParaRPr/>
          </a:p>
          <a:p xmlns:a="http://schemas.openxmlformats.org/drawingml/2006/main">
            <a:r>
              <a:t>- Complete a basic risk assessment for a new use case</a:t>
            </a:r>
            <a:endParaRPr/>
          </a:p>
          <a:p xmlns:a="http://schemas.openxmlformats.org/drawingml/2006/main">
            <a:r>
              <a:t/>
            </a:r>
            <a:endParaRPr/>
          </a:p>
          <a:p xmlns:a="http://schemas.openxmlformats.org/drawingml/2006/main">
            <a:r>
              <a:t>**Session outline (90 minutes):**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Case study: Three HR AI failures and what we can learn (discussion) |</a:t>
            </a:r>
            <a:endParaRPr/>
          </a:p>
          <a:p xmlns:a="http://schemas.openxmlformats.org/drawingml/2006/main">
            <a:r>
              <a:t>| 0:15–0:40 | Framework: What makes AI use in HR risky? Legal and ethical dimensions |</a:t>
            </a:r>
            <a:endParaRPr/>
          </a:p>
          <a:p xmlns:a="http://schemas.openxmlformats.org/drawingml/2006/main">
            <a:r>
              <a:t>| 0:40–1:00 | Scenario practice: Is this use case okay? (small groups, 4 scenarios) |</a:t>
            </a:r>
            <a:endParaRPr/>
          </a:p>
          <a:p xmlns:a="http://schemas.openxmlformats.org/drawingml/2006/main">
            <a:r>
              <a:t>| 1:00–1:20 | Walk-through: The risk assessment template |</a:t>
            </a:r>
            <a:endParaRPr/>
          </a:p>
          <a:p xmlns:a="http://schemas.openxmlformats.org/drawingml/2006/main">
            <a:r>
              <a:t>| 1:20–1:30 | Q&amp;A + open discussion |</a:t>
            </a:r>
            <a:endParaRPr/>
          </a:p>
          <a:p xmlns:a="http://schemas.openxmlformats.org/drawingml/2006/main">
            <a:r>
              <a:t/>
            </a:r>
            <a:endParaRPr/>
          </a:p>
          <a:p xmlns:a="http://schemas.openxmlformats.org/drawingml/2006/main">
            <a:r>
              <a:t>&gt; **Note on regulatory currency:** Use the [Key dates for HR](../03-governance/README.md#key-dates-for-hr) and its linked primary sources as the dated reference. The slides summarize risk questions; they are not a complete legal reference. Have Legal verify jurisdiction, scope, obligations, and effective dates before delivery or adoption.</a:t>
            </a:r>
            <a:endParaRPr/>
          </a:p>
          <a:p xmlns:a="http://schemas.openxmlformats.org/drawingml/2006/main">
            <a:r>
              <a:t/>
            </a:r>
            <a:endParaRPr/>
          </a:p>
          <a:p xmlns:a="http://schemas.openxmlformats.org/drawingml/2006/main">
            <a:r>
              <a:t>**Key legal risk areas to cover:**</a:t>
            </a:r>
            <a:endParaRPr/>
          </a:p>
          <a:p xmlns:a="http://schemas.openxmlformats.org/drawingml/2006/main">
            <a:r>
              <a:t/>
            </a:r>
            <a:endParaRPr/>
          </a:p>
          <a:p xmlns:a="http://schemas.openxmlformats.org/drawingml/2006/main">
            <a:r>
              <a:t>*Bias and disparate impact:*</a:t>
            </a:r>
            <a:endParaRPr/>
          </a:p>
          <a:p xmlns:a="http://schemas.openxmlformats.org/drawingml/2006/main">
            <a:r>
              <a:t>AI trained on historical HR data can encode and amplify past discrimination. A history in which 80% of engineering hires were male is a reason to examine labels, features, selection effects, and group outcomes; that proportion alone does not determine how a model will score resumes. Adverse impact testing is a core control. It is required by law in some jurisdictions (NYC Local Law 144 mandates an annual bias audit for covered tools) and expected as evidence of reasonable care in many others. Confirm the cadence with Legal. See the [NIST AI RMF](https://www.nist.gov/itl/ai-risk-management-framework).</a:t>
            </a:r>
            <a:endParaRPr/>
          </a:p>
          <a:p xmlns:a="http://schemas.openxmlformats.org/drawingml/2006/main">
            <a:r>
              <a:t/>
            </a:r>
            <a:endParaRPr/>
          </a:p>
          <a:p xmlns:a="http://schemas.openxmlformats.org/drawingml/2006/main">
            <a:r>
              <a:t>*Illinois AI Video Interview Act, NYC Local Law 144, and emerging state laws:*</a:t>
            </a:r>
            <a:endParaRPr/>
          </a:p>
          <a:p xmlns:a="http://schemas.openxmlformats.org/drawingml/2006/main">
            <a:r>
              <a:t>Several jurisdictions now require disclosure, impact assessments, or consent for AI use in hiring. Illinois's AI Video Interview Act ([820 ILCS 42](https://www.ilga.gov/Legislation/ILCS/Articles?ActID=4015&amp;ChapterID=68)) governs AI analysis of recorded video interviews, including notice and consent before the interview. Confirm its current requirements against the statute before relying on them. Illinois also amended its Human Rights Act via HB 3773 (effective January 1, 2026) to broadly prohibit discriminatory AI use in hiring and promotion, not just video interviews. A companion law, Public Act 104-0425 (SB 2487, effective January 1, 2026), gives the Human Rights Commission tiered civil penalty authority for violations: up to $16,000 for a first offense, up to $42,500 with one prior violation within five years, up to $70,000 for two or more within seven years. The regulatory landscape is shifting quickly. Use cases involving hiring must be reviewed against current state law.</a:t>
            </a:r>
            <a:endParaRPr/>
          </a:p>
          <a:p xmlns:a="http://schemas.openxmlformats.org/drawingml/2006/main">
            <a:r>
              <a:t/>
            </a:r>
            <a:endParaRPr/>
          </a:p>
          <a:p xmlns:a="http://schemas.openxmlformats.org/drawingml/2006/main">
            <a:r>
              <a:t>NYC Local Law 144 enforcement is entering a stricter phase. A December 2025 NY State Comptroller audit found DCWP's enforcement "ineffective": DCWP's own review of 32 companies' bias-audit disclosures caught 1 likely non-compliance issue, where the Comptroller's review of the same 32 found at least 17. Expect more investigations and higher penalties as DCWP responds to the audit's recommendations, not just the disclosure-and-audit paperwork the law describes on paper.</a:t>
            </a:r>
            <a:endParaRPr/>
          </a:p>
          <a:p xmlns:a="http://schemas.openxmlformats.org/drawingml/2006/main">
            <a:r>
              <a:t/>
            </a:r>
            <a:endParaRPr/>
          </a:p>
          <a:p xmlns:a="http://schemas.openxmlformats.org/drawingml/2006/main">
            <a:r>
              <a:t>*Colorado's Automated Decision-Making Technology Act:*</a:t>
            </a:r>
            <a:endParaRPr/>
          </a:p>
          <a:p xmlns:a="http://schemas.openxmlformats.org/drawingml/2006/main">
            <a:r>
              <a:t>Colorado SB26-189 (signed 14 May 2026, Colo. Sess. Laws ch. 131) repeals and replaces the state's 2024 AI consumer protection law. It covers "consequential decisions," including employment, made using automated decision-making technology (ADMT) that materially influences the outcome. Starting January 1, 2027, developers must give deployers technical documentation on intended use, training data categories, known limitations, and human review instructions. Deployers will owe consumers notice at the point of interaction, and within 30 days of any adverse consequential decision, a plain-language explanation plus the right to request human review and reconsideration. Records must be retained 3 years. The attorney general enforces under the Colorado Consumer Protection Act, with a 60-day cure period through January 1, 2030.</a:t>
            </a:r>
            <a:endParaRPr/>
          </a:p>
          <a:p xmlns:a="http://schemas.openxmlformats.org/drawingml/2006/main">
            <a:r>
              <a:t/>
            </a:r>
            <a:endParaRPr/>
          </a:p>
          <a:p xmlns:a="http://schemas.openxmlformats.org/drawingml/2006/main">
            <a:r>
              <a:t>*Connecticut: AI Responsibility and Transparency Act (Public Act 26-15):*</a:t>
            </a:r>
            <a:endParaRPr/>
          </a:p>
          <a:p xmlns:a="http://schemas.openxmlformats.org/drawingml/2006/main">
            <a:r>
              <a:t>Connecticut's SB 5 became Public Act 26-15 in June 2026. It is the most comprehensive state AI employment statute enacted so far, and it phases in across two years. Read the dates carefully, because the parts that bite first are not the disclosure rules.</a:t>
            </a:r>
            <a:endParaRPr/>
          </a:p>
          <a:p xmlns:a="http://schemas.openxmlformats.org/drawingml/2006/main">
            <a:r>
              <a:t/>
            </a:r>
            <a:endParaRPr/>
          </a:p>
          <a:p xmlns:a="http://schemas.openxmlformats.org/drawingml/2006/main">
            <a:r>
              <a:t>Live October 1, 2026:</a:t>
            </a:r>
            <a:endParaRPr/>
          </a:p>
          <a:p xmlns:a="http://schemas.openxmlformats.org/drawingml/2006/main">
            <a:r>
              <a:t/>
            </a:r>
            <a:endParaRPr/>
          </a:p>
          <a:p xmlns:a="http://schemas.openxmlformats.org/drawingml/2006/main">
            <a:r>
              <a:t>- **AI is not a defense.** Sections 13 and 14 amend Conn. Gen. Stat. 46a-60 so that using an automated employment-related decision technology is not a defense against a discrimination complaint. The commission or court may consider the quality, efficacy, recency, and scope of anti-bias testing, its results, and the employer's response. This does not establish that a stale audit is always worse than no audit, or that testing guarantees a favorable legal outcome. Preserve the testing evidence and corrective actions for counsel review. Source: [Public Act 26-15](https://www.cga.ct.gov/2026/ACT/PA/PDF/2026PA-00015-R00SB-00005-PA.PDF).</a:t>
            </a:r>
            <a:endParaRPr/>
          </a:p>
          <a:p xmlns:a="http://schemas.openxmlformats.org/drawingml/2006/main">
            <a:r>
              <a:t>- **WARN notices.** Section 26 requires any employer serving a federal WARN notice under 29 USC 2102(a) to disclose to the Connecticut Labor Department whether the layoffs relate to the employer's use of AI or other technological change. Note the disclosure runs to the department, not to affected employees.</a:t>
            </a:r>
            <a:endParaRPr/>
          </a:p>
          <a:p xmlns:a="http://schemas.openxmlformats.org/drawingml/2006/main">
            <a:r>
              <a:t/>
            </a:r>
            <a:endParaRPr/>
          </a:p>
          <a:p xmlns:a="http://schemas.openxmlformats.org/drawingml/2006/main">
            <a:r>
              <a:t>Live October 1, 2027 (sections 7 to 12 take effect in 2026, but the duties attach only to technology deployed on or after October 1, 2027):</a:t>
            </a:r>
            <a:endParaRPr/>
          </a:p>
          <a:p xmlns:a="http://schemas.openxmlformats.org/drawingml/2006/main">
            <a:r>
              <a:t/>
            </a:r>
            <a:endParaRPr/>
          </a:p>
          <a:p xmlns:a="http://schemas.openxmlformats.org/drawingml/2006/main">
            <a:r>
              <a:t>- Scope is set by "substantial factor," defined as a factor that meaningfully alters the outcome of an employment-related decision. Covered decisions are hiring, promotion, discipline, discharge, renewal, selection for training or apprenticeship, and terms, privileges or conditions of employment. Carved out: nonmaterial changes to job tasks or hours, and decisions about workplace health and safety, scheduling, and productivity monitoring.</a:t>
            </a:r>
            <a:endParaRPr/>
          </a:p>
          <a:p xmlns:a="http://schemas.openxmlformats.org/drawingml/2006/main">
            <a:r>
              <a:t>- Developers must give deployers the information deployers need to meet their duties, but only where the tool was advertised, marketed, configured, contracted for, sold, or licensed to materially influence an employment decision.</a:t>
            </a:r>
            <a:endParaRPr/>
          </a:p>
          <a:p xmlns:a="http://schemas.openxmlformats.org/drawingml/2006/main">
            <a:r>
              <a:t>- Deployers must disclose in plain language when an employee or applicant is interacting with the technology, unless a reasonable person would find it obvious.</a:t>
            </a:r>
            <a:endParaRPr/>
          </a:p>
          <a:p xmlns:a="http://schemas.openxmlformats.org/drawingml/2006/main">
            <a:r>
              <a:t>- Before the decision is made, deployers must give written notice covering six specific points: that the technology was deployed, its purpose and the nature of the decision, the tool's trade name, the categories of personal data analyzed and how they will be assessed, the sources of that data, and deployer contact information.</a:t>
            </a:r>
            <a:endParaRPr/>
          </a:p>
          <a:p xmlns:a="http://schemas.openxmlformats.org/drawingml/2006/main">
            <a:r>
              <a:t>- Trade secrets can be withheld, but the withholding party must send notice saying what is being withheld and why.</a:t>
            </a:r>
            <a:endParaRPr/>
          </a:p>
          <a:p xmlns:a="http://schemas.openxmlformats.org/drawingml/2006/main">
            <a:r>
              <a:t/>
            </a:r>
            <a:endParaRPr/>
          </a:p>
          <a:p xmlns:a="http://schemas.openxmlformats.org/drawingml/2006/main">
            <a:r>
              <a:t>Enforcement is narrower than the obligations suggest: violations are unfair or deceptive trade practices under CUTPA, enforced **solely by the Attorney General**, with an explicit statement that the act creates **no private right of action**. Violations occurring on or before December 31, 2027 carry a 60-day cure period.</a:t>
            </a:r>
            <a:endParaRPr/>
          </a:p>
          <a:p xmlns:a="http://schemas.openxmlformats.org/drawingml/2006/main">
            <a:r>
              <a:t/>
            </a:r>
            <a:endParaRPr/>
          </a:p>
          <a:p xmlns:a="http://schemas.openxmlformats.org/drawingml/2006/main">
            <a:r>
              <a:t>One provision to catch in procurement: Section 8(c) lets a developer contract to assume the deployer's disclosure and notice duties, provided the contract is explicit about which duties transfer. That is a negotiating lever worth asking every vendor about. See the [vendor intake checklist](../03-governance/vendor-intake-checklist.md).</a:t>
            </a:r>
            <a:endParaRPr/>
          </a:p>
          <a:p xmlns:a="http://schemas.openxmlformats.org/drawingml/2006/main">
            <a:r>
              <a:t/>
            </a:r>
            <a:endParaRPr/>
          </a:p>
          <a:p xmlns:a="http://schemas.openxmlformats.org/drawingml/2006/main">
            <a:r>
              <a:t>*California: FEHA algorithmic discrimination rules and CPPA ADMT regulations:*</a:t>
            </a:r>
            <a:endParaRPr/>
          </a:p>
          <a:p xmlns:a="http://schemas.openxmlformats.org/drawingml/2006/main">
            <a:r>
              <a:t>The Civil Rights Council's FEHA regulations on automated decision systems took effect October 1, 2025: they prohibit AI-driven disparate treatment or disparate impact in employment decisions, require four years of recordkeeping, and hold employers liable for discriminatory outcomes even when the tool comes from a third-party vendor. Separately, the [CPPA regulation package](https://cppa.ca.gov/announcements/2025/20250923.html) took effect January 1, 2026. Covered businesses must begin risk-assessment compliance in 2026; ADMT notice and consumer-rights compliance begins January 1, 2027. These dates govern different duties. Review the [final regulations](https://cppa.ca.gov/regulations/ccpa_updates.html) for scope, opt-out exceptions, appeal conditions, and transition rules for processing already underway.</a:t>
            </a:r>
            <a:endParaRPr/>
          </a:p>
          <a:p xmlns:a="http://schemas.openxmlformats.org/drawingml/2006/main">
            <a:r>
              <a:t/>
            </a:r>
            <a:endParaRPr/>
          </a:p>
          <a:p xmlns:a="http://schemas.openxmlformats.org/drawingml/2006/main">
            <a:r>
              <a:t>Four California workplace bills were approved and chaptered on 30 September 2026. All four are enacted law, with obligations beginning in 2027. The chaptered texts were reviewed on 9 October 2026. AB 1883, SB 951, and AB 1331 take effect on 1 January 2027 under [California Constitution Article IV, section 8(c)(1)](https://leginfo.legislature.ca.gov/faces/codes_displayText.xhtml?lawCode=CONS&amp;division=&amp;title=&amp;part=&amp;chapter=&amp;article=IV); none contains an urgency clause or a later operative-date provision. SB 947 takes effect on that date but expressly makes its new Labor Code part operative on 1 July 2027. See the [source register](../03-governance/claims/california-workplace-laws.json) and the [Governor's signing announcement](https://www.gov.ca.gov/2026/09/30/californias-nation-leading-ai-framework-just-got-stronger-governor-newsom-signs-more-first-in-the-nation-worker-protections-and-more/).</a:t>
            </a:r>
            <a:endParaRPr/>
          </a:p>
          <a:p xmlns:a="http://schemas.openxmlformats.org/drawingml/2006/main">
            <a:r>
              <a:t/>
            </a:r>
            <a:endParaRPr/>
          </a:p>
          <a:p xmlns:a="http://schemas.openxmlformats.org/drawingml/2006/main">
            <a:r>
              <a:t>- **[AB 1883](https://leginfo.legislature.ca.gov/faces/billNavClient.xhtml?bill_id=202520260AB1883)** (workplace surveillance tools, Chapter 853, Statutes of 2026) adds Labor Code Part 5.8 to bar employers from using AI-driven surveillance tools to recognize or infer an employee's emotional state, or to collect neural data, meaning data measured from the central or peripheral nervous system and not inferred from nonneural information. Safety uses are preserved, and there is a narrow carve-out for federally mandated aerospace and national security work. Enforcement runs through the Labor Commissioner or a public prosecutor, with penalties up to $500 per violation. It was enrolled on 3 September 2026 and approved by the Governor on 30 September 2026. Some published summaries report 3 September as the signing date; that is the enrollment date.</a:t>
            </a:r>
            <a:endParaRPr/>
          </a:p>
          <a:p xmlns:a="http://schemas.openxmlformats.org/drawingml/2006/main">
            <a:r>
              <a:t>- **[SB 947](https://leginfo.legislature.ca.gov/faces/billTextClient.xhtml?bill_id=202520260SB947)** (the "No Robo Bosses Act," Chapter 859, Statutes of 2026) is **operative 1 July 2027**, under new Labor Code section 1526.7. It bars sole reliance on an ADS for discipline or termination. Primary reliance requires human corroboration and written post-use notice when the decision is communicated. If corroboration fails, or the reviewer finds the output inaccurate, incomplete, or misleading, the employer must not use that output for the decision. The employee may request a meaningful description of their own data used by the ADS. Check the collective bargaining and federal-operation exceptions in sections 1526.5 and 1526.6.</a:t>
            </a:r>
            <a:endParaRPr/>
          </a:p>
          <a:p xmlns:a="http://schemas.openxmlformats.org/drawingml/2006/main">
            <a:r>
              <a:t>- **[SB 951](https://leginfo.legislature.ca.gov/faces/billTextClient.xhtml?bill_id=202520260SB951)** (Chapter 860, Statutes of 2026), **effective 1 January 2027**, adds technology-displacement information to an otherwise required Cal/WARN notice when AI or automation causes the event wholly or substantially. New Labor Code section 1401(d) requires affected jobs and locations, functions being automated, the technology category, and a technology-displacement heading. It retains the existing 60-day notice period. It does not enact the earlier proposal for a 90-day notice or an employer hiring-freeze notice; section 1402.7 instead requires an EDD study by 1 January 2028. Assess Cal/WARN coverage and exceptions before applying the notice requirement.</a:t>
            </a:r>
            <a:endParaRPr/>
          </a:p>
          <a:p xmlns:a="http://schemas.openxmlformats.org/drawingml/2006/main">
            <a:r>
              <a:t>- **[AB 1331](https://leginfo.legislature.ca.gov/faces/billTextClient.xhtml?bill_id=202520260AB1331)** (Chapter 851, Statutes of 2026), **effective 1 January 2027**, limits workplace bathroom surveillance and lets employees leave surveillance tools behind when entering a bathroom. New Labor Code section 1561 includes exceptions for court orders, one-time entry/exit checks, voluntary possession, and certain identification or safety devices. The tool definition reaches beyond AI. Review the full exceptions in sections 1561, 1564, and 1565 before changing monitoring practices.</a:t>
            </a:r>
            <a:endParaRPr/>
          </a:p>
          <a:p xmlns:a="http://schemas.openxmlformats.org/drawingml/2006/main">
            <a:r>
              <a:t/>
            </a:r>
            <a:endParaRPr/>
          </a:p>
          <a:p xmlns:a="http://schemas.openxmlformats.org/drawingml/2006/main">
            <a:r>
              <a:t>*Texas: Responsible AI Governance Act (TRAIGA):*</a:t>
            </a:r>
            <a:endParaRPr/>
          </a:p>
          <a:p xmlns:a="http://schemas.openxmlformats.org/drawingml/2006/main">
            <a:r>
              <a:t>Effective January 1, 2026 (HB 149, signed June 22, 2025). Narrower than Illinois or Colorado: TRAIGA prohibits intentional AI-based discrimination but does not create disparate impact liability, and the Attorney General has exclusive enforcement authority with a 60-day cure period before action.</a:t>
            </a:r>
            <a:endParaRPr/>
          </a:p>
          <a:p xmlns:a="http://schemas.openxmlformats.org/drawingml/2006/main">
            <a:r>
              <a:t/>
            </a:r>
            <a:endParaRPr/>
          </a:p>
          <a:p xmlns:a="http://schemas.openxmlformats.org/drawingml/2006/main">
            <a:r>
              <a:t>*New Jersey: no AI statute, but existing discrimination law already reaches AI:*</a:t>
            </a:r>
            <a:endParaRPr/>
          </a:p>
          <a:p xmlns:a="http://schemas.openxmlformats.org/drawingml/2006/main">
            <a:r>
              <a:t>New Jersey is the case that breaks the habit of scanning for AI-specific bills. It has no AI hiring statute. In January 2025 the Office of the Attorney General and the Division on Civil Rights issued guidance stating that the Law Against Discrimination (N.J.S.A. 10:5-1 et seq.) applies to algorithmic discrimination the same way it has long applied to other discriminatory conduct, in employment among other contexts. Three points matter for HR practice:</a:t>
            </a:r>
            <a:endParaRPr/>
          </a:p>
          <a:p xmlns:a="http://schemas.openxmlformats.org/drawingml/2006/main">
            <a:r>
              <a:t/>
            </a:r>
            <a:endParaRPr/>
          </a:p>
          <a:p xmlns:a="http://schemas.openxmlformats.org/drawingml/2006/main">
            <a:r>
              <a:t>- **No intent required, and a vendor tool is not a defense.** The guidance states that a covered entity "is not shielded from liability for algorithmic discrimination that results from the entity's use of an automated decision-making tool simply because the tool was developed by a third party or because the entity does not understand the inner workings of the tool."</a:t>
            </a:r>
            <a:endParaRPr/>
          </a:p>
          <a:p xmlns:a="http://schemas.openxmlformats.org/drawingml/2006/main">
            <a:r>
              <a:t>- **Disparate impact is covered.** Use of a tool with a disproportionate effect on a protected class is prohibited unless it is necessary to achieve a substantial, legitimate, nondiscriminatory interest and there is no less discriminatory alternative. Whether the employer tested the tool for bias or evaluated alternatives may be weighed as relevant evidence, which is the same pattern as Connecticut: your fairness audit becomes evidence.</a:t>
            </a:r>
            <a:endParaRPr/>
          </a:p>
          <a:p xmlns:a="http://schemas.openxmlformats.org/drawingml/2006/main">
            <a:r>
              <a:t>- **Reasonable accommodations are in scope.** A tool can violate the LAD by being inaccessible or by penalizing someone who uses an accommodation. The guidance's example is a typing-speed screen that cannot read a non-traditional keyboard.</a:t>
            </a:r>
            <a:endParaRPr/>
          </a:p>
          <a:p xmlns:a="http://schemas.openxmlformats.org/drawingml/2006/main">
            <a:r>
              <a:t/>
            </a:r>
            <a:endParaRPr/>
          </a:p>
          <a:p xmlns:a="http://schemas.openxmlformats.org/drawingml/2006/main">
            <a:r>
              <a:t>Two limits to state accurately when you teach this. The guidance is interpretive: it says on its face that it imposes no requirements beyond the LAD and will not be enforced as a substitute for enforcing the LAD. And it carries no effective date, because the underlying statute has been in force for decades. Do not present it as a new obligation that switched on in 2025. The takeaway for the class is the general one: a state with no AI bill is not a state with no AI exposure.</a:t>
            </a:r>
            <a:endParaRPr/>
          </a:p>
          <a:p xmlns:a="http://schemas.openxmlformats.org/drawingml/2006/main">
            <a:r>
              <a:t/>
            </a:r>
            <a:endParaRPr/>
          </a:p>
          <a:p xmlns:a="http://schemas.openxmlformats.org/drawingml/2006/main">
            <a:r>
              <a:t>*GDPR and CCPA:*</a:t>
            </a:r>
            <a:endParaRPr/>
          </a:p>
          <a:p xmlns:a="http://schemas.openxmlformats.org/drawingml/2006/main">
            <a:r>
              <a:t>Employees in covered jurisdictions have rights regarding automated decision-making. Know which of your employees are covered and how your AI use cases interact with their rights. See the California-specific rules above for the current state of play there.</a:t>
            </a:r>
            <a:endParaRPr/>
          </a:p>
          <a:p xmlns:a="http://schemas.openxmlformats.org/drawingml/2006/main">
            <a:r>
              <a:t/>
            </a:r>
            <a:endParaRPr/>
          </a:p>
          <a:p xmlns:a="http://schemas.openxmlformats.org/drawingml/2006/main">
            <a:r>
              <a:t>*UK: Data (Use and Access) Act 2025 replaces GDPR Article 22:*</a:t>
            </a:r>
            <a:endParaRPr/>
          </a:p>
          <a:p xmlns:a="http://schemas.openxmlformats.org/drawingml/2006/main">
            <a:r>
              <a:t>Section 80 of the UK's Data (Use and Access) Act 2025 took effect February 5, 2026 (Commencement Regulations SI 2026/82) and substitutes Article 22 of the UK GDPR with new Articles 22A to 22D. The new regime permits solely automated "significant decisions," those with a legal or similarly significant effect, more broadly than before, but requires safeguards: notice to the individual, the ability to make representations, the right to human intervention, and the right to contest the decision. Stricter restrictions still apply where special category data is used. Treat this as a distinct regime from EU GDPR Article 22, not an equivalent, for any AI use case touching UK-based workers or candidates.</a:t>
            </a:r>
            <a:endParaRPr/>
          </a:p>
          <a:p xmlns:a="http://schemas.openxmlformats.org/drawingml/2006/main">
            <a:r>
              <a:t/>
            </a:r>
            <a:endParaRPr/>
          </a:p>
          <a:p xmlns:a="http://schemas.openxmlformats.org/drawingml/2006/main">
            <a:r>
              <a:t>The ICO is already signaling how it will police this in recruitment specifically. A March 2026 ICO report on automated decision-making in hiring found many employers don't recognize they're doing ADM at all, and that "human review" in practice often amounts to rubber-stamping rather than a reviewer with real authority to change the outcome. Following that report, the ICO opened a consultation on draft ADM guidance, worth checking for the final version before relying on the March findings alone. Build the oversight role description to survive that scrutiny, not just to check the box.</a:t>
            </a:r>
            <a:endParaRPr/>
          </a:p>
          <a:p xmlns:a="http://schemas.openxmlformats.org/drawingml/2006/main">
            <a:r>
              <a:t/>
            </a:r>
            <a:endParaRPr/>
          </a:p>
          <a:p xmlns:a="http://schemas.openxmlformats.org/drawingml/2006/main">
            <a:r>
              <a:t>*Canada: no federal AI employment law, but Ontario requires disclosure:*</a:t>
            </a:r>
            <a:endParaRPr/>
          </a:p>
          <a:p xmlns:a="http://schemas.openxmlformats.org/drawingml/2006/main">
            <a:r>
              <a:t>Canada's federal AI bill (AIDA, part of Bill C-27) died when Parliament prorogued in January 2025 and has not been revived. AI regulation there runs through existing privacy, human rights, and sector law instead. Ontario is the exception: since January 1, 2026, employers with 25+ employees must disclose in publicly advertised job postings whether AI is used to screen, assess, or select candidates (Employment Standards Act, 2000 amendment).</a:t>
            </a:r>
            <a:endParaRPr/>
          </a:p>
          <a:p xmlns:a="http://schemas.openxmlformats.org/drawingml/2006/main">
            <a:r>
              <a:t/>
            </a:r>
            <a:endParaRPr/>
          </a:p>
          <a:p xmlns:a="http://schemas.openxmlformats.org/drawingml/2006/main">
            <a:r>
              <a:t>*The "AI as a manager" trap:*</a:t>
            </a:r>
            <a:endParaRPr/>
          </a:p>
          <a:p xmlns:a="http://schemas.openxmlformats.org/drawingml/2006/main">
            <a:r>
              <a:t>AI that monitors, evaluates, or scores employees without their knowledge, even for legitimate purposes, creates legal and trust exposure. Transparency is not just ethical, it's protective.</a:t>
            </a:r>
            <a:endParaRPr/>
          </a:p>
          <a:p xmlns:a="http://schemas.openxmlformats.org/drawingml/2006/main">
            <a:r>
              <a:t/>
            </a:r>
            <a:endParaRPr/>
          </a:p>
          <a:p xmlns:a="http://schemas.openxmlformats.org/drawingml/2006/main">
            <a:r>
              <a:t>**Scenario practice cards:**</a:t>
            </a:r>
            <a:endParaRPr/>
          </a:p>
          <a:p xmlns:a="http://schemas.openxmlformats.org/drawingml/2006/main">
            <a:r>
              <a:t/>
            </a:r>
            <a:endParaRPr/>
          </a:p>
          <a:p xmlns:a="http://schemas.openxmlformats.org/drawingml/2006/main">
            <a:r>
              <a:t>Print or share these four scenarios. Groups of 3–4 discuss: Is this use appropriate? What are the risks? What would you change?</a:t>
            </a:r>
            <a:endParaRPr/>
          </a:p>
          <a:p xmlns:a="http://schemas.openxmlformats.org/drawingml/2006/main">
            <a:r>
              <a:t/>
            </a:r>
            <a:endParaRPr/>
          </a:p>
          <a:p xmlns:a="http://schemas.openxmlformats.org/drawingml/2006/main">
            <a:r>
              <a:t>&gt; **Scenario A:** An AI tool automatically rejects resumes with gaps of more than 6 months without showing them to a recruiter.</a:t>
            </a:r>
            <a:endParaRPr/>
          </a:p>
          <a:p xmlns:a="http://schemas.openxmlformats.org/drawingml/2006/main">
            <a:r>
              <a:t/>
            </a:r>
            <a:endParaRPr/>
          </a:p>
          <a:p xmlns:a="http://schemas.openxmlformats.org/drawingml/2006/main">
            <a:r>
              <a:t>&gt; **Scenario B:** An HRBP uses an AI writing assistant to draft a PIP for an employee, then reviews and edits it before sharing with the manager.</a:t>
            </a:r>
            <a:endParaRPr/>
          </a:p>
          <a:p xmlns:a="http://schemas.openxmlformats.org/drawingml/2006/main">
            <a:r>
              <a:t/>
            </a:r>
            <a:endParaRPr/>
          </a:p>
          <a:p xmlns:a="http://schemas.openxmlformats.org/drawingml/2006/main">
            <a:r>
              <a:t>&gt; **Scenario C:** People Analytics builds an attrition risk model that scores all employees monthly and shares the scores directly with managers.</a:t>
            </a:r>
            <a:endParaRPr/>
          </a:p>
          <a:p xmlns:a="http://schemas.openxmlformats.org/drawingml/2006/main">
            <a:r>
              <a:t/>
            </a:r>
            <a:endParaRPr/>
          </a:p>
          <a:p xmlns:a="http://schemas.openxmlformats.org/drawingml/2006/main">
            <a:r>
              <a:t>&gt; **Scenario D:** An AI chatbot answers benefits questions for employees. It sometimes gives incorrect information but flags that users should confirm with HR.</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4: Building and scaling AI use cases</a:t>
            </a:r>
            <a:endParaRPr/>
          </a:p>
          <a:p xmlns:a="http://schemas.openxmlformats.org/drawingml/2006/main">
            <a:r>
              <a:t/>
            </a:r>
            <a:endParaRPr/>
          </a:p>
          <a:p xmlns:a="http://schemas.openxmlformats.org/drawingml/2006/main">
            <a:r>
              <a:t>**Learning objectives:**</a:t>
            </a:r>
            <a:endParaRPr/>
          </a:p>
          <a:p xmlns:a="http://schemas.openxmlformats.org/drawingml/2006/main">
            <a:r>
              <a:t>- Apply the prioritization matrix to identify your team's highest-value AI use cases</a:t>
            </a:r>
            <a:endParaRPr/>
          </a:p>
          <a:p xmlns:a="http://schemas.openxmlformats.org/drawingml/2006/main">
            <a:r>
              <a:t>- Define a use case with clear success metrics and governance requirements</a:t>
            </a:r>
            <a:endParaRPr/>
          </a:p>
          <a:p xmlns:a="http://schemas.openxmlformats.org/drawingml/2006/main">
            <a:r>
              <a:t>- Draft a basic implementation plan for a low-complexity use case</a:t>
            </a:r>
            <a:endParaRPr/>
          </a:p>
          <a:p xmlns:a="http://schemas.openxmlformats.org/drawingml/2006/main">
            <a:r>
              <a:t/>
            </a:r>
            <a:endParaRPr/>
          </a:p>
          <a:p xmlns:a="http://schemas.openxmlformats.org/drawingml/2006/main">
            <a:r>
              <a:t>**Session outline (2 hours):**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Opening: What does "scaling AI in HR" actually mean? |</a:t>
            </a:r>
            <a:endParaRPr/>
          </a:p>
          <a:p xmlns:a="http://schemas.openxmlformats.org/drawingml/2006/main">
            <a:r>
              <a:t>| 0:15–0:45 | Framework: From idea to deployment, the use case lifecycle |</a:t>
            </a:r>
            <a:endParaRPr/>
          </a:p>
          <a:p xmlns:a="http://schemas.openxmlformats.org/drawingml/2006/main">
            <a:r>
              <a:t>| 0:45–1:15 | Team exercise: Prioritization matrix applied to your team's top 5 ideas |</a:t>
            </a:r>
            <a:endParaRPr/>
          </a:p>
          <a:p xmlns:a="http://schemas.openxmlformats.org/drawingml/2006/main">
            <a:r>
              <a:t>| 1:15–1:45 | Small group: Draft a one-page use case spec for your top-ranked idea |</a:t>
            </a:r>
            <a:endParaRPr/>
          </a:p>
          <a:p xmlns:a="http://schemas.openxmlformats.org/drawingml/2006/main">
            <a:r>
              <a:t>| 1:45–2:00 | Gallery walk + feedback |</a:t>
            </a:r>
            <a:endParaRPr/>
          </a:p>
          <a:p xmlns:a="http://schemas.openxmlformats.org/drawingml/2006/main">
            <a:r>
              <a:t/>
            </a:r>
            <a:endParaRPr/>
          </a:p>
          <a:p xmlns:a="http://schemas.openxmlformats.org/drawingml/2006/main">
            <a:r>
              <a:t>**Use case lifecycle:**</a:t>
            </a:r>
            <a:endParaRPr/>
          </a:p>
          <a:p xmlns:a="http://schemas.openxmlformats.org/drawingml/2006/main">
            <a:r>
              <a:t/>
            </a:r>
            <a:endParaRPr/>
          </a:p>
          <a:p xmlns:a="http://schemas.openxmlformats.org/drawingml/2006/main">
            <a:r>
              <a:t>```</a:t>
            </a:r>
            <a:endParaRPr/>
          </a:p>
          <a:p xmlns:a="http://schemas.openxmlformats.org/drawingml/2006/main">
            <a:r>
              <a:t>Discover → Prioritize → Design → Pilot → Evaluate → Scale</a:t>
            </a:r>
            <a:endParaRPr/>
          </a:p>
          <a:p xmlns:a="http://schemas.openxmlformats.org/drawingml/2006/main">
            <a:r>
              <a:t>   ↑                                          |</a:t>
            </a:r>
            <a:endParaRPr/>
          </a:p>
          <a:p xmlns:a="http://schemas.openxmlformats.org/drawingml/2006/main">
            <a:r>
              <a:t>   └──────────────── iterate ─────────────────┘</a:t>
            </a:r>
            <a:endParaRPr/>
          </a:p>
          <a:p xmlns:a="http://schemas.openxmlformats.org/drawingml/2006/main">
            <a:r>
              <a:t>```</a:t>
            </a:r>
            <a:endParaRPr/>
          </a:p>
          <a:p xmlns:a="http://schemas.openxmlformats.org/drawingml/2006/main">
            <a:r>
              <a:t/>
            </a:r>
            <a:endParaRPr/>
          </a:p>
          <a:p xmlns:a="http://schemas.openxmlformats.org/drawingml/2006/main">
            <a:r>
              <a:t>- **Discover:** What problem are we solving? Who feels it most?</a:t>
            </a:r>
            <a:endParaRPr/>
          </a:p>
          <a:p xmlns:a="http://schemas.openxmlformats.org/drawingml/2006/main">
            <a:r>
              <a:t>- **Prioritize:** Use the matrix. Don't skip this.</a:t>
            </a:r>
            <a:endParaRPr/>
          </a:p>
          <a:p xmlns:a="http://schemas.openxmlformats.org/drawingml/2006/main">
            <a:r>
              <a:t>- **Design:** Define inputs, outputs, human review gates, success metrics, and fallback</a:t>
            </a:r>
            <a:endParaRPr/>
          </a:p>
          <a:p xmlns:a="http://schemas.openxmlformats.org/drawingml/2006/main">
            <a:r>
              <a:t>- **Pilot:** Small scope, high observation. 4–8 weeks.</a:t>
            </a:r>
            <a:endParaRPr/>
          </a:p>
          <a:p xmlns:a="http://schemas.openxmlformats.org/drawingml/2006/main">
            <a:r>
              <a:t>- **Evaluate:** Did it work? For whom? What didn't?</a:t>
            </a:r>
            <a:endParaRPr/>
          </a:p>
          <a:p xmlns:a="http://schemas.openxmlformats.org/drawingml/2006/main">
            <a:r>
              <a:t>- **Scale:** Expand with the lessons from pilot baked in</a:t>
            </a:r>
            <a:endParaRPr/>
          </a:p>
          <a:p xmlns:a="http://schemas.openxmlformats.org/drawingml/2006/main">
            <a:r>
              <a:t/>
            </a:r>
            <a:endParaRPr/>
          </a:p>
          <a:p xmlns:a="http://schemas.openxmlformats.org/drawingml/2006/main">
            <a:r>
              <a:t>**One-page use case spec template:**</a:t>
            </a:r>
            <a:endParaRPr/>
          </a:p>
          <a:p xmlns:a="http://schemas.openxmlformats.org/drawingml/2006/main">
            <a:r>
              <a:t/>
            </a:r>
            <a:endParaRPr/>
          </a:p>
          <a:p xmlns:a="http://schemas.openxmlformats.org/drawingml/2006/main">
            <a:r>
              <a:t>Participants complete this for their team's top-ranked use case:</a:t>
            </a:r>
            <a:endParaRPr/>
          </a:p>
          <a:p xmlns:a="http://schemas.openxmlformats.org/drawingml/2006/main">
            <a:r>
              <a:t/>
            </a:r>
            <a:endParaRPr/>
          </a:p>
          <a:p xmlns:a="http://schemas.openxmlformats.org/drawingml/2006/main">
            <a:r>
              <a:t>```</a:t>
            </a:r>
            <a:endParaRPr/>
          </a:p>
          <a:p xmlns:a="http://schemas.openxmlformats.org/drawingml/2006/main">
            <a:r>
              <a:t>Use case name:</a:t>
            </a:r>
            <a:endParaRPr/>
          </a:p>
          <a:p xmlns:a="http://schemas.openxmlformats.org/drawingml/2006/main">
            <a:r>
              <a:t>Problem it solves (1 sentence):</a:t>
            </a:r>
            <a:endParaRPr/>
          </a:p>
          <a:p xmlns:a="http://schemas.openxmlformats.org/drawingml/2006/main">
            <a:r>
              <a:t>Who benefits and how:</a:t>
            </a:r>
            <a:endParaRPr/>
          </a:p>
          <a:p xmlns:a="http://schemas.openxmlformats.org/drawingml/2006/main">
            <a:r>
              <a:t>AI approach (Rules / Augment / Assist / Human-led / Analytics):</a:t>
            </a:r>
            <a:endParaRPr/>
          </a:p>
          <a:p xmlns:a="http://schemas.openxmlformats.org/drawingml/2006/main">
            <a:r>
              <a:t>Data needed:</a:t>
            </a:r>
            <a:endParaRPr/>
          </a:p>
          <a:p xmlns:a="http://schemas.openxmlformats.org/drawingml/2006/main">
            <a:r>
              <a:t>Human review gate:</a:t>
            </a:r>
            <a:endParaRPr/>
          </a:p>
          <a:p xmlns:a="http://schemas.openxmlformats.org/drawingml/2006/main">
            <a:r>
              <a:t>Success metric(s):</a:t>
            </a:r>
            <a:endParaRPr/>
          </a:p>
          <a:p xmlns:a="http://schemas.openxmlformats.org/drawingml/2006/main">
            <a:r>
              <a:t>What could go wrong:</a:t>
            </a:r>
            <a:endParaRPr/>
          </a:p>
          <a:p xmlns:a="http://schemas.openxmlformats.org/drawingml/2006/main">
            <a:r>
              <a:t>Governance requirements (from risk assessment):</a:t>
            </a:r>
            <a:endParaRPr/>
          </a:p>
          <a:p xmlns:a="http://schemas.openxmlformats.org/drawingml/2006/main">
            <a:r>
              <a:t>First step to move forward:</a:t>
            </a:r>
            <a:endParaRPr/>
          </a:p>
          <a:p xmlns:a="http://schemas.openxmlformats.org/drawingml/2006/main">
            <a:r>
              <a:t>```</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Assessment and certification</a:t>
            </a:r>
            <a:endParaRPr/>
          </a:p>
          <a:p xmlns:a="http://schemas.openxmlformats.org/drawingml/2006/main">
            <a:r>
              <a:t/>
            </a:r>
            <a:endParaRPr/>
          </a:p>
          <a:p xmlns:a="http://schemas.openxmlformats.org/drawingml/2006/main">
            <a:r>
              <a:t>An organization may choose to give participants who complete all four modules</a:t>
            </a:r>
            <a:endParaRPr/>
          </a:p>
          <a:p xmlns:a="http://schemas.openxmlformats.org/drawingml/2006/main">
            <a:r>
              <a:t>and the hands-on components an **HR AI Practitioner** acknowledgment. This is a</a:t>
            </a:r>
            <a:endParaRPr/>
          </a:p>
          <a:p xmlns:a="http://schemas.openxmlformats.org/drawingml/2006/main">
            <a:r>
              <a:t>proposed internal recognition, not an accredited certification or evidence of</a:t>
            </a:r>
            <a:endParaRPr/>
          </a:p>
          <a:p xmlns:a="http://schemas.openxmlformats.org/drawingml/2006/main">
            <a:r>
              <a:t>professional competence. No delivery or learning outcome is claimed here.</a:t>
            </a:r>
            <a:endParaRPr/>
          </a:p>
          <a:p xmlns:a="http://schemas.openxmlformats.org/drawingml/2006/main">
            <a:r>
              <a:t/>
            </a:r>
            <a:endParaRPr/>
          </a:p>
          <a:p xmlns:a="http://schemas.openxmlformats.org/drawingml/2006/main">
            <a:r>
              <a:t>Optional extension: Participants who complete a full use case spec and present it to the HR Technology team are recognized as **HR AI Champions**, an informal internal designation that supports peer enablement.</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Facilitator notes</a:t>
            </a:r>
            <a:endParaRPr/>
          </a:p>
          <a:p xmlns:a="http://schemas.openxmlformats.org/drawingml/2006/main">
            <a:r>
              <a:t/>
            </a:r>
            <a:endParaRPr/>
          </a:p>
          <a:p xmlns:a="http://schemas.openxmlformats.org/drawingml/2006/main">
            <a:r>
              <a:t>These are facilitation suggestions, not measured delivery findings. Use synthetic examples; removing names alone does not establish anonymity. Do not upload real employee, candidate, compensation, or employer-confidential information for a training exercise.</a:t>
            </a:r>
            <a:endParaRPr/>
          </a:p>
          <a:p xmlns:a="http://schemas.openxmlformats.org/drawingml/2006/main">
            <a:r>
              <a:t/>
            </a:r>
            <a:endParaRPr/>
          </a:p>
          <a:p xmlns:a="http://schemas.openxmlformats.org/drawingml/2006/main">
            <a:r>
              <a:t>- Budget flex time in Module 3 for questions and disagreement about risk.</a:t>
            </a:r>
            <a:endParaRPr/>
          </a:p>
          <a:p xmlns:a="http://schemas.openxmlformats.org/drawingml/2006/main">
            <a:r>
              <a:t>- Protect time for the Module 2 lab, and check whether participants can identify errors and verify outputs afterward.</a:t>
            </a:r>
            <a:endParaRPr/>
          </a:p>
          <a:p xmlns:a="http://schemas.openxmlformats.org/drawingml/2006/main">
            <a:r>
              <a:t>- Adapt synthetic scenarios to familiar workflows, without identifiable employee cases or confidential documents.</a:t>
            </a:r>
            <a:endParaRPr/>
          </a:p>
          <a:p xmlns:a="http://schemas.openxmlformats.org/drawingml/2006/main">
            <a:r>
              <a:t>- Keep an AI skeptic on the facilitation team if possible. The best discussions happen when the room has range.</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snapshot: 13 October 2026. Curriculum SHA-256: 5ee769258ac9b95a3c514b64dcd5b22215e40bac8621054ffb452bffc244827a. This deck summarizes the source; no human evaluation, delivery outcome or legal approval is claimed.</a:t>
            </a:r>
            <a:endParaRPr/>
          </a:p>
          <a:p xmlns:a="http://schemas.openxmlformats.org/drawingml/2006/main">
            <a:r>
              <a:t/>
            </a:r>
            <a:endParaRPr/>
          </a:p>
          <a:p xmlns:a="http://schemas.openxmlformats.org/drawingml/2006/main">
            <a:r>
              <a:t># HR AI literacy curriculum</a:t>
            </a:r>
            <a:endParaRPr/>
          </a:p>
          <a:p xmlns:a="http://schemas.openxmlformats.org/drawingml/2006/main">
            <a:r>
              <a:t/>
            </a:r>
            <a:endParaRPr/>
          </a:p>
          <a:p xmlns:a="http://schemas.openxmlformats.org/drawingml/2006/main">
            <a:r>
              <a:t>A 4-module learning program for HR professionals at all experience levels. Designed to be delivered as a facilitated series over 4–6 weeks, or adapted for self-paced completion.</a:t>
            </a:r>
            <a:endParaRPr/>
          </a:p>
          <a:p xmlns:a="http://schemas.openxmlformats.org/drawingml/2006/main">
            <a:r>
              <a:t/>
            </a:r>
            <a:endParaRPr/>
          </a:p>
          <a:p xmlns:a="http://schemas.openxmlformats.org/drawingml/2006/main">
            <a:r>
              <a:t>**Total time:** about 7 hours of sessions, plus async reading and hands-on practice (roughly 8 hours in all)</a:t>
            </a:r>
            <a:endParaRPr/>
          </a:p>
          <a:p xmlns:a="http://schemas.openxmlformats.org/drawingml/2006/main">
            <a:r>
              <a:t>**Format:** Workshop + async reading + hands-on practice</a:t>
            </a:r>
            <a:endParaRPr/>
          </a:p>
          <a:p xmlns:a="http://schemas.openxmlformats.org/drawingml/2006/main">
            <a:r>
              <a:t>**Audience:** All People Team members</a:t>
            </a:r>
            <a:endParaRPr/>
          </a:p>
          <a:p xmlns:a="http://schemas.openxmlformats.org/drawingml/2006/main">
            <a:r>
              <a:t>**Prerequisite:** None</a:t>
            </a:r>
            <a:endParaRPr/>
          </a:p>
          <a:p xmlns:a="http://schemas.openxmlformats.org/drawingml/2006/main">
            <a:r>
              <a:t/>
            </a:r>
            <a:endParaRPr/>
          </a:p>
          <a:p xmlns:a="http://schemas.openxmlformats.org/drawingml/2006/main">
            <a:r>
              <a:t>**Lab prerequisite:** The facilitator confirms an organization-approved tool,</a:t>
            </a:r>
            <a:endParaRPr/>
          </a:p>
          <a:p xmlns:a="http://schemas.openxmlformats.org/drawingml/2006/main">
            <a:r>
              <a:t>provider handling, and a synthetic-only data boundary before any exercise.</a:t>
            </a:r>
            <a:endParaRPr/>
          </a:p>
          <a:p xmlns:a="http://schemas.openxmlformats.org/drawingml/2006/main">
            <a:r>
              <a:t>Modules 1-3 and the required governance approvals precede any real-work pilot.</a:t>
            </a:r>
            <a:endParaRPr/>
          </a:p>
          <a:p xmlns:a="http://schemas.openxmlformats.org/drawingml/2006/main">
            <a:r>
              <a:t>This curriculum does not authorize employee-data processing.</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Program overview</a:t>
            </a:r>
            <a:endParaRPr/>
          </a:p>
          <a:p xmlns:a="http://schemas.openxmlformats.org/drawingml/2006/main">
            <a:r>
              <a:t/>
            </a:r>
            <a:endParaRPr/>
          </a:p>
          <a:p xmlns:a="http://schemas.openxmlformats.org/drawingml/2006/main">
            <a:r>
              <a:t>| Module | Title | Duration | Format |</a:t>
            </a:r>
            <a:endParaRPr/>
          </a:p>
          <a:p xmlns:a="http://schemas.openxmlformats.org/drawingml/2006/main">
            <a:r>
              <a:t>|---|---|---|---|</a:t>
            </a:r>
            <a:endParaRPr/>
          </a:p>
          <a:p xmlns:a="http://schemas.openxmlformats.org/drawingml/2006/main">
            <a:r>
              <a:t>| 1 | How AI works, what HR professionals actually need to know | 90 min | Workshop |</a:t>
            </a:r>
            <a:endParaRPr/>
          </a:p>
          <a:p xmlns:a="http://schemas.openxmlformats.org/drawingml/2006/main">
            <a:r>
              <a:t>| 2 | Using AI in your daily HR work | 2 hours | Workshop + lab |</a:t>
            </a:r>
            <a:endParaRPr/>
          </a:p>
          <a:p xmlns:a="http://schemas.openxmlformats.org/drawingml/2006/main">
            <a:r>
              <a:t>| 3 | Governance, ethics, and responsible use | 90 min | Workshop |</a:t>
            </a:r>
            <a:endParaRPr/>
          </a:p>
          <a:p xmlns:a="http://schemas.openxmlformats.org/drawingml/2006/main">
            <a:r>
              <a:t>| 4 | Building and scaling AI use cases | 2 hours | Workshop + project |</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1: How AI works, what HR professionals actually need to know</a:t>
            </a:r>
            <a:endParaRPr/>
          </a:p>
          <a:p xmlns:a="http://schemas.openxmlformats.org/drawingml/2006/main">
            <a:r>
              <a:t/>
            </a:r>
            <a:endParaRPr/>
          </a:p>
          <a:p xmlns:a="http://schemas.openxmlformats.org/drawingml/2006/main">
            <a:r>
              <a:t>**Learning objectives:**</a:t>
            </a:r>
            <a:endParaRPr/>
          </a:p>
          <a:p xmlns:a="http://schemas.openxmlformats.org/drawingml/2006/main">
            <a:r>
              <a:t>- Explain the difference between traditional automation and generative AI</a:t>
            </a:r>
            <a:endParaRPr/>
          </a:p>
          <a:p xmlns:a="http://schemas.openxmlformats.org/drawingml/2006/main">
            <a:r>
              <a:t>- Describe why AI "hallucinates" and how to mitigate it in HR contexts</a:t>
            </a:r>
            <a:endParaRPr/>
          </a:p>
          <a:p xmlns:a="http://schemas.openxmlformats.org/drawingml/2006/main">
            <a:r>
              <a:t>- Identify which HR tasks are good candidates for AI assistance and which are not</a:t>
            </a:r>
            <a:endParaRPr/>
          </a:p>
          <a:p xmlns:a="http://schemas.openxmlformats.org/drawingml/2006/main">
            <a:r>
              <a:t/>
            </a:r>
            <a:endParaRPr/>
          </a:p>
          <a:p xmlns:a="http://schemas.openxmlformats.org/drawingml/2006/main">
            <a:r>
              <a:t>**Session outline (90 minutes):**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0:00–0:10 | Opening: What do you already believe about AI? (quick poll + discussion) |</a:t>
            </a:r>
            <a:endParaRPr/>
          </a:p>
          <a:p xmlns:a="http://schemas.openxmlformats.org/drawingml/2006/main">
            <a:r>
              <a:t>| 0:10–0:30 | Concept: How LLMs work, without the jargon (facilitator presentation) |</a:t>
            </a:r>
            <a:endParaRPr/>
          </a:p>
          <a:p xmlns:a="http://schemas.openxmlformats.org/drawingml/2006/main">
            <a:r>
              <a:t>| 0:30–0:45 | Concept: Hallucination, confidence, and why AI makes things up |</a:t>
            </a:r>
            <a:endParaRPr/>
          </a:p>
          <a:p xmlns:a="http://schemas.openxmlformats.org/drawingml/2006/main">
            <a:r>
              <a:t>| 0:45–1:05 | Exercise: Spot the hallucination (participants identify errors in AI-generated HR content) |</a:t>
            </a:r>
            <a:endParaRPr/>
          </a:p>
          <a:p xmlns:a="http://schemas.openxmlformats.org/drawingml/2006/main">
            <a:r>
              <a:t>| 1:05–1:20 | Discussion: Where should HR use AI? Where should we be cautious? |</a:t>
            </a:r>
            <a:endParaRPr/>
          </a:p>
          <a:p xmlns:a="http://schemas.openxmlformats.org/drawingml/2006/main">
            <a:r>
              <a:t>| 1:20–1:30 | Wrap-up + homework: Try one AI tool before next session |</a:t>
            </a:r>
            <a:endParaRPr/>
          </a:p>
          <a:p xmlns:a="http://schemas.openxmlformats.org/drawingml/2006/main">
            <a:r>
              <a:t/>
            </a:r>
            <a:endParaRPr/>
          </a:p>
          <a:p xmlns:a="http://schemas.openxmlformats.org/drawingml/2006/main">
            <a:r>
              <a:t>**Key concepts to cover:**</a:t>
            </a:r>
            <a:endParaRPr/>
          </a:p>
          <a:p xmlns:a="http://schemas.openxmlformats.org/drawingml/2006/main">
            <a:r>
              <a:t/>
            </a:r>
            <a:endParaRPr/>
          </a:p>
          <a:p xmlns:a="http://schemas.openxmlformats.org/drawingml/2006/main">
            <a:r>
              <a:t>*What LLMs actually are:*</a:t>
            </a:r>
            <a:endParaRPr/>
          </a:p>
          <a:p xmlns:a="http://schemas.openxmlformats.org/drawingml/2006/main">
            <a:r>
              <a:t>Large language models predict the next most likely word given context. They don't "know" things the way a database knows things, they pattern-match against training data. This is why they can sound authoritative while being wrong.</a:t>
            </a:r>
            <a:endParaRPr/>
          </a:p>
          <a:p xmlns:a="http://schemas.openxmlformats.org/drawingml/2006/main">
            <a:r>
              <a:t/>
            </a:r>
            <a:endParaRPr/>
          </a:p>
          <a:p xmlns:a="http://schemas.openxmlformats.org/drawingml/2006/main">
            <a:r>
              <a:t>*The spectrum from rules to agents:*</a:t>
            </a:r>
            <a:endParaRPr/>
          </a:p>
          <a:p xmlns:a="http://schemas.openxmlformats.org/drawingml/2006/main">
            <a:r>
              <a:t>```</a:t>
            </a:r>
            <a:endParaRPr/>
          </a:p>
          <a:p xmlns:a="http://schemas.openxmlformats.org/drawingml/2006/main">
            <a:r>
              <a:t>Rules            →  Assist / Augment              →  Agent</a:t>
            </a:r>
            <a:endParaRPr/>
          </a:p>
          <a:p xmlns:a="http://schemas.openxmlformats.org/drawingml/2006/main">
            <a:r>
              <a:t>(deterministic)     (a person decides or owns)       (a model acts across several steps)</a:t>
            </a:r>
            <a:endParaRPr/>
          </a:p>
          <a:p xmlns:a="http://schemas.openxmlformats.org/drawingml/2006/main">
            <a:r>
              <a:t>```</a:t>
            </a:r>
            <a:endParaRPr/>
          </a:p>
          <a:p xmlns:a="http://schemas.openxmlformats.org/drawingml/2006/main">
            <a:r>
              <a:t>Use rules when rules reliably give the right answer. Most HR uses of AI belong in the middle. An agent, where a model takes several actions through tools with limited review between them, has to earn that autonomy through evidence and brings new governance requirements.</a:t>
            </a:r>
            <a:endParaRPr/>
          </a:p>
          <a:p xmlns:a="http://schemas.openxmlformats.org/drawingml/2006/main">
            <a:r>
              <a:t/>
            </a:r>
            <a:endParaRPr/>
          </a:p>
          <a:p xmlns:a="http://schemas.openxmlformats.org/drawingml/2006/main">
            <a:r>
              <a:t>*Prompt quality drives output quality:*</a:t>
            </a:r>
            <a:endParaRPr/>
          </a:p>
          <a:p xmlns:a="http://schemas.openxmlformats.org/drawingml/2006/main">
            <a:r>
              <a:t>Clear prompts help define a task and its boundaries. Output quality also depends on the model, source material, workflow controls, and verification. A well-written prompt does not establish factual accuracy or safe HR judgment.</a:t>
            </a:r>
            <a:endParaRPr/>
          </a:p>
          <a:p xmlns:a="http://schemas.openxmlformats.org/drawingml/2006/main">
            <a:r>
              <a:t/>
            </a:r>
            <a:endParaRPr/>
          </a:p>
          <a:p xmlns:a="http://schemas.openxmlformats.org/drawingml/2006/main">
            <a:r>
              <a:t>**Pre-reading (assign before session):**</a:t>
            </a:r>
            <a:endParaRPr/>
          </a:p>
          <a:p xmlns:a="http://schemas.openxmlformats.org/drawingml/2006/main">
            <a:r>
              <a:t>- [Your organization's AI use policy](../03-governance/ai-use-policy.md)</a:t>
            </a:r>
            <a:endParaRPr/>
          </a:p>
          <a:p xmlns:a="http://schemas.openxmlformats.org/drawingml/2006/main">
            <a:r>
              <a:t>- One-page primer on generative AI for non-technical audiences (create or source)</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2: Using AI in your daily HR work</a:t>
            </a:r>
            <a:endParaRPr/>
          </a:p>
          <a:p xmlns:a="http://schemas.openxmlformats.org/drawingml/2006/main">
            <a:r>
              <a:t/>
            </a:r>
            <a:endParaRPr/>
          </a:p>
          <a:p xmlns:a="http://schemas.openxmlformats.org/drawingml/2006/main">
            <a:r>
              <a:t>**Learning objectives:**</a:t>
            </a:r>
            <a:endParaRPr/>
          </a:p>
          <a:p xmlns:a="http://schemas.openxmlformats.org/drawingml/2006/main">
            <a:r>
              <a:t>- Write effective prompts for HR use cases</a:t>
            </a:r>
            <a:endParaRPr/>
          </a:p>
          <a:p xmlns:a="http://schemas.openxmlformats.org/drawingml/2006/main">
            <a:r>
              <a:t>- Use the prompt library for at least 3 HR workflows</a:t>
            </a:r>
            <a:endParaRPr/>
          </a:p>
          <a:p xmlns:a="http://schemas.openxmlformats.org/drawingml/2006/main">
            <a:r>
              <a:t>- Identify when to use AI, when to verify AI output, and when not to use it</a:t>
            </a:r>
            <a:endParaRPr/>
          </a:p>
          <a:p xmlns:a="http://schemas.openxmlformats.org/drawingml/2006/main">
            <a:r>
              <a:t/>
            </a:r>
            <a:endParaRPr/>
          </a:p>
          <a:p xmlns:a="http://schemas.openxmlformats.org/drawingml/2006/main">
            <a:r>
              <a:t>**Session outline (2 hours including lab):**</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Share-back from Module 1 homework, what did you try, what happened? |</a:t>
            </a:r>
            <a:endParaRPr/>
          </a:p>
          <a:p xmlns:a="http://schemas.openxmlformats.org/drawingml/2006/main">
            <a:r>
              <a:t>| 0:15–0:45 | Prompt engineering for HR: the four elements of a good prompt |</a:t>
            </a:r>
            <a:endParaRPr/>
          </a:p>
          <a:p xmlns:a="http://schemas.openxmlformats.org/drawingml/2006/main">
            <a:r>
              <a:t>| 0:45–1:10 | Live demo: Onboarding plan, performance review draft, policy Q&amp;A |</a:t>
            </a:r>
            <a:endParaRPr/>
          </a:p>
          <a:p xmlns:a="http://schemas.openxmlformats.org/drawingml/2006/main">
            <a:r>
              <a:t>| 1:10–1:50 | Hands-on lab: Each participant works through 2 prompts using synthetic HR scenarios in organization-approved tools |</a:t>
            </a:r>
            <a:endParaRPr/>
          </a:p>
          <a:p xmlns:a="http://schemas.openxmlformats.org/drawingml/2006/main">
            <a:r>
              <a:t>| 1:50–2:00 | Debrief: What surprised you? What didn't work? |</a:t>
            </a:r>
            <a:endParaRPr/>
          </a:p>
          <a:p xmlns:a="http://schemas.openxmlformats.org/drawingml/2006/main">
            <a:r>
              <a:t/>
            </a:r>
            <a:endParaRPr/>
          </a:p>
          <a:p xmlns:a="http://schemas.openxmlformats.org/drawingml/2006/main">
            <a:r>
              <a:t>**The four elements of an effective HR prompt:**</a:t>
            </a:r>
            <a:endParaRPr/>
          </a:p>
          <a:p xmlns:a="http://schemas.openxmlformats.org/drawingml/2006/main">
            <a:r>
              <a:t/>
            </a:r>
            <a:endParaRPr/>
          </a:p>
          <a:p xmlns:a="http://schemas.openxmlformats.org/drawingml/2006/main">
            <a:r>
              <a:t>1. **Role**: Define the task perspective, such as drafting support for an HRBP. A role instruction does not give the model professional authority.</a:t>
            </a:r>
            <a:endParaRPr/>
          </a:p>
          <a:p xmlns:a="http://schemas.openxmlformats.org/drawingml/2006/main">
            <a:r>
              <a:t/>
            </a:r>
            <a:endParaRPr/>
          </a:p>
          <a:p xmlns:a="http://schemas.openxmlformats.org/drawingml/2006/main">
            <a:r>
              <a:t>2. **Context**: Provide the specific details the AI needs. Role, tenure, team size, situation. Don't make the AI guess.</a:t>
            </a:r>
            <a:endParaRPr/>
          </a:p>
          <a:p xmlns:a="http://schemas.openxmlformats.org/drawingml/2006/main">
            <a:r>
              <a:t/>
            </a:r>
            <a:endParaRPr/>
          </a:p>
          <a:p xmlns:a="http://schemas.openxmlformats.org/drawingml/2006/main">
            <a:r>
              <a:t>3. **Task**: State clearly what you want it to produce. One output per prompt. "Draft a..." is clearer than "Help me with..."</a:t>
            </a:r>
            <a:endParaRPr/>
          </a:p>
          <a:p xmlns:a="http://schemas.openxmlformats.org/drawingml/2006/main">
            <a:r>
              <a:t/>
            </a:r>
            <a:endParaRPr/>
          </a:p>
          <a:p xmlns:a="http://schemas.openxmlformats.org/drawingml/2006/main">
            <a:r>
              <a:t>4. **Constraints**: Define length, tone, format, exclusions, and the verification needed. Check whether the output follows them.</a:t>
            </a:r>
            <a:endParaRPr/>
          </a:p>
          <a:p xmlns:a="http://schemas.openxmlformats.org/drawingml/2006/main">
            <a:r>
              <a:t/>
            </a:r>
            <a:endParaRPr/>
          </a:p>
          <a:p xmlns:a="http://schemas.openxmlformats.org/drawingml/2006/main">
            <a:r>
              <a:t>**Lab instructions:**</a:t>
            </a:r>
            <a:endParaRPr/>
          </a:p>
          <a:p xmlns:a="http://schemas.openxmlformats.org/drawingml/2006/main">
            <a:r>
              <a:t/>
            </a:r>
            <a:endParaRPr/>
          </a:p>
          <a:p xmlns:a="http://schemas.openxmlformats.org/drawingml/2006/main">
            <a:r>
              <a:t>Participants choose 2 prompts from the library that are relevant to their current work:</a:t>
            </a:r>
            <a:endParaRPr/>
          </a:p>
          <a:p xmlns:a="http://schemas.openxmlformats.org/drawingml/2006/main">
            <a:r>
              <a:t>1. Run the prompt with a fictional HR scenario in an organization-approved tool. Do not upload real employee, candidate, compensation, or confidential employer information.</a:t>
            </a:r>
            <a:endParaRPr/>
          </a:p>
          <a:p xmlns:a="http://schemas.openxmlformats.org/drawingml/2006/main">
            <a:r>
              <a:t>2. Evaluate the output: What's useful? What's wrong or missing? What would you change before using it?</a:t>
            </a:r>
            <a:endParaRPr/>
          </a:p>
          <a:p xmlns:a="http://schemas.openxmlformats.org/drawingml/2006/main">
            <a:r>
              <a:t>3. Iterate: Modify the prompt once based on what you learned and run it again</a:t>
            </a:r>
            <a:endParaRPr/>
          </a:p>
          <a:p xmlns:a="http://schemas.openxmlformats.org/drawingml/2006/main">
            <a:r>
              <a:t>4. Note: What changed between run 1 and run 2?</a:t>
            </a:r>
            <a:endParaRPr/>
          </a:p>
          <a:p xmlns:a="http://schemas.openxmlformats.org/drawingml/2006/main">
            <a:r>
              <a:t/>
            </a:r>
            <a:endParaRPr/>
          </a:p>
          <a:p xmlns:a="http://schemas.openxmlformats.org/drawingml/2006/main">
            <a:r>
              <a:t>**The verify-before-use rule:**</a:t>
            </a:r>
            <a:endParaRPr/>
          </a:p>
          <a:p xmlns:a="http://schemas.openxmlformats.org/drawingml/2006/main">
            <a:r>
              <a:t/>
            </a:r>
            <a:endParaRPr/>
          </a:p>
          <a:p xmlns:a="http://schemas.openxmlformats.org/drawingml/2006/main">
            <a:r>
              <a:t>Introduce and reinforce this heuristic:</a:t>
            </a:r>
            <a:endParaRPr/>
          </a:p>
          <a:p xmlns:a="http://schemas.openxmlformats.org/drawingml/2006/main">
            <a:r>
              <a:t>- Policy details → always verify against source system before sharing</a:t>
            </a:r>
            <a:endParaRPr/>
          </a:p>
          <a:p xmlns:a="http://schemas.openxmlformats.org/drawingml/2006/main">
            <a:r>
              <a:t>- Legal requirements → always verify with Legal before relying on</a:t>
            </a:r>
            <a:endParaRPr/>
          </a:p>
          <a:p xmlns:a="http://schemas.openxmlformats.org/drawingml/2006/main">
            <a:r>
              <a:t>- Factual claims → spot-check against a known source</a:t>
            </a:r>
            <a:endParaRPr/>
          </a:p>
          <a:p xmlns:a="http://schemas.openxmlformats.org/drawingml/2006/main">
            <a:r>
              <a:t>- Tone and content → always read before sending; AI doesn't know your audience</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3: Governance, ethics, and responsible use</a:t>
            </a:r>
            <a:endParaRPr/>
          </a:p>
          <a:p xmlns:a="http://schemas.openxmlformats.org/drawingml/2006/main">
            <a:r>
              <a:t/>
            </a:r>
            <a:endParaRPr/>
          </a:p>
          <a:p xmlns:a="http://schemas.openxmlformats.org/drawingml/2006/main">
            <a:r>
              <a:t>**Learning objectives:**</a:t>
            </a:r>
            <a:endParaRPr/>
          </a:p>
          <a:p xmlns:a="http://schemas.openxmlformats.org/drawingml/2006/main">
            <a:r>
              <a:t>- Apply the organization's AI use policy to real HR scenarios</a:t>
            </a:r>
            <a:endParaRPr/>
          </a:p>
          <a:p xmlns:a="http://schemas.openxmlformats.org/drawingml/2006/main">
            <a:r>
              <a:t>- Identify the key legal risk areas in HR AI (bias, privacy, employment law)</a:t>
            </a:r>
            <a:endParaRPr/>
          </a:p>
          <a:p xmlns:a="http://schemas.openxmlformats.org/drawingml/2006/main">
            <a:r>
              <a:t>- Complete a basic risk assessment for a new use case</a:t>
            </a:r>
            <a:endParaRPr/>
          </a:p>
          <a:p xmlns:a="http://schemas.openxmlformats.org/drawingml/2006/main">
            <a:r>
              <a:t/>
            </a:r>
            <a:endParaRPr/>
          </a:p>
          <a:p xmlns:a="http://schemas.openxmlformats.org/drawingml/2006/main">
            <a:r>
              <a:t>**Session outline (90 minutes):**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Case study: Three HR AI failures and what we can learn (discussion) |</a:t>
            </a:r>
            <a:endParaRPr/>
          </a:p>
          <a:p xmlns:a="http://schemas.openxmlformats.org/drawingml/2006/main">
            <a:r>
              <a:t>| 0:15–0:40 | Framework: What makes AI use in HR risky? Legal and ethical dimensions |</a:t>
            </a:r>
            <a:endParaRPr/>
          </a:p>
          <a:p xmlns:a="http://schemas.openxmlformats.org/drawingml/2006/main">
            <a:r>
              <a:t>| 0:40–1:00 | Scenario practice: Is this use case okay? (small groups, 4 scenarios) |</a:t>
            </a:r>
            <a:endParaRPr/>
          </a:p>
          <a:p xmlns:a="http://schemas.openxmlformats.org/drawingml/2006/main">
            <a:r>
              <a:t>| 1:00–1:20 | Walk-through: The risk assessment template |</a:t>
            </a:r>
            <a:endParaRPr/>
          </a:p>
          <a:p xmlns:a="http://schemas.openxmlformats.org/drawingml/2006/main">
            <a:r>
              <a:t>| 1:20–1:30 | Q&amp;A + open discussion |</a:t>
            </a:r>
            <a:endParaRPr/>
          </a:p>
          <a:p xmlns:a="http://schemas.openxmlformats.org/drawingml/2006/main">
            <a:r>
              <a:t/>
            </a:r>
            <a:endParaRPr/>
          </a:p>
          <a:p xmlns:a="http://schemas.openxmlformats.org/drawingml/2006/main">
            <a:r>
              <a:t>&gt; **Note on regulatory currency:** Use the [Key dates for HR](../03-governance/README.md#key-dates-for-hr) and its linked primary sources as the dated reference. The slides summarize risk questions; they are not a complete legal reference. Have Legal verify jurisdiction, scope, obligations, and effective dates before delivery or adoption.</a:t>
            </a:r>
            <a:endParaRPr/>
          </a:p>
          <a:p xmlns:a="http://schemas.openxmlformats.org/drawingml/2006/main">
            <a:r>
              <a:t/>
            </a:r>
            <a:endParaRPr/>
          </a:p>
          <a:p xmlns:a="http://schemas.openxmlformats.org/drawingml/2006/main">
            <a:r>
              <a:t>**Key legal risk areas to cover:**</a:t>
            </a:r>
            <a:endParaRPr/>
          </a:p>
          <a:p xmlns:a="http://schemas.openxmlformats.org/drawingml/2006/main">
            <a:r>
              <a:t/>
            </a:r>
            <a:endParaRPr/>
          </a:p>
          <a:p xmlns:a="http://schemas.openxmlformats.org/drawingml/2006/main">
            <a:r>
              <a:t>*Bias and disparate impact:*</a:t>
            </a:r>
            <a:endParaRPr/>
          </a:p>
          <a:p xmlns:a="http://schemas.openxmlformats.org/drawingml/2006/main">
            <a:r>
              <a:t>AI trained on historical HR data can encode and amplify past discrimination. A history in which 80% of engineering hires were male is a reason to examine labels, features, selection effects, and group outcomes; that proportion alone does not determine how a model will score resumes. Adverse impact testing is a core control. It is required by law in some jurisdictions (NYC Local Law 144 mandates an annual bias audit for covered tools) and expected as evidence of reasonable care in many others. Confirm the cadence with Legal. See the [NIST AI RMF](https://www.nist.gov/itl/ai-risk-management-framework).</a:t>
            </a:r>
            <a:endParaRPr/>
          </a:p>
          <a:p xmlns:a="http://schemas.openxmlformats.org/drawingml/2006/main">
            <a:r>
              <a:t/>
            </a:r>
            <a:endParaRPr/>
          </a:p>
          <a:p xmlns:a="http://schemas.openxmlformats.org/drawingml/2006/main">
            <a:r>
              <a:t>*Illinois AI Video Interview Act, NYC Local Law 144, and emerging state laws:*</a:t>
            </a:r>
            <a:endParaRPr/>
          </a:p>
          <a:p xmlns:a="http://schemas.openxmlformats.org/drawingml/2006/main">
            <a:r>
              <a:t>Several jurisdictions now require disclosure, impact assessments, or consent for AI use in hiring. Illinois's AI Video Interview Act ([820 ILCS 42](https://www.ilga.gov/Legislation/ILCS/Articles?ActID=4015&amp;ChapterID=68)) governs AI analysis of recorded video interviews, including notice and consent before the interview. Confirm its current requirements against the statute before relying on them. Illinois also amended its Human Rights Act via HB 3773 (effective January 1, 2026) to broadly prohibit discriminatory AI use in hiring and promotion, not just video interviews. A companion law, Public Act 104-0425 (SB 2487, effective January 1, 2026), gives the Human Rights Commission tiered civil penalty authority for violations: up to $16,000 for a first offense, up to $42,500 with one prior violation within five years, up to $70,000 for two or more within seven years. The regulatory landscape is shifting quickly. Use cases involving hiring must be reviewed against current state law.</a:t>
            </a:r>
            <a:endParaRPr/>
          </a:p>
          <a:p xmlns:a="http://schemas.openxmlformats.org/drawingml/2006/main">
            <a:r>
              <a:t/>
            </a:r>
            <a:endParaRPr/>
          </a:p>
          <a:p xmlns:a="http://schemas.openxmlformats.org/drawingml/2006/main">
            <a:r>
              <a:t>NYC Local Law 144 enforcement is entering a stricter phase. A December 2025 NY State Comptroller audit found DCWP's enforcement "ineffective": DCWP's own review of 32 companies' bias-audit disclosures caught 1 likely non-compliance issue, where the Comptroller's review of the same 32 found at least 17. Expect more investigations and higher penalties as DCWP responds to the audit's recommendations, not just the disclosure-and-audit paperwork the law describes on paper.</a:t>
            </a:r>
            <a:endParaRPr/>
          </a:p>
          <a:p xmlns:a="http://schemas.openxmlformats.org/drawingml/2006/main">
            <a:r>
              <a:t/>
            </a:r>
            <a:endParaRPr/>
          </a:p>
          <a:p xmlns:a="http://schemas.openxmlformats.org/drawingml/2006/main">
            <a:r>
              <a:t>*Colorado's Automated Decision-Making Technology Act:*</a:t>
            </a:r>
            <a:endParaRPr/>
          </a:p>
          <a:p xmlns:a="http://schemas.openxmlformats.org/drawingml/2006/main">
            <a:r>
              <a:t>Colorado SB26-189 (signed 14 May 2026, Colo. Sess. Laws ch. 131) repeals and replaces the state's 2024 AI consumer protection law. It covers "consequential decisions," including employment, made using automated decision-making technology (ADMT) that materially influences the outcome. Starting January 1, 2027, developers must give deployers technical documentation on intended use, training data categories, known limitations, and human review instructions. Deployers will owe consumers notice at the point of interaction, and within 30 days of any adverse consequential decision, a plain-language explanation plus the right to request human review and reconsideration. Records must be retained 3 years. The attorney general enforces under the Colorado Consumer Protection Act, with a 60-day cure period through January 1, 2030.</a:t>
            </a:r>
            <a:endParaRPr/>
          </a:p>
          <a:p xmlns:a="http://schemas.openxmlformats.org/drawingml/2006/main">
            <a:r>
              <a:t/>
            </a:r>
            <a:endParaRPr/>
          </a:p>
          <a:p xmlns:a="http://schemas.openxmlformats.org/drawingml/2006/main">
            <a:r>
              <a:t>*Connecticut: AI Responsibility and Transparency Act (Public Act 26-15):*</a:t>
            </a:r>
            <a:endParaRPr/>
          </a:p>
          <a:p xmlns:a="http://schemas.openxmlformats.org/drawingml/2006/main">
            <a:r>
              <a:t>Connecticut's SB 5 became Public Act 26-15 in June 2026. It is the most comprehensive state AI employment statute enacted so far, and it phases in across two years. Read the dates carefully, because the parts that bite first are not the disclosure rules.</a:t>
            </a:r>
            <a:endParaRPr/>
          </a:p>
          <a:p xmlns:a="http://schemas.openxmlformats.org/drawingml/2006/main">
            <a:r>
              <a:t/>
            </a:r>
            <a:endParaRPr/>
          </a:p>
          <a:p xmlns:a="http://schemas.openxmlformats.org/drawingml/2006/main">
            <a:r>
              <a:t>Live October 1, 2026:</a:t>
            </a:r>
            <a:endParaRPr/>
          </a:p>
          <a:p xmlns:a="http://schemas.openxmlformats.org/drawingml/2006/main">
            <a:r>
              <a:t/>
            </a:r>
            <a:endParaRPr/>
          </a:p>
          <a:p xmlns:a="http://schemas.openxmlformats.org/drawingml/2006/main">
            <a:r>
              <a:t>- **AI is not a defense.** Sections 13 and 14 amend Conn. Gen. Stat. 46a-60 so that using an automated employment-related decision technology is not a defense against a discrimination complaint. The commission or court may consider the quality, efficacy, recency, and scope of anti-bias testing, its results, and the employer's response. This does not establish that a stale audit is always worse than no audit, or that testing guarantees a favorable legal outcome. Preserve the testing evidence and corrective actions for counsel review. Source: [Public Act 26-15](https://www.cga.ct.gov/2026/ACT/PA/PDF/2026PA-00015-R00SB-00005-PA.PDF).</a:t>
            </a:r>
            <a:endParaRPr/>
          </a:p>
          <a:p xmlns:a="http://schemas.openxmlformats.org/drawingml/2006/main">
            <a:r>
              <a:t>- **WARN notices.** Section 26 requires any employer serving a federal WARN notice under 29 USC 2102(a) to disclose to the Connecticut Labor Department whether the layoffs relate to the employer's use of AI or other technological change. Note the disclosure runs to the department, not to affected employees.</a:t>
            </a:r>
            <a:endParaRPr/>
          </a:p>
          <a:p xmlns:a="http://schemas.openxmlformats.org/drawingml/2006/main">
            <a:r>
              <a:t/>
            </a:r>
            <a:endParaRPr/>
          </a:p>
          <a:p xmlns:a="http://schemas.openxmlformats.org/drawingml/2006/main">
            <a:r>
              <a:t>Live October 1, 2027 (sections 7 to 12 take effect in 2026, but the duties attach only to technology deployed on or after October 1, 2027):</a:t>
            </a:r>
            <a:endParaRPr/>
          </a:p>
          <a:p xmlns:a="http://schemas.openxmlformats.org/drawingml/2006/main">
            <a:r>
              <a:t/>
            </a:r>
            <a:endParaRPr/>
          </a:p>
          <a:p xmlns:a="http://schemas.openxmlformats.org/drawingml/2006/main">
            <a:r>
              <a:t>- Scope is set by "substantial factor," defined as a factor that meaningfully alters the outcome of an employment-related decision. Covered decisions are hiring, promotion, discipline, discharge, renewal, selection for training or apprenticeship, and terms, privileges or conditions of employment. Carved out: nonmaterial changes to job tasks or hours, and decisions about workplace health and safety, scheduling, and productivity monitoring.</a:t>
            </a:r>
            <a:endParaRPr/>
          </a:p>
          <a:p xmlns:a="http://schemas.openxmlformats.org/drawingml/2006/main">
            <a:r>
              <a:t>- Developers must give deployers the information deployers need to meet their duties, but only where the tool was advertised, marketed, configured, contracted for, sold, or licensed to materially influence an employment decision.</a:t>
            </a:r>
            <a:endParaRPr/>
          </a:p>
          <a:p xmlns:a="http://schemas.openxmlformats.org/drawingml/2006/main">
            <a:r>
              <a:t>- Deployers must disclose in plain language when an employee or applicant is interacting with the technology, unless a reasonable person would find it obvious.</a:t>
            </a:r>
            <a:endParaRPr/>
          </a:p>
          <a:p xmlns:a="http://schemas.openxmlformats.org/drawingml/2006/main">
            <a:r>
              <a:t>- Before the decision is made, deployers must give written notice covering six specific points: that the technology was deployed, its purpose and the nature of the decision, the tool's trade name, the categories of personal data analyzed and how they will be assessed, the sources of that data, and deployer contact information.</a:t>
            </a:r>
            <a:endParaRPr/>
          </a:p>
          <a:p xmlns:a="http://schemas.openxmlformats.org/drawingml/2006/main">
            <a:r>
              <a:t>- Trade secrets can be withheld, but the withholding party must send notice saying what is being withheld and why.</a:t>
            </a:r>
            <a:endParaRPr/>
          </a:p>
          <a:p xmlns:a="http://schemas.openxmlformats.org/drawingml/2006/main">
            <a:r>
              <a:t/>
            </a:r>
            <a:endParaRPr/>
          </a:p>
          <a:p xmlns:a="http://schemas.openxmlformats.org/drawingml/2006/main">
            <a:r>
              <a:t>Enforcement is narrower than the obligations suggest: violations are unfair or deceptive trade practices under CUTPA, enforced **solely by the Attorney General**, with an explicit statement that the act creates **no private right of action**. Violations occurring on or before December 31, 2027 carry a 60-day cure period.</a:t>
            </a:r>
            <a:endParaRPr/>
          </a:p>
          <a:p xmlns:a="http://schemas.openxmlformats.org/drawingml/2006/main">
            <a:r>
              <a:t/>
            </a:r>
            <a:endParaRPr/>
          </a:p>
          <a:p xmlns:a="http://schemas.openxmlformats.org/drawingml/2006/main">
            <a:r>
              <a:t>One provision to catch in procurement: Section 8(c) lets a developer contract to assume the deployer's disclosure and notice duties, provided the contract is explicit about which duties transfer. That is a negotiating lever worth asking every vendor about. See the [vendor intake checklist](../03-governance/vendor-intake-checklist.md).</a:t>
            </a:r>
            <a:endParaRPr/>
          </a:p>
          <a:p xmlns:a="http://schemas.openxmlformats.org/drawingml/2006/main">
            <a:r>
              <a:t/>
            </a:r>
            <a:endParaRPr/>
          </a:p>
          <a:p xmlns:a="http://schemas.openxmlformats.org/drawingml/2006/main">
            <a:r>
              <a:t>*California: FEHA algorithmic discrimination rules and CPPA ADMT regulations:*</a:t>
            </a:r>
            <a:endParaRPr/>
          </a:p>
          <a:p xmlns:a="http://schemas.openxmlformats.org/drawingml/2006/main">
            <a:r>
              <a:t>The Civil Rights Council's FEHA regulations on automated decision systems took effect October 1, 2025: they prohibit AI-driven disparate treatment or disparate impact in employment decisions, require four years of recordkeeping, and hold employers liable for discriminatory outcomes even when the tool comes from a third-party vendor. Separately, the [CPPA regulation package](https://cppa.ca.gov/announcements/2025/20250923.html) took effect January 1, 2026. Covered businesses must begin risk-assessment compliance in 2026; ADMT notice and consumer-rights compliance begins January 1, 2027. These dates govern different duties. Review the [final regulations](https://cppa.ca.gov/regulations/ccpa_updates.html) for scope, opt-out exceptions, appeal conditions, and transition rules for processing already underway.</a:t>
            </a:r>
            <a:endParaRPr/>
          </a:p>
          <a:p xmlns:a="http://schemas.openxmlformats.org/drawingml/2006/main">
            <a:r>
              <a:t/>
            </a:r>
            <a:endParaRPr/>
          </a:p>
          <a:p xmlns:a="http://schemas.openxmlformats.org/drawingml/2006/main">
            <a:r>
              <a:t>Four California workplace bills were approved and chaptered on 30 September 2026. All four are enacted law, with obligations beginning in 2027. The chaptered texts were reviewed on 9 October 2026. AB 1883, SB 951, and AB 1331 take effect on 1 January 2027 under [California Constitution Article IV, section 8(c)(1)](https://leginfo.legislature.ca.gov/faces/codes_displayText.xhtml?lawCode=CONS&amp;division=&amp;title=&amp;part=&amp;chapter=&amp;article=IV); none contains an urgency clause or a later operative-date provision. SB 947 takes effect on that date but expressly makes its new Labor Code part operative on 1 July 2027. See the [source register](../03-governance/claims/california-workplace-laws.json) and the [Governor's signing announcement](https://www.gov.ca.gov/2026/09/30/californias-nation-leading-ai-framework-just-got-stronger-governor-newsom-signs-more-first-in-the-nation-worker-protections-and-more/).</a:t>
            </a:r>
            <a:endParaRPr/>
          </a:p>
          <a:p xmlns:a="http://schemas.openxmlformats.org/drawingml/2006/main">
            <a:r>
              <a:t/>
            </a:r>
            <a:endParaRPr/>
          </a:p>
          <a:p xmlns:a="http://schemas.openxmlformats.org/drawingml/2006/main">
            <a:r>
              <a:t>- **[AB 1883](https://leginfo.legislature.ca.gov/faces/billNavClient.xhtml?bill_id=202520260AB1883)** (workplace surveillance tools, Chapter 853, Statutes of 2026) adds Labor Code Part 5.8 to bar employers from using AI-driven surveillance tools to recognize or infer an employee's emotional state, or to collect neural data, meaning data measured from the central or peripheral nervous system and not inferred from nonneural information. Safety uses are preserved, and there is a narrow carve-out for federally mandated aerospace and national security work. Enforcement runs through the Labor Commissioner or a public prosecutor, with penalties up to $500 per violation. It was enrolled on 3 September 2026 and approved by the Governor on 30 September 2026. Some published summaries report 3 September as the signing date; that is the enrollment date.</a:t>
            </a:r>
            <a:endParaRPr/>
          </a:p>
          <a:p xmlns:a="http://schemas.openxmlformats.org/drawingml/2006/main">
            <a:r>
              <a:t>- **[SB 947](https://leginfo.legislature.ca.gov/faces/billTextClient.xhtml?bill_id=202520260SB947)** (the "No Robo Bosses Act," Chapter 859, Statutes of 2026) is **operative 1 July 2027**, under new Labor Code section 1526.7. It bars sole reliance on an ADS for discipline or termination. Primary reliance requires human corroboration and written post-use notice when the decision is communicated. If corroboration fails, or the reviewer finds the output inaccurate, incomplete, or misleading, the employer must not use that output for the decision. The employee may request a meaningful description of their own data used by the ADS. Check the collective bargaining and federal-operation exceptions in sections 1526.5 and 1526.6.</a:t>
            </a:r>
            <a:endParaRPr/>
          </a:p>
          <a:p xmlns:a="http://schemas.openxmlformats.org/drawingml/2006/main">
            <a:r>
              <a:t>- **[SB 951](https://leginfo.legislature.ca.gov/faces/billTextClient.xhtml?bill_id=202520260SB951)** (Chapter 860, Statutes of 2026), **effective 1 January 2027**, adds technology-displacement information to an otherwise required Cal/WARN notice when AI or automation causes the event wholly or substantially. New Labor Code section 1401(d) requires affected jobs and locations, functions being automated, the technology category, and a technology-displacement heading. It retains the existing 60-day notice period. It does not enact the earlier proposal for a 90-day notice or an employer hiring-freeze notice; section 1402.7 instead requires an EDD study by 1 January 2028. Assess Cal/WARN coverage and exceptions before applying the notice requirement.</a:t>
            </a:r>
            <a:endParaRPr/>
          </a:p>
          <a:p xmlns:a="http://schemas.openxmlformats.org/drawingml/2006/main">
            <a:r>
              <a:t>- **[AB 1331](https://leginfo.legislature.ca.gov/faces/billTextClient.xhtml?bill_id=202520260AB1331)** (Chapter 851, Statutes of 2026), **effective 1 January 2027**, limits workplace bathroom surveillance and lets employees leave surveillance tools behind when entering a bathroom. New Labor Code section 1561 includes exceptions for court orders, one-time entry/exit checks, voluntary possession, and certain identification or safety devices. The tool definition reaches beyond AI. Review the full exceptions in sections 1561, 1564, and 1565 before changing monitoring practices.</a:t>
            </a:r>
            <a:endParaRPr/>
          </a:p>
          <a:p xmlns:a="http://schemas.openxmlformats.org/drawingml/2006/main">
            <a:r>
              <a:t/>
            </a:r>
            <a:endParaRPr/>
          </a:p>
          <a:p xmlns:a="http://schemas.openxmlformats.org/drawingml/2006/main">
            <a:r>
              <a:t>*Texas: Responsible AI Governance Act (TRAIGA):*</a:t>
            </a:r>
            <a:endParaRPr/>
          </a:p>
          <a:p xmlns:a="http://schemas.openxmlformats.org/drawingml/2006/main">
            <a:r>
              <a:t>Effective January 1, 2026 (HB 149, signed June 22, 2025). Narrower than Illinois or Colorado: TRAIGA prohibits intentional AI-based discrimination but does not create disparate impact liability, and the Attorney General has exclusive enforcement authority with a 60-day cure period before action.</a:t>
            </a:r>
            <a:endParaRPr/>
          </a:p>
          <a:p xmlns:a="http://schemas.openxmlformats.org/drawingml/2006/main">
            <a:r>
              <a:t/>
            </a:r>
            <a:endParaRPr/>
          </a:p>
          <a:p xmlns:a="http://schemas.openxmlformats.org/drawingml/2006/main">
            <a:r>
              <a:t>*New Jersey: no AI statute, but existing discrimination law already reaches AI:*</a:t>
            </a:r>
            <a:endParaRPr/>
          </a:p>
          <a:p xmlns:a="http://schemas.openxmlformats.org/drawingml/2006/main">
            <a:r>
              <a:t>New Jersey is the case that breaks the habit of scanning for AI-specific bills. It has no AI hiring statute. In January 2025 the Office of the Attorney General and the Division on Civil Rights issued guidance stating that the Law Against Discrimination (N.J.S.A. 10:5-1 et seq.) applies to algorithmic discrimination the same way it has long applied to other discriminatory conduct, in employment among other contexts. Three points matter for HR practice:</a:t>
            </a:r>
            <a:endParaRPr/>
          </a:p>
          <a:p xmlns:a="http://schemas.openxmlformats.org/drawingml/2006/main">
            <a:r>
              <a:t/>
            </a:r>
            <a:endParaRPr/>
          </a:p>
          <a:p xmlns:a="http://schemas.openxmlformats.org/drawingml/2006/main">
            <a:r>
              <a:t>- **No intent required, and a vendor tool is not a defense.** The guidance states that a covered entity "is not shielded from liability for algorithmic discrimination that results from the entity's use of an automated decision-making tool simply because the tool was developed by a third party or because the entity does not understand the inner workings of the tool."</a:t>
            </a:r>
            <a:endParaRPr/>
          </a:p>
          <a:p xmlns:a="http://schemas.openxmlformats.org/drawingml/2006/main">
            <a:r>
              <a:t>- **Disparate impact is covered.** Use of a tool with a disproportionate effect on a protected class is prohibited unless it is necessary to achieve a substantial, legitimate, nondiscriminatory interest and there is no less discriminatory alternative. Whether the employer tested the tool for bias or evaluated alternatives may be weighed as relevant evidence, which is the same pattern as Connecticut: your fairness audit becomes evidence.</a:t>
            </a:r>
            <a:endParaRPr/>
          </a:p>
          <a:p xmlns:a="http://schemas.openxmlformats.org/drawingml/2006/main">
            <a:r>
              <a:t>- **Reasonable accommodations are in scope.** A tool can violate the LAD by being inaccessible or by penalizing someone who uses an accommodation. The guidance's example is a typing-speed screen that cannot read a non-traditional keyboard.</a:t>
            </a:r>
            <a:endParaRPr/>
          </a:p>
          <a:p xmlns:a="http://schemas.openxmlformats.org/drawingml/2006/main">
            <a:r>
              <a:t/>
            </a:r>
            <a:endParaRPr/>
          </a:p>
          <a:p xmlns:a="http://schemas.openxmlformats.org/drawingml/2006/main">
            <a:r>
              <a:t>Two limits to state accurately when you teach this. The guidance is interpretive: it says on its face that it imposes no requirements beyond the LAD and will not be enforced as a substitute for enforcing the LAD. And it carries no effective date, because the underlying statute has been in force for decades. Do not present it as a new obligation that switched on in 2025. The takeaway for the class is the general one: a state with no AI bill is not a state with no AI exposure.</a:t>
            </a:r>
            <a:endParaRPr/>
          </a:p>
          <a:p xmlns:a="http://schemas.openxmlformats.org/drawingml/2006/main">
            <a:r>
              <a:t/>
            </a:r>
            <a:endParaRPr/>
          </a:p>
          <a:p xmlns:a="http://schemas.openxmlformats.org/drawingml/2006/main">
            <a:r>
              <a:t>*GDPR and CCPA:*</a:t>
            </a:r>
            <a:endParaRPr/>
          </a:p>
          <a:p xmlns:a="http://schemas.openxmlformats.org/drawingml/2006/main">
            <a:r>
              <a:t>Employees in covered jurisdictions have rights regarding automated decision-making. Know which of your employees are covered and how your AI use cases interact with their rights. See the California-specific rules above for the current state of play there.</a:t>
            </a:r>
            <a:endParaRPr/>
          </a:p>
          <a:p xmlns:a="http://schemas.openxmlformats.org/drawingml/2006/main">
            <a:r>
              <a:t/>
            </a:r>
            <a:endParaRPr/>
          </a:p>
          <a:p xmlns:a="http://schemas.openxmlformats.org/drawingml/2006/main">
            <a:r>
              <a:t>*UK: Data (Use and Access) Act 2025 replaces GDPR Article 22:*</a:t>
            </a:r>
            <a:endParaRPr/>
          </a:p>
          <a:p xmlns:a="http://schemas.openxmlformats.org/drawingml/2006/main">
            <a:r>
              <a:t>Section 80 of the UK's Data (Use and Access) Act 2025 took effect February 5, 2026 (Commencement Regulations SI 2026/82) and substitutes Article 22 of the UK GDPR with new Articles 22A to 22D. The new regime permits solely automated "significant decisions," those with a legal or similarly significant effect, more broadly than before, but requires safeguards: notice to the individual, the ability to make representations, the right to human intervention, and the right to contest the decision. Stricter restrictions still apply where special category data is used. Treat this as a distinct regime from EU GDPR Article 22, not an equivalent, for any AI use case touching UK-based workers or candidates.</a:t>
            </a:r>
            <a:endParaRPr/>
          </a:p>
          <a:p xmlns:a="http://schemas.openxmlformats.org/drawingml/2006/main">
            <a:r>
              <a:t/>
            </a:r>
            <a:endParaRPr/>
          </a:p>
          <a:p xmlns:a="http://schemas.openxmlformats.org/drawingml/2006/main">
            <a:r>
              <a:t>The ICO is already signaling how it will police this in recruitment specifically. A March 2026 ICO report on automated decision-making in hiring found many employers don't recognize they're doing ADM at all, and that "human review" in practice often amounts to rubber-stamping rather than a reviewer with real authority to change the outcome. Following that report, the ICO opened a consultation on draft ADM guidance, worth checking for the final version before relying on the March findings alone. Build the oversight role description to survive that scrutiny, not just to check the box.</a:t>
            </a:r>
            <a:endParaRPr/>
          </a:p>
          <a:p xmlns:a="http://schemas.openxmlformats.org/drawingml/2006/main">
            <a:r>
              <a:t/>
            </a:r>
            <a:endParaRPr/>
          </a:p>
          <a:p xmlns:a="http://schemas.openxmlformats.org/drawingml/2006/main">
            <a:r>
              <a:t>*Canada: no federal AI employment law, but Ontario requires disclosure:*</a:t>
            </a:r>
            <a:endParaRPr/>
          </a:p>
          <a:p xmlns:a="http://schemas.openxmlformats.org/drawingml/2006/main">
            <a:r>
              <a:t>Canada's federal AI bill (AIDA, part of Bill C-27) died when Parliament prorogued in January 2025 and has not been revived. AI regulation there runs through existing privacy, human rights, and sector law instead. Ontario is the exception: since January 1, 2026, employers with 25+ employees must disclose in publicly advertised job postings whether AI is used to screen, assess, or select candidates (Employment Standards Act, 2000 amendment).</a:t>
            </a:r>
            <a:endParaRPr/>
          </a:p>
          <a:p xmlns:a="http://schemas.openxmlformats.org/drawingml/2006/main">
            <a:r>
              <a:t/>
            </a:r>
            <a:endParaRPr/>
          </a:p>
          <a:p xmlns:a="http://schemas.openxmlformats.org/drawingml/2006/main">
            <a:r>
              <a:t>*The "AI as a manager" trap:*</a:t>
            </a:r>
            <a:endParaRPr/>
          </a:p>
          <a:p xmlns:a="http://schemas.openxmlformats.org/drawingml/2006/main">
            <a:r>
              <a:t>AI that monitors, evaluates, or scores employees without their knowledge, even for legitimate purposes, creates legal and trust exposure. Transparency is not just ethical, it's protective.</a:t>
            </a:r>
            <a:endParaRPr/>
          </a:p>
          <a:p xmlns:a="http://schemas.openxmlformats.org/drawingml/2006/main">
            <a:r>
              <a:t/>
            </a:r>
            <a:endParaRPr/>
          </a:p>
          <a:p xmlns:a="http://schemas.openxmlformats.org/drawingml/2006/main">
            <a:r>
              <a:t>**Scenario practice cards:**</a:t>
            </a:r>
            <a:endParaRPr/>
          </a:p>
          <a:p xmlns:a="http://schemas.openxmlformats.org/drawingml/2006/main">
            <a:r>
              <a:t/>
            </a:r>
            <a:endParaRPr/>
          </a:p>
          <a:p xmlns:a="http://schemas.openxmlformats.org/drawingml/2006/main">
            <a:r>
              <a:t>Print or share these four scenarios. Groups of 3–4 discuss: Is this use appropriate? What are the risks? What would you change?</a:t>
            </a:r>
            <a:endParaRPr/>
          </a:p>
          <a:p xmlns:a="http://schemas.openxmlformats.org/drawingml/2006/main">
            <a:r>
              <a:t/>
            </a:r>
            <a:endParaRPr/>
          </a:p>
          <a:p xmlns:a="http://schemas.openxmlformats.org/drawingml/2006/main">
            <a:r>
              <a:t>&gt; **Scenario A:** An AI tool automatically rejects resumes with gaps of more than 6 months without showing them to a recruiter.</a:t>
            </a:r>
            <a:endParaRPr/>
          </a:p>
          <a:p xmlns:a="http://schemas.openxmlformats.org/drawingml/2006/main">
            <a:r>
              <a:t/>
            </a:r>
            <a:endParaRPr/>
          </a:p>
          <a:p xmlns:a="http://schemas.openxmlformats.org/drawingml/2006/main">
            <a:r>
              <a:t>&gt; **Scenario B:** An HRBP uses an AI writing assistant to draft a PIP for an employee, then reviews and edits it before sharing with the manager.</a:t>
            </a:r>
            <a:endParaRPr/>
          </a:p>
          <a:p xmlns:a="http://schemas.openxmlformats.org/drawingml/2006/main">
            <a:r>
              <a:t/>
            </a:r>
            <a:endParaRPr/>
          </a:p>
          <a:p xmlns:a="http://schemas.openxmlformats.org/drawingml/2006/main">
            <a:r>
              <a:t>&gt; **Scenario C:** People Analytics builds an attrition risk model that scores all employees monthly and shares the scores directly with managers.</a:t>
            </a:r>
            <a:endParaRPr/>
          </a:p>
          <a:p xmlns:a="http://schemas.openxmlformats.org/drawingml/2006/main">
            <a:r>
              <a:t/>
            </a:r>
            <a:endParaRPr/>
          </a:p>
          <a:p xmlns:a="http://schemas.openxmlformats.org/drawingml/2006/main">
            <a:r>
              <a:t>&gt; **Scenario D:** An AI chatbot answers benefits questions for employees. It sometimes gives incorrect information but flags that users should confirm with HR.</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4: Building and scaling AI use cases</a:t>
            </a:r>
            <a:endParaRPr/>
          </a:p>
          <a:p xmlns:a="http://schemas.openxmlformats.org/drawingml/2006/main">
            <a:r>
              <a:t/>
            </a:r>
            <a:endParaRPr/>
          </a:p>
          <a:p xmlns:a="http://schemas.openxmlformats.org/drawingml/2006/main">
            <a:r>
              <a:t>**Learning objectives:**</a:t>
            </a:r>
            <a:endParaRPr/>
          </a:p>
          <a:p xmlns:a="http://schemas.openxmlformats.org/drawingml/2006/main">
            <a:r>
              <a:t>- Apply the prioritization matrix to identify your team's highest-value AI use cases</a:t>
            </a:r>
            <a:endParaRPr/>
          </a:p>
          <a:p xmlns:a="http://schemas.openxmlformats.org/drawingml/2006/main">
            <a:r>
              <a:t>- Define a use case with clear success metrics and governance requirements</a:t>
            </a:r>
            <a:endParaRPr/>
          </a:p>
          <a:p xmlns:a="http://schemas.openxmlformats.org/drawingml/2006/main">
            <a:r>
              <a:t>- Draft a basic implementation plan for a low-complexity use case</a:t>
            </a:r>
            <a:endParaRPr/>
          </a:p>
          <a:p xmlns:a="http://schemas.openxmlformats.org/drawingml/2006/main">
            <a:r>
              <a:t/>
            </a:r>
            <a:endParaRPr/>
          </a:p>
          <a:p xmlns:a="http://schemas.openxmlformats.org/drawingml/2006/main">
            <a:r>
              <a:t>**Session outline (2 hours):**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Opening: What does "scaling AI in HR" actually mean? |</a:t>
            </a:r>
            <a:endParaRPr/>
          </a:p>
          <a:p xmlns:a="http://schemas.openxmlformats.org/drawingml/2006/main">
            <a:r>
              <a:t>| 0:15–0:45 | Framework: From idea to deployment, the use case lifecycle |</a:t>
            </a:r>
            <a:endParaRPr/>
          </a:p>
          <a:p xmlns:a="http://schemas.openxmlformats.org/drawingml/2006/main">
            <a:r>
              <a:t>| 0:45–1:15 | Team exercise: Prioritization matrix applied to your team's top 5 ideas |</a:t>
            </a:r>
            <a:endParaRPr/>
          </a:p>
          <a:p xmlns:a="http://schemas.openxmlformats.org/drawingml/2006/main">
            <a:r>
              <a:t>| 1:15–1:45 | Small group: Draft a one-page use case spec for your top-ranked idea |</a:t>
            </a:r>
            <a:endParaRPr/>
          </a:p>
          <a:p xmlns:a="http://schemas.openxmlformats.org/drawingml/2006/main">
            <a:r>
              <a:t>| 1:45–2:00 | Gallery walk + feedback |</a:t>
            </a:r>
            <a:endParaRPr/>
          </a:p>
          <a:p xmlns:a="http://schemas.openxmlformats.org/drawingml/2006/main">
            <a:r>
              <a:t/>
            </a:r>
            <a:endParaRPr/>
          </a:p>
          <a:p xmlns:a="http://schemas.openxmlformats.org/drawingml/2006/main">
            <a:r>
              <a:t>**Use case lifecycle:**</a:t>
            </a:r>
            <a:endParaRPr/>
          </a:p>
          <a:p xmlns:a="http://schemas.openxmlformats.org/drawingml/2006/main">
            <a:r>
              <a:t/>
            </a:r>
            <a:endParaRPr/>
          </a:p>
          <a:p xmlns:a="http://schemas.openxmlformats.org/drawingml/2006/main">
            <a:r>
              <a:t>```</a:t>
            </a:r>
            <a:endParaRPr/>
          </a:p>
          <a:p xmlns:a="http://schemas.openxmlformats.org/drawingml/2006/main">
            <a:r>
              <a:t>Discover → Prioritize → Design → Pilot → Evaluate → Scale</a:t>
            </a:r>
            <a:endParaRPr/>
          </a:p>
          <a:p xmlns:a="http://schemas.openxmlformats.org/drawingml/2006/main">
            <a:r>
              <a:t>   ↑                                          |</a:t>
            </a:r>
            <a:endParaRPr/>
          </a:p>
          <a:p xmlns:a="http://schemas.openxmlformats.org/drawingml/2006/main">
            <a:r>
              <a:t>   └──────────────── iterate ─────────────────┘</a:t>
            </a:r>
            <a:endParaRPr/>
          </a:p>
          <a:p xmlns:a="http://schemas.openxmlformats.org/drawingml/2006/main">
            <a:r>
              <a:t>```</a:t>
            </a:r>
            <a:endParaRPr/>
          </a:p>
          <a:p xmlns:a="http://schemas.openxmlformats.org/drawingml/2006/main">
            <a:r>
              <a:t/>
            </a:r>
            <a:endParaRPr/>
          </a:p>
          <a:p xmlns:a="http://schemas.openxmlformats.org/drawingml/2006/main">
            <a:r>
              <a:t>- **Discover:** What problem are we solving? Who feels it most?</a:t>
            </a:r>
            <a:endParaRPr/>
          </a:p>
          <a:p xmlns:a="http://schemas.openxmlformats.org/drawingml/2006/main">
            <a:r>
              <a:t>- **Prioritize:** Use the matrix. Don't skip this.</a:t>
            </a:r>
            <a:endParaRPr/>
          </a:p>
          <a:p xmlns:a="http://schemas.openxmlformats.org/drawingml/2006/main">
            <a:r>
              <a:t>- **Design:** Define inputs, outputs, human review gates, success metrics, and fallback</a:t>
            </a:r>
            <a:endParaRPr/>
          </a:p>
          <a:p xmlns:a="http://schemas.openxmlformats.org/drawingml/2006/main">
            <a:r>
              <a:t>- **Pilot:** Small scope, high observation. 4–8 weeks.</a:t>
            </a:r>
            <a:endParaRPr/>
          </a:p>
          <a:p xmlns:a="http://schemas.openxmlformats.org/drawingml/2006/main">
            <a:r>
              <a:t>- **Evaluate:** Did it work? For whom? What didn't?</a:t>
            </a:r>
            <a:endParaRPr/>
          </a:p>
          <a:p xmlns:a="http://schemas.openxmlformats.org/drawingml/2006/main">
            <a:r>
              <a:t>- **Scale:** Expand with the lessons from pilot baked in</a:t>
            </a:r>
            <a:endParaRPr/>
          </a:p>
          <a:p xmlns:a="http://schemas.openxmlformats.org/drawingml/2006/main">
            <a:r>
              <a:t/>
            </a:r>
            <a:endParaRPr/>
          </a:p>
          <a:p xmlns:a="http://schemas.openxmlformats.org/drawingml/2006/main">
            <a:r>
              <a:t>**One-page use case spec template:**</a:t>
            </a:r>
            <a:endParaRPr/>
          </a:p>
          <a:p xmlns:a="http://schemas.openxmlformats.org/drawingml/2006/main">
            <a:r>
              <a:t/>
            </a:r>
            <a:endParaRPr/>
          </a:p>
          <a:p xmlns:a="http://schemas.openxmlformats.org/drawingml/2006/main">
            <a:r>
              <a:t>Participants complete this for their team's top-ranked use case:</a:t>
            </a:r>
            <a:endParaRPr/>
          </a:p>
          <a:p xmlns:a="http://schemas.openxmlformats.org/drawingml/2006/main">
            <a:r>
              <a:t/>
            </a:r>
            <a:endParaRPr/>
          </a:p>
          <a:p xmlns:a="http://schemas.openxmlformats.org/drawingml/2006/main">
            <a:r>
              <a:t>```</a:t>
            </a:r>
            <a:endParaRPr/>
          </a:p>
          <a:p xmlns:a="http://schemas.openxmlformats.org/drawingml/2006/main">
            <a:r>
              <a:t>Use case name:</a:t>
            </a:r>
            <a:endParaRPr/>
          </a:p>
          <a:p xmlns:a="http://schemas.openxmlformats.org/drawingml/2006/main">
            <a:r>
              <a:t>Problem it solves (1 sentence):</a:t>
            </a:r>
            <a:endParaRPr/>
          </a:p>
          <a:p xmlns:a="http://schemas.openxmlformats.org/drawingml/2006/main">
            <a:r>
              <a:t>Who benefits and how:</a:t>
            </a:r>
            <a:endParaRPr/>
          </a:p>
          <a:p xmlns:a="http://schemas.openxmlformats.org/drawingml/2006/main">
            <a:r>
              <a:t>AI approach (Rules / Augment / Assist / Human-led / Analytics):</a:t>
            </a:r>
            <a:endParaRPr/>
          </a:p>
          <a:p xmlns:a="http://schemas.openxmlformats.org/drawingml/2006/main">
            <a:r>
              <a:t>Data needed:</a:t>
            </a:r>
            <a:endParaRPr/>
          </a:p>
          <a:p xmlns:a="http://schemas.openxmlformats.org/drawingml/2006/main">
            <a:r>
              <a:t>Human review gate:</a:t>
            </a:r>
            <a:endParaRPr/>
          </a:p>
          <a:p xmlns:a="http://schemas.openxmlformats.org/drawingml/2006/main">
            <a:r>
              <a:t>Success metric(s):</a:t>
            </a:r>
            <a:endParaRPr/>
          </a:p>
          <a:p xmlns:a="http://schemas.openxmlformats.org/drawingml/2006/main">
            <a:r>
              <a:t>What could go wrong:</a:t>
            </a:r>
            <a:endParaRPr/>
          </a:p>
          <a:p xmlns:a="http://schemas.openxmlformats.org/drawingml/2006/main">
            <a:r>
              <a:t>Governance requirements (from risk assessment):</a:t>
            </a:r>
            <a:endParaRPr/>
          </a:p>
          <a:p xmlns:a="http://schemas.openxmlformats.org/drawingml/2006/main">
            <a:r>
              <a:t>First step to move forward:</a:t>
            </a:r>
            <a:endParaRPr/>
          </a:p>
          <a:p xmlns:a="http://schemas.openxmlformats.org/drawingml/2006/main">
            <a:r>
              <a:t>```</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Assessment and certification</a:t>
            </a:r>
            <a:endParaRPr/>
          </a:p>
          <a:p xmlns:a="http://schemas.openxmlformats.org/drawingml/2006/main">
            <a:r>
              <a:t/>
            </a:r>
            <a:endParaRPr/>
          </a:p>
          <a:p xmlns:a="http://schemas.openxmlformats.org/drawingml/2006/main">
            <a:r>
              <a:t>An organization may choose to give participants who complete all four modules</a:t>
            </a:r>
            <a:endParaRPr/>
          </a:p>
          <a:p xmlns:a="http://schemas.openxmlformats.org/drawingml/2006/main">
            <a:r>
              <a:t>and the hands-on components an **HR AI Practitioner** acknowledgment. This is a</a:t>
            </a:r>
            <a:endParaRPr/>
          </a:p>
          <a:p xmlns:a="http://schemas.openxmlformats.org/drawingml/2006/main">
            <a:r>
              <a:t>proposed internal recognition, not an accredited certification or evidence of</a:t>
            </a:r>
            <a:endParaRPr/>
          </a:p>
          <a:p xmlns:a="http://schemas.openxmlformats.org/drawingml/2006/main">
            <a:r>
              <a:t>professional competence. No delivery or learning outcome is claimed here.</a:t>
            </a:r>
            <a:endParaRPr/>
          </a:p>
          <a:p xmlns:a="http://schemas.openxmlformats.org/drawingml/2006/main">
            <a:r>
              <a:t/>
            </a:r>
            <a:endParaRPr/>
          </a:p>
          <a:p xmlns:a="http://schemas.openxmlformats.org/drawingml/2006/main">
            <a:r>
              <a:t>Optional extension: Participants who complete a full use case spec and present it to the HR Technology team are recognized as **HR AI Champions**, an informal internal designation that supports peer enablement.</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Facilitator notes</a:t>
            </a:r>
            <a:endParaRPr/>
          </a:p>
          <a:p xmlns:a="http://schemas.openxmlformats.org/drawingml/2006/main">
            <a:r>
              <a:t/>
            </a:r>
            <a:endParaRPr/>
          </a:p>
          <a:p xmlns:a="http://schemas.openxmlformats.org/drawingml/2006/main">
            <a:r>
              <a:t>These are facilitation suggestions, not measured delivery findings. Use synthetic examples; removing names alone does not establish anonymity. Do not upload real employee, candidate, compensation, or employer-confidential information for a training exercise.</a:t>
            </a:r>
            <a:endParaRPr/>
          </a:p>
          <a:p xmlns:a="http://schemas.openxmlformats.org/drawingml/2006/main">
            <a:r>
              <a:t/>
            </a:r>
            <a:endParaRPr/>
          </a:p>
          <a:p xmlns:a="http://schemas.openxmlformats.org/drawingml/2006/main">
            <a:r>
              <a:t>- Budget flex time in Module 3 for questions and disagreement about risk.</a:t>
            </a:r>
            <a:endParaRPr/>
          </a:p>
          <a:p xmlns:a="http://schemas.openxmlformats.org/drawingml/2006/main">
            <a:r>
              <a:t>- Protect time for the Module 2 lab, and check whether participants can identify errors and verify outputs afterward.</a:t>
            </a:r>
            <a:endParaRPr/>
          </a:p>
          <a:p xmlns:a="http://schemas.openxmlformats.org/drawingml/2006/main">
            <a:r>
              <a:t>- Adapt synthetic scenarios to familiar workflows, without identifiable employee cases or confidential documents.</a:t>
            </a:r>
            <a:endParaRPr/>
          </a:p>
          <a:p xmlns:a="http://schemas.openxmlformats.org/drawingml/2006/main">
            <a:r>
              <a:t>- Keep an AI skeptic on the facilitation team if possible. The best discussions happen when the room has range.</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snapshot: 13 October 2026. Curriculum SHA-256: 5ee769258ac9b95a3c514b64dcd5b22215e40bac8621054ffb452bffc244827a. This deck summarizes the source; no human evaluation, delivery outcome or legal approval is claimed.</a:t>
            </a:r>
            <a:endParaRPr/>
          </a:p>
          <a:p xmlns:a="http://schemas.openxmlformats.org/drawingml/2006/main">
            <a:r>
              <a:t/>
            </a:r>
            <a:endParaRPr/>
          </a:p>
          <a:p xmlns:a="http://schemas.openxmlformats.org/drawingml/2006/main">
            <a:r>
              <a:t># HR AI literacy curriculum</a:t>
            </a:r>
            <a:endParaRPr/>
          </a:p>
          <a:p xmlns:a="http://schemas.openxmlformats.org/drawingml/2006/main">
            <a:r>
              <a:t/>
            </a:r>
            <a:endParaRPr/>
          </a:p>
          <a:p xmlns:a="http://schemas.openxmlformats.org/drawingml/2006/main">
            <a:r>
              <a:t>A 4-module learning program for HR professionals at all experience levels. Designed to be delivered as a facilitated series over 4–6 weeks, or adapted for self-paced completion.</a:t>
            </a:r>
            <a:endParaRPr/>
          </a:p>
          <a:p xmlns:a="http://schemas.openxmlformats.org/drawingml/2006/main">
            <a:r>
              <a:t/>
            </a:r>
            <a:endParaRPr/>
          </a:p>
          <a:p xmlns:a="http://schemas.openxmlformats.org/drawingml/2006/main">
            <a:r>
              <a:t>**Total time:** about 7 hours of sessions, plus async reading and hands-on practice (roughly 8 hours in all)</a:t>
            </a:r>
            <a:endParaRPr/>
          </a:p>
          <a:p xmlns:a="http://schemas.openxmlformats.org/drawingml/2006/main">
            <a:r>
              <a:t>**Format:** Workshop + async reading + hands-on practice</a:t>
            </a:r>
            <a:endParaRPr/>
          </a:p>
          <a:p xmlns:a="http://schemas.openxmlformats.org/drawingml/2006/main">
            <a:r>
              <a:t>**Audience:** All People Team members</a:t>
            </a:r>
            <a:endParaRPr/>
          </a:p>
          <a:p xmlns:a="http://schemas.openxmlformats.org/drawingml/2006/main">
            <a:r>
              <a:t>**Prerequisite:** None</a:t>
            </a:r>
            <a:endParaRPr/>
          </a:p>
          <a:p xmlns:a="http://schemas.openxmlformats.org/drawingml/2006/main">
            <a:r>
              <a:t/>
            </a:r>
            <a:endParaRPr/>
          </a:p>
          <a:p xmlns:a="http://schemas.openxmlformats.org/drawingml/2006/main">
            <a:r>
              <a:t>**Lab prerequisite:** The facilitator confirms an organization-approved tool,</a:t>
            </a:r>
            <a:endParaRPr/>
          </a:p>
          <a:p xmlns:a="http://schemas.openxmlformats.org/drawingml/2006/main">
            <a:r>
              <a:t>provider handling, and a synthetic-only data boundary before any exercise.</a:t>
            </a:r>
            <a:endParaRPr/>
          </a:p>
          <a:p xmlns:a="http://schemas.openxmlformats.org/drawingml/2006/main">
            <a:r>
              <a:t>Modules 1-3 and the required governance approvals precede any real-work pilot.</a:t>
            </a:r>
            <a:endParaRPr/>
          </a:p>
          <a:p xmlns:a="http://schemas.openxmlformats.org/drawingml/2006/main">
            <a:r>
              <a:t>This curriculum does not authorize employee-data processing.</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Program overview</a:t>
            </a:r>
            <a:endParaRPr/>
          </a:p>
          <a:p xmlns:a="http://schemas.openxmlformats.org/drawingml/2006/main">
            <a:r>
              <a:t/>
            </a:r>
            <a:endParaRPr/>
          </a:p>
          <a:p xmlns:a="http://schemas.openxmlformats.org/drawingml/2006/main">
            <a:r>
              <a:t>| Module | Title | Duration | Format |</a:t>
            </a:r>
            <a:endParaRPr/>
          </a:p>
          <a:p xmlns:a="http://schemas.openxmlformats.org/drawingml/2006/main">
            <a:r>
              <a:t>|---|---|---|---|</a:t>
            </a:r>
            <a:endParaRPr/>
          </a:p>
          <a:p xmlns:a="http://schemas.openxmlformats.org/drawingml/2006/main">
            <a:r>
              <a:t>| 1 | How AI works, what HR professionals actually need to know | 90 min | Workshop |</a:t>
            </a:r>
            <a:endParaRPr/>
          </a:p>
          <a:p xmlns:a="http://schemas.openxmlformats.org/drawingml/2006/main">
            <a:r>
              <a:t>| 2 | Using AI in your daily HR work | 2 hours | Workshop + lab |</a:t>
            </a:r>
            <a:endParaRPr/>
          </a:p>
          <a:p xmlns:a="http://schemas.openxmlformats.org/drawingml/2006/main">
            <a:r>
              <a:t>| 3 | Governance, ethics, and responsible use | 90 min | Workshop |</a:t>
            </a:r>
            <a:endParaRPr/>
          </a:p>
          <a:p xmlns:a="http://schemas.openxmlformats.org/drawingml/2006/main">
            <a:r>
              <a:t>| 4 | Building and scaling AI use cases | 2 hours | Workshop + project |</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1: How AI works, what HR professionals actually need to know</a:t>
            </a:r>
            <a:endParaRPr/>
          </a:p>
          <a:p xmlns:a="http://schemas.openxmlformats.org/drawingml/2006/main">
            <a:r>
              <a:t/>
            </a:r>
            <a:endParaRPr/>
          </a:p>
          <a:p xmlns:a="http://schemas.openxmlformats.org/drawingml/2006/main">
            <a:r>
              <a:t>**Learning objectives:**</a:t>
            </a:r>
            <a:endParaRPr/>
          </a:p>
          <a:p xmlns:a="http://schemas.openxmlformats.org/drawingml/2006/main">
            <a:r>
              <a:t>- Explain the difference between traditional automation and generative AI</a:t>
            </a:r>
            <a:endParaRPr/>
          </a:p>
          <a:p xmlns:a="http://schemas.openxmlformats.org/drawingml/2006/main">
            <a:r>
              <a:t>- Describe why AI "hallucinates" and how to mitigate it in HR contexts</a:t>
            </a:r>
            <a:endParaRPr/>
          </a:p>
          <a:p xmlns:a="http://schemas.openxmlformats.org/drawingml/2006/main">
            <a:r>
              <a:t>- Identify which HR tasks are good candidates for AI assistance and which are not</a:t>
            </a:r>
            <a:endParaRPr/>
          </a:p>
          <a:p xmlns:a="http://schemas.openxmlformats.org/drawingml/2006/main">
            <a:r>
              <a:t/>
            </a:r>
            <a:endParaRPr/>
          </a:p>
          <a:p xmlns:a="http://schemas.openxmlformats.org/drawingml/2006/main">
            <a:r>
              <a:t>**Session outline (90 minutes):**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0:00–0:10 | Opening: What do you already believe about AI? (quick poll + discussion) |</a:t>
            </a:r>
            <a:endParaRPr/>
          </a:p>
          <a:p xmlns:a="http://schemas.openxmlformats.org/drawingml/2006/main">
            <a:r>
              <a:t>| 0:10–0:30 | Concept: How LLMs work, without the jargon (facilitator presentation) |</a:t>
            </a:r>
            <a:endParaRPr/>
          </a:p>
          <a:p xmlns:a="http://schemas.openxmlformats.org/drawingml/2006/main">
            <a:r>
              <a:t>| 0:30–0:45 | Concept: Hallucination, confidence, and why AI makes things up |</a:t>
            </a:r>
            <a:endParaRPr/>
          </a:p>
          <a:p xmlns:a="http://schemas.openxmlformats.org/drawingml/2006/main">
            <a:r>
              <a:t>| 0:45–1:05 | Exercise: Spot the hallucination (participants identify errors in AI-generated HR content) |</a:t>
            </a:r>
            <a:endParaRPr/>
          </a:p>
          <a:p xmlns:a="http://schemas.openxmlformats.org/drawingml/2006/main">
            <a:r>
              <a:t>| 1:05–1:20 | Discussion: Where should HR use AI? Where should we be cautious? |</a:t>
            </a:r>
            <a:endParaRPr/>
          </a:p>
          <a:p xmlns:a="http://schemas.openxmlformats.org/drawingml/2006/main">
            <a:r>
              <a:t>| 1:20–1:30 | Wrap-up + homework: Try one AI tool before next session |</a:t>
            </a:r>
            <a:endParaRPr/>
          </a:p>
          <a:p xmlns:a="http://schemas.openxmlformats.org/drawingml/2006/main">
            <a:r>
              <a:t/>
            </a:r>
            <a:endParaRPr/>
          </a:p>
          <a:p xmlns:a="http://schemas.openxmlformats.org/drawingml/2006/main">
            <a:r>
              <a:t>**Key concepts to cover:**</a:t>
            </a:r>
            <a:endParaRPr/>
          </a:p>
          <a:p xmlns:a="http://schemas.openxmlformats.org/drawingml/2006/main">
            <a:r>
              <a:t/>
            </a:r>
            <a:endParaRPr/>
          </a:p>
          <a:p xmlns:a="http://schemas.openxmlformats.org/drawingml/2006/main">
            <a:r>
              <a:t>*What LLMs actually are:*</a:t>
            </a:r>
            <a:endParaRPr/>
          </a:p>
          <a:p xmlns:a="http://schemas.openxmlformats.org/drawingml/2006/main">
            <a:r>
              <a:t>Large language models predict the next most likely word given context. They don't "know" things the way a database knows things, they pattern-match against training data. This is why they can sound authoritative while being wrong.</a:t>
            </a:r>
            <a:endParaRPr/>
          </a:p>
          <a:p xmlns:a="http://schemas.openxmlformats.org/drawingml/2006/main">
            <a:r>
              <a:t/>
            </a:r>
            <a:endParaRPr/>
          </a:p>
          <a:p xmlns:a="http://schemas.openxmlformats.org/drawingml/2006/main">
            <a:r>
              <a:t>*The spectrum from rules to agents:*</a:t>
            </a:r>
            <a:endParaRPr/>
          </a:p>
          <a:p xmlns:a="http://schemas.openxmlformats.org/drawingml/2006/main">
            <a:r>
              <a:t>```</a:t>
            </a:r>
            <a:endParaRPr/>
          </a:p>
          <a:p xmlns:a="http://schemas.openxmlformats.org/drawingml/2006/main">
            <a:r>
              <a:t>Rules            →  Assist / Augment              →  Agent</a:t>
            </a:r>
            <a:endParaRPr/>
          </a:p>
          <a:p xmlns:a="http://schemas.openxmlformats.org/drawingml/2006/main">
            <a:r>
              <a:t>(deterministic)     (a person decides or owns)       (a model acts across several steps)</a:t>
            </a:r>
            <a:endParaRPr/>
          </a:p>
          <a:p xmlns:a="http://schemas.openxmlformats.org/drawingml/2006/main">
            <a:r>
              <a:t>```</a:t>
            </a:r>
            <a:endParaRPr/>
          </a:p>
          <a:p xmlns:a="http://schemas.openxmlformats.org/drawingml/2006/main">
            <a:r>
              <a:t>Use rules when rules reliably give the right answer. Most HR uses of AI belong in the middle. An agent, where a model takes several actions through tools with limited review between them, has to earn that autonomy through evidence and brings new governance requirements.</a:t>
            </a:r>
            <a:endParaRPr/>
          </a:p>
          <a:p xmlns:a="http://schemas.openxmlformats.org/drawingml/2006/main">
            <a:r>
              <a:t/>
            </a:r>
            <a:endParaRPr/>
          </a:p>
          <a:p xmlns:a="http://schemas.openxmlformats.org/drawingml/2006/main">
            <a:r>
              <a:t>*Prompt quality drives output quality:*</a:t>
            </a:r>
            <a:endParaRPr/>
          </a:p>
          <a:p xmlns:a="http://schemas.openxmlformats.org/drawingml/2006/main">
            <a:r>
              <a:t>Clear prompts help define a task and its boundaries. Output quality also depends on the model, source material, workflow controls, and verification. A well-written prompt does not establish factual accuracy or safe HR judgment.</a:t>
            </a:r>
            <a:endParaRPr/>
          </a:p>
          <a:p xmlns:a="http://schemas.openxmlformats.org/drawingml/2006/main">
            <a:r>
              <a:t/>
            </a:r>
            <a:endParaRPr/>
          </a:p>
          <a:p xmlns:a="http://schemas.openxmlformats.org/drawingml/2006/main">
            <a:r>
              <a:t>**Pre-reading (assign before session):**</a:t>
            </a:r>
            <a:endParaRPr/>
          </a:p>
          <a:p xmlns:a="http://schemas.openxmlformats.org/drawingml/2006/main">
            <a:r>
              <a:t>- [Your organization's AI use policy](../03-governance/ai-use-policy.md)</a:t>
            </a:r>
            <a:endParaRPr/>
          </a:p>
          <a:p xmlns:a="http://schemas.openxmlformats.org/drawingml/2006/main">
            <a:r>
              <a:t>- One-page primer on generative AI for non-technical audiences (create or source)</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2: Using AI in your daily HR work</a:t>
            </a:r>
            <a:endParaRPr/>
          </a:p>
          <a:p xmlns:a="http://schemas.openxmlformats.org/drawingml/2006/main">
            <a:r>
              <a:t/>
            </a:r>
            <a:endParaRPr/>
          </a:p>
          <a:p xmlns:a="http://schemas.openxmlformats.org/drawingml/2006/main">
            <a:r>
              <a:t>**Learning objectives:**</a:t>
            </a:r>
            <a:endParaRPr/>
          </a:p>
          <a:p xmlns:a="http://schemas.openxmlformats.org/drawingml/2006/main">
            <a:r>
              <a:t>- Write effective prompts for HR use cases</a:t>
            </a:r>
            <a:endParaRPr/>
          </a:p>
          <a:p xmlns:a="http://schemas.openxmlformats.org/drawingml/2006/main">
            <a:r>
              <a:t>- Use the prompt library for at least 3 HR workflows</a:t>
            </a:r>
            <a:endParaRPr/>
          </a:p>
          <a:p xmlns:a="http://schemas.openxmlformats.org/drawingml/2006/main">
            <a:r>
              <a:t>- Identify when to use AI, when to verify AI output, and when not to use it</a:t>
            </a:r>
            <a:endParaRPr/>
          </a:p>
          <a:p xmlns:a="http://schemas.openxmlformats.org/drawingml/2006/main">
            <a:r>
              <a:t/>
            </a:r>
            <a:endParaRPr/>
          </a:p>
          <a:p xmlns:a="http://schemas.openxmlformats.org/drawingml/2006/main">
            <a:r>
              <a:t>**Session outline (2 hours including lab):**</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Share-back from Module 1 homework, what did you try, what happened? |</a:t>
            </a:r>
            <a:endParaRPr/>
          </a:p>
          <a:p xmlns:a="http://schemas.openxmlformats.org/drawingml/2006/main">
            <a:r>
              <a:t>| 0:15–0:45 | Prompt engineering for HR: the four elements of a good prompt |</a:t>
            </a:r>
            <a:endParaRPr/>
          </a:p>
          <a:p xmlns:a="http://schemas.openxmlformats.org/drawingml/2006/main">
            <a:r>
              <a:t>| 0:45–1:10 | Live demo: Onboarding plan, performance review draft, policy Q&amp;A |</a:t>
            </a:r>
            <a:endParaRPr/>
          </a:p>
          <a:p xmlns:a="http://schemas.openxmlformats.org/drawingml/2006/main">
            <a:r>
              <a:t>| 1:10–1:50 | Hands-on lab: Each participant works through 2 prompts using synthetic HR scenarios in organization-approved tools |</a:t>
            </a:r>
            <a:endParaRPr/>
          </a:p>
          <a:p xmlns:a="http://schemas.openxmlformats.org/drawingml/2006/main">
            <a:r>
              <a:t>| 1:50–2:00 | Debrief: What surprised you? What didn't work? |</a:t>
            </a:r>
            <a:endParaRPr/>
          </a:p>
          <a:p xmlns:a="http://schemas.openxmlformats.org/drawingml/2006/main">
            <a:r>
              <a:t/>
            </a:r>
            <a:endParaRPr/>
          </a:p>
          <a:p xmlns:a="http://schemas.openxmlformats.org/drawingml/2006/main">
            <a:r>
              <a:t>**The four elements of an effective HR prompt:**</a:t>
            </a:r>
            <a:endParaRPr/>
          </a:p>
          <a:p xmlns:a="http://schemas.openxmlformats.org/drawingml/2006/main">
            <a:r>
              <a:t/>
            </a:r>
            <a:endParaRPr/>
          </a:p>
          <a:p xmlns:a="http://schemas.openxmlformats.org/drawingml/2006/main">
            <a:r>
              <a:t>1. **Role**: Define the task perspective, such as drafting support for an HRBP. A role instruction does not give the model professional authority.</a:t>
            </a:r>
            <a:endParaRPr/>
          </a:p>
          <a:p xmlns:a="http://schemas.openxmlformats.org/drawingml/2006/main">
            <a:r>
              <a:t/>
            </a:r>
            <a:endParaRPr/>
          </a:p>
          <a:p xmlns:a="http://schemas.openxmlformats.org/drawingml/2006/main">
            <a:r>
              <a:t>2. **Context**: Provide the specific details the AI needs. Role, tenure, team size, situation. Don't make the AI guess.</a:t>
            </a:r>
            <a:endParaRPr/>
          </a:p>
          <a:p xmlns:a="http://schemas.openxmlformats.org/drawingml/2006/main">
            <a:r>
              <a:t/>
            </a:r>
            <a:endParaRPr/>
          </a:p>
          <a:p xmlns:a="http://schemas.openxmlformats.org/drawingml/2006/main">
            <a:r>
              <a:t>3. **Task**: State clearly what you want it to produce. One output per prompt. "Draft a..." is clearer than "Help me with..."</a:t>
            </a:r>
            <a:endParaRPr/>
          </a:p>
          <a:p xmlns:a="http://schemas.openxmlformats.org/drawingml/2006/main">
            <a:r>
              <a:t/>
            </a:r>
            <a:endParaRPr/>
          </a:p>
          <a:p xmlns:a="http://schemas.openxmlformats.org/drawingml/2006/main">
            <a:r>
              <a:t>4. **Constraints**: Define length, tone, format, exclusions, and the verification needed. Check whether the output follows them.</a:t>
            </a:r>
            <a:endParaRPr/>
          </a:p>
          <a:p xmlns:a="http://schemas.openxmlformats.org/drawingml/2006/main">
            <a:r>
              <a:t/>
            </a:r>
            <a:endParaRPr/>
          </a:p>
          <a:p xmlns:a="http://schemas.openxmlformats.org/drawingml/2006/main">
            <a:r>
              <a:t>**Lab instructions:**</a:t>
            </a:r>
            <a:endParaRPr/>
          </a:p>
          <a:p xmlns:a="http://schemas.openxmlformats.org/drawingml/2006/main">
            <a:r>
              <a:t/>
            </a:r>
            <a:endParaRPr/>
          </a:p>
          <a:p xmlns:a="http://schemas.openxmlformats.org/drawingml/2006/main">
            <a:r>
              <a:t>Participants choose 2 prompts from the library that are relevant to their current work:</a:t>
            </a:r>
            <a:endParaRPr/>
          </a:p>
          <a:p xmlns:a="http://schemas.openxmlformats.org/drawingml/2006/main">
            <a:r>
              <a:t>1. Run the prompt with a fictional HR scenario in an organization-approved tool. Do not upload real employee, candidate, compensation, or confidential employer information.</a:t>
            </a:r>
            <a:endParaRPr/>
          </a:p>
          <a:p xmlns:a="http://schemas.openxmlformats.org/drawingml/2006/main">
            <a:r>
              <a:t>2. Evaluate the output: What's useful? What's wrong or missing? What would you change before using it?</a:t>
            </a:r>
            <a:endParaRPr/>
          </a:p>
          <a:p xmlns:a="http://schemas.openxmlformats.org/drawingml/2006/main">
            <a:r>
              <a:t>3. Iterate: Modify the prompt once based on what you learned and run it again</a:t>
            </a:r>
            <a:endParaRPr/>
          </a:p>
          <a:p xmlns:a="http://schemas.openxmlformats.org/drawingml/2006/main">
            <a:r>
              <a:t>4. Note: What changed between run 1 and run 2?</a:t>
            </a:r>
            <a:endParaRPr/>
          </a:p>
          <a:p xmlns:a="http://schemas.openxmlformats.org/drawingml/2006/main">
            <a:r>
              <a:t/>
            </a:r>
            <a:endParaRPr/>
          </a:p>
          <a:p xmlns:a="http://schemas.openxmlformats.org/drawingml/2006/main">
            <a:r>
              <a:t>**The verify-before-use rule:**</a:t>
            </a:r>
            <a:endParaRPr/>
          </a:p>
          <a:p xmlns:a="http://schemas.openxmlformats.org/drawingml/2006/main">
            <a:r>
              <a:t/>
            </a:r>
            <a:endParaRPr/>
          </a:p>
          <a:p xmlns:a="http://schemas.openxmlformats.org/drawingml/2006/main">
            <a:r>
              <a:t>Introduce and reinforce this heuristic:</a:t>
            </a:r>
            <a:endParaRPr/>
          </a:p>
          <a:p xmlns:a="http://schemas.openxmlformats.org/drawingml/2006/main">
            <a:r>
              <a:t>- Policy details → always verify against source system before sharing</a:t>
            </a:r>
            <a:endParaRPr/>
          </a:p>
          <a:p xmlns:a="http://schemas.openxmlformats.org/drawingml/2006/main">
            <a:r>
              <a:t>- Legal requirements → always verify with Legal before relying on</a:t>
            </a:r>
            <a:endParaRPr/>
          </a:p>
          <a:p xmlns:a="http://schemas.openxmlformats.org/drawingml/2006/main">
            <a:r>
              <a:t>- Factual claims → spot-check against a known source</a:t>
            </a:r>
            <a:endParaRPr/>
          </a:p>
          <a:p xmlns:a="http://schemas.openxmlformats.org/drawingml/2006/main">
            <a:r>
              <a:t>- Tone and content → always read before sending; AI doesn't know your audience</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3: Governance, ethics, and responsible use</a:t>
            </a:r>
            <a:endParaRPr/>
          </a:p>
          <a:p xmlns:a="http://schemas.openxmlformats.org/drawingml/2006/main">
            <a:r>
              <a:t/>
            </a:r>
            <a:endParaRPr/>
          </a:p>
          <a:p xmlns:a="http://schemas.openxmlformats.org/drawingml/2006/main">
            <a:r>
              <a:t>**Learning objectives:**</a:t>
            </a:r>
            <a:endParaRPr/>
          </a:p>
          <a:p xmlns:a="http://schemas.openxmlformats.org/drawingml/2006/main">
            <a:r>
              <a:t>- Apply the organization's AI use policy to real HR scenarios</a:t>
            </a:r>
            <a:endParaRPr/>
          </a:p>
          <a:p xmlns:a="http://schemas.openxmlformats.org/drawingml/2006/main">
            <a:r>
              <a:t>- Identify the key legal risk areas in HR AI (bias, privacy, employment law)</a:t>
            </a:r>
            <a:endParaRPr/>
          </a:p>
          <a:p xmlns:a="http://schemas.openxmlformats.org/drawingml/2006/main">
            <a:r>
              <a:t>- Complete a basic risk assessment for a new use case</a:t>
            </a:r>
            <a:endParaRPr/>
          </a:p>
          <a:p xmlns:a="http://schemas.openxmlformats.org/drawingml/2006/main">
            <a:r>
              <a:t/>
            </a:r>
            <a:endParaRPr/>
          </a:p>
          <a:p xmlns:a="http://schemas.openxmlformats.org/drawingml/2006/main">
            <a:r>
              <a:t>**Session outline (90 minutes):**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Case study: Three HR AI failures and what we can learn (discussion) |</a:t>
            </a:r>
            <a:endParaRPr/>
          </a:p>
          <a:p xmlns:a="http://schemas.openxmlformats.org/drawingml/2006/main">
            <a:r>
              <a:t>| 0:15–0:40 | Framework: What makes AI use in HR risky? Legal and ethical dimensions |</a:t>
            </a:r>
            <a:endParaRPr/>
          </a:p>
          <a:p xmlns:a="http://schemas.openxmlformats.org/drawingml/2006/main">
            <a:r>
              <a:t>| 0:40–1:00 | Scenario practice: Is this use case okay? (small groups, 4 scenarios) |</a:t>
            </a:r>
            <a:endParaRPr/>
          </a:p>
          <a:p xmlns:a="http://schemas.openxmlformats.org/drawingml/2006/main">
            <a:r>
              <a:t>| 1:00–1:20 | Walk-through: The risk assessment template |</a:t>
            </a:r>
            <a:endParaRPr/>
          </a:p>
          <a:p xmlns:a="http://schemas.openxmlformats.org/drawingml/2006/main">
            <a:r>
              <a:t>| 1:20–1:30 | Q&amp;A + open discussion |</a:t>
            </a:r>
            <a:endParaRPr/>
          </a:p>
          <a:p xmlns:a="http://schemas.openxmlformats.org/drawingml/2006/main">
            <a:r>
              <a:t/>
            </a:r>
            <a:endParaRPr/>
          </a:p>
          <a:p xmlns:a="http://schemas.openxmlformats.org/drawingml/2006/main">
            <a:r>
              <a:t>&gt; **Note on regulatory currency:** Use the [Key dates for HR](../03-governance/README.md#key-dates-for-hr) and its linked primary sources as the dated reference. The slides summarize risk questions; they are not a complete legal reference. Have Legal verify jurisdiction, scope, obligations, and effective dates before delivery or adoption.</a:t>
            </a:r>
            <a:endParaRPr/>
          </a:p>
          <a:p xmlns:a="http://schemas.openxmlformats.org/drawingml/2006/main">
            <a:r>
              <a:t/>
            </a:r>
            <a:endParaRPr/>
          </a:p>
          <a:p xmlns:a="http://schemas.openxmlformats.org/drawingml/2006/main">
            <a:r>
              <a:t>**Key legal risk areas to cover:**</a:t>
            </a:r>
            <a:endParaRPr/>
          </a:p>
          <a:p xmlns:a="http://schemas.openxmlformats.org/drawingml/2006/main">
            <a:r>
              <a:t/>
            </a:r>
            <a:endParaRPr/>
          </a:p>
          <a:p xmlns:a="http://schemas.openxmlformats.org/drawingml/2006/main">
            <a:r>
              <a:t>*Bias and disparate impact:*</a:t>
            </a:r>
            <a:endParaRPr/>
          </a:p>
          <a:p xmlns:a="http://schemas.openxmlformats.org/drawingml/2006/main">
            <a:r>
              <a:t>AI trained on historical HR data can encode and amplify past discrimination. A history in which 80% of engineering hires were male is a reason to examine labels, features, selection effects, and group outcomes; that proportion alone does not determine how a model will score resumes. Adverse impact testing is a core control. It is required by law in some jurisdictions (NYC Local Law 144 mandates an annual bias audit for covered tools) and expected as evidence of reasonable care in many others. Confirm the cadence with Legal. See the [NIST AI RMF](https://www.nist.gov/itl/ai-risk-management-framework).</a:t>
            </a:r>
            <a:endParaRPr/>
          </a:p>
          <a:p xmlns:a="http://schemas.openxmlformats.org/drawingml/2006/main">
            <a:r>
              <a:t/>
            </a:r>
            <a:endParaRPr/>
          </a:p>
          <a:p xmlns:a="http://schemas.openxmlformats.org/drawingml/2006/main">
            <a:r>
              <a:t>*Illinois AI Video Interview Act, NYC Local Law 144, and emerging state laws:*</a:t>
            </a:r>
            <a:endParaRPr/>
          </a:p>
          <a:p xmlns:a="http://schemas.openxmlformats.org/drawingml/2006/main">
            <a:r>
              <a:t>Several jurisdictions now require disclosure, impact assessments, or consent for AI use in hiring. Illinois's AI Video Interview Act ([820 ILCS 42](https://www.ilga.gov/Legislation/ILCS/Articles?ActID=4015&amp;ChapterID=68)) governs AI analysis of recorded video interviews, including notice and consent before the interview. Confirm its current requirements against the statute before relying on them. Illinois also amended its Human Rights Act via HB 3773 (effective January 1, 2026) to broadly prohibit discriminatory AI use in hiring and promotion, not just video interviews. A companion law, Public Act 104-0425 (SB 2487, effective January 1, 2026), gives the Human Rights Commission tiered civil penalty authority for violations: up to $16,000 for a first offense, up to $42,500 with one prior violation within five years, up to $70,000 for two or more within seven years. The regulatory landscape is shifting quickly. Use cases involving hiring must be reviewed against current state law.</a:t>
            </a:r>
            <a:endParaRPr/>
          </a:p>
          <a:p xmlns:a="http://schemas.openxmlformats.org/drawingml/2006/main">
            <a:r>
              <a:t/>
            </a:r>
            <a:endParaRPr/>
          </a:p>
          <a:p xmlns:a="http://schemas.openxmlformats.org/drawingml/2006/main">
            <a:r>
              <a:t>NYC Local Law 144 enforcement is entering a stricter phase. A December 2025 NY State Comptroller audit found DCWP's enforcement "ineffective": DCWP's own review of 32 companies' bias-audit disclosures caught 1 likely non-compliance issue, where the Comptroller's review of the same 32 found at least 17. Expect more investigations and higher penalties as DCWP responds to the audit's recommendations, not just the disclosure-and-audit paperwork the law describes on paper.</a:t>
            </a:r>
            <a:endParaRPr/>
          </a:p>
          <a:p xmlns:a="http://schemas.openxmlformats.org/drawingml/2006/main">
            <a:r>
              <a:t/>
            </a:r>
            <a:endParaRPr/>
          </a:p>
          <a:p xmlns:a="http://schemas.openxmlformats.org/drawingml/2006/main">
            <a:r>
              <a:t>*Colorado's Automated Decision-Making Technology Act:*</a:t>
            </a:r>
            <a:endParaRPr/>
          </a:p>
          <a:p xmlns:a="http://schemas.openxmlformats.org/drawingml/2006/main">
            <a:r>
              <a:t>Colorado SB26-189 (signed 14 May 2026, Colo. Sess. Laws ch. 131) repeals and replaces the state's 2024 AI consumer protection law. It covers "consequential decisions," including employment, made using automated decision-making technology (ADMT) that materially influences the outcome. Starting January 1, 2027, developers must give deployers technical documentation on intended use, training data categories, known limitations, and human review instructions. Deployers will owe consumers notice at the point of interaction, and within 30 days of any adverse consequential decision, a plain-language explanation plus the right to request human review and reconsideration. Records must be retained 3 years. The attorney general enforces under the Colorado Consumer Protection Act, with a 60-day cure period through January 1, 2030.</a:t>
            </a:r>
            <a:endParaRPr/>
          </a:p>
          <a:p xmlns:a="http://schemas.openxmlformats.org/drawingml/2006/main">
            <a:r>
              <a:t/>
            </a:r>
            <a:endParaRPr/>
          </a:p>
          <a:p xmlns:a="http://schemas.openxmlformats.org/drawingml/2006/main">
            <a:r>
              <a:t>*Connecticut: AI Responsibility and Transparency Act (Public Act 26-15):*</a:t>
            </a:r>
            <a:endParaRPr/>
          </a:p>
          <a:p xmlns:a="http://schemas.openxmlformats.org/drawingml/2006/main">
            <a:r>
              <a:t>Connecticut's SB 5 became Public Act 26-15 in June 2026. It is the most comprehensive state AI employment statute enacted so far, and it phases in across two years. Read the dates carefully, because the parts that bite first are not the disclosure rules.</a:t>
            </a:r>
            <a:endParaRPr/>
          </a:p>
          <a:p xmlns:a="http://schemas.openxmlformats.org/drawingml/2006/main">
            <a:r>
              <a:t/>
            </a:r>
            <a:endParaRPr/>
          </a:p>
          <a:p xmlns:a="http://schemas.openxmlformats.org/drawingml/2006/main">
            <a:r>
              <a:t>Live October 1, 2026:</a:t>
            </a:r>
            <a:endParaRPr/>
          </a:p>
          <a:p xmlns:a="http://schemas.openxmlformats.org/drawingml/2006/main">
            <a:r>
              <a:t/>
            </a:r>
            <a:endParaRPr/>
          </a:p>
          <a:p xmlns:a="http://schemas.openxmlformats.org/drawingml/2006/main">
            <a:r>
              <a:t>- **AI is not a defense.** Sections 13 and 14 amend Conn. Gen. Stat. 46a-60 so that using an automated employment-related decision technology is not a defense against a discrimination complaint. The commission or court may consider the quality, efficacy, recency, and scope of anti-bias testing, its results, and the employer's response. This does not establish that a stale audit is always worse than no audit, or that testing guarantees a favorable legal outcome. Preserve the testing evidence and corrective actions for counsel review. Source: [Public Act 26-15](https://www.cga.ct.gov/2026/ACT/PA/PDF/2026PA-00015-R00SB-00005-PA.PDF).</a:t>
            </a:r>
            <a:endParaRPr/>
          </a:p>
          <a:p xmlns:a="http://schemas.openxmlformats.org/drawingml/2006/main">
            <a:r>
              <a:t>- **WARN notices.** Section 26 requires any employer serving a federal WARN notice under 29 USC 2102(a) to disclose to the Connecticut Labor Department whether the layoffs relate to the employer's use of AI or other technological change. Note the disclosure runs to the department, not to affected employees.</a:t>
            </a:r>
            <a:endParaRPr/>
          </a:p>
          <a:p xmlns:a="http://schemas.openxmlformats.org/drawingml/2006/main">
            <a:r>
              <a:t/>
            </a:r>
            <a:endParaRPr/>
          </a:p>
          <a:p xmlns:a="http://schemas.openxmlformats.org/drawingml/2006/main">
            <a:r>
              <a:t>Live October 1, 2027 (sections 7 to 12 take effect in 2026, but the duties attach only to technology deployed on or after October 1, 2027):</a:t>
            </a:r>
            <a:endParaRPr/>
          </a:p>
          <a:p xmlns:a="http://schemas.openxmlformats.org/drawingml/2006/main">
            <a:r>
              <a:t/>
            </a:r>
            <a:endParaRPr/>
          </a:p>
          <a:p xmlns:a="http://schemas.openxmlformats.org/drawingml/2006/main">
            <a:r>
              <a:t>- Scope is set by "substantial factor," defined as a factor that meaningfully alters the outcome of an employment-related decision. Covered decisions are hiring, promotion, discipline, discharge, renewal, selection for training or apprenticeship, and terms, privileges or conditions of employment. Carved out: nonmaterial changes to job tasks or hours, and decisions about workplace health and safety, scheduling, and productivity monitoring.</a:t>
            </a:r>
            <a:endParaRPr/>
          </a:p>
          <a:p xmlns:a="http://schemas.openxmlformats.org/drawingml/2006/main">
            <a:r>
              <a:t>- Developers must give deployers the information deployers need to meet their duties, but only where the tool was advertised, marketed, configured, contracted for, sold, or licensed to materially influence an employment decision.</a:t>
            </a:r>
            <a:endParaRPr/>
          </a:p>
          <a:p xmlns:a="http://schemas.openxmlformats.org/drawingml/2006/main">
            <a:r>
              <a:t>- Deployers must disclose in plain language when an employee or applicant is interacting with the technology, unless a reasonable person would find it obvious.</a:t>
            </a:r>
            <a:endParaRPr/>
          </a:p>
          <a:p xmlns:a="http://schemas.openxmlformats.org/drawingml/2006/main">
            <a:r>
              <a:t>- Before the decision is made, deployers must give written notice covering six specific points: that the technology was deployed, its purpose and the nature of the decision, the tool's trade name, the categories of personal data analyzed and how they will be assessed, the sources of that data, and deployer contact information.</a:t>
            </a:r>
            <a:endParaRPr/>
          </a:p>
          <a:p xmlns:a="http://schemas.openxmlformats.org/drawingml/2006/main">
            <a:r>
              <a:t>- Trade secrets can be withheld, but the withholding party must send notice saying what is being withheld and why.</a:t>
            </a:r>
            <a:endParaRPr/>
          </a:p>
          <a:p xmlns:a="http://schemas.openxmlformats.org/drawingml/2006/main">
            <a:r>
              <a:t/>
            </a:r>
            <a:endParaRPr/>
          </a:p>
          <a:p xmlns:a="http://schemas.openxmlformats.org/drawingml/2006/main">
            <a:r>
              <a:t>Enforcement is narrower than the obligations suggest: violations are unfair or deceptive trade practices under CUTPA, enforced **solely by the Attorney General**, with an explicit statement that the act creates **no private right of action**. Violations occurring on or before December 31, 2027 carry a 60-day cure period.</a:t>
            </a:r>
            <a:endParaRPr/>
          </a:p>
          <a:p xmlns:a="http://schemas.openxmlformats.org/drawingml/2006/main">
            <a:r>
              <a:t/>
            </a:r>
            <a:endParaRPr/>
          </a:p>
          <a:p xmlns:a="http://schemas.openxmlformats.org/drawingml/2006/main">
            <a:r>
              <a:t>One provision to catch in procurement: Section 8(c) lets a developer contract to assume the deployer's disclosure and notice duties, provided the contract is explicit about which duties transfer. That is a negotiating lever worth asking every vendor about. See the [vendor intake checklist](../03-governance/vendor-intake-checklist.md).</a:t>
            </a:r>
            <a:endParaRPr/>
          </a:p>
          <a:p xmlns:a="http://schemas.openxmlformats.org/drawingml/2006/main">
            <a:r>
              <a:t/>
            </a:r>
            <a:endParaRPr/>
          </a:p>
          <a:p xmlns:a="http://schemas.openxmlformats.org/drawingml/2006/main">
            <a:r>
              <a:t>*California: FEHA algorithmic discrimination rules and CPPA ADMT regulations:*</a:t>
            </a:r>
            <a:endParaRPr/>
          </a:p>
          <a:p xmlns:a="http://schemas.openxmlformats.org/drawingml/2006/main">
            <a:r>
              <a:t>The Civil Rights Council's FEHA regulations on automated decision systems took effect October 1, 2025: they prohibit AI-driven disparate treatment or disparate impact in employment decisions, require four years of recordkeeping, and hold employers liable for discriminatory outcomes even when the tool comes from a third-party vendor. Separately, the [CPPA regulation package](https://cppa.ca.gov/announcements/2025/20250923.html) took effect January 1, 2026. Covered businesses must begin risk-assessment compliance in 2026; ADMT notice and consumer-rights compliance begins January 1, 2027. These dates govern different duties. Review the [final regulations](https://cppa.ca.gov/regulations/ccpa_updates.html) for scope, opt-out exceptions, appeal conditions, and transition rules for processing already underway.</a:t>
            </a:r>
            <a:endParaRPr/>
          </a:p>
          <a:p xmlns:a="http://schemas.openxmlformats.org/drawingml/2006/main">
            <a:r>
              <a:t/>
            </a:r>
            <a:endParaRPr/>
          </a:p>
          <a:p xmlns:a="http://schemas.openxmlformats.org/drawingml/2006/main">
            <a:r>
              <a:t>Four California workplace bills were approved and chaptered on 30 September 2026. All four are enacted law, with obligations beginning in 2027. The chaptered texts were reviewed on 9 October 2026. AB 1883, SB 951, and AB 1331 take effect on 1 January 2027 under [California Constitution Article IV, section 8(c)(1)](https://leginfo.legislature.ca.gov/faces/codes_displayText.xhtml?lawCode=CONS&amp;division=&amp;title=&amp;part=&amp;chapter=&amp;article=IV); none contains an urgency clause or a later operative-date provision. SB 947 takes effect on that date but expressly makes its new Labor Code part operative on 1 July 2027. See the [source register](../03-governance/claims/california-workplace-laws.json) and the [Governor's signing announcement](https://www.gov.ca.gov/2026/09/30/californias-nation-leading-ai-framework-just-got-stronger-governor-newsom-signs-more-first-in-the-nation-worker-protections-and-more/).</a:t>
            </a:r>
            <a:endParaRPr/>
          </a:p>
          <a:p xmlns:a="http://schemas.openxmlformats.org/drawingml/2006/main">
            <a:r>
              <a:t/>
            </a:r>
            <a:endParaRPr/>
          </a:p>
          <a:p xmlns:a="http://schemas.openxmlformats.org/drawingml/2006/main">
            <a:r>
              <a:t>- **[AB 1883](https://leginfo.legislature.ca.gov/faces/billNavClient.xhtml?bill_id=202520260AB1883)** (workplace surveillance tools, Chapter 853, Statutes of 2026) adds Labor Code Part 5.8 to bar employers from using AI-driven surveillance tools to recognize or infer an employee's emotional state, or to collect neural data, meaning data measured from the central or peripheral nervous system and not inferred from nonneural information. Safety uses are preserved, and there is a narrow carve-out for federally mandated aerospace and national security work. Enforcement runs through the Labor Commissioner or a public prosecutor, with penalties up to $500 per violation. It was enrolled on 3 September 2026 and approved by the Governor on 30 September 2026. Some published summaries report 3 September as the signing date; that is the enrollment date.</a:t>
            </a:r>
            <a:endParaRPr/>
          </a:p>
          <a:p xmlns:a="http://schemas.openxmlformats.org/drawingml/2006/main">
            <a:r>
              <a:t>- **[SB 947](https://leginfo.legislature.ca.gov/faces/billTextClient.xhtml?bill_id=202520260SB947)** (the "No Robo Bosses Act," Chapter 859, Statutes of 2026) is **operative 1 July 2027**, under new Labor Code section 1526.7. It bars sole reliance on an ADS for discipline or termination. Primary reliance requires human corroboration and written post-use notice when the decision is communicated. If corroboration fails, or the reviewer finds the output inaccurate, incomplete, or misleading, the employer must not use that output for the decision. The employee may request a meaningful description of their own data used by the ADS. Check the collective bargaining and federal-operation exceptions in sections 1526.5 and 1526.6.</a:t>
            </a:r>
            <a:endParaRPr/>
          </a:p>
          <a:p xmlns:a="http://schemas.openxmlformats.org/drawingml/2006/main">
            <a:r>
              <a:t>- **[SB 951](https://leginfo.legislature.ca.gov/faces/billTextClient.xhtml?bill_id=202520260SB951)** (Chapter 860, Statutes of 2026), **effective 1 January 2027**, adds technology-displacement information to an otherwise required Cal/WARN notice when AI or automation causes the event wholly or substantially. New Labor Code section 1401(d) requires affected jobs and locations, functions being automated, the technology category, and a technology-displacement heading. It retains the existing 60-day notice period. It does not enact the earlier proposal for a 90-day notice or an employer hiring-freeze notice; section 1402.7 instead requires an EDD study by 1 January 2028. Assess Cal/WARN coverage and exceptions before applying the notice requirement.</a:t>
            </a:r>
            <a:endParaRPr/>
          </a:p>
          <a:p xmlns:a="http://schemas.openxmlformats.org/drawingml/2006/main">
            <a:r>
              <a:t>- **[AB 1331](https://leginfo.legislature.ca.gov/faces/billTextClient.xhtml?bill_id=202520260AB1331)** (Chapter 851, Statutes of 2026), **effective 1 January 2027**, limits workplace bathroom surveillance and lets employees leave surveillance tools behind when entering a bathroom. New Labor Code section 1561 includes exceptions for court orders, one-time entry/exit checks, voluntary possession, and certain identification or safety devices. The tool definition reaches beyond AI. Review the full exceptions in sections 1561, 1564, and 1565 before changing monitoring practices.</a:t>
            </a:r>
            <a:endParaRPr/>
          </a:p>
          <a:p xmlns:a="http://schemas.openxmlformats.org/drawingml/2006/main">
            <a:r>
              <a:t/>
            </a:r>
            <a:endParaRPr/>
          </a:p>
          <a:p xmlns:a="http://schemas.openxmlformats.org/drawingml/2006/main">
            <a:r>
              <a:t>*Texas: Responsible AI Governance Act (TRAIGA):*</a:t>
            </a:r>
            <a:endParaRPr/>
          </a:p>
          <a:p xmlns:a="http://schemas.openxmlformats.org/drawingml/2006/main">
            <a:r>
              <a:t>Effective January 1, 2026 (HB 149, signed June 22, 2025). Narrower than Illinois or Colorado: TRAIGA prohibits intentional AI-based discrimination but does not create disparate impact liability, and the Attorney General has exclusive enforcement authority with a 60-day cure period before action.</a:t>
            </a:r>
            <a:endParaRPr/>
          </a:p>
          <a:p xmlns:a="http://schemas.openxmlformats.org/drawingml/2006/main">
            <a:r>
              <a:t/>
            </a:r>
            <a:endParaRPr/>
          </a:p>
          <a:p xmlns:a="http://schemas.openxmlformats.org/drawingml/2006/main">
            <a:r>
              <a:t>*New Jersey: no AI statute, but existing discrimination law already reaches AI:*</a:t>
            </a:r>
            <a:endParaRPr/>
          </a:p>
          <a:p xmlns:a="http://schemas.openxmlformats.org/drawingml/2006/main">
            <a:r>
              <a:t>New Jersey is the case that breaks the habit of scanning for AI-specific bills. It has no AI hiring statute. In January 2025 the Office of the Attorney General and the Division on Civil Rights issued guidance stating that the Law Against Discrimination (N.J.S.A. 10:5-1 et seq.) applies to algorithmic discrimination the same way it has long applied to other discriminatory conduct, in employment among other contexts. Three points matter for HR practice:</a:t>
            </a:r>
            <a:endParaRPr/>
          </a:p>
          <a:p xmlns:a="http://schemas.openxmlformats.org/drawingml/2006/main">
            <a:r>
              <a:t/>
            </a:r>
            <a:endParaRPr/>
          </a:p>
          <a:p xmlns:a="http://schemas.openxmlformats.org/drawingml/2006/main">
            <a:r>
              <a:t>- **No intent required, and a vendor tool is not a defense.** The guidance states that a covered entity "is not shielded from liability for algorithmic discrimination that results from the entity's use of an automated decision-making tool simply because the tool was developed by a third party or because the entity does not understand the inner workings of the tool."</a:t>
            </a:r>
            <a:endParaRPr/>
          </a:p>
          <a:p xmlns:a="http://schemas.openxmlformats.org/drawingml/2006/main">
            <a:r>
              <a:t>- **Disparate impact is covered.** Use of a tool with a disproportionate effect on a protected class is prohibited unless it is necessary to achieve a substantial, legitimate, nondiscriminatory interest and there is no less discriminatory alternative. Whether the employer tested the tool for bias or evaluated alternatives may be weighed as relevant evidence, which is the same pattern as Connecticut: your fairness audit becomes evidence.</a:t>
            </a:r>
            <a:endParaRPr/>
          </a:p>
          <a:p xmlns:a="http://schemas.openxmlformats.org/drawingml/2006/main">
            <a:r>
              <a:t>- **Reasonable accommodations are in scope.** A tool can violate the LAD by being inaccessible or by penalizing someone who uses an accommodation. The guidance's example is a typing-speed screen that cannot read a non-traditional keyboard.</a:t>
            </a:r>
            <a:endParaRPr/>
          </a:p>
          <a:p xmlns:a="http://schemas.openxmlformats.org/drawingml/2006/main">
            <a:r>
              <a:t/>
            </a:r>
            <a:endParaRPr/>
          </a:p>
          <a:p xmlns:a="http://schemas.openxmlformats.org/drawingml/2006/main">
            <a:r>
              <a:t>Two limits to state accurately when you teach this. The guidance is interpretive: it says on its face that it imposes no requirements beyond the LAD and will not be enforced as a substitute for enforcing the LAD. And it carries no effective date, because the underlying statute has been in force for decades. Do not present it as a new obligation that switched on in 2025. The takeaway for the class is the general one: a state with no AI bill is not a state with no AI exposure.</a:t>
            </a:r>
            <a:endParaRPr/>
          </a:p>
          <a:p xmlns:a="http://schemas.openxmlformats.org/drawingml/2006/main">
            <a:r>
              <a:t/>
            </a:r>
            <a:endParaRPr/>
          </a:p>
          <a:p xmlns:a="http://schemas.openxmlformats.org/drawingml/2006/main">
            <a:r>
              <a:t>*GDPR and CCPA:*</a:t>
            </a:r>
            <a:endParaRPr/>
          </a:p>
          <a:p xmlns:a="http://schemas.openxmlformats.org/drawingml/2006/main">
            <a:r>
              <a:t>Employees in covered jurisdictions have rights regarding automated decision-making. Know which of your employees are covered and how your AI use cases interact with their rights. See the California-specific rules above for the current state of play there.</a:t>
            </a:r>
            <a:endParaRPr/>
          </a:p>
          <a:p xmlns:a="http://schemas.openxmlformats.org/drawingml/2006/main">
            <a:r>
              <a:t/>
            </a:r>
            <a:endParaRPr/>
          </a:p>
          <a:p xmlns:a="http://schemas.openxmlformats.org/drawingml/2006/main">
            <a:r>
              <a:t>*UK: Data (Use and Access) Act 2025 replaces GDPR Article 22:*</a:t>
            </a:r>
            <a:endParaRPr/>
          </a:p>
          <a:p xmlns:a="http://schemas.openxmlformats.org/drawingml/2006/main">
            <a:r>
              <a:t>Section 80 of the UK's Data (Use and Access) Act 2025 took effect February 5, 2026 (Commencement Regulations SI 2026/82) and substitutes Article 22 of the UK GDPR with new Articles 22A to 22D. The new regime permits solely automated "significant decisions," those with a legal or similarly significant effect, more broadly than before, but requires safeguards: notice to the individual, the ability to make representations, the right to human intervention, and the right to contest the decision. Stricter restrictions still apply where special category data is used. Treat this as a distinct regime from EU GDPR Article 22, not an equivalent, for any AI use case touching UK-based workers or candidates.</a:t>
            </a:r>
            <a:endParaRPr/>
          </a:p>
          <a:p xmlns:a="http://schemas.openxmlformats.org/drawingml/2006/main">
            <a:r>
              <a:t/>
            </a:r>
            <a:endParaRPr/>
          </a:p>
          <a:p xmlns:a="http://schemas.openxmlformats.org/drawingml/2006/main">
            <a:r>
              <a:t>The ICO is already signaling how it will police this in recruitment specifically. A March 2026 ICO report on automated decision-making in hiring found many employers don't recognize they're doing ADM at all, and that "human review" in practice often amounts to rubber-stamping rather than a reviewer with real authority to change the outcome. Following that report, the ICO opened a consultation on draft ADM guidance, worth checking for the final version before relying on the March findings alone. Build the oversight role description to survive that scrutiny, not just to check the box.</a:t>
            </a:r>
            <a:endParaRPr/>
          </a:p>
          <a:p xmlns:a="http://schemas.openxmlformats.org/drawingml/2006/main">
            <a:r>
              <a:t/>
            </a:r>
            <a:endParaRPr/>
          </a:p>
          <a:p xmlns:a="http://schemas.openxmlformats.org/drawingml/2006/main">
            <a:r>
              <a:t>*Canada: no federal AI employment law, but Ontario requires disclosure:*</a:t>
            </a:r>
            <a:endParaRPr/>
          </a:p>
          <a:p xmlns:a="http://schemas.openxmlformats.org/drawingml/2006/main">
            <a:r>
              <a:t>Canada's federal AI bill (AIDA, part of Bill C-27) died when Parliament prorogued in January 2025 and has not been revived. AI regulation there runs through existing privacy, human rights, and sector law instead. Ontario is the exception: since January 1, 2026, employers with 25+ employees must disclose in publicly advertised job postings whether AI is used to screen, assess, or select candidates (Employment Standards Act, 2000 amendment).</a:t>
            </a:r>
            <a:endParaRPr/>
          </a:p>
          <a:p xmlns:a="http://schemas.openxmlformats.org/drawingml/2006/main">
            <a:r>
              <a:t/>
            </a:r>
            <a:endParaRPr/>
          </a:p>
          <a:p xmlns:a="http://schemas.openxmlformats.org/drawingml/2006/main">
            <a:r>
              <a:t>*The "AI as a manager" trap:*</a:t>
            </a:r>
            <a:endParaRPr/>
          </a:p>
          <a:p xmlns:a="http://schemas.openxmlformats.org/drawingml/2006/main">
            <a:r>
              <a:t>AI that monitors, evaluates, or scores employees without their knowledge, even for legitimate purposes, creates legal and trust exposure. Transparency is not just ethical, it's protective.</a:t>
            </a:r>
            <a:endParaRPr/>
          </a:p>
          <a:p xmlns:a="http://schemas.openxmlformats.org/drawingml/2006/main">
            <a:r>
              <a:t/>
            </a:r>
            <a:endParaRPr/>
          </a:p>
          <a:p xmlns:a="http://schemas.openxmlformats.org/drawingml/2006/main">
            <a:r>
              <a:t>**Scenario practice cards:**</a:t>
            </a:r>
            <a:endParaRPr/>
          </a:p>
          <a:p xmlns:a="http://schemas.openxmlformats.org/drawingml/2006/main">
            <a:r>
              <a:t/>
            </a:r>
            <a:endParaRPr/>
          </a:p>
          <a:p xmlns:a="http://schemas.openxmlformats.org/drawingml/2006/main">
            <a:r>
              <a:t>Print or share these four scenarios. Groups of 3–4 discuss: Is this use appropriate? What are the risks? What would you change?</a:t>
            </a:r>
            <a:endParaRPr/>
          </a:p>
          <a:p xmlns:a="http://schemas.openxmlformats.org/drawingml/2006/main">
            <a:r>
              <a:t/>
            </a:r>
            <a:endParaRPr/>
          </a:p>
          <a:p xmlns:a="http://schemas.openxmlformats.org/drawingml/2006/main">
            <a:r>
              <a:t>&gt; **Scenario A:** An AI tool automatically rejects resumes with gaps of more than 6 months without showing them to a recruiter.</a:t>
            </a:r>
            <a:endParaRPr/>
          </a:p>
          <a:p xmlns:a="http://schemas.openxmlformats.org/drawingml/2006/main">
            <a:r>
              <a:t/>
            </a:r>
            <a:endParaRPr/>
          </a:p>
          <a:p xmlns:a="http://schemas.openxmlformats.org/drawingml/2006/main">
            <a:r>
              <a:t>&gt; **Scenario B:** An HRBP uses an AI writing assistant to draft a PIP for an employee, then reviews and edits it before sharing with the manager.</a:t>
            </a:r>
            <a:endParaRPr/>
          </a:p>
          <a:p xmlns:a="http://schemas.openxmlformats.org/drawingml/2006/main">
            <a:r>
              <a:t/>
            </a:r>
            <a:endParaRPr/>
          </a:p>
          <a:p xmlns:a="http://schemas.openxmlformats.org/drawingml/2006/main">
            <a:r>
              <a:t>&gt; **Scenario C:** People Analytics builds an attrition risk model that scores all employees monthly and shares the scores directly with managers.</a:t>
            </a:r>
            <a:endParaRPr/>
          </a:p>
          <a:p xmlns:a="http://schemas.openxmlformats.org/drawingml/2006/main">
            <a:r>
              <a:t/>
            </a:r>
            <a:endParaRPr/>
          </a:p>
          <a:p xmlns:a="http://schemas.openxmlformats.org/drawingml/2006/main">
            <a:r>
              <a:t>&gt; **Scenario D:** An AI chatbot answers benefits questions for employees. It sometimes gives incorrect information but flags that users should confirm with HR.</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4: Building and scaling AI use cases</a:t>
            </a:r>
            <a:endParaRPr/>
          </a:p>
          <a:p xmlns:a="http://schemas.openxmlformats.org/drawingml/2006/main">
            <a:r>
              <a:t/>
            </a:r>
            <a:endParaRPr/>
          </a:p>
          <a:p xmlns:a="http://schemas.openxmlformats.org/drawingml/2006/main">
            <a:r>
              <a:t>**Learning objectives:**</a:t>
            </a:r>
            <a:endParaRPr/>
          </a:p>
          <a:p xmlns:a="http://schemas.openxmlformats.org/drawingml/2006/main">
            <a:r>
              <a:t>- Apply the prioritization matrix to identify your team's highest-value AI use cases</a:t>
            </a:r>
            <a:endParaRPr/>
          </a:p>
          <a:p xmlns:a="http://schemas.openxmlformats.org/drawingml/2006/main">
            <a:r>
              <a:t>- Define a use case with clear success metrics and governance requirements</a:t>
            </a:r>
            <a:endParaRPr/>
          </a:p>
          <a:p xmlns:a="http://schemas.openxmlformats.org/drawingml/2006/main">
            <a:r>
              <a:t>- Draft a basic implementation plan for a low-complexity use case</a:t>
            </a:r>
            <a:endParaRPr/>
          </a:p>
          <a:p xmlns:a="http://schemas.openxmlformats.org/drawingml/2006/main">
            <a:r>
              <a:t/>
            </a:r>
            <a:endParaRPr/>
          </a:p>
          <a:p xmlns:a="http://schemas.openxmlformats.org/drawingml/2006/main">
            <a:r>
              <a:t>**Session outline (2 hours):**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Opening: What does "scaling AI in HR" actually mean? |</a:t>
            </a:r>
            <a:endParaRPr/>
          </a:p>
          <a:p xmlns:a="http://schemas.openxmlformats.org/drawingml/2006/main">
            <a:r>
              <a:t>| 0:15–0:45 | Framework: From idea to deployment, the use case lifecycle |</a:t>
            </a:r>
            <a:endParaRPr/>
          </a:p>
          <a:p xmlns:a="http://schemas.openxmlformats.org/drawingml/2006/main">
            <a:r>
              <a:t>| 0:45–1:15 | Team exercise: Prioritization matrix applied to your team's top 5 ideas |</a:t>
            </a:r>
            <a:endParaRPr/>
          </a:p>
          <a:p xmlns:a="http://schemas.openxmlformats.org/drawingml/2006/main">
            <a:r>
              <a:t>| 1:15–1:45 | Small group: Draft a one-page use case spec for your top-ranked idea |</a:t>
            </a:r>
            <a:endParaRPr/>
          </a:p>
          <a:p xmlns:a="http://schemas.openxmlformats.org/drawingml/2006/main">
            <a:r>
              <a:t>| 1:45–2:00 | Gallery walk + feedback |</a:t>
            </a:r>
            <a:endParaRPr/>
          </a:p>
          <a:p xmlns:a="http://schemas.openxmlformats.org/drawingml/2006/main">
            <a:r>
              <a:t/>
            </a:r>
            <a:endParaRPr/>
          </a:p>
          <a:p xmlns:a="http://schemas.openxmlformats.org/drawingml/2006/main">
            <a:r>
              <a:t>**Use case lifecycle:**</a:t>
            </a:r>
            <a:endParaRPr/>
          </a:p>
          <a:p xmlns:a="http://schemas.openxmlformats.org/drawingml/2006/main">
            <a:r>
              <a:t/>
            </a:r>
            <a:endParaRPr/>
          </a:p>
          <a:p xmlns:a="http://schemas.openxmlformats.org/drawingml/2006/main">
            <a:r>
              <a:t>```</a:t>
            </a:r>
            <a:endParaRPr/>
          </a:p>
          <a:p xmlns:a="http://schemas.openxmlformats.org/drawingml/2006/main">
            <a:r>
              <a:t>Discover → Prioritize → Design → Pilot → Evaluate → Scale</a:t>
            </a:r>
            <a:endParaRPr/>
          </a:p>
          <a:p xmlns:a="http://schemas.openxmlformats.org/drawingml/2006/main">
            <a:r>
              <a:t>   ↑                                          |</a:t>
            </a:r>
            <a:endParaRPr/>
          </a:p>
          <a:p xmlns:a="http://schemas.openxmlformats.org/drawingml/2006/main">
            <a:r>
              <a:t>   └──────────────── iterate ─────────────────┘</a:t>
            </a:r>
            <a:endParaRPr/>
          </a:p>
          <a:p xmlns:a="http://schemas.openxmlformats.org/drawingml/2006/main">
            <a:r>
              <a:t>```</a:t>
            </a:r>
            <a:endParaRPr/>
          </a:p>
          <a:p xmlns:a="http://schemas.openxmlformats.org/drawingml/2006/main">
            <a:r>
              <a:t/>
            </a:r>
            <a:endParaRPr/>
          </a:p>
          <a:p xmlns:a="http://schemas.openxmlformats.org/drawingml/2006/main">
            <a:r>
              <a:t>- **Discover:** What problem are we solving? Who feels it most?</a:t>
            </a:r>
            <a:endParaRPr/>
          </a:p>
          <a:p xmlns:a="http://schemas.openxmlformats.org/drawingml/2006/main">
            <a:r>
              <a:t>- **Prioritize:** Use the matrix. Don't skip this.</a:t>
            </a:r>
            <a:endParaRPr/>
          </a:p>
          <a:p xmlns:a="http://schemas.openxmlformats.org/drawingml/2006/main">
            <a:r>
              <a:t>- **Design:** Define inputs, outputs, human review gates, success metrics, and fallback</a:t>
            </a:r>
            <a:endParaRPr/>
          </a:p>
          <a:p xmlns:a="http://schemas.openxmlformats.org/drawingml/2006/main">
            <a:r>
              <a:t>- **Pilot:** Small scope, high observation. 4–8 weeks.</a:t>
            </a:r>
            <a:endParaRPr/>
          </a:p>
          <a:p xmlns:a="http://schemas.openxmlformats.org/drawingml/2006/main">
            <a:r>
              <a:t>- **Evaluate:** Did it work? For whom? What didn't?</a:t>
            </a:r>
            <a:endParaRPr/>
          </a:p>
          <a:p xmlns:a="http://schemas.openxmlformats.org/drawingml/2006/main">
            <a:r>
              <a:t>- **Scale:** Expand with the lessons from pilot baked in</a:t>
            </a:r>
            <a:endParaRPr/>
          </a:p>
          <a:p xmlns:a="http://schemas.openxmlformats.org/drawingml/2006/main">
            <a:r>
              <a:t/>
            </a:r>
            <a:endParaRPr/>
          </a:p>
          <a:p xmlns:a="http://schemas.openxmlformats.org/drawingml/2006/main">
            <a:r>
              <a:t>**One-page use case spec template:**</a:t>
            </a:r>
            <a:endParaRPr/>
          </a:p>
          <a:p xmlns:a="http://schemas.openxmlformats.org/drawingml/2006/main">
            <a:r>
              <a:t/>
            </a:r>
            <a:endParaRPr/>
          </a:p>
          <a:p xmlns:a="http://schemas.openxmlformats.org/drawingml/2006/main">
            <a:r>
              <a:t>Participants complete this for their team's top-ranked use case:</a:t>
            </a:r>
            <a:endParaRPr/>
          </a:p>
          <a:p xmlns:a="http://schemas.openxmlformats.org/drawingml/2006/main">
            <a:r>
              <a:t/>
            </a:r>
            <a:endParaRPr/>
          </a:p>
          <a:p xmlns:a="http://schemas.openxmlformats.org/drawingml/2006/main">
            <a:r>
              <a:t>```</a:t>
            </a:r>
            <a:endParaRPr/>
          </a:p>
          <a:p xmlns:a="http://schemas.openxmlformats.org/drawingml/2006/main">
            <a:r>
              <a:t>Use case name:</a:t>
            </a:r>
            <a:endParaRPr/>
          </a:p>
          <a:p xmlns:a="http://schemas.openxmlformats.org/drawingml/2006/main">
            <a:r>
              <a:t>Problem it solves (1 sentence):</a:t>
            </a:r>
            <a:endParaRPr/>
          </a:p>
          <a:p xmlns:a="http://schemas.openxmlformats.org/drawingml/2006/main">
            <a:r>
              <a:t>Who benefits and how:</a:t>
            </a:r>
            <a:endParaRPr/>
          </a:p>
          <a:p xmlns:a="http://schemas.openxmlformats.org/drawingml/2006/main">
            <a:r>
              <a:t>AI approach (Rules / Augment / Assist / Human-led / Analytics):</a:t>
            </a:r>
            <a:endParaRPr/>
          </a:p>
          <a:p xmlns:a="http://schemas.openxmlformats.org/drawingml/2006/main">
            <a:r>
              <a:t>Data needed:</a:t>
            </a:r>
            <a:endParaRPr/>
          </a:p>
          <a:p xmlns:a="http://schemas.openxmlformats.org/drawingml/2006/main">
            <a:r>
              <a:t>Human review gate:</a:t>
            </a:r>
            <a:endParaRPr/>
          </a:p>
          <a:p xmlns:a="http://schemas.openxmlformats.org/drawingml/2006/main">
            <a:r>
              <a:t>Success metric(s):</a:t>
            </a:r>
            <a:endParaRPr/>
          </a:p>
          <a:p xmlns:a="http://schemas.openxmlformats.org/drawingml/2006/main">
            <a:r>
              <a:t>What could go wrong:</a:t>
            </a:r>
            <a:endParaRPr/>
          </a:p>
          <a:p xmlns:a="http://schemas.openxmlformats.org/drawingml/2006/main">
            <a:r>
              <a:t>Governance requirements (from risk assessment):</a:t>
            </a:r>
            <a:endParaRPr/>
          </a:p>
          <a:p xmlns:a="http://schemas.openxmlformats.org/drawingml/2006/main">
            <a:r>
              <a:t>First step to move forward:</a:t>
            </a:r>
            <a:endParaRPr/>
          </a:p>
          <a:p xmlns:a="http://schemas.openxmlformats.org/drawingml/2006/main">
            <a:r>
              <a:t>```</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Assessment and certification</a:t>
            </a:r>
            <a:endParaRPr/>
          </a:p>
          <a:p xmlns:a="http://schemas.openxmlformats.org/drawingml/2006/main">
            <a:r>
              <a:t/>
            </a:r>
            <a:endParaRPr/>
          </a:p>
          <a:p xmlns:a="http://schemas.openxmlformats.org/drawingml/2006/main">
            <a:r>
              <a:t>An organization may choose to give participants who complete all four modules</a:t>
            </a:r>
            <a:endParaRPr/>
          </a:p>
          <a:p xmlns:a="http://schemas.openxmlformats.org/drawingml/2006/main">
            <a:r>
              <a:t>and the hands-on components an **HR AI Practitioner** acknowledgment. This is a</a:t>
            </a:r>
            <a:endParaRPr/>
          </a:p>
          <a:p xmlns:a="http://schemas.openxmlformats.org/drawingml/2006/main">
            <a:r>
              <a:t>proposed internal recognition, not an accredited certification or evidence of</a:t>
            </a:r>
            <a:endParaRPr/>
          </a:p>
          <a:p xmlns:a="http://schemas.openxmlformats.org/drawingml/2006/main">
            <a:r>
              <a:t>professional competence. No delivery or learning outcome is claimed here.</a:t>
            </a:r>
            <a:endParaRPr/>
          </a:p>
          <a:p xmlns:a="http://schemas.openxmlformats.org/drawingml/2006/main">
            <a:r>
              <a:t/>
            </a:r>
            <a:endParaRPr/>
          </a:p>
          <a:p xmlns:a="http://schemas.openxmlformats.org/drawingml/2006/main">
            <a:r>
              <a:t>Optional extension: Participants who complete a full use case spec and present it to the HR Technology team are recognized as **HR AI Champions**, an informal internal designation that supports peer enablement.</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Facilitator notes</a:t>
            </a:r>
            <a:endParaRPr/>
          </a:p>
          <a:p xmlns:a="http://schemas.openxmlformats.org/drawingml/2006/main">
            <a:r>
              <a:t/>
            </a:r>
            <a:endParaRPr/>
          </a:p>
          <a:p xmlns:a="http://schemas.openxmlformats.org/drawingml/2006/main">
            <a:r>
              <a:t>These are facilitation suggestions, not measured delivery findings. Use synthetic examples; removing names alone does not establish anonymity. Do not upload real employee, candidate, compensation, or employer-confidential information for a training exercise.</a:t>
            </a:r>
            <a:endParaRPr/>
          </a:p>
          <a:p xmlns:a="http://schemas.openxmlformats.org/drawingml/2006/main">
            <a:r>
              <a:t/>
            </a:r>
            <a:endParaRPr/>
          </a:p>
          <a:p xmlns:a="http://schemas.openxmlformats.org/drawingml/2006/main">
            <a:r>
              <a:t>- Budget flex time in Module 3 for questions and disagreement about risk.</a:t>
            </a:r>
            <a:endParaRPr/>
          </a:p>
          <a:p xmlns:a="http://schemas.openxmlformats.org/drawingml/2006/main">
            <a:r>
              <a:t>- Protect time for the Module 2 lab, and check whether participants can identify errors and verify outputs afterward.</a:t>
            </a:r>
            <a:endParaRPr/>
          </a:p>
          <a:p xmlns:a="http://schemas.openxmlformats.org/drawingml/2006/main">
            <a:r>
              <a:t>- Adapt synthetic scenarios to familiar workflows, without identifiable employee cases or confidential documents.</a:t>
            </a:r>
            <a:endParaRPr/>
          </a:p>
          <a:p xmlns:a="http://schemas.openxmlformats.org/drawingml/2006/main">
            <a:r>
              <a:t>- Keep an AI skeptic on the facilitation team if possible. The best discussions happen when the room has range.</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snapshot: 13 October 2026. Curriculum SHA-256: 5ee769258ac9b95a3c514b64dcd5b22215e40bac8621054ffb452bffc244827a. This deck summarizes the source; no human evaluation, delivery outcome or legal approval is claimed.</a:t>
            </a:r>
            <a:endParaRPr/>
          </a:p>
          <a:p xmlns:a="http://schemas.openxmlformats.org/drawingml/2006/main">
            <a:r>
              <a:t/>
            </a:r>
            <a:endParaRPr/>
          </a:p>
          <a:p xmlns:a="http://schemas.openxmlformats.org/drawingml/2006/main">
            <a:r>
              <a:t># HR AI literacy curriculum</a:t>
            </a:r>
            <a:endParaRPr/>
          </a:p>
          <a:p xmlns:a="http://schemas.openxmlformats.org/drawingml/2006/main">
            <a:r>
              <a:t/>
            </a:r>
            <a:endParaRPr/>
          </a:p>
          <a:p xmlns:a="http://schemas.openxmlformats.org/drawingml/2006/main">
            <a:r>
              <a:t>A 4-module learning program for HR professionals at all experience levels. Designed to be delivered as a facilitated series over 4–6 weeks, or adapted for self-paced completion.</a:t>
            </a:r>
            <a:endParaRPr/>
          </a:p>
          <a:p xmlns:a="http://schemas.openxmlformats.org/drawingml/2006/main">
            <a:r>
              <a:t/>
            </a:r>
            <a:endParaRPr/>
          </a:p>
          <a:p xmlns:a="http://schemas.openxmlformats.org/drawingml/2006/main">
            <a:r>
              <a:t>**Total time:** about 7 hours of sessions, plus async reading and hands-on practice (roughly 8 hours in all)</a:t>
            </a:r>
            <a:endParaRPr/>
          </a:p>
          <a:p xmlns:a="http://schemas.openxmlformats.org/drawingml/2006/main">
            <a:r>
              <a:t>**Format:** Workshop + async reading + hands-on practice</a:t>
            </a:r>
            <a:endParaRPr/>
          </a:p>
          <a:p xmlns:a="http://schemas.openxmlformats.org/drawingml/2006/main">
            <a:r>
              <a:t>**Audience:** All People Team members</a:t>
            </a:r>
            <a:endParaRPr/>
          </a:p>
          <a:p xmlns:a="http://schemas.openxmlformats.org/drawingml/2006/main">
            <a:r>
              <a:t>**Prerequisite:** None</a:t>
            </a:r>
            <a:endParaRPr/>
          </a:p>
          <a:p xmlns:a="http://schemas.openxmlformats.org/drawingml/2006/main">
            <a:r>
              <a:t/>
            </a:r>
            <a:endParaRPr/>
          </a:p>
          <a:p xmlns:a="http://schemas.openxmlformats.org/drawingml/2006/main">
            <a:r>
              <a:t>**Lab prerequisite:** The facilitator confirms an organization-approved tool,</a:t>
            </a:r>
            <a:endParaRPr/>
          </a:p>
          <a:p xmlns:a="http://schemas.openxmlformats.org/drawingml/2006/main">
            <a:r>
              <a:t>provider handling, and a synthetic-only data boundary before any exercise.</a:t>
            </a:r>
            <a:endParaRPr/>
          </a:p>
          <a:p xmlns:a="http://schemas.openxmlformats.org/drawingml/2006/main">
            <a:r>
              <a:t>Modules 1-3 and the required governance approvals precede any real-work pilot.</a:t>
            </a:r>
            <a:endParaRPr/>
          </a:p>
          <a:p xmlns:a="http://schemas.openxmlformats.org/drawingml/2006/main">
            <a:r>
              <a:t>This curriculum does not authorize employee-data processing.</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Program overview</a:t>
            </a:r>
            <a:endParaRPr/>
          </a:p>
          <a:p xmlns:a="http://schemas.openxmlformats.org/drawingml/2006/main">
            <a:r>
              <a:t/>
            </a:r>
            <a:endParaRPr/>
          </a:p>
          <a:p xmlns:a="http://schemas.openxmlformats.org/drawingml/2006/main">
            <a:r>
              <a:t>| Module | Title | Duration | Format |</a:t>
            </a:r>
            <a:endParaRPr/>
          </a:p>
          <a:p xmlns:a="http://schemas.openxmlformats.org/drawingml/2006/main">
            <a:r>
              <a:t>|---|---|---|---|</a:t>
            </a:r>
            <a:endParaRPr/>
          </a:p>
          <a:p xmlns:a="http://schemas.openxmlformats.org/drawingml/2006/main">
            <a:r>
              <a:t>| 1 | How AI works, what HR professionals actually need to know | 90 min | Workshop |</a:t>
            </a:r>
            <a:endParaRPr/>
          </a:p>
          <a:p xmlns:a="http://schemas.openxmlformats.org/drawingml/2006/main">
            <a:r>
              <a:t>| 2 | Using AI in your daily HR work | 2 hours | Workshop + lab |</a:t>
            </a:r>
            <a:endParaRPr/>
          </a:p>
          <a:p xmlns:a="http://schemas.openxmlformats.org/drawingml/2006/main">
            <a:r>
              <a:t>| 3 | Governance, ethics, and responsible use | 90 min | Workshop |</a:t>
            </a:r>
            <a:endParaRPr/>
          </a:p>
          <a:p xmlns:a="http://schemas.openxmlformats.org/drawingml/2006/main">
            <a:r>
              <a:t>| 4 | Building and scaling AI use cases | 2 hours | Workshop + project |</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1: How AI works, what HR professionals actually need to know</a:t>
            </a:r>
            <a:endParaRPr/>
          </a:p>
          <a:p xmlns:a="http://schemas.openxmlformats.org/drawingml/2006/main">
            <a:r>
              <a:t/>
            </a:r>
            <a:endParaRPr/>
          </a:p>
          <a:p xmlns:a="http://schemas.openxmlformats.org/drawingml/2006/main">
            <a:r>
              <a:t>**Learning objectives:**</a:t>
            </a:r>
            <a:endParaRPr/>
          </a:p>
          <a:p xmlns:a="http://schemas.openxmlformats.org/drawingml/2006/main">
            <a:r>
              <a:t>- Explain the difference between traditional automation and generative AI</a:t>
            </a:r>
            <a:endParaRPr/>
          </a:p>
          <a:p xmlns:a="http://schemas.openxmlformats.org/drawingml/2006/main">
            <a:r>
              <a:t>- Describe why AI "hallucinates" and how to mitigate it in HR contexts</a:t>
            </a:r>
            <a:endParaRPr/>
          </a:p>
          <a:p xmlns:a="http://schemas.openxmlformats.org/drawingml/2006/main">
            <a:r>
              <a:t>- Identify which HR tasks are good candidates for AI assistance and which are not</a:t>
            </a:r>
            <a:endParaRPr/>
          </a:p>
          <a:p xmlns:a="http://schemas.openxmlformats.org/drawingml/2006/main">
            <a:r>
              <a:t/>
            </a:r>
            <a:endParaRPr/>
          </a:p>
          <a:p xmlns:a="http://schemas.openxmlformats.org/drawingml/2006/main">
            <a:r>
              <a:t>**Session outline (90 minutes):**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0:00–0:10 | Opening: What do you already believe about AI? (quick poll + discussion) |</a:t>
            </a:r>
            <a:endParaRPr/>
          </a:p>
          <a:p xmlns:a="http://schemas.openxmlformats.org/drawingml/2006/main">
            <a:r>
              <a:t>| 0:10–0:30 | Concept: How LLMs work, without the jargon (facilitator presentation) |</a:t>
            </a:r>
            <a:endParaRPr/>
          </a:p>
          <a:p xmlns:a="http://schemas.openxmlformats.org/drawingml/2006/main">
            <a:r>
              <a:t>| 0:30–0:45 | Concept: Hallucination, confidence, and why AI makes things up |</a:t>
            </a:r>
            <a:endParaRPr/>
          </a:p>
          <a:p xmlns:a="http://schemas.openxmlformats.org/drawingml/2006/main">
            <a:r>
              <a:t>| 0:45–1:05 | Exercise: Spot the hallucination (participants identify errors in AI-generated HR content) |</a:t>
            </a:r>
            <a:endParaRPr/>
          </a:p>
          <a:p xmlns:a="http://schemas.openxmlformats.org/drawingml/2006/main">
            <a:r>
              <a:t>| 1:05–1:20 | Discussion: Where should HR use AI? Where should we be cautious? |</a:t>
            </a:r>
            <a:endParaRPr/>
          </a:p>
          <a:p xmlns:a="http://schemas.openxmlformats.org/drawingml/2006/main">
            <a:r>
              <a:t>| 1:20–1:30 | Wrap-up + homework: Try one AI tool before next session |</a:t>
            </a:r>
            <a:endParaRPr/>
          </a:p>
          <a:p xmlns:a="http://schemas.openxmlformats.org/drawingml/2006/main">
            <a:r>
              <a:t/>
            </a:r>
            <a:endParaRPr/>
          </a:p>
          <a:p xmlns:a="http://schemas.openxmlformats.org/drawingml/2006/main">
            <a:r>
              <a:t>**Key concepts to cover:**</a:t>
            </a:r>
            <a:endParaRPr/>
          </a:p>
          <a:p xmlns:a="http://schemas.openxmlformats.org/drawingml/2006/main">
            <a:r>
              <a:t/>
            </a:r>
            <a:endParaRPr/>
          </a:p>
          <a:p xmlns:a="http://schemas.openxmlformats.org/drawingml/2006/main">
            <a:r>
              <a:t>*What LLMs actually are:*</a:t>
            </a:r>
            <a:endParaRPr/>
          </a:p>
          <a:p xmlns:a="http://schemas.openxmlformats.org/drawingml/2006/main">
            <a:r>
              <a:t>Large language models predict the next most likely word given context. They don't "know" things the way a database knows things, they pattern-match against training data. This is why they can sound authoritative while being wrong.</a:t>
            </a:r>
            <a:endParaRPr/>
          </a:p>
          <a:p xmlns:a="http://schemas.openxmlformats.org/drawingml/2006/main">
            <a:r>
              <a:t/>
            </a:r>
            <a:endParaRPr/>
          </a:p>
          <a:p xmlns:a="http://schemas.openxmlformats.org/drawingml/2006/main">
            <a:r>
              <a:t>*The spectrum from rules to agents:*</a:t>
            </a:r>
            <a:endParaRPr/>
          </a:p>
          <a:p xmlns:a="http://schemas.openxmlformats.org/drawingml/2006/main">
            <a:r>
              <a:t>```</a:t>
            </a:r>
            <a:endParaRPr/>
          </a:p>
          <a:p xmlns:a="http://schemas.openxmlformats.org/drawingml/2006/main">
            <a:r>
              <a:t>Rules            →  Assist / Augment              →  Agent</a:t>
            </a:r>
            <a:endParaRPr/>
          </a:p>
          <a:p xmlns:a="http://schemas.openxmlformats.org/drawingml/2006/main">
            <a:r>
              <a:t>(deterministic)     (a person decides or owns)       (a model acts across several steps)</a:t>
            </a:r>
            <a:endParaRPr/>
          </a:p>
          <a:p xmlns:a="http://schemas.openxmlformats.org/drawingml/2006/main">
            <a:r>
              <a:t>```</a:t>
            </a:r>
            <a:endParaRPr/>
          </a:p>
          <a:p xmlns:a="http://schemas.openxmlformats.org/drawingml/2006/main">
            <a:r>
              <a:t>Use rules when rules reliably give the right answer. Most HR uses of AI belong in the middle. An agent, where a model takes several actions through tools with limited review between them, has to earn that autonomy through evidence and brings new governance requirements.</a:t>
            </a:r>
            <a:endParaRPr/>
          </a:p>
          <a:p xmlns:a="http://schemas.openxmlformats.org/drawingml/2006/main">
            <a:r>
              <a:t/>
            </a:r>
            <a:endParaRPr/>
          </a:p>
          <a:p xmlns:a="http://schemas.openxmlformats.org/drawingml/2006/main">
            <a:r>
              <a:t>*Prompt quality drives output quality:*</a:t>
            </a:r>
            <a:endParaRPr/>
          </a:p>
          <a:p xmlns:a="http://schemas.openxmlformats.org/drawingml/2006/main">
            <a:r>
              <a:t>Clear prompts help define a task and its boundaries. Output quality also depends on the model, source material, workflow controls, and verification. A well-written prompt does not establish factual accuracy or safe HR judgment.</a:t>
            </a:r>
            <a:endParaRPr/>
          </a:p>
          <a:p xmlns:a="http://schemas.openxmlformats.org/drawingml/2006/main">
            <a:r>
              <a:t/>
            </a:r>
            <a:endParaRPr/>
          </a:p>
          <a:p xmlns:a="http://schemas.openxmlformats.org/drawingml/2006/main">
            <a:r>
              <a:t>**Pre-reading (assign before session):**</a:t>
            </a:r>
            <a:endParaRPr/>
          </a:p>
          <a:p xmlns:a="http://schemas.openxmlformats.org/drawingml/2006/main">
            <a:r>
              <a:t>- [Your organization's AI use policy](../03-governance/ai-use-policy.md)</a:t>
            </a:r>
            <a:endParaRPr/>
          </a:p>
          <a:p xmlns:a="http://schemas.openxmlformats.org/drawingml/2006/main">
            <a:r>
              <a:t>- One-page primer on generative AI for non-technical audiences (create or source)</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2: Using AI in your daily HR work</a:t>
            </a:r>
            <a:endParaRPr/>
          </a:p>
          <a:p xmlns:a="http://schemas.openxmlformats.org/drawingml/2006/main">
            <a:r>
              <a:t/>
            </a:r>
            <a:endParaRPr/>
          </a:p>
          <a:p xmlns:a="http://schemas.openxmlformats.org/drawingml/2006/main">
            <a:r>
              <a:t>**Learning objectives:**</a:t>
            </a:r>
            <a:endParaRPr/>
          </a:p>
          <a:p xmlns:a="http://schemas.openxmlformats.org/drawingml/2006/main">
            <a:r>
              <a:t>- Write effective prompts for HR use cases</a:t>
            </a:r>
            <a:endParaRPr/>
          </a:p>
          <a:p xmlns:a="http://schemas.openxmlformats.org/drawingml/2006/main">
            <a:r>
              <a:t>- Use the prompt library for at least 3 HR workflows</a:t>
            </a:r>
            <a:endParaRPr/>
          </a:p>
          <a:p xmlns:a="http://schemas.openxmlformats.org/drawingml/2006/main">
            <a:r>
              <a:t>- Identify when to use AI, when to verify AI output, and when not to use it</a:t>
            </a:r>
            <a:endParaRPr/>
          </a:p>
          <a:p xmlns:a="http://schemas.openxmlformats.org/drawingml/2006/main">
            <a:r>
              <a:t/>
            </a:r>
            <a:endParaRPr/>
          </a:p>
          <a:p xmlns:a="http://schemas.openxmlformats.org/drawingml/2006/main">
            <a:r>
              <a:t>**Session outline (2 hours including lab):**</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Share-back from Module 1 homework, what did you try, what happened? |</a:t>
            </a:r>
            <a:endParaRPr/>
          </a:p>
          <a:p xmlns:a="http://schemas.openxmlformats.org/drawingml/2006/main">
            <a:r>
              <a:t>| 0:15–0:45 | Prompt engineering for HR: the four elements of a good prompt |</a:t>
            </a:r>
            <a:endParaRPr/>
          </a:p>
          <a:p xmlns:a="http://schemas.openxmlformats.org/drawingml/2006/main">
            <a:r>
              <a:t>| 0:45–1:10 | Live demo: Onboarding plan, performance review draft, policy Q&amp;A |</a:t>
            </a:r>
            <a:endParaRPr/>
          </a:p>
          <a:p xmlns:a="http://schemas.openxmlformats.org/drawingml/2006/main">
            <a:r>
              <a:t>| 1:10–1:50 | Hands-on lab: Each participant works through 2 prompts using synthetic HR scenarios in organization-approved tools |</a:t>
            </a:r>
            <a:endParaRPr/>
          </a:p>
          <a:p xmlns:a="http://schemas.openxmlformats.org/drawingml/2006/main">
            <a:r>
              <a:t>| 1:50–2:00 | Debrief: What surprised you? What didn't work? |</a:t>
            </a:r>
            <a:endParaRPr/>
          </a:p>
          <a:p xmlns:a="http://schemas.openxmlformats.org/drawingml/2006/main">
            <a:r>
              <a:t/>
            </a:r>
            <a:endParaRPr/>
          </a:p>
          <a:p xmlns:a="http://schemas.openxmlformats.org/drawingml/2006/main">
            <a:r>
              <a:t>**The four elements of an effective HR prompt:**</a:t>
            </a:r>
            <a:endParaRPr/>
          </a:p>
          <a:p xmlns:a="http://schemas.openxmlformats.org/drawingml/2006/main">
            <a:r>
              <a:t/>
            </a:r>
            <a:endParaRPr/>
          </a:p>
          <a:p xmlns:a="http://schemas.openxmlformats.org/drawingml/2006/main">
            <a:r>
              <a:t>1. **Role**: Define the task perspective, such as drafting support for an HRBP. A role instruction does not give the model professional authority.</a:t>
            </a:r>
            <a:endParaRPr/>
          </a:p>
          <a:p xmlns:a="http://schemas.openxmlformats.org/drawingml/2006/main">
            <a:r>
              <a:t/>
            </a:r>
            <a:endParaRPr/>
          </a:p>
          <a:p xmlns:a="http://schemas.openxmlformats.org/drawingml/2006/main">
            <a:r>
              <a:t>2. **Context**: Provide the specific details the AI needs. Role, tenure, team size, situation. Don't make the AI guess.</a:t>
            </a:r>
            <a:endParaRPr/>
          </a:p>
          <a:p xmlns:a="http://schemas.openxmlformats.org/drawingml/2006/main">
            <a:r>
              <a:t/>
            </a:r>
            <a:endParaRPr/>
          </a:p>
          <a:p xmlns:a="http://schemas.openxmlformats.org/drawingml/2006/main">
            <a:r>
              <a:t>3. **Task**: State clearly what you want it to produce. One output per prompt. "Draft a..." is clearer than "Help me with..."</a:t>
            </a:r>
            <a:endParaRPr/>
          </a:p>
          <a:p xmlns:a="http://schemas.openxmlformats.org/drawingml/2006/main">
            <a:r>
              <a:t/>
            </a:r>
            <a:endParaRPr/>
          </a:p>
          <a:p xmlns:a="http://schemas.openxmlformats.org/drawingml/2006/main">
            <a:r>
              <a:t>4. **Constraints**: Define length, tone, format, exclusions, and the verification needed. Check whether the output follows them.</a:t>
            </a:r>
            <a:endParaRPr/>
          </a:p>
          <a:p xmlns:a="http://schemas.openxmlformats.org/drawingml/2006/main">
            <a:r>
              <a:t/>
            </a:r>
            <a:endParaRPr/>
          </a:p>
          <a:p xmlns:a="http://schemas.openxmlformats.org/drawingml/2006/main">
            <a:r>
              <a:t>**Lab instructions:**</a:t>
            </a:r>
            <a:endParaRPr/>
          </a:p>
          <a:p xmlns:a="http://schemas.openxmlformats.org/drawingml/2006/main">
            <a:r>
              <a:t/>
            </a:r>
            <a:endParaRPr/>
          </a:p>
          <a:p xmlns:a="http://schemas.openxmlformats.org/drawingml/2006/main">
            <a:r>
              <a:t>Participants choose 2 prompts from the library that are relevant to their current work:</a:t>
            </a:r>
            <a:endParaRPr/>
          </a:p>
          <a:p xmlns:a="http://schemas.openxmlformats.org/drawingml/2006/main">
            <a:r>
              <a:t>1. Run the prompt with a fictional HR scenario in an organization-approved tool. Do not upload real employee, candidate, compensation, or confidential employer information.</a:t>
            </a:r>
            <a:endParaRPr/>
          </a:p>
          <a:p xmlns:a="http://schemas.openxmlformats.org/drawingml/2006/main">
            <a:r>
              <a:t>2. Evaluate the output: What's useful? What's wrong or missing? What would you change before using it?</a:t>
            </a:r>
            <a:endParaRPr/>
          </a:p>
          <a:p xmlns:a="http://schemas.openxmlformats.org/drawingml/2006/main">
            <a:r>
              <a:t>3. Iterate: Modify the prompt once based on what you learned and run it again</a:t>
            </a:r>
            <a:endParaRPr/>
          </a:p>
          <a:p xmlns:a="http://schemas.openxmlformats.org/drawingml/2006/main">
            <a:r>
              <a:t>4. Note: What changed between run 1 and run 2?</a:t>
            </a:r>
            <a:endParaRPr/>
          </a:p>
          <a:p xmlns:a="http://schemas.openxmlformats.org/drawingml/2006/main">
            <a:r>
              <a:t/>
            </a:r>
            <a:endParaRPr/>
          </a:p>
          <a:p xmlns:a="http://schemas.openxmlformats.org/drawingml/2006/main">
            <a:r>
              <a:t>**The verify-before-use rule:**</a:t>
            </a:r>
            <a:endParaRPr/>
          </a:p>
          <a:p xmlns:a="http://schemas.openxmlformats.org/drawingml/2006/main">
            <a:r>
              <a:t/>
            </a:r>
            <a:endParaRPr/>
          </a:p>
          <a:p xmlns:a="http://schemas.openxmlformats.org/drawingml/2006/main">
            <a:r>
              <a:t>Introduce and reinforce this heuristic:</a:t>
            </a:r>
            <a:endParaRPr/>
          </a:p>
          <a:p xmlns:a="http://schemas.openxmlformats.org/drawingml/2006/main">
            <a:r>
              <a:t>- Policy details → always verify against source system before sharing</a:t>
            </a:r>
            <a:endParaRPr/>
          </a:p>
          <a:p xmlns:a="http://schemas.openxmlformats.org/drawingml/2006/main">
            <a:r>
              <a:t>- Legal requirements → always verify with Legal before relying on</a:t>
            </a:r>
            <a:endParaRPr/>
          </a:p>
          <a:p xmlns:a="http://schemas.openxmlformats.org/drawingml/2006/main">
            <a:r>
              <a:t>- Factual claims → spot-check against a known source</a:t>
            </a:r>
            <a:endParaRPr/>
          </a:p>
          <a:p xmlns:a="http://schemas.openxmlformats.org/drawingml/2006/main">
            <a:r>
              <a:t>- Tone and content → always read before sending; AI doesn't know your audience</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3: Governance, ethics, and responsible use</a:t>
            </a:r>
            <a:endParaRPr/>
          </a:p>
          <a:p xmlns:a="http://schemas.openxmlformats.org/drawingml/2006/main">
            <a:r>
              <a:t/>
            </a:r>
            <a:endParaRPr/>
          </a:p>
          <a:p xmlns:a="http://schemas.openxmlformats.org/drawingml/2006/main">
            <a:r>
              <a:t>**Learning objectives:**</a:t>
            </a:r>
            <a:endParaRPr/>
          </a:p>
          <a:p xmlns:a="http://schemas.openxmlformats.org/drawingml/2006/main">
            <a:r>
              <a:t>- Apply the organization's AI use policy to real HR scenarios</a:t>
            </a:r>
            <a:endParaRPr/>
          </a:p>
          <a:p xmlns:a="http://schemas.openxmlformats.org/drawingml/2006/main">
            <a:r>
              <a:t>- Identify the key legal risk areas in HR AI (bias, privacy, employment law)</a:t>
            </a:r>
            <a:endParaRPr/>
          </a:p>
          <a:p xmlns:a="http://schemas.openxmlformats.org/drawingml/2006/main">
            <a:r>
              <a:t>- Complete a basic risk assessment for a new use case</a:t>
            </a:r>
            <a:endParaRPr/>
          </a:p>
          <a:p xmlns:a="http://schemas.openxmlformats.org/drawingml/2006/main">
            <a:r>
              <a:t/>
            </a:r>
            <a:endParaRPr/>
          </a:p>
          <a:p xmlns:a="http://schemas.openxmlformats.org/drawingml/2006/main">
            <a:r>
              <a:t>**Session outline (90 minutes):**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Case study: Three HR AI failures and what we can learn (discussion) |</a:t>
            </a:r>
            <a:endParaRPr/>
          </a:p>
          <a:p xmlns:a="http://schemas.openxmlformats.org/drawingml/2006/main">
            <a:r>
              <a:t>| 0:15–0:40 | Framework: What makes AI use in HR risky? Legal and ethical dimensions |</a:t>
            </a:r>
            <a:endParaRPr/>
          </a:p>
          <a:p xmlns:a="http://schemas.openxmlformats.org/drawingml/2006/main">
            <a:r>
              <a:t>| 0:40–1:00 | Scenario practice: Is this use case okay? (small groups, 4 scenarios) |</a:t>
            </a:r>
            <a:endParaRPr/>
          </a:p>
          <a:p xmlns:a="http://schemas.openxmlformats.org/drawingml/2006/main">
            <a:r>
              <a:t>| 1:00–1:20 | Walk-through: The risk assessment template |</a:t>
            </a:r>
            <a:endParaRPr/>
          </a:p>
          <a:p xmlns:a="http://schemas.openxmlformats.org/drawingml/2006/main">
            <a:r>
              <a:t>| 1:20–1:30 | Q&amp;A + open discussion |</a:t>
            </a:r>
            <a:endParaRPr/>
          </a:p>
          <a:p xmlns:a="http://schemas.openxmlformats.org/drawingml/2006/main">
            <a:r>
              <a:t/>
            </a:r>
            <a:endParaRPr/>
          </a:p>
          <a:p xmlns:a="http://schemas.openxmlformats.org/drawingml/2006/main">
            <a:r>
              <a:t>&gt; **Note on regulatory currency:** Use the [Key dates for HR](../03-governance/README.md#key-dates-for-hr) and its linked primary sources as the dated reference. The slides summarize risk questions; they are not a complete legal reference. Have Legal verify jurisdiction, scope, obligations, and effective dates before delivery or adoption.</a:t>
            </a:r>
            <a:endParaRPr/>
          </a:p>
          <a:p xmlns:a="http://schemas.openxmlformats.org/drawingml/2006/main">
            <a:r>
              <a:t/>
            </a:r>
            <a:endParaRPr/>
          </a:p>
          <a:p xmlns:a="http://schemas.openxmlformats.org/drawingml/2006/main">
            <a:r>
              <a:t>**Key legal risk areas to cover:**</a:t>
            </a:r>
            <a:endParaRPr/>
          </a:p>
          <a:p xmlns:a="http://schemas.openxmlformats.org/drawingml/2006/main">
            <a:r>
              <a:t/>
            </a:r>
            <a:endParaRPr/>
          </a:p>
          <a:p xmlns:a="http://schemas.openxmlformats.org/drawingml/2006/main">
            <a:r>
              <a:t>*Bias and disparate impact:*</a:t>
            </a:r>
            <a:endParaRPr/>
          </a:p>
          <a:p xmlns:a="http://schemas.openxmlformats.org/drawingml/2006/main">
            <a:r>
              <a:t>AI trained on historical HR data can encode and amplify past discrimination. A history in which 80% of engineering hires were male is a reason to examine labels, features, selection effects, and group outcomes; that proportion alone does not determine how a model will score resumes. Adverse impact testing is a core control. It is required by law in some jurisdictions (NYC Local Law 144 mandates an annual bias audit for covered tools) and expected as evidence of reasonable care in many others. Confirm the cadence with Legal. See the [NIST AI RMF](https://www.nist.gov/itl/ai-risk-management-framework).</a:t>
            </a:r>
            <a:endParaRPr/>
          </a:p>
          <a:p xmlns:a="http://schemas.openxmlformats.org/drawingml/2006/main">
            <a:r>
              <a:t/>
            </a:r>
            <a:endParaRPr/>
          </a:p>
          <a:p xmlns:a="http://schemas.openxmlformats.org/drawingml/2006/main">
            <a:r>
              <a:t>*Illinois AI Video Interview Act, NYC Local Law 144, and emerging state laws:*</a:t>
            </a:r>
            <a:endParaRPr/>
          </a:p>
          <a:p xmlns:a="http://schemas.openxmlformats.org/drawingml/2006/main">
            <a:r>
              <a:t>Several jurisdictions now require disclosure, impact assessments, or consent for AI use in hiring. Illinois's AI Video Interview Act ([820 ILCS 42](https://www.ilga.gov/Legislation/ILCS/Articles?ActID=4015&amp;ChapterID=68)) governs AI analysis of recorded video interviews, including notice and consent before the interview. Confirm its current requirements against the statute before relying on them. Illinois also amended its Human Rights Act via HB 3773 (effective January 1, 2026) to broadly prohibit discriminatory AI use in hiring and promotion, not just video interviews. A companion law, Public Act 104-0425 (SB 2487, effective January 1, 2026), gives the Human Rights Commission tiered civil penalty authority for violations: up to $16,000 for a first offense, up to $42,500 with one prior violation within five years, up to $70,000 for two or more within seven years. The regulatory landscape is shifting quickly. Use cases involving hiring must be reviewed against current state law.</a:t>
            </a:r>
            <a:endParaRPr/>
          </a:p>
          <a:p xmlns:a="http://schemas.openxmlformats.org/drawingml/2006/main">
            <a:r>
              <a:t/>
            </a:r>
            <a:endParaRPr/>
          </a:p>
          <a:p xmlns:a="http://schemas.openxmlformats.org/drawingml/2006/main">
            <a:r>
              <a:t>NYC Local Law 144 enforcement is entering a stricter phase. A December 2025 NY State Comptroller audit found DCWP's enforcement "ineffective": DCWP's own review of 32 companies' bias-audit disclosures caught 1 likely non-compliance issue, where the Comptroller's review of the same 32 found at least 17. Expect more investigations and higher penalties as DCWP responds to the audit's recommendations, not just the disclosure-and-audit paperwork the law describes on paper.</a:t>
            </a:r>
            <a:endParaRPr/>
          </a:p>
          <a:p xmlns:a="http://schemas.openxmlformats.org/drawingml/2006/main">
            <a:r>
              <a:t/>
            </a:r>
            <a:endParaRPr/>
          </a:p>
          <a:p xmlns:a="http://schemas.openxmlformats.org/drawingml/2006/main">
            <a:r>
              <a:t>*Colorado's Automated Decision-Making Technology Act:*</a:t>
            </a:r>
            <a:endParaRPr/>
          </a:p>
          <a:p xmlns:a="http://schemas.openxmlformats.org/drawingml/2006/main">
            <a:r>
              <a:t>Colorado SB26-189 (signed 14 May 2026, Colo. Sess. Laws ch. 131) repeals and replaces the state's 2024 AI consumer protection law. It covers "consequential decisions," including employment, made using automated decision-making technology (ADMT) that materially influences the outcome. Starting January 1, 2027, developers must give deployers technical documentation on intended use, training data categories, known limitations, and human review instructions. Deployers will owe consumers notice at the point of interaction, and within 30 days of any adverse consequential decision, a plain-language explanation plus the right to request human review and reconsideration. Records must be retained 3 years. The attorney general enforces under the Colorado Consumer Protection Act, with a 60-day cure period through January 1, 2030.</a:t>
            </a:r>
            <a:endParaRPr/>
          </a:p>
          <a:p xmlns:a="http://schemas.openxmlformats.org/drawingml/2006/main">
            <a:r>
              <a:t/>
            </a:r>
            <a:endParaRPr/>
          </a:p>
          <a:p xmlns:a="http://schemas.openxmlformats.org/drawingml/2006/main">
            <a:r>
              <a:t>*Connecticut: AI Responsibility and Transparency Act (Public Act 26-15):*</a:t>
            </a:r>
            <a:endParaRPr/>
          </a:p>
          <a:p xmlns:a="http://schemas.openxmlformats.org/drawingml/2006/main">
            <a:r>
              <a:t>Connecticut's SB 5 became Public Act 26-15 in June 2026. It is the most comprehensive state AI employment statute enacted so far, and it phases in across two years. Read the dates carefully, because the parts that bite first are not the disclosure rules.</a:t>
            </a:r>
            <a:endParaRPr/>
          </a:p>
          <a:p xmlns:a="http://schemas.openxmlformats.org/drawingml/2006/main">
            <a:r>
              <a:t/>
            </a:r>
            <a:endParaRPr/>
          </a:p>
          <a:p xmlns:a="http://schemas.openxmlformats.org/drawingml/2006/main">
            <a:r>
              <a:t>Live October 1, 2026:</a:t>
            </a:r>
            <a:endParaRPr/>
          </a:p>
          <a:p xmlns:a="http://schemas.openxmlformats.org/drawingml/2006/main">
            <a:r>
              <a:t/>
            </a:r>
            <a:endParaRPr/>
          </a:p>
          <a:p xmlns:a="http://schemas.openxmlformats.org/drawingml/2006/main">
            <a:r>
              <a:t>- **AI is not a defense.** Sections 13 and 14 amend Conn. Gen. Stat. 46a-60 so that using an automated employment-related decision technology is not a defense against a discrimination complaint. The commission or court may consider the quality, efficacy, recency, and scope of anti-bias testing, its results, and the employer's response. This does not establish that a stale audit is always worse than no audit, or that testing guarantees a favorable legal outcome. Preserve the testing evidence and corrective actions for counsel review. Source: [Public Act 26-15](https://www.cga.ct.gov/2026/ACT/PA/PDF/2026PA-00015-R00SB-00005-PA.PDF).</a:t>
            </a:r>
            <a:endParaRPr/>
          </a:p>
          <a:p xmlns:a="http://schemas.openxmlformats.org/drawingml/2006/main">
            <a:r>
              <a:t>- **WARN notices.** Section 26 requires any employer serving a federal WARN notice under 29 USC 2102(a) to disclose to the Connecticut Labor Department whether the layoffs relate to the employer's use of AI or other technological change. Note the disclosure runs to the department, not to affected employees.</a:t>
            </a:r>
            <a:endParaRPr/>
          </a:p>
          <a:p xmlns:a="http://schemas.openxmlformats.org/drawingml/2006/main">
            <a:r>
              <a:t/>
            </a:r>
            <a:endParaRPr/>
          </a:p>
          <a:p xmlns:a="http://schemas.openxmlformats.org/drawingml/2006/main">
            <a:r>
              <a:t>Live October 1, 2027 (sections 7 to 12 take effect in 2026, but the duties attach only to technology deployed on or after October 1, 2027):</a:t>
            </a:r>
            <a:endParaRPr/>
          </a:p>
          <a:p xmlns:a="http://schemas.openxmlformats.org/drawingml/2006/main">
            <a:r>
              <a:t/>
            </a:r>
            <a:endParaRPr/>
          </a:p>
          <a:p xmlns:a="http://schemas.openxmlformats.org/drawingml/2006/main">
            <a:r>
              <a:t>- Scope is set by "substantial factor," defined as a factor that meaningfully alters the outcome of an employment-related decision. Covered decisions are hiring, promotion, discipline, discharge, renewal, selection for training or apprenticeship, and terms, privileges or conditions of employment. Carved out: nonmaterial changes to job tasks or hours, and decisions about workplace health and safety, scheduling, and productivity monitoring.</a:t>
            </a:r>
            <a:endParaRPr/>
          </a:p>
          <a:p xmlns:a="http://schemas.openxmlformats.org/drawingml/2006/main">
            <a:r>
              <a:t>- Developers must give deployers the information deployers need to meet their duties, but only where the tool was advertised, marketed, configured, contracted for, sold, or licensed to materially influence an employment decision.</a:t>
            </a:r>
            <a:endParaRPr/>
          </a:p>
          <a:p xmlns:a="http://schemas.openxmlformats.org/drawingml/2006/main">
            <a:r>
              <a:t>- Deployers must disclose in plain language when an employee or applicant is interacting with the technology, unless a reasonable person would find it obvious.</a:t>
            </a:r>
            <a:endParaRPr/>
          </a:p>
          <a:p xmlns:a="http://schemas.openxmlformats.org/drawingml/2006/main">
            <a:r>
              <a:t>- Before the decision is made, deployers must give written notice covering six specific points: that the technology was deployed, its purpose and the nature of the decision, the tool's trade name, the categories of personal data analyzed and how they will be assessed, the sources of that data, and deployer contact information.</a:t>
            </a:r>
            <a:endParaRPr/>
          </a:p>
          <a:p xmlns:a="http://schemas.openxmlformats.org/drawingml/2006/main">
            <a:r>
              <a:t>- Trade secrets can be withheld, but the withholding party must send notice saying what is being withheld and why.</a:t>
            </a:r>
            <a:endParaRPr/>
          </a:p>
          <a:p xmlns:a="http://schemas.openxmlformats.org/drawingml/2006/main">
            <a:r>
              <a:t/>
            </a:r>
            <a:endParaRPr/>
          </a:p>
          <a:p xmlns:a="http://schemas.openxmlformats.org/drawingml/2006/main">
            <a:r>
              <a:t>Enforcement is narrower than the obligations suggest: violations are unfair or deceptive trade practices under CUTPA, enforced **solely by the Attorney General**, with an explicit statement that the act creates **no private right of action**. Violations occurring on or before December 31, 2027 carry a 60-day cure period.</a:t>
            </a:r>
            <a:endParaRPr/>
          </a:p>
          <a:p xmlns:a="http://schemas.openxmlformats.org/drawingml/2006/main">
            <a:r>
              <a:t/>
            </a:r>
            <a:endParaRPr/>
          </a:p>
          <a:p xmlns:a="http://schemas.openxmlformats.org/drawingml/2006/main">
            <a:r>
              <a:t>One provision to catch in procurement: Section 8(c) lets a developer contract to assume the deployer's disclosure and notice duties, provided the contract is explicit about which duties transfer. That is a negotiating lever worth asking every vendor about. See the [vendor intake checklist](../03-governance/vendor-intake-checklist.md).</a:t>
            </a:r>
            <a:endParaRPr/>
          </a:p>
          <a:p xmlns:a="http://schemas.openxmlformats.org/drawingml/2006/main">
            <a:r>
              <a:t/>
            </a:r>
            <a:endParaRPr/>
          </a:p>
          <a:p xmlns:a="http://schemas.openxmlformats.org/drawingml/2006/main">
            <a:r>
              <a:t>*California: FEHA algorithmic discrimination rules and CPPA ADMT regulations:*</a:t>
            </a:r>
            <a:endParaRPr/>
          </a:p>
          <a:p xmlns:a="http://schemas.openxmlformats.org/drawingml/2006/main">
            <a:r>
              <a:t>The Civil Rights Council's FEHA regulations on automated decision systems took effect October 1, 2025: they prohibit AI-driven disparate treatment or disparate impact in employment decisions, require four years of recordkeeping, and hold employers liable for discriminatory outcomes even when the tool comes from a third-party vendor. Separately, the [CPPA regulation package](https://cppa.ca.gov/announcements/2025/20250923.html) took effect January 1, 2026. Covered businesses must begin risk-assessment compliance in 2026; ADMT notice and consumer-rights compliance begins January 1, 2027. These dates govern different duties. Review the [final regulations](https://cppa.ca.gov/regulations/ccpa_updates.html) for scope, opt-out exceptions, appeal conditions, and transition rules for processing already underway.</a:t>
            </a:r>
            <a:endParaRPr/>
          </a:p>
          <a:p xmlns:a="http://schemas.openxmlformats.org/drawingml/2006/main">
            <a:r>
              <a:t/>
            </a:r>
            <a:endParaRPr/>
          </a:p>
          <a:p xmlns:a="http://schemas.openxmlformats.org/drawingml/2006/main">
            <a:r>
              <a:t>Four California workplace bills were approved and chaptered on 30 September 2026. All four are enacted law, with obligations beginning in 2027. The chaptered texts were reviewed on 9 October 2026. AB 1883, SB 951, and AB 1331 take effect on 1 January 2027 under [California Constitution Article IV, section 8(c)(1)](https://leginfo.legislature.ca.gov/faces/codes_displayText.xhtml?lawCode=CONS&amp;division=&amp;title=&amp;part=&amp;chapter=&amp;article=IV); none contains an urgency clause or a later operative-date provision. SB 947 takes effect on that date but expressly makes its new Labor Code part operative on 1 July 2027. See the [source register](../03-governance/claims/california-workplace-laws.json) and the [Governor's signing announcement](https://www.gov.ca.gov/2026/09/30/californias-nation-leading-ai-framework-just-got-stronger-governor-newsom-signs-more-first-in-the-nation-worker-protections-and-more/).</a:t>
            </a:r>
            <a:endParaRPr/>
          </a:p>
          <a:p xmlns:a="http://schemas.openxmlformats.org/drawingml/2006/main">
            <a:r>
              <a:t/>
            </a:r>
            <a:endParaRPr/>
          </a:p>
          <a:p xmlns:a="http://schemas.openxmlformats.org/drawingml/2006/main">
            <a:r>
              <a:t>- **[AB 1883](https://leginfo.legislature.ca.gov/faces/billNavClient.xhtml?bill_id=202520260AB1883)** (workplace surveillance tools, Chapter 853, Statutes of 2026) adds Labor Code Part 5.8 to bar employers from using AI-driven surveillance tools to recognize or infer an employee's emotional state, or to collect neural data, meaning data measured from the central or peripheral nervous system and not inferred from nonneural information. Safety uses are preserved, and there is a narrow carve-out for federally mandated aerospace and national security work. Enforcement runs through the Labor Commissioner or a public prosecutor, with penalties up to $500 per violation. It was enrolled on 3 September 2026 and approved by the Governor on 30 September 2026. Some published summaries report 3 September as the signing date; that is the enrollment date.</a:t>
            </a:r>
            <a:endParaRPr/>
          </a:p>
          <a:p xmlns:a="http://schemas.openxmlformats.org/drawingml/2006/main">
            <a:r>
              <a:t>- **[SB 947](https://leginfo.legislature.ca.gov/faces/billTextClient.xhtml?bill_id=202520260SB947)** (the "No Robo Bosses Act," Chapter 859, Statutes of 2026) is **operative 1 July 2027**, under new Labor Code section 1526.7. It bars sole reliance on an ADS for discipline or termination. Primary reliance requires human corroboration and written post-use notice when the decision is communicated. If corroboration fails, or the reviewer finds the output inaccurate, incomplete, or misleading, the employer must not use that output for the decision. The employee may request a meaningful description of their own data used by the ADS. Check the collective bargaining and federal-operation exceptions in sections 1526.5 and 1526.6.</a:t>
            </a:r>
            <a:endParaRPr/>
          </a:p>
          <a:p xmlns:a="http://schemas.openxmlformats.org/drawingml/2006/main">
            <a:r>
              <a:t>- **[SB 951](https://leginfo.legislature.ca.gov/faces/billTextClient.xhtml?bill_id=202520260SB951)** (Chapter 860, Statutes of 2026), **effective 1 January 2027**, adds technology-displacement information to an otherwise required Cal/WARN notice when AI or automation causes the event wholly or substantially. New Labor Code section 1401(d) requires affected jobs and locations, functions being automated, the technology category, and a technology-displacement heading. It retains the existing 60-day notice period. It does not enact the earlier proposal for a 90-day notice or an employer hiring-freeze notice; section 1402.7 instead requires an EDD study by 1 January 2028. Assess Cal/WARN coverage and exceptions before applying the notice requirement.</a:t>
            </a:r>
            <a:endParaRPr/>
          </a:p>
          <a:p xmlns:a="http://schemas.openxmlformats.org/drawingml/2006/main">
            <a:r>
              <a:t>- **[AB 1331](https://leginfo.legislature.ca.gov/faces/billTextClient.xhtml?bill_id=202520260AB1331)** (Chapter 851, Statutes of 2026), **effective 1 January 2027**, limits workplace bathroom surveillance and lets employees leave surveillance tools behind when entering a bathroom. New Labor Code section 1561 includes exceptions for court orders, one-time entry/exit checks, voluntary possession, and certain identification or safety devices. The tool definition reaches beyond AI. Review the full exceptions in sections 1561, 1564, and 1565 before changing monitoring practices.</a:t>
            </a:r>
            <a:endParaRPr/>
          </a:p>
          <a:p xmlns:a="http://schemas.openxmlformats.org/drawingml/2006/main">
            <a:r>
              <a:t/>
            </a:r>
            <a:endParaRPr/>
          </a:p>
          <a:p xmlns:a="http://schemas.openxmlformats.org/drawingml/2006/main">
            <a:r>
              <a:t>*Texas: Responsible AI Governance Act (TRAIGA):*</a:t>
            </a:r>
            <a:endParaRPr/>
          </a:p>
          <a:p xmlns:a="http://schemas.openxmlformats.org/drawingml/2006/main">
            <a:r>
              <a:t>Effective January 1, 2026 (HB 149, signed June 22, 2025). Narrower than Illinois or Colorado: TRAIGA prohibits intentional AI-based discrimination but does not create disparate impact liability, and the Attorney General has exclusive enforcement authority with a 60-day cure period before action.</a:t>
            </a:r>
            <a:endParaRPr/>
          </a:p>
          <a:p xmlns:a="http://schemas.openxmlformats.org/drawingml/2006/main">
            <a:r>
              <a:t/>
            </a:r>
            <a:endParaRPr/>
          </a:p>
          <a:p xmlns:a="http://schemas.openxmlformats.org/drawingml/2006/main">
            <a:r>
              <a:t>*New Jersey: no AI statute, but existing discrimination law already reaches AI:*</a:t>
            </a:r>
            <a:endParaRPr/>
          </a:p>
          <a:p xmlns:a="http://schemas.openxmlformats.org/drawingml/2006/main">
            <a:r>
              <a:t>New Jersey is the case that breaks the habit of scanning for AI-specific bills. It has no AI hiring statute. In January 2025 the Office of the Attorney General and the Division on Civil Rights issued guidance stating that the Law Against Discrimination (N.J.S.A. 10:5-1 et seq.) applies to algorithmic discrimination the same way it has long applied to other discriminatory conduct, in employment among other contexts. Three points matter for HR practice:</a:t>
            </a:r>
            <a:endParaRPr/>
          </a:p>
          <a:p xmlns:a="http://schemas.openxmlformats.org/drawingml/2006/main">
            <a:r>
              <a:t/>
            </a:r>
            <a:endParaRPr/>
          </a:p>
          <a:p xmlns:a="http://schemas.openxmlformats.org/drawingml/2006/main">
            <a:r>
              <a:t>- **No intent required, and a vendor tool is not a defense.** The guidance states that a covered entity "is not shielded from liability for algorithmic discrimination that results from the entity's use of an automated decision-making tool simply because the tool was developed by a third party or because the entity does not understand the inner workings of the tool."</a:t>
            </a:r>
            <a:endParaRPr/>
          </a:p>
          <a:p xmlns:a="http://schemas.openxmlformats.org/drawingml/2006/main">
            <a:r>
              <a:t>- **Disparate impact is covered.** Use of a tool with a disproportionate effect on a protected class is prohibited unless it is necessary to achieve a substantial, legitimate, nondiscriminatory interest and there is no less discriminatory alternative. Whether the employer tested the tool for bias or evaluated alternatives may be weighed as relevant evidence, which is the same pattern as Connecticut: your fairness audit becomes evidence.</a:t>
            </a:r>
            <a:endParaRPr/>
          </a:p>
          <a:p xmlns:a="http://schemas.openxmlformats.org/drawingml/2006/main">
            <a:r>
              <a:t>- **Reasonable accommodations are in scope.** A tool can violate the LAD by being inaccessible or by penalizing someone who uses an accommodation. The guidance's example is a typing-speed screen that cannot read a non-traditional keyboard.</a:t>
            </a:r>
            <a:endParaRPr/>
          </a:p>
          <a:p xmlns:a="http://schemas.openxmlformats.org/drawingml/2006/main">
            <a:r>
              <a:t/>
            </a:r>
            <a:endParaRPr/>
          </a:p>
          <a:p xmlns:a="http://schemas.openxmlformats.org/drawingml/2006/main">
            <a:r>
              <a:t>Two limits to state accurately when you teach this. The guidance is interpretive: it says on its face that it imposes no requirements beyond the LAD and will not be enforced as a substitute for enforcing the LAD. And it carries no effective date, because the underlying statute has been in force for decades. Do not present it as a new obligation that switched on in 2025. The takeaway for the class is the general one: a state with no AI bill is not a state with no AI exposure.</a:t>
            </a:r>
            <a:endParaRPr/>
          </a:p>
          <a:p xmlns:a="http://schemas.openxmlformats.org/drawingml/2006/main">
            <a:r>
              <a:t/>
            </a:r>
            <a:endParaRPr/>
          </a:p>
          <a:p xmlns:a="http://schemas.openxmlformats.org/drawingml/2006/main">
            <a:r>
              <a:t>*GDPR and CCPA:*</a:t>
            </a:r>
            <a:endParaRPr/>
          </a:p>
          <a:p xmlns:a="http://schemas.openxmlformats.org/drawingml/2006/main">
            <a:r>
              <a:t>Employees in covered jurisdictions have rights regarding automated decision-making. Know which of your employees are covered and how your AI use cases interact with their rights. See the California-specific rules above for the current state of play there.</a:t>
            </a:r>
            <a:endParaRPr/>
          </a:p>
          <a:p xmlns:a="http://schemas.openxmlformats.org/drawingml/2006/main">
            <a:r>
              <a:t/>
            </a:r>
            <a:endParaRPr/>
          </a:p>
          <a:p xmlns:a="http://schemas.openxmlformats.org/drawingml/2006/main">
            <a:r>
              <a:t>*UK: Data (Use and Access) Act 2025 replaces GDPR Article 22:*</a:t>
            </a:r>
            <a:endParaRPr/>
          </a:p>
          <a:p xmlns:a="http://schemas.openxmlformats.org/drawingml/2006/main">
            <a:r>
              <a:t>Section 80 of the UK's Data (Use and Access) Act 2025 took effect February 5, 2026 (Commencement Regulations SI 2026/82) and substitutes Article 22 of the UK GDPR with new Articles 22A to 22D. The new regime permits solely automated "significant decisions," those with a legal or similarly significant effect, more broadly than before, but requires safeguards: notice to the individual, the ability to make representations, the right to human intervention, and the right to contest the decision. Stricter restrictions still apply where special category data is used. Treat this as a distinct regime from EU GDPR Article 22, not an equivalent, for any AI use case touching UK-based workers or candidates.</a:t>
            </a:r>
            <a:endParaRPr/>
          </a:p>
          <a:p xmlns:a="http://schemas.openxmlformats.org/drawingml/2006/main">
            <a:r>
              <a:t/>
            </a:r>
            <a:endParaRPr/>
          </a:p>
          <a:p xmlns:a="http://schemas.openxmlformats.org/drawingml/2006/main">
            <a:r>
              <a:t>The ICO is already signaling how it will police this in recruitment specifically. A March 2026 ICO report on automated decision-making in hiring found many employers don't recognize they're doing ADM at all, and that "human review" in practice often amounts to rubber-stamping rather than a reviewer with real authority to change the outcome. Following that report, the ICO opened a consultation on draft ADM guidance, worth checking for the final version before relying on the March findings alone. Build the oversight role description to survive that scrutiny, not just to check the box.</a:t>
            </a:r>
            <a:endParaRPr/>
          </a:p>
          <a:p xmlns:a="http://schemas.openxmlformats.org/drawingml/2006/main">
            <a:r>
              <a:t/>
            </a:r>
            <a:endParaRPr/>
          </a:p>
          <a:p xmlns:a="http://schemas.openxmlformats.org/drawingml/2006/main">
            <a:r>
              <a:t>*Canada: no federal AI employment law, but Ontario requires disclosure:*</a:t>
            </a:r>
            <a:endParaRPr/>
          </a:p>
          <a:p xmlns:a="http://schemas.openxmlformats.org/drawingml/2006/main">
            <a:r>
              <a:t>Canada's federal AI bill (AIDA, part of Bill C-27) died when Parliament prorogued in January 2025 and has not been revived. AI regulation there runs through existing privacy, human rights, and sector law instead. Ontario is the exception: since January 1, 2026, employers with 25+ employees must disclose in publicly advertised job postings whether AI is used to screen, assess, or select candidates (Employment Standards Act, 2000 amendment).</a:t>
            </a:r>
            <a:endParaRPr/>
          </a:p>
          <a:p xmlns:a="http://schemas.openxmlformats.org/drawingml/2006/main">
            <a:r>
              <a:t/>
            </a:r>
            <a:endParaRPr/>
          </a:p>
          <a:p xmlns:a="http://schemas.openxmlformats.org/drawingml/2006/main">
            <a:r>
              <a:t>*The "AI as a manager" trap:*</a:t>
            </a:r>
            <a:endParaRPr/>
          </a:p>
          <a:p xmlns:a="http://schemas.openxmlformats.org/drawingml/2006/main">
            <a:r>
              <a:t>AI that monitors, evaluates, or scores employees without their knowledge, even for legitimate purposes, creates legal and trust exposure. Transparency is not just ethical, it's protective.</a:t>
            </a:r>
            <a:endParaRPr/>
          </a:p>
          <a:p xmlns:a="http://schemas.openxmlformats.org/drawingml/2006/main">
            <a:r>
              <a:t/>
            </a:r>
            <a:endParaRPr/>
          </a:p>
          <a:p xmlns:a="http://schemas.openxmlformats.org/drawingml/2006/main">
            <a:r>
              <a:t>**Scenario practice cards:**</a:t>
            </a:r>
            <a:endParaRPr/>
          </a:p>
          <a:p xmlns:a="http://schemas.openxmlformats.org/drawingml/2006/main">
            <a:r>
              <a:t/>
            </a:r>
            <a:endParaRPr/>
          </a:p>
          <a:p xmlns:a="http://schemas.openxmlformats.org/drawingml/2006/main">
            <a:r>
              <a:t>Print or share these four scenarios. Groups of 3–4 discuss: Is this use appropriate? What are the risks? What would you change?</a:t>
            </a:r>
            <a:endParaRPr/>
          </a:p>
          <a:p xmlns:a="http://schemas.openxmlformats.org/drawingml/2006/main">
            <a:r>
              <a:t/>
            </a:r>
            <a:endParaRPr/>
          </a:p>
          <a:p xmlns:a="http://schemas.openxmlformats.org/drawingml/2006/main">
            <a:r>
              <a:t>&gt; **Scenario A:** An AI tool automatically rejects resumes with gaps of more than 6 months without showing them to a recruiter.</a:t>
            </a:r>
            <a:endParaRPr/>
          </a:p>
          <a:p xmlns:a="http://schemas.openxmlformats.org/drawingml/2006/main">
            <a:r>
              <a:t/>
            </a:r>
            <a:endParaRPr/>
          </a:p>
          <a:p xmlns:a="http://schemas.openxmlformats.org/drawingml/2006/main">
            <a:r>
              <a:t>&gt; **Scenario B:** An HRBP uses an AI writing assistant to draft a PIP for an employee, then reviews and edits it before sharing with the manager.</a:t>
            </a:r>
            <a:endParaRPr/>
          </a:p>
          <a:p xmlns:a="http://schemas.openxmlformats.org/drawingml/2006/main">
            <a:r>
              <a:t/>
            </a:r>
            <a:endParaRPr/>
          </a:p>
          <a:p xmlns:a="http://schemas.openxmlformats.org/drawingml/2006/main">
            <a:r>
              <a:t>&gt; **Scenario C:** People Analytics builds an attrition risk model that scores all employees monthly and shares the scores directly with managers.</a:t>
            </a:r>
            <a:endParaRPr/>
          </a:p>
          <a:p xmlns:a="http://schemas.openxmlformats.org/drawingml/2006/main">
            <a:r>
              <a:t/>
            </a:r>
            <a:endParaRPr/>
          </a:p>
          <a:p xmlns:a="http://schemas.openxmlformats.org/drawingml/2006/main">
            <a:r>
              <a:t>&gt; **Scenario D:** An AI chatbot answers benefits questions for employees. It sometimes gives incorrect information but flags that users should confirm with HR.</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4: Building and scaling AI use cases</a:t>
            </a:r>
            <a:endParaRPr/>
          </a:p>
          <a:p xmlns:a="http://schemas.openxmlformats.org/drawingml/2006/main">
            <a:r>
              <a:t/>
            </a:r>
            <a:endParaRPr/>
          </a:p>
          <a:p xmlns:a="http://schemas.openxmlformats.org/drawingml/2006/main">
            <a:r>
              <a:t>**Learning objectives:**</a:t>
            </a:r>
            <a:endParaRPr/>
          </a:p>
          <a:p xmlns:a="http://schemas.openxmlformats.org/drawingml/2006/main">
            <a:r>
              <a:t>- Apply the prioritization matrix to identify your team's highest-value AI use cases</a:t>
            </a:r>
            <a:endParaRPr/>
          </a:p>
          <a:p xmlns:a="http://schemas.openxmlformats.org/drawingml/2006/main">
            <a:r>
              <a:t>- Define a use case with clear success metrics and governance requirements</a:t>
            </a:r>
            <a:endParaRPr/>
          </a:p>
          <a:p xmlns:a="http://schemas.openxmlformats.org/drawingml/2006/main">
            <a:r>
              <a:t>- Draft a basic implementation plan for a low-complexity use case</a:t>
            </a:r>
            <a:endParaRPr/>
          </a:p>
          <a:p xmlns:a="http://schemas.openxmlformats.org/drawingml/2006/main">
            <a:r>
              <a:t/>
            </a:r>
            <a:endParaRPr/>
          </a:p>
          <a:p xmlns:a="http://schemas.openxmlformats.org/drawingml/2006/main">
            <a:r>
              <a:t>**Session outline (2 hours):**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Opening: What does "scaling AI in HR" actually mean? |</a:t>
            </a:r>
            <a:endParaRPr/>
          </a:p>
          <a:p xmlns:a="http://schemas.openxmlformats.org/drawingml/2006/main">
            <a:r>
              <a:t>| 0:15–0:45 | Framework: From idea to deployment, the use case lifecycle |</a:t>
            </a:r>
            <a:endParaRPr/>
          </a:p>
          <a:p xmlns:a="http://schemas.openxmlformats.org/drawingml/2006/main">
            <a:r>
              <a:t>| 0:45–1:15 | Team exercise: Prioritization matrix applied to your team's top 5 ideas |</a:t>
            </a:r>
            <a:endParaRPr/>
          </a:p>
          <a:p xmlns:a="http://schemas.openxmlformats.org/drawingml/2006/main">
            <a:r>
              <a:t>| 1:15–1:45 | Small group: Draft a one-page use case spec for your top-ranked idea |</a:t>
            </a:r>
            <a:endParaRPr/>
          </a:p>
          <a:p xmlns:a="http://schemas.openxmlformats.org/drawingml/2006/main">
            <a:r>
              <a:t>| 1:45–2:00 | Gallery walk + feedback |</a:t>
            </a:r>
            <a:endParaRPr/>
          </a:p>
          <a:p xmlns:a="http://schemas.openxmlformats.org/drawingml/2006/main">
            <a:r>
              <a:t/>
            </a:r>
            <a:endParaRPr/>
          </a:p>
          <a:p xmlns:a="http://schemas.openxmlformats.org/drawingml/2006/main">
            <a:r>
              <a:t>**Use case lifecycle:**</a:t>
            </a:r>
            <a:endParaRPr/>
          </a:p>
          <a:p xmlns:a="http://schemas.openxmlformats.org/drawingml/2006/main">
            <a:r>
              <a:t/>
            </a:r>
            <a:endParaRPr/>
          </a:p>
          <a:p xmlns:a="http://schemas.openxmlformats.org/drawingml/2006/main">
            <a:r>
              <a:t>```</a:t>
            </a:r>
            <a:endParaRPr/>
          </a:p>
          <a:p xmlns:a="http://schemas.openxmlformats.org/drawingml/2006/main">
            <a:r>
              <a:t>Discover → Prioritize → Design → Pilot → Evaluate → Scale</a:t>
            </a:r>
            <a:endParaRPr/>
          </a:p>
          <a:p xmlns:a="http://schemas.openxmlformats.org/drawingml/2006/main">
            <a:r>
              <a:t>   ↑                                          |</a:t>
            </a:r>
            <a:endParaRPr/>
          </a:p>
          <a:p xmlns:a="http://schemas.openxmlformats.org/drawingml/2006/main">
            <a:r>
              <a:t>   └──────────────── iterate ─────────────────┘</a:t>
            </a:r>
            <a:endParaRPr/>
          </a:p>
          <a:p xmlns:a="http://schemas.openxmlformats.org/drawingml/2006/main">
            <a:r>
              <a:t>```</a:t>
            </a:r>
            <a:endParaRPr/>
          </a:p>
          <a:p xmlns:a="http://schemas.openxmlformats.org/drawingml/2006/main">
            <a:r>
              <a:t/>
            </a:r>
            <a:endParaRPr/>
          </a:p>
          <a:p xmlns:a="http://schemas.openxmlformats.org/drawingml/2006/main">
            <a:r>
              <a:t>- **Discover:** What problem are we solving? Who feels it most?</a:t>
            </a:r>
            <a:endParaRPr/>
          </a:p>
          <a:p xmlns:a="http://schemas.openxmlformats.org/drawingml/2006/main">
            <a:r>
              <a:t>- **Prioritize:** Use the matrix. Don't skip this.</a:t>
            </a:r>
            <a:endParaRPr/>
          </a:p>
          <a:p xmlns:a="http://schemas.openxmlformats.org/drawingml/2006/main">
            <a:r>
              <a:t>- **Design:** Define inputs, outputs, human review gates, success metrics, and fallback</a:t>
            </a:r>
            <a:endParaRPr/>
          </a:p>
          <a:p xmlns:a="http://schemas.openxmlformats.org/drawingml/2006/main">
            <a:r>
              <a:t>- **Pilot:** Small scope, high observation. 4–8 weeks.</a:t>
            </a:r>
            <a:endParaRPr/>
          </a:p>
          <a:p xmlns:a="http://schemas.openxmlformats.org/drawingml/2006/main">
            <a:r>
              <a:t>- **Evaluate:** Did it work? For whom? What didn't?</a:t>
            </a:r>
            <a:endParaRPr/>
          </a:p>
          <a:p xmlns:a="http://schemas.openxmlformats.org/drawingml/2006/main">
            <a:r>
              <a:t>- **Scale:** Expand with the lessons from pilot baked in</a:t>
            </a:r>
            <a:endParaRPr/>
          </a:p>
          <a:p xmlns:a="http://schemas.openxmlformats.org/drawingml/2006/main">
            <a:r>
              <a:t/>
            </a:r>
            <a:endParaRPr/>
          </a:p>
          <a:p xmlns:a="http://schemas.openxmlformats.org/drawingml/2006/main">
            <a:r>
              <a:t>**One-page use case spec template:**</a:t>
            </a:r>
            <a:endParaRPr/>
          </a:p>
          <a:p xmlns:a="http://schemas.openxmlformats.org/drawingml/2006/main">
            <a:r>
              <a:t/>
            </a:r>
            <a:endParaRPr/>
          </a:p>
          <a:p xmlns:a="http://schemas.openxmlformats.org/drawingml/2006/main">
            <a:r>
              <a:t>Participants complete this for their team's top-ranked use case:</a:t>
            </a:r>
            <a:endParaRPr/>
          </a:p>
          <a:p xmlns:a="http://schemas.openxmlformats.org/drawingml/2006/main">
            <a:r>
              <a:t/>
            </a:r>
            <a:endParaRPr/>
          </a:p>
          <a:p xmlns:a="http://schemas.openxmlformats.org/drawingml/2006/main">
            <a:r>
              <a:t>```</a:t>
            </a:r>
            <a:endParaRPr/>
          </a:p>
          <a:p xmlns:a="http://schemas.openxmlformats.org/drawingml/2006/main">
            <a:r>
              <a:t>Use case name:</a:t>
            </a:r>
            <a:endParaRPr/>
          </a:p>
          <a:p xmlns:a="http://schemas.openxmlformats.org/drawingml/2006/main">
            <a:r>
              <a:t>Problem it solves (1 sentence):</a:t>
            </a:r>
            <a:endParaRPr/>
          </a:p>
          <a:p xmlns:a="http://schemas.openxmlformats.org/drawingml/2006/main">
            <a:r>
              <a:t>Who benefits and how:</a:t>
            </a:r>
            <a:endParaRPr/>
          </a:p>
          <a:p xmlns:a="http://schemas.openxmlformats.org/drawingml/2006/main">
            <a:r>
              <a:t>AI approach (Rules / Augment / Assist / Human-led / Analytics):</a:t>
            </a:r>
            <a:endParaRPr/>
          </a:p>
          <a:p xmlns:a="http://schemas.openxmlformats.org/drawingml/2006/main">
            <a:r>
              <a:t>Data needed:</a:t>
            </a:r>
            <a:endParaRPr/>
          </a:p>
          <a:p xmlns:a="http://schemas.openxmlformats.org/drawingml/2006/main">
            <a:r>
              <a:t>Human review gate:</a:t>
            </a:r>
            <a:endParaRPr/>
          </a:p>
          <a:p xmlns:a="http://schemas.openxmlformats.org/drawingml/2006/main">
            <a:r>
              <a:t>Success metric(s):</a:t>
            </a:r>
            <a:endParaRPr/>
          </a:p>
          <a:p xmlns:a="http://schemas.openxmlformats.org/drawingml/2006/main">
            <a:r>
              <a:t>What could go wrong:</a:t>
            </a:r>
            <a:endParaRPr/>
          </a:p>
          <a:p xmlns:a="http://schemas.openxmlformats.org/drawingml/2006/main">
            <a:r>
              <a:t>Governance requirements (from risk assessment):</a:t>
            </a:r>
            <a:endParaRPr/>
          </a:p>
          <a:p xmlns:a="http://schemas.openxmlformats.org/drawingml/2006/main">
            <a:r>
              <a:t>First step to move forward:</a:t>
            </a:r>
            <a:endParaRPr/>
          </a:p>
          <a:p xmlns:a="http://schemas.openxmlformats.org/drawingml/2006/main">
            <a:r>
              <a:t>```</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Assessment and certification</a:t>
            </a:r>
            <a:endParaRPr/>
          </a:p>
          <a:p xmlns:a="http://schemas.openxmlformats.org/drawingml/2006/main">
            <a:r>
              <a:t/>
            </a:r>
            <a:endParaRPr/>
          </a:p>
          <a:p xmlns:a="http://schemas.openxmlformats.org/drawingml/2006/main">
            <a:r>
              <a:t>An organization may choose to give participants who complete all four modules</a:t>
            </a:r>
            <a:endParaRPr/>
          </a:p>
          <a:p xmlns:a="http://schemas.openxmlformats.org/drawingml/2006/main">
            <a:r>
              <a:t>and the hands-on components an **HR AI Practitioner** acknowledgment. This is a</a:t>
            </a:r>
            <a:endParaRPr/>
          </a:p>
          <a:p xmlns:a="http://schemas.openxmlformats.org/drawingml/2006/main">
            <a:r>
              <a:t>proposed internal recognition, not an accredited certification or evidence of</a:t>
            </a:r>
            <a:endParaRPr/>
          </a:p>
          <a:p xmlns:a="http://schemas.openxmlformats.org/drawingml/2006/main">
            <a:r>
              <a:t>professional competence. No delivery or learning outcome is claimed here.</a:t>
            </a:r>
            <a:endParaRPr/>
          </a:p>
          <a:p xmlns:a="http://schemas.openxmlformats.org/drawingml/2006/main">
            <a:r>
              <a:t/>
            </a:r>
            <a:endParaRPr/>
          </a:p>
          <a:p xmlns:a="http://schemas.openxmlformats.org/drawingml/2006/main">
            <a:r>
              <a:t>Optional extension: Participants who complete a full use case spec and present it to the HR Technology team are recognized as **HR AI Champions**, an informal internal designation that supports peer enablement.</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Facilitator notes</a:t>
            </a:r>
            <a:endParaRPr/>
          </a:p>
          <a:p xmlns:a="http://schemas.openxmlformats.org/drawingml/2006/main">
            <a:r>
              <a:t/>
            </a:r>
            <a:endParaRPr/>
          </a:p>
          <a:p xmlns:a="http://schemas.openxmlformats.org/drawingml/2006/main">
            <a:r>
              <a:t>These are facilitation suggestions, not measured delivery findings. Use synthetic examples; removing names alone does not establish anonymity. Do not upload real employee, candidate, compensation, or employer-confidential information for a training exercise.</a:t>
            </a:r>
            <a:endParaRPr/>
          </a:p>
          <a:p xmlns:a="http://schemas.openxmlformats.org/drawingml/2006/main">
            <a:r>
              <a:t/>
            </a:r>
            <a:endParaRPr/>
          </a:p>
          <a:p xmlns:a="http://schemas.openxmlformats.org/drawingml/2006/main">
            <a:r>
              <a:t>- Budget flex time in Module 3 for questions and disagreement about risk.</a:t>
            </a:r>
            <a:endParaRPr/>
          </a:p>
          <a:p xmlns:a="http://schemas.openxmlformats.org/drawingml/2006/main">
            <a:r>
              <a:t>- Protect time for the Module 2 lab, and check whether participants can identify errors and verify outputs afterward.</a:t>
            </a:r>
            <a:endParaRPr/>
          </a:p>
          <a:p xmlns:a="http://schemas.openxmlformats.org/drawingml/2006/main">
            <a:r>
              <a:t>- Adapt synthetic scenarios to familiar workflows, without identifiable employee cases or confidential documents.</a:t>
            </a:r>
            <a:endParaRPr/>
          </a:p>
          <a:p xmlns:a="http://schemas.openxmlformats.org/drawingml/2006/main">
            <a:r>
              <a:t>- Keep an AI skeptic on the facilitation team if possible. The best discussions happen when the room has range.</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snapshot: 13 October 2026. Curriculum SHA-256: 5ee769258ac9b95a3c514b64dcd5b22215e40bac8621054ffb452bffc244827a. This deck summarizes the source; no human evaluation, delivery outcome or legal approval is claimed.</a:t>
            </a:r>
            <a:endParaRPr/>
          </a:p>
          <a:p xmlns:a="http://schemas.openxmlformats.org/drawingml/2006/main">
            <a:r>
              <a:t/>
            </a:r>
            <a:endParaRPr/>
          </a:p>
          <a:p xmlns:a="http://schemas.openxmlformats.org/drawingml/2006/main">
            <a:r>
              <a:t># HR AI literacy curriculum</a:t>
            </a:r>
            <a:endParaRPr/>
          </a:p>
          <a:p xmlns:a="http://schemas.openxmlformats.org/drawingml/2006/main">
            <a:r>
              <a:t/>
            </a:r>
            <a:endParaRPr/>
          </a:p>
          <a:p xmlns:a="http://schemas.openxmlformats.org/drawingml/2006/main">
            <a:r>
              <a:t>A 4-module learning program for HR professionals at all experience levels. Designed to be delivered as a facilitated series over 4–6 weeks, or adapted for self-paced completion.</a:t>
            </a:r>
            <a:endParaRPr/>
          </a:p>
          <a:p xmlns:a="http://schemas.openxmlformats.org/drawingml/2006/main">
            <a:r>
              <a:t/>
            </a:r>
            <a:endParaRPr/>
          </a:p>
          <a:p xmlns:a="http://schemas.openxmlformats.org/drawingml/2006/main">
            <a:r>
              <a:t>**Total time:** about 7 hours of sessions, plus async reading and hands-on practice (roughly 8 hours in all)</a:t>
            </a:r>
            <a:endParaRPr/>
          </a:p>
          <a:p xmlns:a="http://schemas.openxmlformats.org/drawingml/2006/main">
            <a:r>
              <a:t>**Format:** Workshop + async reading + hands-on practice</a:t>
            </a:r>
            <a:endParaRPr/>
          </a:p>
          <a:p xmlns:a="http://schemas.openxmlformats.org/drawingml/2006/main">
            <a:r>
              <a:t>**Audience:** All People Team members</a:t>
            </a:r>
            <a:endParaRPr/>
          </a:p>
          <a:p xmlns:a="http://schemas.openxmlformats.org/drawingml/2006/main">
            <a:r>
              <a:t>**Prerequisite:** None</a:t>
            </a:r>
            <a:endParaRPr/>
          </a:p>
          <a:p xmlns:a="http://schemas.openxmlformats.org/drawingml/2006/main">
            <a:r>
              <a:t/>
            </a:r>
            <a:endParaRPr/>
          </a:p>
          <a:p xmlns:a="http://schemas.openxmlformats.org/drawingml/2006/main">
            <a:r>
              <a:t>**Lab prerequisite:** The facilitator confirms an organization-approved tool,</a:t>
            </a:r>
            <a:endParaRPr/>
          </a:p>
          <a:p xmlns:a="http://schemas.openxmlformats.org/drawingml/2006/main">
            <a:r>
              <a:t>provider handling, and a synthetic-only data boundary before any exercise.</a:t>
            </a:r>
            <a:endParaRPr/>
          </a:p>
          <a:p xmlns:a="http://schemas.openxmlformats.org/drawingml/2006/main">
            <a:r>
              <a:t>Modules 1-3 and the required governance approvals precede any real-work pilot.</a:t>
            </a:r>
            <a:endParaRPr/>
          </a:p>
          <a:p xmlns:a="http://schemas.openxmlformats.org/drawingml/2006/main">
            <a:r>
              <a:t>This curriculum does not authorize employee-data processing.</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Program overview</a:t>
            </a:r>
            <a:endParaRPr/>
          </a:p>
          <a:p xmlns:a="http://schemas.openxmlformats.org/drawingml/2006/main">
            <a:r>
              <a:t/>
            </a:r>
            <a:endParaRPr/>
          </a:p>
          <a:p xmlns:a="http://schemas.openxmlformats.org/drawingml/2006/main">
            <a:r>
              <a:t>| Module | Title | Duration | Format |</a:t>
            </a:r>
            <a:endParaRPr/>
          </a:p>
          <a:p xmlns:a="http://schemas.openxmlformats.org/drawingml/2006/main">
            <a:r>
              <a:t>|---|---|---|---|</a:t>
            </a:r>
            <a:endParaRPr/>
          </a:p>
          <a:p xmlns:a="http://schemas.openxmlformats.org/drawingml/2006/main">
            <a:r>
              <a:t>| 1 | How AI works, what HR professionals actually need to know | 90 min | Workshop |</a:t>
            </a:r>
            <a:endParaRPr/>
          </a:p>
          <a:p xmlns:a="http://schemas.openxmlformats.org/drawingml/2006/main">
            <a:r>
              <a:t>| 2 | Using AI in your daily HR work | 2 hours | Workshop + lab |</a:t>
            </a:r>
            <a:endParaRPr/>
          </a:p>
          <a:p xmlns:a="http://schemas.openxmlformats.org/drawingml/2006/main">
            <a:r>
              <a:t>| 3 | Governance, ethics, and responsible use | 90 min | Workshop |</a:t>
            </a:r>
            <a:endParaRPr/>
          </a:p>
          <a:p xmlns:a="http://schemas.openxmlformats.org/drawingml/2006/main">
            <a:r>
              <a:t>| 4 | Building and scaling AI use cases | 2 hours | Workshop + project |</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1: How AI works, what HR professionals actually need to know</a:t>
            </a:r>
            <a:endParaRPr/>
          </a:p>
          <a:p xmlns:a="http://schemas.openxmlformats.org/drawingml/2006/main">
            <a:r>
              <a:t/>
            </a:r>
            <a:endParaRPr/>
          </a:p>
          <a:p xmlns:a="http://schemas.openxmlformats.org/drawingml/2006/main">
            <a:r>
              <a:t>**Learning objectives:**</a:t>
            </a:r>
            <a:endParaRPr/>
          </a:p>
          <a:p xmlns:a="http://schemas.openxmlformats.org/drawingml/2006/main">
            <a:r>
              <a:t>- Explain the difference between traditional automation and generative AI</a:t>
            </a:r>
            <a:endParaRPr/>
          </a:p>
          <a:p xmlns:a="http://schemas.openxmlformats.org/drawingml/2006/main">
            <a:r>
              <a:t>- Describe why AI "hallucinates" and how to mitigate it in HR contexts</a:t>
            </a:r>
            <a:endParaRPr/>
          </a:p>
          <a:p xmlns:a="http://schemas.openxmlformats.org/drawingml/2006/main">
            <a:r>
              <a:t>- Identify which HR tasks are good candidates for AI assistance and which are not</a:t>
            </a:r>
            <a:endParaRPr/>
          </a:p>
          <a:p xmlns:a="http://schemas.openxmlformats.org/drawingml/2006/main">
            <a:r>
              <a:t/>
            </a:r>
            <a:endParaRPr/>
          </a:p>
          <a:p xmlns:a="http://schemas.openxmlformats.org/drawingml/2006/main">
            <a:r>
              <a:t>**Session outline (90 minutes):**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0:00–0:10 | Opening: What do you already believe about AI? (quick poll + discussion) |</a:t>
            </a:r>
            <a:endParaRPr/>
          </a:p>
          <a:p xmlns:a="http://schemas.openxmlformats.org/drawingml/2006/main">
            <a:r>
              <a:t>| 0:10–0:30 | Concept: How LLMs work, without the jargon (facilitator presentation) |</a:t>
            </a:r>
            <a:endParaRPr/>
          </a:p>
          <a:p xmlns:a="http://schemas.openxmlformats.org/drawingml/2006/main">
            <a:r>
              <a:t>| 0:30–0:45 | Concept: Hallucination, confidence, and why AI makes things up |</a:t>
            </a:r>
            <a:endParaRPr/>
          </a:p>
          <a:p xmlns:a="http://schemas.openxmlformats.org/drawingml/2006/main">
            <a:r>
              <a:t>| 0:45–1:05 | Exercise: Spot the hallucination (participants identify errors in AI-generated HR content) |</a:t>
            </a:r>
            <a:endParaRPr/>
          </a:p>
          <a:p xmlns:a="http://schemas.openxmlformats.org/drawingml/2006/main">
            <a:r>
              <a:t>| 1:05–1:20 | Discussion: Where should HR use AI? Where should we be cautious? |</a:t>
            </a:r>
            <a:endParaRPr/>
          </a:p>
          <a:p xmlns:a="http://schemas.openxmlformats.org/drawingml/2006/main">
            <a:r>
              <a:t>| 1:20–1:30 | Wrap-up + homework: Try one AI tool before next session |</a:t>
            </a:r>
            <a:endParaRPr/>
          </a:p>
          <a:p xmlns:a="http://schemas.openxmlformats.org/drawingml/2006/main">
            <a:r>
              <a:t/>
            </a:r>
            <a:endParaRPr/>
          </a:p>
          <a:p xmlns:a="http://schemas.openxmlformats.org/drawingml/2006/main">
            <a:r>
              <a:t>**Key concepts to cover:**</a:t>
            </a:r>
            <a:endParaRPr/>
          </a:p>
          <a:p xmlns:a="http://schemas.openxmlformats.org/drawingml/2006/main">
            <a:r>
              <a:t/>
            </a:r>
            <a:endParaRPr/>
          </a:p>
          <a:p xmlns:a="http://schemas.openxmlformats.org/drawingml/2006/main">
            <a:r>
              <a:t>*What LLMs actually are:*</a:t>
            </a:r>
            <a:endParaRPr/>
          </a:p>
          <a:p xmlns:a="http://schemas.openxmlformats.org/drawingml/2006/main">
            <a:r>
              <a:t>Large language models predict the next most likely word given context. They don't "know" things the way a database knows things, they pattern-match against training data. This is why they can sound authoritative while being wrong.</a:t>
            </a:r>
            <a:endParaRPr/>
          </a:p>
          <a:p xmlns:a="http://schemas.openxmlformats.org/drawingml/2006/main">
            <a:r>
              <a:t/>
            </a:r>
            <a:endParaRPr/>
          </a:p>
          <a:p xmlns:a="http://schemas.openxmlformats.org/drawingml/2006/main">
            <a:r>
              <a:t>*The spectrum from rules to agents:*</a:t>
            </a:r>
            <a:endParaRPr/>
          </a:p>
          <a:p xmlns:a="http://schemas.openxmlformats.org/drawingml/2006/main">
            <a:r>
              <a:t>```</a:t>
            </a:r>
            <a:endParaRPr/>
          </a:p>
          <a:p xmlns:a="http://schemas.openxmlformats.org/drawingml/2006/main">
            <a:r>
              <a:t>Rules            →  Assist / Augment              →  Agent</a:t>
            </a:r>
            <a:endParaRPr/>
          </a:p>
          <a:p xmlns:a="http://schemas.openxmlformats.org/drawingml/2006/main">
            <a:r>
              <a:t>(deterministic)     (a person decides or owns)       (a model acts across several steps)</a:t>
            </a:r>
            <a:endParaRPr/>
          </a:p>
          <a:p xmlns:a="http://schemas.openxmlformats.org/drawingml/2006/main">
            <a:r>
              <a:t>```</a:t>
            </a:r>
            <a:endParaRPr/>
          </a:p>
          <a:p xmlns:a="http://schemas.openxmlformats.org/drawingml/2006/main">
            <a:r>
              <a:t>Use rules when rules reliably give the right answer. Most HR uses of AI belong in the middle. An agent, where a model takes several actions through tools with limited review between them, has to earn that autonomy through evidence and brings new governance requirements.</a:t>
            </a:r>
            <a:endParaRPr/>
          </a:p>
          <a:p xmlns:a="http://schemas.openxmlformats.org/drawingml/2006/main">
            <a:r>
              <a:t/>
            </a:r>
            <a:endParaRPr/>
          </a:p>
          <a:p xmlns:a="http://schemas.openxmlformats.org/drawingml/2006/main">
            <a:r>
              <a:t>*Prompt quality drives output quality:*</a:t>
            </a:r>
            <a:endParaRPr/>
          </a:p>
          <a:p xmlns:a="http://schemas.openxmlformats.org/drawingml/2006/main">
            <a:r>
              <a:t>Clear prompts help define a task and its boundaries. Output quality also depends on the model, source material, workflow controls, and verification. A well-written prompt does not establish factual accuracy or safe HR judgment.</a:t>
            </a:r>
            <a:endParaRPr/>
          </a:p>
          <a:p xmlns:a="http://schemas.openxmlformats.org/drawingml/2006/main">
            <a:r>
              <a:t/>
            </a:r>
            <a:endParaRPr/>
          </a:p>
          <a:p xmlns:a="http://schemas.openxmlformats.org/drawingml/2006/main">
            <a:r>
              <a:t>**Pre-reading (assign before session):**</a:t>
            </a:r>
            <a:endParaRPr/>
          </a:p>
          <a:p xmlns:a="http://schemas.openxmlformats.org/drawingml/2006/main">
            <a:r>
              <a:t>- [Your organization's AI use policy](../03-governance/ai-use-policy.md)</a:t>
            </a:r>
            <a:endParaRPr/>
          </a:p>
          <a:p xmlns:a="http://schemas.openxmlformats.org/drawingml/2006/main">
            <a:r>
              <a:t>- One-page primer on generative AI for non-technical audiences (create or source)</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2: Using AI in your daily HR work</a:t>
            </a:r>
            <a:endParaRPr/>
          </a:p>
          <a:p xmlns:a="http://schemas.openxmlformats.org/drawingml/2006/main">
            <a:r>
              <a:t/>
            </a:r>
            <a:endParaRPr/>
          </a:p>
          <a:p xmlns:a="http://schemas.openxmlformats.org/drawingml/2006/main">
            <a:r>
              <a:t>**Learning objectives:**</a:t>
            </a:r>
            <a:endParaRPr/>
          </a:p>
          <a:p xmlns:a="http://schemas.openxmlformats.org/drawingml/2006/main">
            <a:r>
              <a:t>- Write effective prompts for HR use cases</a:t>
            </a:r>
            <a:endParaRPr/>
          </a:p>
          <a:p xmlns:a="http://schemas.openxmlformats.org/drawingml/2006/main">
            <a:r>
              <a:t>- Use the prompt library for at least 3 HR workflows</a:t>
            </a:r>
            <a:endParaRPr/>
          </a:p>
          <a:p xmlns:a="http://schemas.openxmlformats.org/drawingml/2006/main">
            <a:r>
              <a:t>- Identify when to use AI, when to verify AI output, and when not to use it</a:t>
            </a:r>
            <a:endParaRPr/>
          </a:p>
          <a:p xmlns:a="http://schemas.openxmlformats.org/drawingml/2006/main">
            <a:r>
              <a:t/>
            </a:r>
            <a:endParaRPr/>
          </a:p>
          <a:p xmlns:a="http://schemas.openxmlformats.org/drawingml/2006/main">
            <a:r>
              <a:t>**Session outline (2 hours including lab):**</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Share-back from Module 1 homework, what did you try, what happened? |</a:t>
            </a:r>
            <a:endParaRPr/>
          </a:p>
          <a:p xmlns:a="http://schemas.openxmlformats.org/drawingml/2006/main">
            <a:r>
              <a:t>| 0:15–0:45 | Prompt engineering for HR: the four elements of a good prompt |</a:t>
            </a:r>
            <a:endParaRPr/>
          </a:p>
          <a:p xmlns:a="http://schemas.openxmlformats.org/drawingml/2006/main">
            <a:r>
              <a:t>| 0:45–1:10 | Live demo: Onboarding plan, performance review draft, policy Q&amp;A |</a:t>
            </a:r>
            <a:endParaRPr/>
          </a:p>
          <a:p xmlns:a="http://schemas.openxmlformats.org/drawingml/2006/main">
            <a:r>
              <a:t>| 1:10–1:50 | Hands-on lab: Each participant works through 2 prompts using synthetic HR scenarios in organization-approved tools |</a:t>
            </a:r>
            <a:endParaRPr/>
          </a:p>
          <a:p xmlns:a="http://schemas.openxmlformats.org/drawingml/2006/main">
            <a:r>
              <a:t>| 1:50–2:00 | Debrief: What surprised you? What didn't work? |</a:t>
            </a:r>
            <a:endParaRPr/>
          </a:p>
          <a:p xmlns:a="http://schemas.openxmlformats.org/drawingml/2006/main">
            <a:r>
              <a:t/>
            </a:r>
            <a:endParaRPr/>
          </a:p>
          <a:p xmlns:a="http://schemas.openxmlformats.org/drawingml/2006/main">
            <a:r>
              <a:t>**The four elements of an effective HR prompt:**</a:t>
            </a:r>
            <a:endParaRPr/>
          </a:p>
          <a:p xmlns:a="http://schemas.openxmlformats.org/drawingml/2006/main">
            <a:r>
              <a:t/>
            </a:r>
            <a:endParaRPr/>
          </a:p>
          <a:p xmlns:a="http://schemas.openxmlformats.org/drawingml/2006/main">
            <a:r>
              <a:t>1. **Role**: Define the task perspective, such as drafting support for an HRBP. A role instruction does not give the model professional authority.</a:t>
            </a:r>
            <a:endParaRPr/>
          </a:p>
          <a:p xmlns:a="http://schemas.openxmlformats.org/drawingml/2006/main">
            <a:r>
              <a:t/>
            </a:r>
            <a:endParaRPr/>
          </a:p>
          <a:p xmlns:a="http://schemas.openxmlformats.org/drawingml/2006/main">
            <a:r>
              <a:t>2. **Context**: Provide the specific details the AI needs. Role, tenure, team size, situation. Don't make the AI guess.</a:t>
            </a:r>
            <a:endParaRPr/>
          </a:p>
          <a:p xmlns:a="http://schemas.openxmlformats.org/drawingml/2006/main">
            <a:r>
              <a:t/>
            </a:r>
            <a:endParaRPr/>
          </a:p>
          <a:p xmlns:a="http://schemas.openxmlformats.org/drawingml/2006/main">
            <a:r>
              <a:t>3. **Task**: State clearly what you want it to produce. One output per prompt. "Draft a..." is clearer than "Help me with..."</a:t>
            </a:r>
            <a:endParaRPr/>
          </a:p>
          <a:p xmlns:a="http://schemas.openxmlformats.org/drawingml/2006/main">
            <a:r>
              <a:t/>
            </a:r>
            <a:endParaRPr/>
          </a:p>
          <a:p xmlns:a="http://schemas.openxmlformats.org/drawingml/2006/main">
            <a:r>
              <a:t>4. **Constraints**: Define length, tone, format, exclusions, and the verification needed. Check whether the output follows them.</a:t>
            </a:r>
            <a:endParaRPr/>
          </a:p>
          <a:p xmlns:a="http://schemas.openxmlformats.org/drawingml/2006/main">
            <a:r>
              <a:t/>
            </a:r>
            <a:endParaRPr/>
          </a:p>
          <a:p xmlns:a="http://schemas.openxmlformats.org/drawingml/2006/main">
            <a:r>
              <a:t>**Lab instructions:**</a:t>
            </a:r>
            <a:endParaRPr/>
          </a:p>
          <a:p xmlns:a="http://schemas.openxmlformats.org/drawingml/2006/main">
            <a:r>
              <a:t/>
            </a:r>
            <a:endParaRPr/>
          </a:p>
          <a:p xmlns:a="http://schemas.openxmlformats.org/drawingml/2006/main">
            <a:r>
              <a:t>Participants choose 2 prompts from the library that are relevant to their current work:</a:t>
            </a:r>
            <a:endParaRPr/>
          </a:p>
          <a:p xmlns:a="http://schemas.openxmlformats.org/drawingml/2006/main">
            <a:r>
              <a:t>1. Run the prompt with a fictional HR scenario in an organization-approved tool. Do not upload real employee, candidate, compensation, or confidential employer information.</a:t>
            </a:r>
            <a:endParaRPr/>
          </a:p>
          <a:p xmlns:a="http://schemas.openxmlformats.org/drawingml/2006/main">
            <a:r>
              <a:t>2. Evaluate the output: What's useful? What's wrong or missing? What would you change before using it?</a:t>
            </a:r>
            <a:endParaRPr/>
          </a:p>
          <a:p xmlns:a="http://schemas.openxmlformats.org/drawingml/2006/main">
            <a:r>
              <a:t>3. Iterate: Modify the prompt once based on what you learned and run it again</a:t>
            </a:r>
            <a:endParaRPr/>
          </a:p>
          <a:p xmlns:a="http://schemas.openxmlformats.org/drawingml/2006/main">
            <a:r>
              <a:t>4. Note: What changed between run 1 and run 2?</a:t>
            </a:r>
            <a:endParaRPr/>
          </a:p>
          <a:p xmlns:a="http://schemas.openxmlformats.org/drawingml/2006/main">
            <a:r>
              <a:t/>
            </a:r>
            <a:endParaRPr/>
          </a:p>
          <a:p xmlns:a="http://schemas.openxmlformats.org/drawingml/2006/main">
            <a:r>
              <a:t>**The verify-before-use rule:**</a:t>
            </a:r>
            <a:endParaRPr/>
          </a:p>
          <a:p xmlns:a="http://schemas.openxmlformats.org/drawingml/2006/main">
            <a:r>
              <a:t/>
            </a:r>
            <a:endParaRPr/>
          </a:p>
          <a:p xmlns:a="http://schemas.openxmlformats.org/drawingml/2006/main">
            <a:r>
              <a:t>Introduce and reinforce this heuristic:</a:t>
            </a:r>
            <a:endParaRPr/>
          </a:p>
          <a:p xmlns:a="http://schemas.openxmlformats.org/drawingml/2006/main">
            <a:r>
              <a:t>- Policy details → always verify against source system before sharing</a:t>
            </a:r>
            <a:endParaRPr/>
          </a:p>
          <a:p xmlns:a="http://schemas.openxmlformats.org/drawingml/2006/main">
            <a:r>
              <a:t>- Legal requirements → always verify with Legal before relying on</a:t>
            </a:r>
            <a:endParaRPr/>
          </a:p>
          <a:p xmlns:a="http://schemas.openxmlformats.org/drawingml/2006/main">
            <a:r>
              <a:t>- Factual claims → spot-check against a known source</a:t>
            </a:r>
            <a:endParaRPr/>
          </a:p>
          <a:p xmlns:a="http://schemas.openxmlformats.org/drawingml/2006/main">
            <a:r>
              <a:t>- Tone and content → always read before sending; AI doesn't know your audience</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3: Governance, ethics, and responsible use</a:t>
            </a:r>
            <a:endParaRPr/>
          </a:p>
          <a:p xmlns:a="http://schemas.openxmlformats.org/drawingml/2006/main">
            <a:r>
              <a:t/>
            </a:r>
            <a:endParaRPr/>
          </a:p>
          <a:p xmlns:a="http://schemas.openxmlformats.org/drawingml/2006/main">
            <a:r>
              <a:t>**Learning objectives:**</a:t>
            </a:r>
            <a:endParaRPr/>
          </a:p>
          <a:p xmlns:a="http://schemas.openxmlformats.org/drawingml/2006/main">
            <a:r>
              <a:t>- Apply the organization's AI use policy to real HR scenarios</a:t>
            </a:r>
            <a:endParaRPr/>
          </a:p>
          <a:p xmlns:a="http://schemas.openxmlformats.org/drawingml/2006/main">
            <a:r>
              <a:t>- Identify the key legal risk areas in HR AI (bias, privacy, employment law)</a:t>
            </a:r>
            <a:endParaRPr/>
          </a:p>
          <a:p xmlns:a="http://schemas.openxmlformats.org/drawingml/2006/main">
            <a:r>
              <a:t>- Complete a basic risk assessment for a new use case</a:t>
            </a:r>
            <a:endParaRPr/>
          </a:p>
          <a:p xmlns:a="http://schemas.openxmlformats.org/drawingml/2006/main">
            <a:r>
              <a:t/>
            </a:r>
            <a:endParaRPr/>
          </a:p>
          <a:p xmlns:a="http://schemas.openxmlformats.org/drawingml/2006/main">
            <a:r>
              <a:t>**Session outline (90 minutes):**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Case study: Three HR AI failures and what we can learn (discussion) |</a:t>
            </a:r>
            <a:endParaRPr/>
          </a:p>
          <a:p xmlns:a="http://schemas.openxmlformats.org/drawingml/2006/main">
            <a:r>
              <a:t>| 0:15–0:40 | Framework: What makes AI use in HR risky? Legal and ethical dimensions |</a:t>
            </a:r>
            <a:endParaRPr/>
          </a:p>
          <a:p xmlns:a="http://schemas.openxmlformats.org/drawingml/2006/main">
            <a:r>
              <a:t>| 0:40–1:00 | Scenario practice: Is this use case okay? (small groups, 4 scenarios) |</a:t>
            </a:r>
            <a:endParaRPr/>
          </a:p>
          <a:p xmlns:a="http://schemas.openxmlformats.org/drawingml/2006/main">
            <a:r>
              <a:t>| 1:00–1:20 | Walk-through: The risk assessment template |</a:t>
            </a:r>
            <a:endParaRPr/>
          </a:p>
          <a:p xmlns:a="http://schemas.openxmlformats.org/drawingml/2006/main">
            <a:r>
              <a:t>| 1:20–1:30 | Q&amp;A + open discussion |</a:t>
            </a:r>
            <a:endParaRPr/>
          </a:p>
          <a:p xmlns:a="http://schemas.openxmlformats.org/drawingml/2006/main">
            <a:r>
              <a:t/>
            </a:r>
            <a:endParaRPr/>
          </a:p>
          <a:p xmlns:a="http://schemas.openxmlformats.org/drawingml/2006/main">
            <a:r>
              <a:t>&gt; **Note on regulatory currency:** Use the [Key dates for HR](../03-governance/README.md#key-dates-for-hr) and its linked primary sources as the dated reference. The slides summarize risk questions; they are not a complete legal reference. Have Legal verify jurisdiction, scope, obligations, and effective dates before delivery or adoption.</a:t>
            </a:r>
            <a:endParaRPr/>
          </a:p>
          <a:p xmlns:a="http://schemas.openxmlformats.org/drawingml/2006/main">
            <a:r>
              <a:t/>
            </a:r>
            <a:endParaRPr/>
          </a:p>
          <a:p xmlns:a="http://schemas.openxmlformats.org/drawingml/2006/main">
            <a:r>
              <a:t>**Key legal risk areas to cover:**</a:t>
            </a:r>
            <a:endParaRPr/>
          </a:p>
          <a:p xmlns:a="http://schemas.openxmlformats.org/drawingml/2006/main">
            <a:r>
              <a:t/>
            </a:r>
            <a:endParaRPr/>
          </a:p>
          <a:p xmlns:a="http://schemas.openxmlformats.org/drawingml/2006/main">
            <a:r>
              <a:t>*Bias and disparate impact:*</a:t>
            </a:r>
            <a:endParaRPr/>
          </a:p>
          <a:p xmlns:a="http://schemas.openxmlformats.org/drawingml/2006/main">
            <a:r>
              <a:t>AI trained on historical HR data can encode and amplify past discrimination. A history in which 80% of engineering hires were male is a reason to examine labels, features, selection effects, and group outcomes; that proportion alone does not determine how a model will score resumes. Adverse impact testing is a core control. It is required by law in some jurisdictions (NYC Local Law 144 mandates an annual bias audit for covered tools) and expected as evidence of reasonable care in many others. Confirm the cadence with Legal. See the [NIST AI RMF](https://www.nist.gov/itl/ai-risk-management-framework).</a:t>
            </a:r>
            <a:endParaRPr/>
          </a:p>
          <a:p xmlns:a="http://schemas.openxmlformats.org/drawingml/2006/main">
            <a:r>
              <a:t/>
            </a:r>
            <a:endParaRPr/>
          </a:p>
          <a:p xmlns:a="http://schemas.openxmlformats.org/drawingml/2006/main">
            <a:r>
              <a:t>*Illinois AI Video Interview Act, NYC Local Law 144, and emerging state laws:*</a:t>
            </a:r>
            <a:endParaRPr/>
          </a:p>
          <a:p xmlns:a="http://schemas.openxmlformats.org/drawingml/2006/main">
            <a:r>
              <a:t>Several jurisdictions now require disclosure, impact assessments, or consent for AI use in hiring. Illinois's AI Video Interview Act ([820 ILCS 42](https://www.ilga.gov/Legislation/ILCS/Articles?ActID=4015&amp;ChapterID=68)) governs AI analysis of recorded video interviews, including notice and consent before the interview. Confirm its current requirements against the statute before relying on them. Illinois also amended its Human Rights Act via HB 3773 (effective January 1, 2026) to broadly prohibit discriminatory AI use in hiring and promotion, not just video interviews. A companion law, Public Act 104-0425 (SB 2487, effective January 1, 2026), gives the Human Rights Commission tiered civil penalty authority for violations: up to $16,000 for a first offense, up to $42,500 with one prior violation within five years, up to $70,000 for two or more within seven years. The regulatory landscape is shifting quickly. Use cases involving hiring must be reviewed against current state law.</a:t>
            </a:r>
            <a:endParaRPr/>
          </a:p>
          <a:p xmlns:a="http://schemas.openxmlformats.org/drawingml/2006/main">
            <a:r>
              <a:t/>
            </a:r>
            <a:endParaRPr/>
          </a:p>
          <a:p xmlns:a="http://schemas.openxmlformats.org/drawingml/2006/main">
            <a:r>
              <a:t>NYC Local Law 144 enforcement is entering a stricter phase. A December 2025 NY State Comptroller audit found DCWP's enforcement "ineffective": DCWP's own review of 32 companies' bias-audit disclosures caught 1 likely non-compliance issue, where the Comptroller's review of the same 32 found at least 17. Expect more investigations and higher penalties as DCWP responds to the audit's recommendations, not just the disclosure-and-audit paperwork the law describes on paper.</a:t>
            </a:r>
            <a:endParaRPr/>
          </a:p>
          <a:p xmlns:a="http://schemas.openxmlformats.org/drawingml/2006/main">
            <a:r>
              <a:t/>
            </a:r>
            <a:endParaRPr/>
          </a:p>
          <a:p xmlns:a="http://schemas.openxmlformats.org/drawingml/2006/main">
            <a:r>
              <a:t>*Colorado's Automated Decision-Making Technology Act:*</a:t>
            </a:r>
            <a:endParaRPr/>
          </a:p>
          <a:p xmlns:a="http://schemas.openxmlformats.org/drawingml/2006/main">
            <a:r>
              <a:t>Colorado SB26-189 (signed 14 May 2026, Colo. Sess. Laws ch. 131) repeals and replaces the state's 2024 AI consumer protection law. It covers "consequential decisions," including employment, made using automated decision-making technology (ADMT) that materially influences the outcome. Starting January 1, 2027, developers must give deployers technical documentation on intended use, training data categories, known limitations, and human review instructions. Deployers will owe consumers notice at the point of interaction, and within 30 days of any adverse consequential decision, a plain-language explanation plus the right to request human review and reconsideration. Records must be retained 3 years. The attorney general enforces under the Colorado Consumer Protection Act, with a 60-day cure period through January 1, 2030.</a:t>
            </a:r>
            <a:endParaRPr/>
          </a:p>
          <a:p xmlns:a="http://schemas.openxmlformats.org/drawingml/2006/main">
            <a:r>
              <a:t/>
            </a:r>
            <a:endParaRPr/>
          </a:p>
          <a:p xmlns:a="http://schemas.openxmlformats.org/drawingml/2006/main">
            <a:r>
              <a:t>*Connecticut: AI Responsibility and Transparency Act (Public Act 26-15):*</a:t>
            </a:r>
            <a:endParaRPr/>
          </a:p>
          <a:p xmlns:a="http://schemas.openxmlformats.org/drawingml/2006/main">
            <a:r>
              <a:t>Connecticut's SB 5 became Public Act 26-15 in June 2026. It is the most comprehensive state AI employment statute enacted so far, and it phases in across two years. Read the dates carefully, because the parts that bite first are not the disclosure rules.</a:t>
            </a:r>
            <a:endParaRPr/>
          </a:p>
          <a:p xmlns:a="http://schemas.openxmlformats.org/drawingml/2006/main">
            <a:r>
              <a:t/>
            </a:r>
            <a:endParaRPr/>
          </a:p>
          <a:p xmlns:a="http://schemas.openxmlformats.org/drawingml/2006/main">
            <a:r>
              <a:t>Live October 1, 2026:</a:t>
            </a:r>
            <a:endParaRPr/>
          </a:p>
          <a:p xmlns:a="http://schemas.openxmlformats.org/drawingml/2006/main">
            <a:r>
              <a:t/>
            </a:r>
            <a:endParaRPr/>
          </a:p>
          <a:p xmlns:a="http://schemas.openxmlformats.org/drawingml/2006/main">
            <a:r>
              <a:t>- **AI is not a defense.** Sections 13 and 14 amend Conn. Gen. Stat. 46a-60 so that using an automated employment-related decision technology is not a defense against a discrimination complaint. The commission or court may consider the quality, efficacy, recency, and scope of anti-bias testing, its results, and the employer's response. This does not establish that a stale audit is always worse than no audit, or that testing guarantees a favorable legal outcome. Preserve the testing evidence and corrective actions for counsel review. Source: [Public Act 26-15](https://www.cga.ct.gov/2026/ACT/PA/PDF/2026PA-00015-R00SB-00005-PA.PDF).</a:t>
            </a:r>
            <a:endParaRPr/>
          </a:p>
          <a:p xmlns:a="http://schemas.openxmlformats.org/drawingml/2006/main">
            <a:r>
              <a:t>- **WARN notices.** Section 26 requires any employer serving a federal WARN notice under 29 USC 2102(a) to disclose to the Connecticut Labor Department whether the layoffs relate to the employer's use of AI or other technological change. Note the disclosure runs to the department, not to affected employees.</a:t>
            </a:r>
            <a:endParaRPr/>
          </a:p>
          <a:p xmlns:a="http://schemas.openxmlformats.org/drawingml/2006/main">
            <a:r>
              <a:t/>
            </a:r>
            <a:endParaRPr/>
          </a:p>
          <a:p xmlns:a="http://schemas.openxmlformats.org/drawingml/2006/main">
            <a:r>
              <a:t>Live October 1, 2027 (sections 7 to 12 take effect in 2026, but the duties attach only to technology deployed on or after October 1, 2027):</a:t>
            </a:r>
            <a:endParaRPr/>
          </a:p>
          <a:p xmlns:a="http://schemas.openxmlformats.org/drawingml/2006/main">
            <a:r>
              <a:t/>
            </a:r>
            <a:endParaRPr/>
          </a:p>
          <a:p xmlns:a="http://schemas.openxmlformats.org/drawingml/2006/main">
            <a:r>
              <a:t>- Scope is set by "substantial factor," defined as a factor that meaningfully alters the outcome of an employment-related decision. Covered decisions are hiring, promotion, discipline, discharge, renewal, selection for training or apprenticeship, and terms, privileges or conditions of employment. Carved out: nonmaterial changes to job tasks or hours, and decisions about workplace health and safety, scheduling, and productivity monitoring.</a:t>
            </a:r>
            <a:endParaRPr/>
          </a:p>
          <a:p xmlns:a="http://schemas.openxmlformats.org/drawingml/2006/main">
            <a:r>
              <a:t>- Developers must give deployers the information deployers need to meet their duties, but only where the tool was advertised, marketed, configured, contracted for, sold, or licensed to materially influence an employment decision.</a:t>
            </a:r>
            <a:endParaRPr/>
          </a:p>
          <a:p xmlns:a="http://schemas.openxmlformats.org/drawingml/2006/main">
            <a:r>
              <a:t>- Deployers must disclose in plain language when an employee or applicant is interacting with the technology, unless a reasonable person would find it obvious.</a:t>
            </a:r>
            <a:endParaRPr/>
          </a:p>
          <a:p xmlns:a="http://schemas.openxmlformats.org/drawingml/2006/main">
            <a:r>
              <a:t>- Before the decision is made, deployers must give written notice covering six specific points: that the technology was deployed, its purpose and the nature of the decision, the tool's trade name, the categories of personal data analyzed and how they will be assessed, the sources of that data, and deployer contact information.</a:t>
            </a:r>
            <a:endParaRPr/>
          </a:p>
          <a:p xmlns:a="http://schemas.openxmlformats.org/drawingml/2006/main">
            <a:r>
              <a:t>- Trade secrets can be withheld, but the withholding party must send notice saying what is being withheld and why.</a:t>
            </a:r>
            <a:endParaRPr/>
          </a:p>
          <a:p xmlns:a="http://schemas.openxmlformats.org/drawingml/2006/main">
            <a:r>
              <a:t/>
            </a:r>
            <a:endParaRPr/>
          </a:p>
          <a:p xmlns:a="http://schemas.openxmlformats.org/drawingml/2006/main">
            <a:r>
              <a:t>Enforcement is narrower than the obligations suggest: violations are unfair or deceptive trade practices under CUTPA, enforced **solely by the Attorney General**, with an explicit statement that the act creates **no private right of action**. Violations occurring on or before December 31, 2027 carry a 60-day cure period.</a:t>
            </a:r>
            <a:endParaRPr/>
          </a:p>
          <a:p xmlns:a="http://schemas.openxmlformats.org/drawingml/2006/main">
            <a:r>
              <a:t/>
            </a:r>
            <a:endParaRPr/>
          </a:p>
          <a:p xmlns:a="http://schemas.openxmlformats.org/drawingml/2006/main">
            <a:r>
              <a:t>One provision to catch in procurement: Section 8(c) lets a developer contract to assume the deployer's disclosure and notice duties, provided the contract is explicit about which duties transfer. That is a negotiating lever worth asking every vendor about. See the [vendor intake checklist](../03-governance/vendor-intake-checklist.md).</a:t>
            </a:r>
            <a:endParaRPr/>
          </a:p>
          <a:p xmlns:a="http://schemas.openxmlformats.org/drawingml/2006/main">
            <a:r>
              <a:t/>
            </a:r>
            <a:endParaRPr/>
          </a:p>
          <a:p xmlns:a="http://schemas.openxmlformats.org/drawingml/2006/main">
            <a:r>
              <a:t>*California: FEHA algorithmic discrimination rules and CPPA ADMT regulations:*</a:t>
            </a:r>
            <a:endParaRPr/>
          </a:p>
          <a:p xmlns:a="http://schemas.openxmlformats.org/drawingml/2006/main">
            <a:r>
              <a:t>The Civil Rights Council's FEHA regulations on automated decision systems took effect October 1, 2025: they prohibit AI-driven disparate treatment or disparate impact in employment decisions, require four years of recordkeeping, and hold employers liable for discriminatory outcomes even when the tool comes from a third-party vendor. Separately, the [CPPA regulation package](https://cppa.ca.gov/announcements/2025/20250923.html) took effect January 1, 2026. Covered businesses must begin risk-assessment compliance in 2026; ADMT notice and consumer-rights compliance begins January 1, 2027. These dates govern different duties. Review the [final regulations](https://cppa.ca.gov/regulations/ccpa_updates.html) for scope, opt-out exceptions, appeal conditions, and transition rules for processing already underway.</a:t>
            </a:r>
            <a:endParaRPr/>
          </a:p>
          <a:p xmlns:a="http://schemas.openxmlformats.org/drawingml/2006/main">
            <a:r>
              <a:t/>
            </a:r>
            <a:endParaRPr/>
          </a:p>
          <a:p xmlns:a="http://schemas.openxmlformats.org/drawingml/2006/main">
            <a:r>
              <a:t>Four California workplace bills were approved and chaptered on 30 September 2026. All four are enacted law, with obligations beginning in 2027. The chaptered texts were reviewed on 9 October 2026. AB 1883, SB 951, and AB 1331 take effect on 1 January 2027 under [California Constitution Article IV, section 8(c)(1)](https://leginfo.legislature.ca.gov/faces/codes_displayText.xhtml?lawCode=CONS&amp;division=&amp;title=&amp;part=&amp;chapter=&amp;article=IV); none contains an urgency clause or a later operative-date provision. SB 947 takes effect on that date but expressly makes its new Labor Code part operative on 1 July 2027. See the [source register](../03-governance/claims/california-workplace-laws.json) and the [Governor's signing announcement](https://www.gov.ca.gov/2026/09/30/californias-nation-leading-ai-framework-just-got-stronger-governor-newsom-signs-more-first-in-the-nation-worker-protections-and-more/).</a:t>
            </a:r>
            <a:endParaRPr/>
          </a:p>
          <a:p xmlns:a="http://schemas.openxmlformats.org/drawingml/2006/main">
            <a:r>
              <a:t/>
            </a:r>
            <a:endParaRPr/>
          </a:p>
          <a:p xmlns:a="http://schemas.openxmlformats.org/drawingml/2006/main">
            <a:r>
              <a:t>- **[AB 1883](https://leginfo.legislature.ca.gov/faces/billNavClient.xhtml?bill_id=202520260AB1883)** (workplace surveillance tools, Chapter 853, Statutes of 2026) adds Labor Code Part 5.8 to bar employers from using AI-driven surveillance tools to recognize or infer an employee's emotional state, or to collect neural data, meaning data measured from the central or peripheral nervous system and not inferred from nonneural information. Safety uses are preserved, and there is a narrow carve-out for federally mandated aerospace and national security work. Enforcement runs through the Labor Commissioner or a public prosecutor, with penalties up to $500 per violation. It was enrolled on 3 September 2026 and approved by the Governor on 30 September 2026. Some published summaries report 3 September as the signing date; that is the enrollment date.</a:t>
            </a:r>
            <a:endParaRPr/>
          </a:p>
          <a:p xmlns:a="http://schemas.openxmlformats.org/drawingml/2006/main">
            <a:r>
              <a:t>- **[SB 947](https://leginfo.legislature.ca.gov/faces/billTextClient.xhtml?bill_id=202520260SB947)** (the "No Robo Bosses Act," Chapter 859, Statutes of 2026) is **operative 1 July 2027**, under new Labor Code section 1526.7. It bars sole reliance on an ADS for discipline or termination. Primary reliance requires human corroboration and written post-use notice when the decision is communicated. If corroboration fails, or the reviewer finds the output inaccurate, incomplete, or misleading, the employer must not use that output for the decision. The employee may request a meaningful description of their own data used by the ADS. Check the collective bargaining and federal-operation exceptions in sections 1526.5 and 1526.6.</a:t>
            </a:r>
            <a:endParaRPr/>
          </a:p>
          <a:p xmlns:a="http://schemas.openxmlformats.org/drawingml/2006/main">
            <a:r>
              <a:t>- **[SB 951](https://leginfo.legislature.ca.gov/faces/billTextClient.xhtml?bill_id=202520260SB951)** (Chapter 860, Statutes of 2026), **effective 1 January 2027**, adds technology-displacement information to an otherwise required Cal/WARN notice when AI or automation causes the event wholly or substantially. New Labor Code section 1401(d) requires affected jobs and locations, functions being automated, the technology category, and a technology-displacement heading. It retains the existing 60-day notice period. It does not enact the earlier proposal for a 90-day notice or an employer hiring-freeze notice; section 1402.7 instead requires an EDD study by 1 January 2028. Assess Cal/WARN coverage and exceptions before applying the notice requirement.</a:t>
            </a:r>
            <a:endParaRPr/>
          </a:p>
          <a:p xmlns:a="http://schemas.openxmlformats.org/drawingml/2006/main">
            <a:r>
              <a:t>- **[AB 1331](https://leginfo.legislature.ca.gov/faces/billTextClient.xhtml?bill_id=202520260AB1331)** (Chapter 851, Statutes of 2026), **effective 1 January 2027**, limits workplace bathroom surveillance and lets employees leave surveillance tools behind when entering a bathroom. New Labor Code section 1561 includes exceptions for court orders, one-time entry/exit checks, voluntary possession, and certain identification or safety devices. The tool definition reaches beyond AI. Review the full exceptions in sections 1561, 1564, and 1565 before changing monitoring practices.</a:t>
            </a:r>
            <a:endParaRPr/>
          </a:p>
          <a:p xmlns:a="http://schemas.openxmlformats.org/drawingml/2006/main">
            <a:r>
              <a:t/>
            </a:r>
            <a:endParaRPr/>
          </a:p>
          <a:p xmlns:a="http://schemas.openxmlformats.org/drawingml/2006/main">
            <a:r>
              <a:t>*Texas: Responsible AI Governance Act (TRAIGA):*</a:t>
            </a:r>
            <a:endParaRPr/>
          </a:p>
          <a:p xmlns:a="http://schemas.openxmlformats.org/drawingml/2006/main">
            <a:r>
              <a:t>Effective January 1, 2026 (HB 149, signed June 22, 2025). Narrower than Illinois or Colorado: TRAIGA prohibits intentional AI-based discrimination but does not create disparate impact liability, and the Attorney General has exclusive enforcement authority with a 60-day cure period before action.</a:t>
            </a:r>
            <a:endParaRPr/>
          </a:p>
          <a:p xmlns:a="http://schemas.openxmlformats.org/drawingml/2006/main">
            <a:r>
              <a:t/>
            </a:r>
            <a:endParaRPr/>
          </a:p>
          <a:p xmlns:a="http://schemas.openxmlformats.org/drawingml/2006/main">
            <a:r>
              <a:t>*New Jersey: no AI statute, but existing discrimination law already reaches AI:*</a:t>
            </a:r>
            <a:endParaRPr/>
          </a:p>
          <a:p xmlns:a="http://schemas.openxmlformats.org/drawingml/2006/main">
            <a:r>
              <a:t>New Jersey is the case that breaks the habit of scanning for AI-specific bills. It has no AI hiring statute. In January 2025 the Office of the Attorney General and the Division on Civil Rights issued guidance stating that the Law Against Discrimination (N.J.S.A. 10:5-1 et seq.) applies to algorithmic discrimination the same way it has long applied to other discriminatory conduct, in employment among other contexts. Three points matter for HR practice:</a:t>
            </a:r>
            <a:endParaRPr/>
          </a:p>
          <a:p xmlns:a="http://schemas.openxmlformats.org/drawingml/2006/main">
            <a:r>
              <a:t/>
            </a:r>
            <a:endParaRPr/>
          </a:p>
          <a:p xmlns:a="http://schemas.openxmlformats.org/drawingml/2006/main">
            <a:r>
              <a:t>- **No intent required, and a vendor tool is not a defense.** The guidance states that a covered entity "is not shielded from liability for algorithmic discrimination that results from the entity's use of an automated decision-making tool simply because the tool was developed by a third party or because the entity does not understand the inner workings of the tool."</a:t>
            </a:r>
            <a:endParaRPr/>
          </a:p>
          <a:p xmlns:a="http://schemas.openxmlformats.org/drawingml/2006/main">
            <a:r>
              <a:t>- **Disparate impact is covered.** Use of a tool with a disproportionate effect on a protected class is prohibited unless it is necessary to achieve a substantial, legitimate, nondiscriminatory interest and there is no less discriminatory alternative. Whether the employer tested the tool for bias or evaluated alternatives may be weighed as relevant evidence, which is the same pattern as Connecticut: your fairness audit becomes evidence.</a:t>
            </a:r>
            <a:endParaRPr/>
          </a:p>
          <a:p xmlns:a="http://schemas.openxmlformats.org/drawingml/2006/main">
            <a:r>
              <a:t>- **Reasonable accommodations are in scope.** A tool can violate the LAD by being inaccessible or by penalizing someone who uses an accommodation. The guidance's example is a typing-speed screen that cannot read a non-traditional keyboard.</a:t>
            </a:r>
            <a:endParaRPr/>
          </a:p>
          <a:p xmlns:a="http://schemas.openxmlformats.org/drawingml/2006/main">
            <a:r>
              <a:t/>
            </a:r>
            <a:endParaRPr/>
          </a:p>
          <a:p xmlns:a="http://schemas.openxmlformats.org/drawingml/2006/main">
            <a:r>
              <a:t>Two limits to state accurately when you teach this. The guidance is interpretive: it says on its face that it imposes no requirements beyond the LAD and will not be enforced as a substitute for enforcing the LAD. And it carries no effective date, because the underlying statute has been in force for decades. Do not present it as a new obligation that switched on in 2025. The takeaway for the class is the general one: a state with no AI bill is not a state with no AI exposure.</a:t>
            </a:r>
            <a:endParaRPr/>
          </a:p>
          <a:p xmlns:a="http://schemas.openxmlformats.org/drawingml/2006/main">
            <a:r>
              <a:t/>
            </a:r>
            <a:endParaRPr/>
          </a:p>
          <a:p xmlns:a="http://schemas.openxmlformats.org/drawingml/2006/main">
            <a:r>
              <a:t>*GDPR and CCPA:*</a:t>
            </a:r>
            <a:endParaRPr/>
          </a:p>
          <a:p xmlns:a="http://schemas.openxmlformats.org/drawingml/2006/main">
            <a:r>
              <a:t>Employees in covered jurisdictions have rights regarding automated decision-making. Know which of your employees are covered and how your AI use cases interact with their rights. See the California-specific rules above for the current state of play there.</a:t>
            </a:r>
            <a:endParaRPr/>
          </a:p>
          <a:p xmlns:a="http://schemas.openxmlformats.org/drawingml/2006/main">
            <a:r>
              <a:t/>
            </a:r>
            <a:endParaRPr/>
          </a:p>
          <a:p xmlns:a="http://schemas.openxmlformats.org/drawingml/2006/main">
            <a:r>
              <a:t>*UK: Data (Use and Access) Act 2025 replaces GDPR Article 22:*</a:t>
            </a:r>
            <a:endParaRPr/>
          </a:p>
          <a:p xmlns:a="http://schemas.openxmlformats.org/drawingml/2006/main">
            <a:r>
              <a:t>Section 80 of the UK's Data (Use and Access) Act 2025 took effect February 5, 2026 (Commencement Regulations SI 2026/82) and substitutes Article 22 of the UK GDPR with new Articles 22A to 22D. The new regime permits solely automated "significant decisions," those with a legal or similarly significant effect, more broadly than before, but requires safeguards: notice to the individual, the ability to make representations, the right to human intervention, and the right to contest the decision. Stricter restrictions still apply where special category data is used. Treat this as a distinct regime from EU GDPR Article 22, not an equivalent, for any AI use case touching UK-based workers or candidates.</a:t>
            </a:r>
            <a:endParaRPr/>
          </a:p>
          <a:p xmlns:a="http://schemas.openxmlformats.org/drawingml/2006/main">
            <a:r>
              <a:t/>
            </a:r>
            <a:endParaRPr/>
          </a:p>
          <a:p xmlns:a="http://schemas.openxmlformats.org/drawingml/2006/main">
            <a:r>
              <a:t>The ICO is already signaling how it will police this in recruitment specifically. A March 2026 ICO report on automated decision-making in hiring found many employers don't recognize they're doing ADM at all, and that "human review" in practice often amounts to rubber-stamping rather than a reviewer with real authority to change the outcome. Following that report, the ICO opened a consultation on draft ADM guidance, worth checking for the final version before relying on the March findings alone. Build the oversight role description to survive that scrutiny, not just to check the box.</a:t>
            </a:r>
            <a:endParaRPr/>
          </a:p>
          <a:p xmlns:a="http://schemas.openxmlformats.org/drawingml/2006/main">
            <a:r>
              <a:t/>
            </a:r>
            <a:endParaRPr/>
          </a:p>
          <a:p xmlns:a="http://schemas.openxmlformats.org/drawingml/2006/main">
            <a:r>
              <a:t>*Canada: no federal AI employment law, but Ontario requires disclosure:*</a:t>
            </a:r>
            <a:endParaRPr/>
          </a:p>
          <a:p xmlns:a="http://schemas.openxmlformats.org/drawingml/2006/main">
            <a:r>
              <a:t>Canada's federal AI bill (AIDA, part of Bill C-27) died when Parliament prorogued in January 2025 and has not been revived. AI regulation there runs through existing privacy, human rights, and sector law instead. Ontario is the exception: since January 1, 2026, employers with 25+ employees must disclose in publicly advertised job postings whether AI is used to screen, assess, or select candidates (Employment Standards Act, 2000 amendment).</a:t>
            </a:r>
            <a:endParaRPr/>
          </a:p>
          <a:p xmlns:a="http://schemas.openxmlformats.org/drawingml/2006/main">
            <a:r>
              <a:t/>
            </a:r>
            <a:endParaRPr/>
          </a:p>
          <a:p xmlns:a="http://schemas.openxmlformats.org/drawingml/2006/main">
            <a:r>
              <a:t>*The "AI as a manager" trap:*</a:t>
            </a:r>
            <a:endParaRPr/>
          </a:p>
          <a:p xmlns:a="http://schemas.openxmlformats.org/drawingml/2006/main">
            <a:r>
              <a:t>AI that monitors, evaluates, or scores employees without their knowledge, even for legitimate purposes, creates legal and trust exposure. Transparency is not just ethical, it's protective.</a:t>
            </a:r>
            <a:endParaRPr/>
          </a:p>
          <a:p xmlns:a="http://schemas.openxmlformats.org/drawingml/2006/main">
            <a:r>
              <a:t/>
            </a:r>
            <a:endParaRPr/>
          </a:p>
          <a:p xmlns:a="http://schemas.openxmlformats.org/drawingml/2006/main">
            <a:r>
              <a:t>**Scenario practice cards:**</a:t>
            </a:r>
            <a:endParaRPr/>
          </a:p>
          <a:p xmlns:a="http://schemas.openxmlformats.org/drawingml/2006/main">
            <a:r>
              <a:t/>
            </a:r>
            <a:endParaRPr/>
          </a:p>
          <a:p xmlns:a="http://schemas.openxmlformats.org/drawingml/2006/main">
            <a:r>
              <a:t>Print or share these four scenarios. Groups of 3–4 discuss: Is this use appropriate? What are the risks? What would you change?</a:t>
            </a:r>
            <a:endParaRPr/>
          </a:p>
          <a:p xmlns:a="http://schemas.openxmlformats.org/drawingml/2006/main">
            <a:r>
              <a:t/>
            </a:r>
            <a:endParaRPr/>
          </a:p>
          <a:p xmlns:a="http://schemas.openxmlformats.org/drawingml/2006/main">
            <a:r>
              <a:t>&gt; **Scenario A:** An AI tool automatically rejects resumes with gaps of more than 6 months without showing them to a recruiter.</a:t>
            </a:r>
            <a:endParaRPr/>
          </a:p>
          <a:p xmlns:a="http://schemas.openxmlformats.org/drawingml/2006/main">
            <a:r>
              <a:t/>
            </a:r>
            <a:endParaRPr/>
          </a:p>
          <a:p xmlns:a="http://schemas.openxmlformats.org/drawingml/2006/main">
            <a:r>
              <a:t>&gt; **Scenario B:** An HRBP uses an AI writing assistant to draft a PIP for an employee, then reviews and edits it before sharing with the manager.</a:t>
            </a:r>
            <a:endParaRPr/>
          </a:p>
          <a:p xmlns:a="http://schemas.openxmlformats.org/drawingml/2006/main">
            <a:r>
              <a:t/>
            </a:r>
            <a:endParaRPr/>
          </a:p>
          <a:p xmlns:a="http://schemas.openxmlformats.org/drawingml/2006/main">
            <a:r>
              <a:t>&gt; **Scenario C:** People Analytics builds an attrition risk model that scores all employees monthly and shares the scores directly with managers.</a:t>
            </a:r>
            <a:endParaRPr/>
          </a:p>
          <a:p xmlns:a="http://schemas.openxmlformats.org/drawingml/2006/main">
            <a:r>
              <a:t/>
            </a:r>
            <a:endParaRPr/>
          </a:p>
          <a:p xmlns:a="http://schemas.openxmlformats.org/drawingml/2006/main">
            <a:r>
              <a:t>&gt; **Scenario D:** An AI chatbot answers benefits questions for employees. It sometimes gives incorrect information but flags that users should confirm with HR.</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Module 4: Building and scaling AI use cases</a:t>
            </a:r>
            <a:endParaRPr/>
          </a:p>
          <a:p xmlns:a="http://schemas.openxmlformats.org/drawingml/2006/main">
            <a:r>
              <a:t/>
            </a:r>
            <a:endParaRPr/>
          </a:p>
          <a:p xmlns:a="http://schemas.openxmlformats.org/drawingml/2006/main">
            <a:r>
              <a:t>**Learning objectives:**</a:t>
            </a:r>
            <a:endParaRPr/>
          </a:p>
          <a:p xmlns:a="http://schemas.openxmlformats.org/drawingml/2006/main">
            <a:r>
              <a:t>- Apply the prioritization matrix to identify your team's highest-value AI use cases</a:t>
            </a:r>
            <a:endParaRPr/>
          </a:p>
          <a:p xmlns:a="http://schemas.openxmlformats.org/drawingml/2006/main">
            <a:r>
              <a:t>- Define a use case with clear success metrics and governance requirements</a:t>
            </a:r>
            <a:endParaRPr/>
          </a:p>
          <a:p xmlns:a="http://schemas.openxmlformats.org/drawingml/2006/main">
            <a:r>
              <a:t>- Draft a basic implementation plan for a low-complexity use case</a:t>
            </a:r>
            <a:endParaRPr/>
          </a:p>
          <a:p xmlns:a="http://schemas.openxmlformats.org/drawingml/2006/main">
            <a:r>
              <a:t/>
            </a:r>
            <a:endParaRPr/>
          </a:p>
          <a:p xmlns:a="http://schemas.openxmlformats.org/drawingml/2006/main">
            <a:r>
              <a:t>**Session outline (2 hours):**</a:t>
            </a:r>
            <a:endParaRPr/>
          </a:p>
          <a:p xmlns:a="http://schemas.openxmlformats.org/drawingml/2006/main">
            <a:r>
              <a:t/>
            </a:r>
            <a:endParaRPr/>
          </a:p>
          <a:p xmlns:a="http://schemas.openxmlformats.org/drawingml/2006/main">
            <a:r>
              <a:t>| Time | Activity |</a:t>
            </a:r>
            <a:endParaRPr/>
          </a:p>
          <a:p xmlns:a="http://schemas.openxmlformats.org/drawingml/2006/main">
            <a:r>
              <a:t>|---|---|</a:t>
            </a:r>
            <a:endParaRPr/>
          </a:p>
          <a:p xmlns:a="http://schemas.openxmlformats.org/drawingml/2006/main">
            <a:r>
              <a:t>| 0:00–0:15 | Opening: What does "scaling AI in HR" actually mean? |</a:t>
            </a:r>
            <a:endParaRPr/>
          </a:p>
          <a:p xmlns:a="http://schemas.openxmlformats.org/drawingml/2006/main">
            <a:r>
              <a:t>| 0:15–0:45 | Framework: From idea to deployment, the use case lifecycle |</a:t>
            </a:r>
            <a:endParaRPr/>
          </a:p>
          <a:p xmlns:a="http://schemas.openxmlformats.org/drawingml/2006/main">
            <a:r>
              <a:t>| 0:45–1:15 | Team exercise: Prioritization matrix applied to your team's top 5 ideas |</a:t>
            </a:r>
            <a:endParaRPr/>
          </a:p>
          <a:p xmlns:a="http://schemas.openxmlformats.org/drawingml/2006/main">
            <a:r>
              <a:t>| 1:15–1:45 | Small group: Draft a one-page use case spec for your top-ranked idea |</a:t>
            </a:r>
            <a:endParaRPr/>
          </a:p>
          <a:p xmlns:a="http://schemas.openxmlformats.org/drawingml/2006/main">
            <a:r>
              <a:t>| 1:45–2:00 | Gallery walk + feedback |</a:t>
            </a:r>
            <a:endParaRPr/>
          </a:p>
          <a:p xmlns:a="http://schemas.openxmlformats.org/drawingml/2006/main">
            <a:r>
              <a:t/>
            </a:r>
            <a:endParaRPr/>
          </a:p>
          <a:p xmlns:a="http://schemas.openxmlformats.org/drawingml/2006/main">
            <a:r>
              <a:t>**Use case lifecycle:**</a:t>
            </a:r>
            <a:endParaRPr/>
          </a:p>
          <a:p xmlns:a="http://schemas.openxmlformats.org/drawingml/2006/main">
            <a:r>
              <a:t/>
            </a:r>
            <a:endParaRPr/>
          </a:p>
          <a:p xmlns:a="http://schemas.openxmlformats.org/drawingml/2006/main">
            <a:r>
              <a:t>```</a:t>
            </a:r>
            <a:endParaRPr/>
          </a:p>
          <a:p xmlns:a="http://schemas.openxmlformats.org/drawingml/2006/main">
            <a:r>
              <a:t>Discover → Prioritize → Design → Pilot → Evaluate → Scale</a:t>
            </a:r>
            <a:endParaRPr/>
          </a:p>
          <a:p xmlns:a="http://schemas.openxmlformats.org/drawingml/2006/main">
            <a:r>
              <a:t>   ↑                                          |</a:t>
            </a:r>
            <a:endParaRPr/>
          </a:p>
          <a:p xmlns:a="http://schemas.openxmlformats.org/drawingml/2006/main">
            <a:r>
              <a:t>   └──────────────── iterate ─────────────────┘</a:t>
            </a:r>
            <a:endParaRPr/>
          </a:p>
          <a:p xmlns:a="http://schemas.openxmlformats.org/drawingml/2006/main">
            <a:r>
              <a:t>```</a:t>
            </a:r>
            <a:endParaRPr/>
          </a:p>
          <a:p xmlns:a="http://schemas.openxmlformats.org/drawingml/2006/main">
            <a:r>
              <a:t/>
            </a:r>
            <a:endParaRPr/>
          </a:p>
          <a:p xmlns:a="http://schemas.openxmlformats.org/drawingml/2006/main">
            <a:r>
              <a:t>- **Discover:** What problem are we solving? Who feels it most?</a:t>
            </a:r>
            <a:endParaRPr/>
          </a:p>
          <a:p xmlns:a="http://schemas.openxmlformats.org/drawingml/2006/main">
            <a:r>
              <a:t>- **Prioritize:** Use the matrix. Don't skip this.</a:t>
            </a:r>
            <a:endParaRPr/>
          </a:p>
          <a:p xmlns:a="http://schemas.openxmlformats.org/drawingml/2006/main">
            <a:r>
              <a:t>- **Design:** Define inputs, outputs, human review gates, success metrics, and fallback</a:t>
            </a:r>
            <a:endParaRPr/>
          </a:p>
          <a:p xmlns:a="http://schemas.openxmlformats.org/drawingml/2006/main">
            <a:r>
              <a:t>- **Pilot:** Small scope, high observation. 4–8 weeks.</a:t>
            </a:r>
            <a:endParaRPr/>
          </a:p>
          <a:p xmlns:a="http://schemas.openxmlformats.org/drawingml/2006/main">
            <a:r>
              <a:t>- **Evaluate:** Did it work? For whom? What didn't?</a:t>
            </a:r>
            <a:endParaRPr/>
          </a:p>
          <a:p xmlns:a="http://schemas.openxmlformats.org/drawingml/2006/main">
            <a:r>
              <a:t>- **Scale:** Expand with the lessons from pilot baked in</a:t>
            </a:r>
            <a:endParaRPr/>
          </a:p>
          <a:p xmlns:a="http://schemas.openxmlformats.org/drawingml/2006/main">
            <a:r>
              <a:t/>
            </a:r>
            <a:endParaRPr/>
          </a:p>
          <a:p xmlns:a="http://schemas.openxmlformats.org/drawingml/2006/main">
            <a:r>
              <a:t>**One-page use case spec template:**</a:t>
            </a:r>
            <a:endParaRPr/>
          </a:p>
          <a:p xmlns:a="http://schemas.openxmlformats.org/drawingml/2006/main">
            <a:r>
              <a:t/>
            </a:r>
            <a:endParaRPr/>
          </a:p>
          <a:p xmlns:a="http://schemas.openxmlformats.org/drawingml/2006/main">
            <a:r>
              <a:t>Participants complete this for their team's top-ranked use case:</a:t>
            </a:r>
            <a:endParaRPr/>
          </a:p>
          <a:p xmlns:a="http://schemas.openxmlformats.org/drawingml/2006/main">
            <a:r>
              <a:t/>
            </a:r>
            <a:endParaRPr/>
          </a:p>
          <a:p xmlns:a="http://schemas.openxmlformats.org/drawingml/2006/main">
            <a:r>
              <a:t>```</a:t>
            </a:r>
            <a:endParaRPr/>
          </a:p>
          <a:p xmlns:a="http://schemas.openxmlformats.org/drawingml/2006/main">
            <a:r>
              <a:t>Use case name:</a:t>
            </a:r>
            <a:endParaRPr/>
          </a:p>
          <a:p xmlns:a="http://schemas.openxmlformats.org/drawingml/2006/main">
            <a:r>
              <a:t>Problem it solves (1 sentence):</a:t>
            </a:r>
            <a:endParaRPr/>
          </a:p>
          <a:p xmlns:a="http://schemas.openxmlformats.org/drawingml/2006/main">
            <a:r>
              <a:t>Who benefits and how:</a:t>
            </a:r>
            <a:endParaRPr/>
          </a:p>
          <a:p xmlns:a="http://schemas.openxmlformats.org/drawingml/2006/main">
            <a:r>
              <a:t>AI approach (Rules / Augment / Assist / Human-led / Analytics):</a:t>
            </a:r>
            <a:endParaRPr/>
          </a:p>
          <a:p xmlns:a="http://schemas.openxmlformats.org/drawingml/2006/main">
            <a:r>
              <a:t>Data needed:</a:t>
            </a:r>
            <a:endParaRPr/>
          </a:p>
          <a:p xmlns:a="http://schemas.openxmlformats.org/drawingml/2006/main">
            <a:r>
              <a:t>Human review gate:</a:t>
            </a:r>
            <a:endParaRPr/>
          </a:p>
          <a:p xmlns:a="http://schemas.openxmlformats.org/drawingml/2006/main">
            <a:r>
              <a:t>Success metric(s):</a:t>
            </a:r>
            <a:endParaRPr/>
          </a:p>
          <a:p xmlns:a="http://schemas.openxmlformats.org/drawingml/2006/main">
            <a:r>
              <a:t>What could go wrong:</a:t>
            </a:r>
            <a:endParaRPr/>
          </a:p>
          <a:p xmlns:a="http://schemas.openxmlformats.org/drawingml/2006/main">
            <a:r>
              <a:t>Governance requirements (from risk assessment):</a:t>
            </a:r>
            <a:endParaRPr/>
          </a:p>
          <a:p xmlns:a="http://schemas.openxmlformats.org/drawingml/2006/main">
            <a:r>
              <a:t>First step to move forward:</a:t>
            </a:r>
            <a:endParaRPr/>
          </a:p>
          <a:p xmlns:a="http://schemas.openxmlformats.org/drawingml/2006/main">
            <a:r>
              <a:t>```</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Assessment and certification</a:t>
            </a:r>
            <a:endParaRPr/>
          </a:p>
          <a:p xmlns:a="http://schemas.openxmlformats.org/drawingml/2006/main">
            <a:r>
              <a:t/>
            </a:r>
            <a:endParaRPr/>
          </a:p>
          <a:p xmlns:a="http://schemas.openxmlformats.org/drawingml/2006/main">
            <a:r>
              <a:t>An organization may choose to give participants who complete all four modules</a:t>
            </a:r>
            <a:endParaRPr/>
          </a:p>
          <a:p xmlns:a="http://schemas.openxmlformats.org/drawingml/2006/main">
            <a:r>
              <a:t>and the hands-on components an **HR AI Practitioner** acknowledgment. This is a</a:t>
            </a:r>
            <a:endParaRPr/>
          </a:p>
          <a:p xmlns:a="http://schemas.openxmlformats.org/drawingml/2006/main">
            <a:r>
              <a:t>proposed internal recognition, not an accredited certification or evidence of</a:t>
            </a:r>
            <a:endParaRPr/>
          </a:p>
          <a:p xmlns:a="http://schemas.openxmlformats.org/drawingml/2006/main">
            <a:r>
              <a:t>professional competence. No delivery or learning outcome is claimed here.</a:t>
            </a:r>
            <a:endParaRPr/>
          </a:p>
          <a:p xmlns:a="http://schemas.openxmlformats.org/drawingml/2006/main">
            <a:r>
              <a:t/>
            </a:r>
            <a:endParaRPr/>
          </a:p>
          <a:p xmlns:a="http://schemas.openxmlformats.org/drawingml/2006/main">
            <a:r>
              <a:t>Optional extension: Participants who complete a full use case spec and present it to the HR Technology team are recognized as **HR AI Champions**, an informal internal designation that supports peer enablement.</a:t>
            </a:r>
            <a:endParaRPr/>
          </a:p>
          <a:p xmlns:a="http://schemas.openxmlformats.org/drawingml/2006/main">
            <a:r>
              <a:t/>
            </a:r>
            <a:endParaRPr/>
          </a:p>
          <a:p xmlns:a="http://schemas.openxmlformats.org/drawingml/2006/main">
            <a:r>
              <a:t>---</a:t>
            </a:r>
            <a:endParaRPr/>
          </a:p>
          <a:p xmlns:a="http://schemas.openxmlformats.org/drawingml/2006/main">
            <a:r>
              <a:t/>
            </a:r>
            <a:endParaRPr/>
          </a:p>
          <a:p xmlns:a="http://schemas.openxmlformats.org/drawingml/2006/main">
            <a:r>
              <a:t>## Facilitator notes</a:t>
            </a:r>
            <a:endParaRPr/>
          </a:p>
          <a:p xmlns:a="http://schemas.openxmlformats.org/drawingml/2006/main">
            <a:r>
              <a:t/>
            </a:r>
            <a:endParaRPr/>
          </a:p>
          <a:p xmlns:a="http://schemas.openxmlformats.org/drawingml/2006/main">
            <a:r>
              <a:t>These are facilitation suggestions, not measured delivery findings. Use synthetic examples; removing names alone does not establish anonymity. Do not upload real employee, candidate, compensation, or employer-confidential information for a training exercise.</a:t>
            </a:r>
            <a:endParaRPr/>
          </a:p>
          <a:p xmlns:a="http://schemas.openxmlformats.org/drawingml/2006/main">
            <a:r>
              <a:t/>
            </a:r>
            <a:endParaRPr/>
          </a:p>
          <a:p xmlns:a="http://schemas.openxmlformats.org/drawingml/2006/main">
            <a:r>
              <a:t>- Budget flex time in Module 3 for questions and disagreement about risk.</a:t>
            </a:r>
            <a:endParaRPr/>
          </a:p>
          <a:p xmlns:a="http://schemas.openxmlformats.org/drawingml/2006/main">
            <a:r>
              <a:t>- Protect time for the Module 2 lab, and check whether participants can identify errors and verify outputs afterward.</a:t>
            </a:r>
            <a:endParaRPr/>
          </a:p>
          <a:p xmlns:a="http://schemas.openxmlformats.org/drawingml/2006/main">
            <a:r>
              <a:t>- Adapt synthetic scenarios to familiar workflows, without identifiable employee cases or confidential documents.</a:t>
            </a:r>
            <a:endParaRPr/>
          </a:p>
          <a:p xmlns:a="http://schemas.openxmlformats.org/drawingml/2006/main">
            <a:r>
              <a:t>- Keep an AI skeptic on the facilitation team if possible. The best discussions happen when the room has range.</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aa3fb49e8584f10"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6ef4492f1b64c51" /><Relationship Type="http://schemas.openxmlformats.org/officeDocument/2006/relationships/slideLayout" Target="/ppt/slideLayouts/slideLayout1.xml" Id="R267c30aa237d43c7"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67c30aa237d43c7"/>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7ccbc7b998a41d9" /><Relationship Type="http://schemas.openxmlformats.org/officeDocument/2006/relationships/notesSlide" Target="/ppt/notesSlides/notesSlide1.xml" Id="R5aa48c27f02f485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4b01a76fbef43ed" /><Relationship Type="http://schemas.openxmlformats.org/officeDocument/2006/relationships/notesSlide" Target="/ppt/notesSlides/notesSlide2.xml" Id="Red4f216613b54c5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4769bb5293d41ff" /><Relationship Type="http://schemas.openxmlformats.org/officeDocument/2006/relationships/notesSlide" Target="/ppt/notesSlides/notesSlide3.xml" Id="R8f6e4c183ebf43f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21a89a26c3c4775" /><Relationship Type="http://schemas.openxmlformats.org/officeDocument/2006/relationships/notesSlide" Target="/ppt/notesSlides/notesSlide4.xml" Id="R5336416c7739444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c27d18cc23848bd" /><Relationship Type="http://schemas.openxmlformats.org/officeDocument/2006/relationships/notesSlide" Target="/ppt/notesSlides/notesSlide5.xml" Id="R8cad75751e9f4bd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d0a2c5798764084" /><Relationship Type="http://schemas.openxmlformats.org/officeDocument/2006/relationships/notesSlide" Target="/ppt/notesSlides/notesSlide6.xml" Id="Rfe06dbea829d4d1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85696d766644ab3" /><Relationship Type="http://schemas.openxmlformats.org/officeDocument/2006/relationships/notesSlide" Target="/ppt/notesSlides/notesSlide7.xml" Id="Ra296be8fbd07444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edb685c61eb4ee0" /><Relationship Type="http://schemas.openxmlformats.org/officeDocument/2006/relationships/notesSlide" Target="/ppt/notesSlides/notesSlide8.xml" Id="R65aff1318a3f424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1669ce02f344d05" /><Relationship Type="http://schemas.openxmlformats.org/officeDocument/2006/relationships/notesSlide" Target="/ppt/notesSlides/notesSlide9.xml" Id="R3e643087fea8409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234cfa262784053" /><Relationship Type="http://schemas.openxmlformats.org/officeDocument/2006/relationships/notesSlide" Target="/ppt/notesSlides/notesSlide10.xml" Id="R6aedfe61b92a44d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a2ddf4fa18f4733" /><Relationship Type="http://schemas.openxmlformats.org/officeDocument/2006/relationships/notesSlide" Target="/ppt/notesSlides/notesSlide11.xml" Id="Rd76d300d2aec40d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6e511ac01bc4bc8" /><Relationship Type="http://schemas.openxmlformats.org/officeDocument/2006/relationships/notesSlide" Target="/ppt/notesSlides/notesSlide12.xml" Id="Ra71fc585a3ff496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c54744272d54536" /><Relationship Type="http://schemas.openxmlformats.org/officeDocument/2006/relationships/notesSlide" Target="/ppt/notesSlides/notesSlide13.xml" Id="R5515411f55e8466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200c327b75441c5" /><Relationship Type="http://schemas.openxmlformats.org/officeDocument/2006/relationships/notesSlide" Target="/ppt/notesSlides/notesSlide14.xml" Id="R984303c9590b483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5fe9bfb0bba4287" /><Relationship Type="http://schemas.openxmlformats.org/officeDocument/2006/relationships/hyperlink" Target="https://github.com/ellehelvig/hr-ai-transformation-playbook/blob/main/03-governance/README.md#key-dates-for-hr" TargetMode="External" Id="R44e95aeadc574dac" /><Relationship Type="http://schemas.openxmlformats.org/officeDocument/2006/relationships/notesSlide" Target="/ppt/notesSlides/notesSlide15.xml" Id="R62f59c25ebcf438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6c6406d26224c7b" /><Relationship Type="http://schemas.openxmlformats.org/officeDocument/2006/relationships/notesSlide" Target="/ppt/notesSlides/notesSlide16.xml" Id="R8bbf7014cedd45b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ec8c3f26bc34057" /><Relationship Type="http://schemas.openxmlformats.org/officeDocument/2006/relationships/notesSlide" Target="/ppt/notesSlides/notesSlide17.xml" Id="R08b6068517e24df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6869ceba1a44e1b" /><Relationship Type="http://schemas.openxmlformats.org/officeDocument/2006/relationships/notesSlide" Target="/ppt/notesSlides/notesSlide18.xml" Id="Rde0586c3575c46f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8dc28bc97af4112" /><Relationship Type="http://schemas.openxmlformats.org/officeDocument/2006/relationships/notesSlide" Target="/ppt/notesSlides/notesSlide19.xml" Id="R8983d426a46e43a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e043f25f155424b" /><Relationship Type="http://schemas.openxmlformats.org/officeDocument/2006/relationships/notesSlide" Target="/ppt/notesSlides/notesSlide20.xml" Id="R1f538bd38467451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19171e37dcb74279" /><Relationship Type="http://schemas.openxmlformats.org/officeDocument/2006/relationships/notesSlide" Target="/ppt/notesSlides/notesSlide21.xml" Id="R169a2efd98484fd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6cbe0246048e45c1" /><Relationship Type="http://schemas.openxmlformats.org/officeDocument/2006/relationships/notesSlide" Target="/ppt/notesSlides/notesSlide22.xml" Id="R0605261afabe469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686b8548ec714c2f" /><Relationship Type="http://schemas.openxmlformats.org/officeDocument/2006/relationships/hyperlink" Target="https://github.com/ellehelvig/hr-ai-transformation-playbook" TargetMode="External" Id="R105235448d944659" /><Relationship Type="http://schemas.openxmlformats.org/officeDocument/2006/relationships/hyperlink" Target="https://www.linkedin.com/in/ellehelvig/" TargetMode="External" Id="Rf72ad1babed840ec" /><Relationship Type="http://schemas.openxmlformats.org/officeDocument/2006/relationships/notesSlide" Target="/ppt/notesSlides/notesSlide23.xml" Id="Rb601e35d63cb4166" /></Relationships>
</file>

<file path=ppt/slides/slide1.xml><?xml version="1.0" encoding="utf-8"?>
<p:sld xmlns:p="http://schemas.openxmlformats.org/presentationml/2006/main">
  <p:cSld>
    <p:bg>
      <p:bgPr>
        <a:solidFill xmlns:a="http://schemas.openxmlformats.org/drawingml/2006/main">
          <a:srgbClr val="1E2761"/>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563A097-926C-4203-897B-8C108275EF11}"/>
              </a:ext>
            </a:extLst>
          </p:cNvPr>
          <p:cNvSpPr>
            <a:spLocks xmlns:a="http://schemas.openxmlformats.org/drawingml/2006/main" noGrp="1"/>
          </p:cNvSpPr>
          <p:nvPr/>
        </p:nvSpPr>
        <p:spPr>
          <a:xfrm xmlns:a="http://schemas.openxmlformats.org/drawingml/2006/main">
            <a:off x="0" y="0"/>
            <a:ext cx="137160" cy="5143500"/>
          </a:xfrm>
          <a:prstGeom xmlns:a="http://schemas.openxmlformats.org/drawingml/2006/main" prst="rect">
            <a:avLst/>
          </a:prstGeom>
          <a:solidFill xmlns:a="http://schemas.openxmlformats.org/drawingml/2006/main">
            <a:srgbClr val="C9A961"/>
          </a:solidFill>
          <a:ln xmlns:a="http://schemas.openxmlformats.org/drawingml/2006/main" w="12700">
            <a:solidFill>
              <a:srgbClr val="C9A961"/>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952ACEB8-3EE0-48EF-9C5F-76734606795A}"/>
              </a:ext>
            </a:extLst>
          </p:cNvPr>
          <p:cNvSpPr>
            <a:spLocks xmlns:a="http://schemas.openxmlformats.org/drawingml/2006/main" noGrp="1"/>
          </p:cNvSpPr>
          <p:nvPr/>
        </p:nvSpPr>
        <p:spPr>
          <a:xfrm xmlns:a="http://schemas.openxmlformats.org/drawingml/2006/main">
            <a:off x="640080" y="914400"/>
            <a:ext cx="54864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600">
                <a:solidFill>
                  <a:srgbClr val="C9A961"/>
                </a:solidFill>
                <a:latin typeface="Calibri"/>
                <a:ea typeface="Calibri"/>
                <a:cs typeface="Calibri"/>
              </a:rPr>
              <a:t>A PRACTITIONER'S PROGRAM</a:t>
            </a:r>
            <a:endParaRPr sz="1100"/>
          </a:p>
        </p:txBody>
      </p:sp>
      <p:sp>
        <p:nvSpPr>
          <p:cNvPr id="4" name="Text 2">
            <a:extLst xmlns:a="http://schemas.openxmlformats.org/drawingml/2006/main">
              <a:ext uri="{FF2B5EF4-FFF2-40B4-BE49-F238E27FC236}">
                <a16:creationId xmlns:a16="http://schemas.microsoft.com/office/drawing/2014/main" id="{875B8603-2113-4CA6-AB7B-E325035447E3}"/>
              </a:ext>
            </a:extLst>
          </p:cNvPr>
          <p:cNvSpPr>
            <a:spLocks xmlns:a="http://schemas.openxmlformats.org/drawingml/2006/main" noGrp="1"/>
          </p:cNvSpPr>
          <p:nvPr/>
        </p:nvSpPr>
        <p:spPr>
          <a:xfrm xmlns:a="http://schemas.openxmlformats.org/drawingml/2006/main">
            <a:off x="640080" y="1371600"/>
            <a:ext cx="8229600" cy="10972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4800" b="1">
                <a:solidFill>
                  <a:srgbClr val="FFFFFF"/>
                </a:solidFill>
                <a:latin typeface="Cambria"/>
                <a:ea typeface="Cambria"/>
                <a:cs typeface="Cambria"/>
              </a:rPr>
              <a:t>HR AI Literacy Curriculum</a:t>
            </a:r>
            <a:endParaRPr sz="4800"/>
          </a:p>
        </p:txBody>
      </p:sp>
      <p:sp>
        <p:nvSpPr>
          <p:cNvPr id="5" name="Text 3">
            <a:extLst xmlns:a="http://schemas.openxmlformats.org/drawingml/2006/main">
              <a:ext uri="{FF2B5EF4-FFF2-40B4-BE49-F238E27FC236}">
                <a16:creationId xmlns:a16="http://schemas.microsoft.com/office/drawing/2014/main" id="{30B8FD7D-7965-49C4-A56E-CDEC3DE0F6E1}"/>
              </a:ext>
            </a:extLst>
          </p:cNvPr>
          <p:cNvSpPr>
            <a:spLocks xmlns:a="http://schemas.openxmlformats.org/drawingml/2006/main" noGrp="1"/>
          </p:cNvSpPr>
          <p:nvPr/>
        </p:nvSpPr>
        <p:spPr>
          <a:xfrm xmlns:a="http://schemas.openxmlformats.org/drawingml/2006/main">
            <a:off x="640080" y="2514600"/>
            <a:ext cx="7772400" cy="9144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600">
                <a:solidFill>
                  <a:srgbClr val="CADCFC"/>
                </a:solidFill>
                <a:latin typeface="Calibri"/>
                <a:ea typeface="Calibri"/>
                <a:cs typeface="Calibri"/>
              </a:rPr>
              <a:t>Four modules over 4-6 weeks: 7 hours of sessions plus async practice, roughly 8 hours in all. Synthetic exercises in approved tools.</a:t>
            </a:r>
            <a:endParaRPr sz="1600"/>
          </a:p>
        </p:txBody>
      </p:sp>
      <p:sp>
        <p:nvSpPr>
          <p:cNvPr id="6" name="Text 4">
            <a:extLst xmlns:a="http://schemas.openxmlformats.org/drawingml/2006/main">
              <a:ext uri="{FF2B5EF4-FFF2-40B4-BE49-F238E27FC236}">
                <a16:creationId xmlns:a16="http://schemas.microsoft.com/office/drawing/2014/main" id="{0CDD6ADF-E7C8-406F-A347-83D79E845E3C}"/>
              </a:ext>
            </a:extLst>
          </p:cNvPr>
          <p:cNvSpPr>
            <a:spLocks xmlns:a="http://schemas.openxmlformats.org/drawingml/2006/main" noGrp="1"/>
          </p:cNvSpPr>
          <p:nvPr/>
        </p:nvSpPr>
        <p:spPr>
          <a:xfrm xmlns:a="http://schemas.openxmlformats.org/drawingml/2006/main">
            <a:off x="640080" y="3840480"/>
            <a:ext cx="109728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5600" b="1">
                <a:solidFill>
                  <a:srgbClr val="C9A961"/>
                </a:solidFill>
                <a:latin typeface="Cambria"/>
                <a:ea typeface="Cambria"/>
                <a:cs typeface="Cambria"/>
              </a:rPr>
              <a:t>4</a:t>
            </a:r>
            <a:endParaRPr sz="5600"/>
          </a:p>
        </p:txBody>
      </p:sp>
      <p:sp>
        <p:nvSpPr>
          <p:cNvPr id="7" name="Text 5">
            <a:extLst xmlns:a="http://schemas.openxmlformats.org/drawingml/2006/main">
              <a:ext uri="{FF2B5EF4-FFF2-40B4-BE49-F238E27FC236}">
                <a16:creationId xmlns:a16="http://schemas.microsoft.com/office/drawing/2014/main" id="{7D4110D8-5433-4818-BB09-155E9BA9F082}"/>
              </a:ext>
            </a:extLst>
          </p:cNvPr>
          <p:cNvSpPr>
            <a:spLocks xmlns:a="http://schemas.openxmlformats.org/drawingml/2006/main" noGrp="1"/>
          </p:cNvSpPr>
          <p:nvPr/>
        </p:nvSpPr>
        <p:spPr>
          <a:xfrm xmlns:a="http://schemas.openxmlformats.org/drawingml/2006/main">
            <a:off x="640080" y="4526280"/>
            <a:ext cx="1097280" cy="1828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300">
                <a:solidFill>
                  <a:srgbClr val="CADCFC"/>
                </a:solidFill>
                <a:latin typeface="Calibri"/>
                <a:ea typeface="Calibri"/>
                <a:cs typeface="Calibri"/>
              </a:rPr>
              <a:t>MODULES</a:t>
            </a:r>
            <a:endParaRPr sz="900"/>
          </a:p>
        </p:txBody>
      </p:sp>
      <p:sp>
        <p:nvSpPr>
          <p:cNvPr id="8" name="Text 6">
            <a:extLst xmlns:a="http://schemas.openxmlformats.org/drawingml/2006/main">
              <a:ext uri="{FF2B5EF4-FFF2-40B4-BE49-F238E27FC236}">
                <a16:creationId xmlns:a16="http://schemas.microsoft.com/office/drawing/2014/main" id="{3E4750DB-B195-4029-97B3-C81B85598FBC}"/>
              </a:ext>
            </a:extLst>
          </p:cNvPr>
          <p:cNvSpPr>
            <a:spLocks xmlns:a="http://schemas.openxmlformats.org/drawingml/2006/main" noGrp="1"/>
          </p:cNvSpPr>
          <p:nvPr/>
        </p:nvSpPr>
        <p:spPr>
          <a:xfrm xmlns:a="http://schemas.openxmlformats.org/drawingml/2006/main">
            <a:off x="2103120" y="3840480"/>
            <a:ext cx="109728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5600" b="1">
                <a:solidFill>
                  <a:srgbClr val="C9A961"/>
                </a:solidFill>
                <a:latin typeface="Cambria"/>
                <a:ea typeface="Cambria"/>
                <a:cs typeface="Cambria"/>
              </a:rPr>
              <a:t>7</a:t>
            </a:r>
            <a:endParaRPr sz="5600"/>
          </a:p>
        </p:txBody>
      </p:sp>
      <p:sp>
        <p:nvSpPr>
          <p:cNvPr id="9" name="Text 7">
            <a:extLst xmlns:a="http://schemas.openxmlformats.org/drawingml/2006/main">
              <a:ext uri="{FF2B5EF4-FFF2-40B4-BE49-F238E27FC236}">
                <a16:creationId xmlns:a16="http://schemas.microsoft.com/office/drawing/2014/main" id="{A6A6D2A8-D0FF-4CF4-8CAC-26716C342016}"/>
              </a:ext>
            </a:extLst>
          </p:cNvPr>
          <p:cNvSpPr>
            <a:spLocks xmlns:a="http://schemas.openxmlformats.org/drawingml/2006/main" noGrp="1"/>
          </p:cNvSpPr>
          <p:nvPr/>
        </p:nvSpPr>
        <p:spPr>
          <a:xfrm xmlns:a="http://schemas.openxmlformats.org/drawingml/2006/main">
            <a:off x="2103120" y="4526280"/>
            <a:ext cx="1371600" cy="1828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300">
                <a:solidFill>
                  <a:srgbClr val="CADCFC"/>
                </a:solidFill>
                <a:latin typeface="Calibri"/>
                <a:ea typeface="Calibri"/>
                <a:cs typeface="Calibri"/>
              </a:rPr>
              <a:t>SESSION HOURS</a:t>
            </a:r>
            <a:endParaRPr sz="900"/>
          </a:p>
        </p:txBody>
      </p:sp>
      <p:sp>
        <p:nvSpPr>
          <p:cNvPr id="10" name="Text 8">
            <a:extLst xmlns:a="http://schemas.openxmlformats.org/drawingml/2006/main">
              <a:ext uri="{FF2B5EF4-FFF2-40B4-BE49-F238E27FC236}">
                <a16:creationId xmlns:a16="http://schemas.microsoft.com/office/drawing/2014/main" id="{92E39023-E013-4FD1-B118-34FA07357A7A}"/>
              </a:ext>
            </a:extLst>
          </p:cNvPr>
          <p:cNvSpPr>
            <a:spLocks xmlns:a="http://schemas.openxmlformats.org/drawingml/2006/main" noGrp="1"/>
          </p:cNvSpPr>
          <p:nvPr/>
        </p:nvSpPr>
        <p:spPr>
          <a:xfrm xmlns:a="http://schemas.openxmlformats.org/drawingml/2006/main">
            <a:off x="4023360" y="3840480"/>
            <a:ext cx="182880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5600" b="1">
                <a:solidFill>
                  <a:srgbClr val="C9A961"/>
                </a:solidFill>
                <a:latin typeface="Cambria"/>
                <a:ea typeface="Cambria"/>
                <a:cs typeface="Cambria"/>
              </a:rPr>
              <a:t>All</a:t>
            </a:r>
            <a:endParaRPr sz="5600"/>
          </a:p>
        </p:txBody>
      </p:sp>
      <p:sp>
        <p:nvSpPr>
          <p:cNvPr id="11" name="Text 9">
            <a:extLst xmlns:a="http://schemas.openxmlformats.org/drawingml/2006/main">
              <a:ext uri="{FF2B5EF4-FFF2-40B4-BE49-F238E27FC236}">
                <a16:creationId xmlns:a16="http://schemas.microsoft.com/office/drawing/2014/main" id="{28024B08-88A2-48F4-BD6F-83DCD9788AD1}"/>
              </a:ext>
            </a:extLst>
          </p:cNvPr>
          <p:cNvSpPr>
            <a:spLocks xmlns:a="http://schemas.openxmlformats.org/drawingml/2006/main" noGrp="1"/>
          </p:cNvSpPr>
          <p:nvPr/>
        </p:nvSpPr>
        <p:spPr>
          <a:xfrm xmlns:a="http://schemas.openxmlformats.org/drawingml/2006/main">
            <a:off x="4023360" y="4526280"/>
            <a:ext cx="2743200" cy="1828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300">
                <a:solidFill>
                  <a:srgbClr val="CADCFC"/>
                </a:solidFill>
                <a:latin typeface="Calibri"/>
                <a:ea typeface="Calibri"/>
                <a:cs typeface="Calibri"/>
              </a:rPr>
              <a:t>PEOPLE TEAM MEMBERS</a:t>
            </a:r>
            <a:endParaRPr sz="900"/>
          </a:p>
        </p:txBody>
      </p:sp>
      <p:sp>
        <p:nvSpPr>
          <p:cNvPr id="12" name="Text 10">
            <a:extLst xmlns:a="http://schemas.openxmlformats.org/drawingml/2006/main">
              <a:ext uri="{FF2B5EF4-FFF2-40B4-BE49-F238E27FC236}">
                <a16:creationId xmlns:a16="http://schemas.microsoft.com/office/drawing/2014/main" id="{60C46A34-23C6-4D4A-93C9-695D9263BA9A}"/>
              </a:ext>
            </a:extLst>
          </p:cNvPr>
          <p:cNvSpPr>
            <a:spLocks xmlns:a="http://schemas.openxmlformats.org/drawingml/2006/main" noGrp="1"/>
          </p:cNvSpPr>
          <p:nvPr/>
        </p:nvSpPr>
        <p:spPr>
          <a:xfrm xmlns:a="http://schemas.openxmlformats.org/drawingml/2006/main">
            <a:off x="640080" y="4846320"/>
            <a:ext cx="82296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i="1">
                <a:solidFill>
                  <a:srgbClr val="CADCFC"/>
                </a:solidFill>
                <a:latin typeface="Calibri"/>
                <a:ea typeface="Calibri"/>
                <a:cs typeface="Calibri"/>
              </a:rPr>
              <a:t>Built by Elle Helvig  ·  github.com/ellehelvig/hr-ai-transformation-playbook</a:t>
            </a:r>
            <a:endParaRPr sz="1000"/>
          </a:p>
        </p:txBody>
      </p:sp>
    </p:spTree>
    <p:extLst>
      <p:ext uri="{BB962C8B-B14F-4D97-AF65-F5344CB8AC3E}">
        <p14:creationId xmlns:p14="http://schemas.microsoft.com/office/powerpoint/2010/main" val="944276255"/>
      </p:ext>
    </p:extLst>
  </p:cSld>
</p:sld>
</file>

<file path=ppt/slides/slide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E799AEA-A8A2-4D0D-90F4-5068D49121D0}"/>
              </a:ext>
            </a:extLst>
          </p:cNvPr>
          <p:cNvSpPr>
            <a:spLocks xmlns:a="http://schemas.openxmlformats.org/drawingml/2006/main" noGrp="1"/>
          </p:cNvSpPr>
          <p:nvPr/>
        </p:nvSpPr>
        <p:spPr>
          <a:xfrm xmlns:a="http://schemas.openxmlformats.org/drawingml/2006/main">
            <a:off x="457200" y="365760"/>
            <a:ext cx="822960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200" b="1">
                <a:solidFill>
                  <a:srgbClr val="1E2761"/>
                </a:solidFill>
                <a:latin typeface="Cambria"/>
                <a:ea typeface="Cambria"/>
                <a:cs typeface="Cambria"/>
              </a:rPr>
              <a:t>Program at a glance</a:t>
            </a:r>
            <a:endParaRPr sz="3200"/>
          </a:p>
        </p:txBody>
      </p:sp>
      <p:sp>
        <p:nvSpPr>
          <p:cNvPr id="3" name="Text 1">
            <a:extLst xmlns:a="http://schemas.openxmlformats.org/drawingml/2006/main">
              <a:ext uri="{FF2B5EF4-FFF2-40B4-BE49-F238E27FC236}">
                <a16:creationId xmlns:a16="http://schemas.microsoft.com/office/drawing/2014/main" id="{C89BFCC8-75DF-49A9-9C9A-E9C4E58DAEEA}"/>
              </a:ext>
            </a:extLst>
          </p:cNvPr>
          <p:cNvSpPr>
            <a:spLocks xmlns:a="http://schemas.openxmlformats.org/drawingml/2006/main" noGrp="1"/>
          </p:cNvSpPr>
          <p:nvPr/>
        </p:nvSpPr>
        <p:spPr>
          <a:xfrm xmlns:a="http://schemas.openxmlformats.org/drawingml/2006/main">
            <a:off x="457200" y="960120"/>
            <a:ext cx="82296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i="1">
                <a:solidFill>
                  <a:srgbClr val="6B7280"/>
                </a:solidFill>
                <a:latin typeface="Calibri"/>
                <a:ea typeface="Calibri"/>
                <a:cs typeface="Calibri"/>
              </a:rPr>
              <a:t>What this curriculum delivers and how it is structured.</a:t>
            </a:r>
            <a:endParaRPr sz="1400"/>
          </a:p>
        </p:txBody>
      </p:sp>
      <p:sp>
        <p:nvSpPr>
          <p:cNvPr id="4" name="Shape 2">
            <a:extLst xmlns:a="http://schemas.openxmlformats.org/drawingml/2006/main">
              <a:ext uri="{FF2B5EF4-FFF2-40B4-BE49-F238E27FC236}">
                <a16:creationId xmlns:a16="http://schemas.microsoft.com/office/drawing/2014/main" id="{A27BBA60-86C2-427C-BABA-7CFD45017201}"/>
              </a:ext>
            </a:extLst>
          </p:cNvPr>
          <p:cNvSpPr>
            <a:spLocks xmlns:a="http://schemas.openxmlformats.org/drawingml/2006/main" noGrp="1"/>
          </p:cNvSpPr>
          <p:nvPr/>
        </p:nvSpPr>
        <p:spPr>
          <a:xfrm xmlns:a="http://schemas.openxmlformats.org/drawingml/2006/main">
            <a:off x="457200" y="1554480"/>
            <a:ext cx="4023360" cy="137160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784D54B6-70A1-46DD-AFBB-A6470D020B66}"/>
              </a:ext>
            </a:extLst>
          </p:cNvPr>
          <p:cNvSpPr>
            <a:spLocks xmlns:a="http://schemas.openxmlformats.org/drawingml/2006/main" noGrp="1"/>
          </p:cNvSpPr>
          <p:nvPr/>
        </p:nvSpPr>
        <p:spPr>
          <a:xfrm xmlns:a="http://schemas.openxmlformats.org/drawingml/2006/main">
            <a:off x="457200" y="1554480"/>
            <a:ext cx="73152" cy="1371600"/>
          </a:xfrm>
          <a:prstGeom xmlns:a="http://schemas.openxmlformats.org/drawingml/2006/main" prst="rect">
            <a:avLst/>
          </a:prstGeom>
          <a:solidFill xmlns:a="http://schemas.openxmlformats.org/drawingml/2006/main">
            <a:srgbClr val="C9A961"/>
          </a:solidFill>
          <a:ln xmlns:a="http://schemas.openxmlformats.org/drawingml/2006/main" w="12700">
            <a:solidFill>
              <a:srgbClr val="C9A961"/>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0EAA23E8-5B14-4659-966C-BD5539D226D1}"/>
              </a:ext>
            </a:extLst>
          </p:cNvPr>
          <p:cNvSpPr>
            <a:spLocks xmlns:a="http://schemas.openxmlformats.org/drawingml/2006/main" noGrp="1"/>
          </p:cNvSpPr>
          <p:nvPr/>
        </p:nvSpPr>
        <p:spPr>
          <a:xfrm xmlns:a="http://schemas.openxmlformats.org/drawingml/2006/main">
            <a:off x="731520" y="1691640"/>
            <a:ext cx="3657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spc="400">
                <a:solidFill>
                  <a:srgbClr val="6B7280"/>
                </a:solidFill>
                <a:latin typeface="Calibri"/>
                <a:ea typeface="Calibri"/>
                <a:cs typeface="Calibri"/>
              </a:rPr>
              <a:t>TOTAL TIME</a:t>
            </a:r>
            <a:endParaRPr sz="1000"/>
          </a:p>
        </p:txBody>
      </p:sp>
      <p:sp>
        <p:nvSpPr>
          <p:cNvPr id="7" name="Text 5">
            <a:extLst xmlns:a="http://schemas.openxmlformats.org/drawingml/2006/main">
              <a:ext uri="{FF2B5EF4-FFF2-40B4-BE49-F238E27FC236}">
                <a16:creationId xmlns:a16="http://schemas.microsoft.com/office/drawing/2014/main" id="{2F4043FF-AB50-475C-B9D5-F1E711AFF5B6}"/>
              </a:ext>
            </a:extLst>
          </p:cNvPr>
          <p:cNvSpPr>
            <a:spLocks xmlns:a="http://schemas.openxmlformats.org/drawingml/2006/main" noGrp="1"/>
          </p:cNvSpPr>
          <p:nvPr/>
        </p:nvSpPr>
        <p:spPr>
          <a:xfrm xmlns:a="http://schemas.openxmlformats.org/drawingml/2006/main">
            <a:off x="731520" y="1965960"/>
            <a:ext cx="3657600"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400" b="1">
                <a:solidFill>
                  <a:srgbClr val="1E2761"/>
                </a:solidFill>
                <a:latin typeface="Cambria"/>
                <a:ea typeface="Cambria"/>
                <a:cs typeface="Cambria"/>
              </a:rPr>
              <a:t>~8 hours</a:t>
            </a:r>
            <a:endParaRPr sz="2400"/>
          </a:p>
        </p:txBody>
      </p:sp>
      <p:sp>
        <p:nvSpPr>
          <p:cNvPr id="8" name="Text 6">
            <a:extLst xmlns:a="http://schemas.openxmlformats.org/drawingml/2006/main">
              <a:ext uri="{FF2B5EF4-FFF2-40B4-BE49-F238E27FC236}">
                <a16:creationId xmlns:a16="http://schemas.microsoft.com/office/drawing/2014/main" id="{94871BBC-EC2D-486A-B6FA-5D217D3275A9}"/>
              </a:ext>
            </a:extLst>
          </p:cNvPr>
          <p:cNvSpPr>
            <a:spLocks xmlns:a="http://schemas.openxmlformats.org/drawingml/2006/main" noGrp="1"/>
          </p:cNvSpPr>
          <p:nvPr/>
        </p:nvSpPr>
        <p:spPr>
          <a:xfrm xmlns:a="http://schemas.openxmlformats.org/drawingml/2006/main">
            <a:off x="731520" y="2468880"/>
            <a:ext cx="36576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a:solidFill>
                  <a:srgbClr val="1A1F3A"/>
                </a:solidFill>
                <a:latin typeface="Calibri"/>
                <a:ea typeface="Calibri"/>
                <a:cs typeface="Calibri"/>
              </a:rPr>
              <a:t>7 session hours + async practice</a:t>
            </a:r>
            <a:endParaRPr sz="1200"/>
          </a:p>
        </p:txBody>
      </p:sp>
      <p:sp>
        <p:nvSpPr>
          <p:cNvPr id="9" name="Shape 7">
            <a:extLst xmlns:a="http://schemas.openxmlformats.org/drawingml/2006/main">
              <a:ext uri="{FF2B5EF4-FFF2-40B4-BE49-F238E27FC236}">
                <a16:creationId xmlns:a16="http://schemas.microsoft.com/office/drawing/2014/main" id="{66E85B2C-2329-45EA-88B0-9EB2A864D987}"/>
              </a:ext>
            </a:extLst>
          </p:cNvPr>
          <p:cNvSpPr>
            <a:spLocks xmlns:a="http://schemas.openxmlformats.org/drawingml/2006/main" noGrp="1"/>
          </p:cNvSpPr>
          <p:nvPr/>
        </p:nvSpPr>
        <p:spPr>
          <a:xfrm xmlns:a="http://schemas.openxmlformats.org/drawingml/2006/main">
            <a:off x="4663440" y="1554480"/>
            <a:ext cx="4023360" cy="137160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Shape 8">
            <a:extLst xmlns:a="http://schemas.openxmlformats.org/drawingml/2006/main">
              <a:ext uri="{FF2B5EF4-FFF2-40B4-BE49-F238E27FC236}">
                <a16:creationId xmlns:a16="http://schemas.microsoft.com/office/drawing/2014/main" id="{72450639-12FF-46BF-94EA-618D3244551C}"/>
              </a:ext>
            </a:extLst>
          </p:cNvPr>
          <p:cNvSpPr>
            <a:spLocks xmlns:a="http://schemas.openxmlformats.org/drawingml/2006/main" noGrp="1"/>
          </p:cNvSpPr>
          <p:nvPr/>
        </p:nvSpPr>
        <p:spPr>
          <a:xfrm xmlns:a="http://schemas.openxmlformats.org/drawingml/2006/main">
            <a:off x="4663440" y="1554480"/>
            <a:ext cx="73152" cy="1371600"/>
          </a:xfrm>
          <a:prstGeom xmlns:a="http://schemas.openxmlformats.org/drawingml/2006/main" prst="rect">
            <a:avLst/>
          </a:prstGeom>
          <a:solidFill xmlns:a="http://schemas.openxmlformats.org/drawingml/2006/main">
            <a:srgbClr val="C9A961"/>
          </a:solidFill>
          <a:ln xmlns:a="http://schemas.openxmlformats.org/drawingml/2006/main" w="12700">
            <a:solidFill>
              <a:srgbClr val="C9A961"/>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10FE5D24-7A7F-4D9F-9B09-4E50DBF44B32}"/>
              </a:ext>
            </a:extLst>
          </p:cNvPr>
          <p:cNvSpPr>
            <a:spLocks xmlns:a="http://schemas.openxmlformats.org/drawingml/2006/main" noGrp="1"/>
          </p:cNvSpPr>
          <p:nvPr/>
        </p:nvSpPr>
        <p:spPr>
          <a:xfrm xmlns:a="http://schemas.openxmlformats.org/drawingml/2006/main">
            <a:off x="4937760" y="1691640"/>
            <a:ext cx="3657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spc="400">
                <a:solidFill>
                  <a:srgbClr val="6B7280"/>
                </a:solidFill>
                <a:latin typeface="Calibri"/>
                <a:ea typeface="Calibri"/>
                <a:cs typeface="Calibri"/>
              </a:rPr>
              <a:t>FORMAT</a:t>
            </a:r>
            <a:endParaRPr sz="1000"/>
          </a:p>
        </p:txBody>
      </p:sp>
      <p:sp>
        <p:nvSpPr>
          <p:cNvPr id="12" name="Text 10">
            <a:extLst xmlns:a="http://schemas.openxmlformats.org/drawingml/2006/main">
              <a:ext uri="{FF2B5EF4-FFF2-40B4-BE49-F238E27FC236}">
                <a16:creationId xmlns:a16="http://schemas.microsoft.com/office/drawing/2014/main" id="{BDA1F542-2F9C-4338-A580-7632E58B541F}"/>
              </a:ext>
            </a:extLst>
          </p:cNvPr>
          <p:cNvSpPr>
            <a:spLocks xmlns:a="http://schemas.openxmlformats.org/drawingml/2006/main" noGrp="1"/>
          </p:cNvSpPr>
          <p:nvPr/>
        </p:nvSpPr>
        <p:spPr>
          <a:xfrm xmlns:a="http://schemas.openxmlformats.org/drawingml/2006/main">
            <a:off x="4937760" y="1965960"/>
            <a:ext cx="3657600"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400" b="1">
                <a:solidFill>
                  <a:srgbClr val="1E2761"/>
                </a:solidFill>
                <a:latin typeface="Cambria"/>
                <a:ea typeface="Cambria"/>
                <a:cs typeface="Cambria"/>
              </a:rPr>
              <a:t>Workshop + lab</a:t>
            </a:r>
            <a:endParaRPr sz="2400"/>
          </a:p>
        </p:txBody>
      </p:sp>
      <p:sp>
        <p:nvSpPr>
          <p:cNvPr id="13" name="Text 11">
            <a:extLst xmlns:a="http://schemas.openxmlformats.org/drawingml/2006/main">
              <a:ext uri="{FF2B5EF4-FFF2-40B4-BE49-F238E27FC236}">
                <a16:creationId xmlns:a16="http://schemas.microsoft.com/office/drawing/2014/main" id="{DFD2D2F8-72B0-4F92-9BC2-51974C9F77D5}"/>
              </a:ext>
            </a:extLst>
          </p:cNvPr>
          <p:cNvSpPr>
            <a:spLocks xmlns:a="http://schemas.openxmlformats.org/drawingml/2006/main" noGrp="1"/>
          </p:cNvSpPr>
          <p:nvPr/>
        </p:nvSpPr>
        <p:spPr>
          <a:xfrm xmlns:a="http://schemas.openxmlformats.org/drawingml/2006/main">
            <a:off x="4937760" y="2468880"/>
            <a:ext cx="36576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a:solidFill>
                  <a:srgbClr val="1A1F3A"/>
                </a:solidFill>
                <a:latin typeface="Calibri"/>
                <a:ea typeface="Calibri"/>
                <a:cs typeface="Calibri"/>
              </a:rPr>
              <a:t>Async reading + hands-on practice</a:t>
            </a:r>
            <a:endParaRPr sz="1200"/>
          </a:p>
        </p:txBody>
      </p:sp>
      <p:sp>
        <p:nvSpPr>
          <p:cNvPr id="14" name="Shape 12">
            <a:extLst xmlns:a="http://schemas.openxmlformats.org/drawingml/2006/main">
              <a:ext uri="{FF2B5EF4-FFF2-40B4-BE49-F238E27FC236}">
                <a16:creationId xmlns:a16="http://schemas.microsoft.com/office/drawing/2014/main" id="{884C1E1F-86E4-4CA7-8160-C703E941638A}"/>
              </a:ext>
            </a:extLst>
          </p:cNvPr>
          <p:cNvSpPr>
            <a:spLocks xmlns:a="http://schemas.openxmlformats.org/drawingml/2006/main" noGrp="1"/>
          </p:cNvSpPr>
          <p:nvPr/>
        </p:nvSpPr>
        <p:spPr>
          <a:xfrm xmlns:a="http://schemas.openxmlformats.org/drawingml/2006/main">
            <a:off x="457200" y="3108960"/>
            <a:ext cx="4023360" cy="137160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Shape 13">
            <a:extLst xmlns:a="http://schemas.openxmlformats.org/drawingml/2006/main">
              <a:ext uri="{FF2B5EF4-FFF2-40B4-BE49-F238E27FC236}">
                <a16:creationId xmlns:a16="http://schemas.microsoft.com/office/drawing/2014/main" id="{7CCD51BC-2E9E-4C3B-B720-FBE61DD9D4EE}"/>
              </a:ext>
            </a:extLst>
          </p:cNvPr>
          <p:cNvSpPr>
            <a:spLocks xmlns:a="http://schemas.openxmlformats.org/drawingml/2006/main" noGrp="1"/>
          </p:cNvSpPr>
          <p:nvPr/>
        </p:nvSpPr>
        <p:spPr>
          <a:xfrm xmlns:a="http://schemas.openxmlformats.org/drawingml/2006/main">
            <a:off x="457200" y="3108960"/>
            <a:ext cx="73152" cy="1371600"/>
          </a:xfrm>
          <a:prstGeom xmlns:a="http://schemas.openxmlformats.org/drawingml/2006/main" prst="rect">
            <a:avLst/>
          </a:prstGeom>
          <a:solidFill xmlns:a="http://schemas.openxmlformats.org/drawingml/2006/main">
            <a:srgbClr val="C9A961"/>
          </a:solidFill>
          <a:ln xmlns:a="http://schemas.openxmlformats.org/drawingml/2006/main" w="12700">
            <a:solidFill>
              <a:srgbClr val="C9A961"/>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82647408-D99F-48AA-B93C-3E1747EC5098}"/>
              </a:ext>
            </a:extLst>
          </p:cNvPr>
          <p:cNvSpPr>
            <a:spLocks xmlns:a="http://schemas.openxmlformats.org/drawingml/2006/main" noGrp="1"/>
          </p:cNvSpPr>
          <p:nvPr/>
        </p:nvSpPr>
        <p:spPr>
          <a:xfrm xmlns:a="http://schemas.openxmlformats.org/drawingml/2006/main">
            <a:off x="731520" y="3246120"/>
            <a:ext cx="3657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spc="400">
                <a:solidFill>
                  <a:srgbClr val="6B7280"/>
                </a:solidFill>
                <a:latin typeface="Calibri"/>
                <a:ea typeface="Calibri"/>
                <a:cs typeface="Calibri"/>
              </a:rPr>
              <a:t>AUDIENCE</a:t>
            </a:r>
            <a:endParaRPr sz="1000"/>
          </a:p>
        </p:txBody>
      </p:sp>
      <p:sp>
        <p:nvSpPr>
          <p:cNvPr id="17" name="Text 15">
            <a:extLst xmlns:a="http://schemas.openxmlformats.org/drawingml/2006/main">
              <a:ext uri="{FF2B5EF4-FFF2-40B4-BE49-F238E27FC236}">
                <a16:creationId xmlns:a16="http://schemas.microsoft.com/office/drawing/2014/main" id="{50BC6D8F-1AE1-4552-AACC-5B88B58A702A}"/>
              </a:ext>
            </a:extLst>
          </p:cNvPr>
          <p:cNvSpPr>
            <a:spLocks xmlns:a="http://schemas.openxmlformats.org/drawingml/2006/main" noGrp="1"/>
          </p:cNvSpPr>
          <p:nvPr/>
        </p:nvSpPr>
        <p:spPr>
          <a:xfrm xmlns:a="http://schemas.openxmlformats.org/drawingml/2006/main">
            <a:off x="731520" y="3520440"/>
            <a:ext cx="3657600"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400" b="1">
                <a:solidFill>
                  <a:srgbClr val="1E2761"/>
                </a:solidFill>
                <a:latin typeface="Cambria"/>
                <a:ea typeface="Cambria"/>
                <a:cs typeface="Cambria"/>
              </a:rPr>
              <a:t>All People Team</a:t>
            </a:r>
            <a:endParaRPr sz="2400"/>
          </a:p>
        </p:txBody>
      </p:sp>
      <p:sp>
        <p:nvSpPr>
          <p:cNvPr id="18" name="Text 16">
            <a:extLst xmlns:a="http://schemas.openxmlformats.org/drawingml/2006/main">
              <a:ext uri="{FF2B5EF4-FFF2-40B4-BE49-F238E27FC236}">
                <a16:creationId xmlns:a16="http://schemas.microsoft.com/office/drawing/2014/main" id="{19C51717-3285-4A95-85E9-54980BD8D6C5}"/>
              </a:ext>
            </a:extLst>
          </p:cNvPr>
          <p:cNvSpPr>
            <a:spLocks xmlns:a="http://schemas.openxmlformats.org/drawingml/2006/main" noGrp="1"/>
          </p:cNvSpPr>
          <p:nvPr/>
        </p:nvSpPr>
        <p:spPr>
          <a:xfrm xmlns:a="http://schemas.openxmlformats.org/drawingml/2006/main">
            <a:off x="731520" y="4023360"/>
            <a:ext cx="36576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a:solidFill>
                  <a:srgbClr val="1A1F3A"/>
                </a:solidFill>
                <a:latin typeface="Calibri"/>
                <a:ea typeface="Calibri"/>
                <a:cs typeface="Calibri"/>
              </a:rPr>
              <a:t>HRBPs, HR Ops, HR Tech, leadership</a:t>
            </a:r>
            <a:endParaRPr sz="1200"/>
          </a:p>
        </p:txBody>
      </p:sp>
      <p:sp>
        <p:nvSpPr>
          <p:cNvPr id="19" name="Shape 17">
            <a:extLst xmlns:a="http://schemas.openxmlformats.org/drawingml/2006/main">
              <a:ext uri="{FF2B5EF4-FFF2-40B4-BE49-F238E27FC236}">
                <a16:creationId xmlns:a16="http://schemas.microsoft.com/office/drawing/2014/main" id="{9E7E9FA7-AAE0-4D90-B088-B2A7C6CB2A55}"/>
              </a:ext>
            </a:extLst>
          </p:cNvPr>
          <p:cNvSpPr>
            <a:spLocks xmlns:a="http://schemas.openxmlformats.org/drawingml/2006/main" noGrp="1"/>
          </p:cNvSpPr>
          <p:nvPr/>
        </p:nvSpPr>
        <p:spPr>
          <a:xfrm xmlns:a="http://schemas.openxmlformats.org/drawingml/2006/main">
            <a:off x="4663440" y="3108960"/>
            <a:ext cx="4023360" cy="137160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Shape 18">
            <a:extLst xmlns:a="http://schemas.openxmlformats.org/drawingml/2006/main">
              <a:ext uri="{FF2B5EF4-FFF2-40B4-BE49-F238E27FC236}">
                <a16:creationId xmlns:a16="http://schemas.microsoft.com/office/drawing/2014/main" id="{A93493AE-DBB8-4D2F-A8DF-E3138FEFD412}"/>
              </a:ext>
            </a:extLst>
          </p:cNvPr>
          <p:cNvSpPr>
            <a:spLocks xmlns:a="http://schemas.openxmlformats.org/drawingml/2006/main" noGrp="1"/>
          </p:cNvSpPr>
          <p:nvPr/>
        </p:nvSpPr>
        <p:spPr>
          <a:xfrm xmlns:a="http://schemas.openxmlformats.org/drawingml/2006/main">
            <a:off x="4663440" y="3108960"/>
            <a:ext cx="73152" cy="1371600"/>
          </a:xfrm>
          <a:prstGeom xmlns:a="http://schemas.openxmlformats.org/drawingml/2006/main" prst="rect">
            <a:avLst/>
          </a:prstGeom>
          <a:solidFill xmlns:a="http://schemas.openxmlformats.org/drawingml/2006/main">
            <a:srgbClr val="C9A961"/>
          </a:solidFill>
          <a:ln xmlns:a="http://schemas.openxmlformats.org/drawingml/2006/main" w="12700">
            <a:solidFill>
              <a:srgbClr val="C9A961"/>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Text 19">
            <a:extLst xmlns:a="http://schemas.openxmlformats.org/drawingml/2006/main">
              <a:ext uri="{FF2B5EF4-FFF2-40B4-BE49-F238E27FC236}">
                <a16:creationId xmlns:a16="http://schemas.microsoft.com/office/drawing/2014/main" id="{4FBF7A60-4C7F-4E7B-AEE5-94455B21CB1E}"/>
              </a:ext>
            </a:extLst>
          </p:cNvPr>
          <p:cNvSpPr>
            <a:spLocks xmlns:a="http://schemas.openxmlformats.org/drawingml/2006/main" noGrp="1"/>
          </p:cNvSpPr>
          <p:nvPr/>
        </p:nvSpPr>
        <p:spPr>
          <a:xfrm xmlns:a="http://schemas.openxmlformats.org/drawingml/2006/main">
            <a:off x="4937760" y="3246120"/>
            <a:ext cx="3657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spc="400">
                <a:solidFill>
                  <a:srgbClr val="6B7280"/>
                </a:solidFill>
                <a:latin typeface="Calibri"/>
                <a:ea typeface="Calibri"/>
                <a:cs typeface="Calibri"/>
              </a:rPr>
              <a:t>PREREQUISITE</a:t>
            </a:r>
            <a:endParaRPr sz="1000"/>
          </a:p>
        </p:txBody>
      </p:sp>
      <p:sp>
        <p:nvSpPr>
          <p:cNvPr id="22" name="Text 20">
            <a:extLst xmlns:a="http://schemas.openxmlformats.org/drawingml/2006/main">
              <a:ext uri="{FF2B5EF4-FFF2-40B4-BE49-F238E27FC236}">
                <a16:creationId xmlns:a16="http://schemas.microsoft.com/office/drawing/2014/main" id="{A3F41D10-CCE5-4963-9725-2714486BCC59}"/>
              </a:ext>
            </a:extLst>
          </p:cNvPr>
          <p:cNvSpPr>
            <a:spLocks xmlns:a="http://schemas.openxmlformats.org/drawingml/2006/main" noGrp="1"/>
          </p:cNvSpPr>
          <p:nvPr/>
        </p:nvSpPr>
        <p:spPr>
          <a:xfrm xmlns:a="http://schemas.openxmlformats.org/drawingml/2006/main">
            <a:off x="4937760" y="3520440"/>
            <a:ext cx="3657600"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400" b="1">
                <a:solidFill>
                  <a:srgbClr val="1E2761"/>
                </a:solidFill>
                <a:latin typeface="Cambria"/>
                <a:ea typeface="Cambria"/>
                <a:cs typeface="Cambria"/>
              </a:rPr>
              <a:t>None</a:t>
            </a:r>
            <a:endParaRPr sz="2400"/>
          </a:p>
        </p:txBody>
      </p:sp>
      <p:sp>
        <p:nvSpPr>
          <p:cNvPr id="23" name="Text 21">
            <a:extLst xmlns:a="http://schemas.openxmlformats.org/drawingml/2006/main">
              <a:ext uri="{FF2B5EF4-FFF2-40B4-BE49-F238E27FC236}">
                <a16:creationId xmlns:a16="http://schemas.microsoft.com/office/drawing/2014/main" id="{D631368A-EB89-4671-9ADF-2ED8D1AF3017}"/>
              </a:ext>
            </a:extLst>
          </p:cNvPr>
          <p:cNvSpPr>
            <a:spLocks xmlns:a="http://schemas.openxmlformats.org/drawingml/2006/main" noGrp="1"/>
          </p:cNvSpPr>
          <p:nvPr/>
        </p:nvSpPr>
        <p:spPr>
          <a:xfrm xmlns:a="http://schemas.openxmlformats.org/drawingml/2006/main">
            <a:off x="4937760" y="4023360"/>
            <a:ext cx="36576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a:solidFill>
                  <a:srgbClr val="1A1F3A"/>
                </a:solidFill>
                <a:latin typeface="Calibri"/>
                <a:ea typeface="Calibri"/>
                <a:cs typeface="Calibri"/>
              </a:rPr>
              <a:t>Approved tools; synthetic data in every lab</a:t>
            </a:r>
            <a:endParaRPr sz="1200"/>
          </a:p>
        </p:txBody>
      </p:sp>
      <p:sp>
        <p:nvSpPr>
          <p:cNvPr id="24" name="Text 22">
            <a:extLst xmlns:a="http://schemas.openxmlformats.org/drawingml/2006/main">
              <a:ext uri="{FF2B5EF4-FFF2-40B4-BE49-F238E27FC236}">
                <a16:creationId xmlns:a16="http://schemas.microsoft.com/office/drawing/2014/main" id="{F444A17C-959D-4A09-ADD7-20A9DC6AEF05}"/>
              </a:ext>
            </a:extLst>
          </p:cNvPr>
          <p:cNvSpPr>
            <a:spLocks xmlns:a="http://schemas.openxmlformats.org/drawingml/2006/main" noGrp="1"/>
          </p:cNvSpPr>
          <p:nvPr/>
        </p:nvSpPr>
        <p:spPr>
          <a:xfrm xmlns:a="http://schemas.openxmlformats.org/drawingml/2006/main">
            <a:off x="457200" y="4846320"/>
            <a:ext cx="45720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HR AI Literacy Curriculum</a:t>
            </a:r>
            <a:endParaRPr sz="900"/>
          </a:p>
        </p:txBody>
      </p:sp>
      <p:sp>
        <p:nvSpPr>
          <p:cNvPr id="25" name="Text 23">
            <a:extLst xmlns:a="http://schemas.openxmlformats.org/drawingml/2006/main">
              <a:ext uri="{FF2B5EF4-FFF2-40B4-BE49-F238E27FC236}">
                <a16:creationId xmlns:a16="http://schemas.microsoft.com/office/drawing/2014/main" id="{983E7920-558C-49AA-AFCC-B1EBD3FA284C}"/>
              </a:ext>
            </a:extLst>
          </p:cNvPr>
          <p:cNvSpPr>
            <a:spLocks xmlns:a="http://schemas.openxmlformats.org/drawingml/2006/main" noGrp="1"/>
          </p:cNvSpPr>
          <p:nvPr/>
        </p:nvSpPr>
        <p:spPr>
          <a:xfrm xmlns:a="http://schemas.openxmlformats.org/drawingml/2006/main">
            <a:off x="8412480" y="4846320"/>
            <a:ext cx="4572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6B7280"/>
                </a:solidFill>
                <a:latin typeface="Calibri"/>
                <a:ea typeface="Calibri"/>
                <a:cs typeface="Calibri"/>
              </a:rPr>
              <a:t>2</a:t>
            </a:r>
            <a:endParaRPr sz="900"/>
          </a:p>
        </p:txBody>
      </p:sp>
    </p:spTree>
    <p:extLst>
      <p:ext uri="{BB962C8B-B14F-4D97-AF65-F5344CB8AC3E}">
        <p14:creationId xmlns:p14="http://schemas.microsoft.com/office/powerpoint/2010/main" val="201453051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BD76B49-6ED6-4C8F-9E00-2DA170982EE0}"/>
              </a:ext>
            </a:extLst>
          </p:cNvPr>
          <p:cNvSpPr>
            <a:spLocks xmlns:a="http://schemas.openxmlformats.org/drawingml/2006/main" noGrp="1"/>
          </p:cNvSpPr>
          <p:nvPr/>
        </p:nvSpPr>
        <p:spPr>
          <a:xfrm xmlns:a="http://schemas.openxmlformats.org/drawingml/2006/main">
            <a:off x="457200" y="365760"/>
            <a:ext cx="822960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200" b="1">
                <a:solidFill>
                  <a:srgbClr val="1E2761"/>
                </a:solidFill>
                <a:latin typeface="Cambria"/>
                <a:ea typeface="Cambria"/>
                <a:cs typeface="Cambria"/>
              </a:rPr>
              <a:t>The four modules</a:t>
            </a:r>
            <a:endParaRPr sz="3200"/>
          </a:p>
        </p:txBody>
      </p:sp>
      <p:sp>
        <p:nvSpPr>
          <p:cNvPr id="3" name="Text 1">
            <a:extLst xmlns:a="http://schemas.openxmlformats.org/drawingml/2006/main">
              <a:ext uri="{FF2B5EF4-FFF2-40B4-BE49-F238E27FC236}">
                <a16:creationId xmlns:a16="http://schemas.microsoft.com/office/drawing/2014/main" id="{64934594-B91E-4D4F-9D85-975A22D221DB}"/>
              </a:ext>
            </a:extLst>
          </p:cNvPr>
          <p:cNvSpPr>
            <a:spLocks xmlns:a="http://schemas.openxmlformats.org/drawingml/2006/main" noGrp="1"/>
          </p:cNvSpPr>
          <p:nvPr/>
        </p:nvSpPr>
        <p:spPr>
          <a:xfrm xmlns:a="http://schemas.openxmlformats.org/drawingml/2006/main">
            <a:off x="457200" y="960120"/>
            <a:ext cx="8229600" cy="411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i="1">
                <a:solidFill>
                  <a:srgbClr val="6B7280"/>
                </a:solidFill>
                <a:latin typeface="Calibri"/>
                <a:ea typeface="Calibri"/>
                <a:cs typeface="Calibri"/>
              </a:rPr>
              <a:t>Each module builds on the previous. Together they take an HR professional from zero understanding to drafting their own use case spec.</a:t>
            </a:r>
            <a:endParaRPr sz="1300"/>
          </a:p>
        </p:txBody>
      </p:sp>
      <p:sp>
        <p:nvSpPr>
          <p:cNvPr id="4" name="Shape 2">
            <a:extLst xmlns:a="http://schemas.openxmlformats.org/drawingml/2006/main">
              <a:ext uri="{FF2B5EF4-FFF2-40B4-BE49-F238E27FC236}">
                <a16:creationId xmlns:a16="http://schemas.microsoft.com/office/drawing/2014/main" id="{09140C50-5C48-480A-AB29-B347CFB4CC2B}"/>
              </a:ext>
            </a:extLst>
          </p:cNvPr>
          <p:cNvSpPr>
            <a:spLocks xmlns:a="http://schemas.openxmlformats.org/drawingml/2006/main" noGrp="1"/>
          </p:cNvSpPr>
          <p:nvPr/>
        </p:nvSpPr>
        <p:spPr>
          <a:xfrm xmlns:a="http://schemas.openxmlformats.org/drawingml/2006/main">
            <a:off x="457200" y="1554480"/>
            <a:ext cx="8229600" cy="749808"/>
          </a:xfrm>
          <a:prstGeom xmlns:a="http://schemas.openxmlformats.org/drawingml/2006/main" prst="rect">
            <a:avLst/>
          </a:prstGeom>
          <a:solidFill xmlns:a="http://schemas.openxmlformats.org/drawingml/2006/main">
            <a:srgbClr val="F5F7FB"/>
          </a:solidFill>
          <a:ln xmlns:a="http://schemas.openxmlformats.org/drawingml/2006/main" w="6350">
            <a:solidFill>
              <a:srgbClr val="E5E7EB"/>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3447A3D3-687D-4020-944C-090C81742AC6}"/>
              </a:ext>
            </a:extLst>
          </p:cNvPr>
          <p:cNvSpPr>
            <a:spLocks xmlns:a="http://schemas.openxmlformats.org/drawingml/2006/main" noGrp="1"/>
          </p:cNvSpPr>
          <p:nvPr/>
        </p:nvSpPr>
        <p:spPr>
          <a:xfrm xmlns:a="http://schemas.openxmlformats.org/drawingml/2006/main">
            <a:off x="457200" y="1554480"/>
            <a:ext cx="822960" cy="749808"/>
          </a:xfrm>
          <a:prstGeom xmlns:a="http://schemas.openxmlformats.org/drawingml/2006/main" prst="rect">
            <a:avLst/>
          </a:prstGeom>
          <a:solidFill xmlns:a="http://schemas.openxmlformats.org/drawingml/2006/main">
            <a:srgbClr val="1E2761"/>
          </a:solidFill>
          <a:ln xmlns:a="http://schemas.openxmlformats.org/drawingml/2006/main" w="12700">
            <a:solidFill>
              <a:srgbClr val="1E2761"/>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C0813C90-F470-45BA-8760-EB714535E99C}"/>
              </a:ext>
            </a:extLst>
          </p:cNvPr>
          <p:cNvSpPr>
            <a:spLocks xmlns:a="http://schemas.openxmlformats.org/drawingml/2006/main" noGrp="1"/>
          </p:cNvSpPr>
          <p:nvPr/>
        </p:nvSpPr>
        <p:spPr>
          <a:xfrm xmlns:a="http://schemas.openxmlformats.org/drawingml/2006/main">
            <a:off x="457200" y="1691640"/>
            <a:ext cx="82296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2600" b="1">
                <a:solidFill>
                  <a:srgbClr val="C9A961"/>
                </a:solidFill>
                <a:latin typeface="Cambria"/>
                <a:ea typeface="Cambria"/>
                <a:cs typeface="Cambria"/>
              </a:rPr>
              <a:t>01</a:t>
            </a:r>
            <a:endParaRPr sz="2600"/>
          </a:p>
        </p:txBody>
      </p:sp>
      <p:sp>
        <p:nvSpPr>
          <p:cNvPr id="7" name="Text 5">
            <a:extLst xmlns:a="http://schemas.openxmlformats.org/drawingml/2006/main">
              <a:ext uri="{FF2B5EF4-FFF2-40B4-BE49-F238E27FC236}">
                <a16:creationId xmlns:a16="http://schemas.microsoft.com/office/drawing/2014/main" id="{0F28BF1D-9205-4785-9FCA-CB0FA5E8A327}"/>
              </a:ext>
            </a:extLst>
          </p:cNvPr>
          <p:cNvSpPr>
            <a:spLocks xmlns:a="http://schemas.openxmlformats.org/drawingml/2006/main" noGrp="1"/>
          </p:cNvSpPr>
          <p:nvPr/>
        </p:nvSpPr>
        <p:spPr>
          <a:xfrm xmlns:a="http://schemas.openxmlformats.org/drawingml/2006/main">
            <a:off x="1463040" y="1645920"/>
            <a:ext cx="53035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E2761"/>
                </a:solidFill>
                <a:latin typeface="Cambria"/>
                <a:ea typeface="Cambria"/>
                <a:cs typeface="Cambria"/>
              </a:rPr>
              <a:t>How AI works</a:t>
            </a:r>
            <a:endParaRPr sz="1600"/>
          </a:p>
        </p:txBody>
      </p:sp>
      <p:sp>
        <p:nvSpPr>
          <p:cNvPr id="8" name="Text 6">
            <a:extLst xmlns:a="http://schemas.openxmlformats.org/drawingml/2006/main">
              <a:ext uri="{FF2B5EF4-FFF2-40B4-BE49-F238E27FC236}">
                <a16:creationId xmlns:a16="http://schemas.microsoft.com/office/drawing/2014/main" id="{2A6CADAA-D42B-4E19-9D10-656F841CD263}"/>
              </a:ext>
            </a:extLst>
          </p:cNvPr>
          <p:cNvSpPr>
            <a:spLocks xmlns:a="http://schemas.openxmlformats.org/drawingml/2006/main" noGrp="1"/>
          </p:cNvSpPr>
          <p:nvPr/>
        </p:nvSpPr>
        <p:spPr>
          <a:xfrm xmlns:a="http://schemas.openxmlformats.org/drawingml/2006/main">
            <a:off x="1463040" y="1947672"/>
            <a:ext cx="53035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i="1">
                <a:solidFill>
                  <a:srgbClr val="6B7280"/>
                </a:solidFill>
                <a:latin typeface="Calibri"/>
                <a:ea typeface="Calibri"/>
                <a:cs typeface="Calibri"/>
              </a:rPr>
              <a:t>What HR professionals actually need to know</a:t>
            </a:r>
            <a:endParaRPr sz="1100"/>
          </a:p>
        </p:txBody>
      </p:sp>
      <p:sp>
        <p:nvSpPr>
          <p:cNvPr id="9" name="Text 7">
            <a:extLst xmlns:a="http://schemas.openxmlformats.org/drawingml/2006/main">
              <a:ext uri="{FF2B5EF4-FFF2-40B4-BE49-F238E27FC236}">
                <a16:creationId xmlns:a16="http://schemas.microsoft.com/office/drawing/2014/main" id="{B5275927-1D77-4619-BB34-B128D1CAE6E7}"/>
              </a:ext>
            </a:extLst>
          </p:cNvPr>
          <p:cNvSpPr>
            <a:spLocks xmlns:a="http://schemas.openxmlformats.org/drawingml/2006/main" noGrp="1"/>
          </p:cNvSpPr>
          <p:nvPr/>
        </p:nvSpPr>
        <p:spPr>
          <a:xfrm xmlns:a="http://schemas.openxmlformats.org/drawingml/2006/main">
            <a:off x="6858000" y="1664208"/>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b="1">
                <a:solidFill>
                  <a:srgbClr val="1A1F3A"/>
                </a:solidFill>
                <a:latin typeface="Calibri"/>
                <a:ea typeface="Calibri"/>
                <a:cs typeface="Calibri"/>
              </a:rPr>
              <a:t>90 min</a:t>
            </a:r>
            <a:endParaRPr sz="1200"/>
          </a:p>
        </p:txBody>
      </p:sp>
      <p:sp>
        <p:nvSpPr>
          <p:cNvPr id="10" name="Text 8">
            <a:extLst xmlns:a="http://schemas.openxmlformats.org/drawingml/2006/main">
              <a:ext uri="{FF2B5EF4-FFF2-40B4-BE49-F238E27FC236}">
                <a16:creationId xmlns:a16="http://schemas.microsoft.com/office/drawing/2014/main" id="{4CB7D015-0741-4A52-A82F-71F5968C9C82}"/>
              </a:ext>
            </a:extLst>
          </p:cNvPr>
          <p:cNvSpPr>
            <a:spLocks xmlns:a="http://schemas.openxmlformats.org/drawingml/2006/main" noGrp="1"/>
          </p:cNvSpPr>
          <p:nvPr/>
        </p:nvSpPr>
        <p:spPr>
          <a:xfrm xmlns:a="http://schemas.openxmlformats.org/drawingml/2006/main">
            <a:off x="6858000" y="1938528"/>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i="1">
                <a:solidFill>
                  <a:srgbClr val="6B7280"/>
                </a:solidFill>
                <a:latin typeface="Calibri"/>
                <a:ea typeface="Calibri"/>
                <a:cs typeface="Calibri"/>
              </a:rPr>
              <a:t>Workshop</a:t>
            </a:r>
            <a:endParaRPr sz="1000"/>
          </a:p>
        </p:txBody>
      </p:sp>
      <p:sp>
        <p:nvSpPr>
          <p:cNvPr id="11" name="Shape 9">
            <a:extLst xmlns:a="http://schemas.openxmlformats.org/drawingml/2006/main">
              <a:ext uri="{FF2B5EF4-FFF2-40B4-BE49-F238E27FC236}">
                <a16:creationId xmlns:a16="http://schemas.microsoft.com/office/drawing/2014/main" id="{61B61473-E25C-490F-B025-B19BEDA18E6E}"/>
              </a:ext>
            </a:extLst>
          </p:cNvPr>
          <p:cNvSpPr>
            <a:spLocks xmlns:a="http://schemas.openxmlformats.org/drawingml/2006/main" noGrp="1"/>
          </p:cNvSpPr>
          <p:nvPr/>
        </p:nvSpPr>
        <p:spPr>
          <a:xfrm xmlns:a="http://schemas.openxmlformats.org/drawingml/2006/main">
            <a:off x="457200" y="2350008"/>
            <a:ext cx="8229600" cy="749808"/>
          </a:xfrm>
          <a:prstGeom xmlns:a="http://schemas.openxmlformats.org/drawingml/2006/main" prst="rect">
            <a:avLst/>
          </a:prstGeom>
          <a:solidFill xmlns:a="http://schemas.openxmlformats.org/drawingml/2006/main">
            <a:srgbClr val="F5F7FB"/>
          </a:solidFill>
          <a:ln xmlns:a="http://schemas.openxmlformats.org/drawingml/2006/main" w="6350">
            <a:solidFill>
              <a:srgbClr val="E5E7EB"/>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Shape 10">
            <a:extLst xmlns:a="http://schemas.openxmlformats.org/drawingml/2006/main">
              <a:ext uri="{FF2B5EF4-FFF2-40B4-BE49-F238E27FC236}">
                <a16:creationId xmlns:a16="http://schemas.microsoft.com/office/drawing/2014/main" id="{6F8F3A3D-6DF4-46FF-9FF7-CE9CFD491EDF}"/>
              </a:ext>
            </a:extLst>
          </p:cNvPr>
          <p:cNvSpPr>
            <a:spLocks xmlns:a="http://schemas.openxmlformats.org/drawingml/2006/main" noGrp="1"/>
          </p:cNvSpPr>
          <p:nvPr/>
        </p:nvSpPr>
        <p:spPr>
          <a:xfrm xmlns:a="http://schemas.openxmlformats.org/drawingml/2006/main">
            <a:off x="457200" y="2350008"/>
            <a:ext cx="822960" cy="749808"/>
          </a:xfrm>
          <a:prstGeom xmlns:a="http://schemas.openxmlformats.org/drawingml/2006/main" prst="rect">
            <a:avLst/>
          </a:prstGeom>
          <a:solidFill xmlns:a="http://schemas.openxmlformats.org/drawingml/2006/main">
            <a:srgbClr val="1E2761"/>
          </a:solidFill>
          <a:ln xmlns:a="http://schemas.openxmlformats.org/drawingml/2006/main" w="12700">
            <a:solidFill>
              <a:srgbClr val="1E2761"/>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Text 11">
            <a:extLst xmlns:a="http://schemas.openxmlformats.org/drawingml/2006/main">
              <a:ext uri="{FF2B5EF4-FFF2-40B4-BE49-F238E27FC236}">
                <a16:creationId xmlns:a16="http://schemas.microsoft.com/office/drawing/2014/main" id="{F3766467-AC05-4910-94D1-2E852FD3DF83}"/>
              </a:ext>
            </a:extLst>
          </p:cNvPr>
          <p:cNvSpPr>
            <a:spLocks xmlns:a="http://schemas.openxmlformats.org/drawingml/2006/main" noGrp="1"/>
          </p:cNvSpPr>
          <p:nvPr/>
        </p:nvSpPr>
        <p:spPr>
          <a:xfrm xmlns:a="http://schemas.openxmlformats.org/drawingml/2006/main">
            <a:off x="457200" y="2487168"/>
            <a:ext cx="82296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2600" b="1">
                <a:solidFill>
                  <a:srgbClr val="C9A961"/>
                </a:solidFill>
                <a:latin typeface="Cambria"/>
                <a:ea typeface="Cambria"/>
                <a:cs typeface="Cambria"/>
              </a:rPr>
              <a:t>02</a:t>
            </a:r>
            <a:endParaRPr sz="2600"/>
          </a:p>
        </p:txBody>
      </p:sp>
      <p:sp>
        <p:nvSpPr>
          <p:cNvPr id="14" name="Text 12">
            <a:extLst xmlns:a="http://schemas.openxmlformats.org/drawingml/2006/main">
              <a:ext uri="{FF2B5EF4-FFF2-40B4-BE49-F238E27FC236}">
                <a16:creationId xmlns:a16="http://schemas.microsoft.com/office/drawing/2014/main" id="{04CCC4E9-197E-4DED-AE48-8F432A3A0293}"/>
              </a:ext>
            </a:extLst>
          </p:cNvPr>
          <p:cNvSpPr>
            <a:spLocks xmlns:a="http://schemas.openxmlformats.org/drawingml/2006/main" noGrp="1"/>
          </p:cNvSpPr>
          <p:nvPr/>
        </p:nvSpPr>
        <p:spPr>
          <a:xfrm xmlns:a="http://schemas.openxmlformats.org/drawingml/2006/main">
            <a:off x="1463040" y="2441448"/>
            <a:ext cx="53035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E2761"/>
                </a:solidFill>
                <a:latin typeface="Cambria"/>
                <a:ea typeface="Cambria"/>
                <a:cs typeface="Cambria"/>
              </a:rPr>
              <a:t>Using AI in your daily HR work</a:t>
            </a:r>
            <a:endParaRPr sz="1600"/>
          </a:p>
        </p:txBody>
      </p:sp>
      <p:sp>
        <p:nvSpPr>
          <p:cNvPr id="15" name="Text 13">
            <a:extLst xmlns:a="http://schemas.openxmlformats.org/drawingml/2006/main">
              <a:ext uri="{FF2B5EF4-FFF2-40B4-BE49-F238E27FC236}">
                <a16:creationId xmlns:a16="http://schemas.microsoft.com/office/drawing/2014/main" id="{7C183567-C547-45DE-8CAD-532DC9077DCC}"/>
              </a:ext>
            </a:extLst>
          </p:cNvPr>
          <p:cNvSpPr>
            <a:spLocks xmlns:a="http://schemas.openxmlformats.org/drawingml/2006/main" noGrp="1"/>
          </p:cNvSpPr>
          <p:nvPr/>
        </p:nvSpPr>
        <p:spPr>
          <a:xfrm xmlns:a="http://schemas.openxmlformats.org/drawingml/2006/main">
            <a:off x="1463040" y="2743200"/>
            <a:ext cx="53035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i="1">
                <a:solidFill>
                  <a:srgbClr val="6B7280"/>
                </a:solidFill>
                <a:latin typeface="Calibri"/>
                <a:ea typeface="Calibri"/>
                <a:cs typeface="Calibri"/>
              </a:rPr>
              <a:t>Prompts, labs, and the verify-before-use discipline</a:t>
            </a:r>
            <a:endParaRPr sz="1100"/>
          </a:p>
        </p:txBody>
      </p:sp>
      <p:sp>
        <p:nvSpPr>
          <p:cNvPr id="16" name="Text 14">
            <a:extLst xmlns:a="http://schemas.openxmlformats.org/drawingml/2006/main">
              <a:ext uri="{FF2B5EF4-FFF2-40B4-BE49-F238E27FC236}">
                <a16:creationId xmlns:a16="http://schemas.microsoft.com/office/drawing/2014/main" id="{C4CF49FA-3B46-45E7-BC5C-AA5464C28AE2}"/>
              </a:ext>
            </a:extLst>
          </p:cNvPr>
          <p:cNvSpPr>
            <a:spLocks xmlns:a="http://schemas.openxmlformats.org/drawingml/2006/main" noGrp="1"/>
          </p:cNvSpPr>
          <p:nvPr/>
        </p:nvSpPr>
        <p:spPr>
          <a:xfrm xmlns:a="http://schemas.openxmlformats.org/drawingml/2006/main">
            <a:off x="6858000" y="2459736"/>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b="1">
                <a:solidFill>
                  <a:srgbClr val="1A1F3A"/>
                </a:solidFill>
                <a:latin typeface="Calibri"/>
                <a:ea typeface="Calibri"/>
                <a:cs typeface="Calibri"/>
              </a:rPr>
              <a:t>2 hours</a:t>
            </a:r>
            <a:endParaRPr sz="1200"/>
          </a:p>
        </p:txBody>
      </p:sp>
      <p:sp>
        <p:nvSpPr>
          <p:cNvPr id="17" name="Text 15">
            <a:extLst xmlns:a="http://schemas.openxmlformats.org/drawingml/2006/main">
              <a:ext uri="{FF2B5EF4-FFF2-40B4-BE49-F238E27FC236}">
                <a16:creationId xmlns:a16="http://schemas.microsoft.com/office/drawing/2014/main" id="{D54369FB-EA46-4C13-A3F4-2EA0D894E296}"/>
              </a:ext>
            </a:extLst>
          </p:cNvPr>
          <p:cNvSpPr>
            <a:spLocks xmlns:a="http://schemas.openxmlformats.org/drawingml/2006/main" noGrp="1"/>
          </p:cNvSpPr>
          <p:nvPr/>
        </p:nvSpPr>
        <p:spPr>
          <a:xfrm xmlns:a="http://schemas.openxmlformats.org/drawingml/2006/main">
            <a:off x="6858000" y="2734056"/>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i="1">
                <a:solidFill>
                  <a:srgbClr val="6B7280"/>
                </a:solidFill>
                <a:latin typeface="Calibri"/>
                <a:ea typeface="Calibri"/>
                <a:cs typeface="Calibri"/>
              </a:rPr>
              <a:t>Workshop + lab</a:t>
            </a:r>
            <a:endParaRPr sz="1000"/>
          </a:p>
        </p:txBody>
      </p:sp>
      <p:sp>
        <p:nvSpPr>
          <p:cNvPr id="18" name="Shape 16">
            <a:extLst xmlns:a="http://schemas.openxmlformats.org/drawingml/2006/main">
              <a:ext uri="{FF2B5EF4-FFF2-40B4-BE49-F238E27FC236}">
                <a16:creationId xmlns:a16="http://schemas.microsoft.com/office/drawing/2014/main" id="{8E2A6B29-294A-4E8D-B8E6-9D3379BAE980}"/>
              </a:ext>
            </a:extLst>
          </p:cNvPr>
          <p:cNvSpPr>
            <a:spLocks xmlns:a="http://schemas.openxmlformats.org/drawingml/2006/main" noGrp="1"/>
          </p:cNvSpPr>
          <p:nvPr/>
        </p:nvSpPr>
        <p:spPr>
          <a:xfrm xmlns:a="http://schemas.openxmlformats.org/drawingml/2006/main">
            <a:off x="457200" y="3145536"/>
            <a:ext cx="8229600" cy="749808"/>
          </a:xfrm>
          <a:prstGeom xmlns:a="http://schemas.openxmlformats.org/drawingml/2006/main" prst="rect">
            <a:avLst/>
          </a:prstGeom>
          <a:solidFill xmlns:a="http://schemas.openxmlformats.org/drawingml/2006/main">
            <a:srgbClr val="F5F7FB"/>
          </a:solidFill>
          <a:ln xmlns:a="http://schemas.openxmlformats.org/drawingml/2006/main" w="6350">
            <a:solidFill>
              <a:srgbClr val="E5E7EB"/>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Shape 17">
            <a:extLst xmlns:a="http://schemas.openxmlformats.org/drawingml/2006/main">
              <a:ext uri="{FF2B5EF4-FFF2-40B4-BE49-F238E27FC236}">
                <a16:creationId xmlns:a16="http://schemas.microsoft.com/office/drawing/2014/main" id="{3F3F56CF-EE81-4CCB-B036-A3FA56C7D5E3}"/>
              </a:ext>
            </a:extLst>
          </p:cNvPr>
          <p:cNvSpPr>
            <a:spLocks xmlns:a="http://schemas.openxmlformats.org/drawingml/2006/main" noGrp="1"/>
          </p:cNvSpPr>
          <p:nvPr/>
        </p:nvSpPr>
        <p:spPr>
          <a:xfrm xmlns:a="http://schemas.openxmlformats.org/drawingml/2006/main">
            <a:off x="457200" y="3145536"/>
            <a:ext cx="822960" cy="749808"/>
          </a:xfrm>
          <a:prstGeom xmlns:a="http://schemas.openxmlformats.org/drawingml/2006/main" prst="rect">
            <a:avLst/>
          </a:prstGeom>
          <a:solidFill xmlns:a="http://schemas.openxmlformats.org/drawingml/2006/main">
            <a:srgbClr val="1E2761"/>
          </a:solidFill>
          <a:ln xmlns:a="http://schemas.openxmlformats.org/drawingml/2006/main" w="12700">
            <a:solidFill>
              <a:srgbClr val="1E2761"/>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1F6BDB97-1FD9-447C-A78C-1A2D5D0A70BC}"/>
              </a:ext>
            </a:extLst>
          </p:cNvPr>
          <p:cNvSpPr>
            <a:spLocks xmlns:a="http://schemas.openxmlformats.org/drawingml/2006/main" noGrp="1"/>
          </p:cNvSpPr>
          <p:nvPr/>
        </p:nvSpPr>
        <p:spPr>
          <a:xfrm xmlns:a="http://schemas.openxmlformats.org/drawingml/2006/main">
            <a:off x="457200" y="3282696"/>
            <a:ext cx="82296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2600" b="1">
                <a:solidFill>
                  <a:srgbClr val="C9A961"/>
                </a:solidFill>
                <a:latin typeface="Cambria"/>
                <a:ea typeface="Cambria"/>
                <a:cs typeface="Cambria"/>
              </a:rPr>
              <a:t>03</a:t>
            </a:r>
            <a:endParaRPr sz="2600"/>
          </a:p>
        </p:txBody>
      </p:sp>
      <p:sp>
        <p:nvSpPr>
          <p:cNvPr id="21" name="Text 19">
            <a:extLst xmlns:a="http://schemas.openxmlformats.org/drawingml/2006/main">
              <a:ext uri="{FF2B5EF4-FFF2-40B4-BE49-F238E27FC236}">
                <a16:creationId xmlns:a16="http://schemas.microsoft.com/office/drawing/2014/main" id="{2236B6C7-922D-4CB9-B7E3-308AB3F89661}"/>
              </a:ext>
            </a:extLst>
          </p:cNvPr>
          <p:cNvSpPr>
            <a:spLocks xmlns:a="http://schemas.openxmlformats.org/drawingml/2006/main" noGrp="1"/>
          </p:cNvSpPr>
          <p:nvPr/>
        </p:nvSpPr>
        <p:spPr>
          <a:xfrm xmlns:a="http://schemas.openxmlformats.org/drawingml/2006/main">
            <a:off x="1463040" y="3236976"/>
            <a:ext cx="53035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E2761"/>
                </a:solidFill>
                <a:latin typeface="Cambria"/>
                <a:ea typeface="Cambria"/>
                <a:cs typeface="Cambria"/>
              </a:rPr>
              <a:t>Governance, ethics, responsible use</a:t>
            </a:r>
            <a:endParaRPr sz="1600"/>
          </a:p>
        </p:txBody>
      </p:sp>
      <p:sp>
        <p:nvSpPr>
          <p:cNvPr id="22" name="Text 20">
            <a:extLst xmlns:a="http://schemas.openxmlformats.org/drawingml/2006/main">
              <a:ext uri="{FF2B5EF4-FFF2-40B4-BE49-F238E27FC236}">
                <a16:creationId xmlns:a16="http://schemas.microsoft.com/office/drawing/2014/main" id="{B861FCED-23F6-4D7B-B66F-6BAC38085CB6}"/>
              </a:ext>
            </a:extLst>
          </p:cNvPr>
          <p:cNvSpPr>
            <a:spLocks xmlns:a="http://schemas.openxmlformats.org/drawingml/2006/main" noGrp="1"/>
          </p:cNvSpPr>
          <p:nvPr/>
        </p:nvSpPr>
        <p:spPr>
          <a:xfrm xmlns:a="http://schemas.openxmlformats.org/drawingml/2006/main">
            <a:off x="1463040" y="3538728"/>
            <a:ext cx="53035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i="1">
                <a:solidFill>
                  <a:srgbClr val="6B7280"/>
                </a:solidFill>
                <a:latin typeface="Calibri"/>
                <a:ea typeface="Calibri"/>
                <a:cs typeface="Calibri"/>
              </a:rPr>
              <a:t>Legal risk, scenarios, risk assessment</a:t>
            </a:r>
            <a:endParaRPr sz="1100"/>
          </a:p>
        </p:txBody>
      </p:sp>
      <p:sp>
        <p:nvSpPr>
          <p:cNvPr id="23" name="Text 21">
            <a:extLst xmlns:a="http://schemas.openxmlformats.org/drawingml/2006/main">
              <a:ext uri="{FF2B5EF4-FFF2-40B4-BE49-F238E27FC236}">
                <a16:creationId xmlns:a16="http://schemas.microsoft.com/office/drawing/2014/main" id="{0B574F3D-4E2B-4E3F-837C-53B642EDAF21}"/>
              </a:ext>
            </a:extLst>
          </p:cNvPr>
          <p:cNvSpPr>
            <a:spLocks xmlns:a="http://schemas.openxmlformats.org/drawingml/2006/main" noGrp="1"/>
          </p:cNvSpPr>
          <p:nvPr/>
        </p:nvSpPr>
        <p:spPr>
          <a:xfrm xmlns:a="http://schemas.openxmlformats.org/drawingml/2006/main">
            <a:off x="6858000" y="3255264"/>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b="1">
                <a:solidFill>
                  <a:srgbClr val="1A1F3A"/>
                </a:solidFill>
                <a:latin typeface="Calibri"/>
                <a:ea typeface="Calibri"/>
                <a:cs typeface="Calibri"/>
              </a:rPr>
              <a:t>90 min</a:t>
            </a:r>
            <a:endParaRPr sz="1200"/>
          </a:p>
        </p:txBody>
      </p:sp>
      <p:sp>
        <p:nvSpPr>
          <p:cNvPr id="24" name="Text 22">
            <a:extLst xmlns:a="http://schemas.openxmlformats.org/drawingml/2006/main">
              <a:ext uri="{FF2B5EF4-FFF2-40B4-BE49-F238E27FC236}">
                <a16:creationId xmlns:a16="http://schemas.microsoft.com/office/drawing/2014/main" id="{B583A0EE-CC55-47E0-B1B1-0CDAAEC0C2CC}"/>
              </a:ext>
            </a:extLst>
          </p:cNvPr>
          <p:cNvSpPr>
            <a:spLocks xmlns:a="http://schemas.openxmlformats.org/drawingml/2006/main" noGrp="1"/>
          </p:cNvSpPr>
          <p:nvPr/>
        </p:nvSpPr>
        <p:spPr>
          <a:xfrm xmlns:a="http://schemas.openxmlformats.org/drawingml/2006/main">
            <a:off x="6858000" y="3529584"/>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i="1">
                <a:solidFill>
                  <a:srgbClr val="6B7280"/>
                </a:solidFill>
                <a:latin typeface="Calibri"/>
                <a:ea typeface="Calibri"/>
                <a:cs typeface="Calibri"/>
              </a:rPr>
              <a:t>Workshop</a:t>
            </a:r>
            <a:endParaRPr sz="1000"/>
          </a:p>
        </p:txBody>
      </p:sp>
      <p:sp>
        <p:nvSpPr>
          <p:cNvPr id="25" name="Shape 23">
            <a:extLst xmlns:a="http://schemas.openxmlformats.org/drawingml/2006/main">
              <a:ext uri="{FF2B5EF4-FFF2-40B4-BE49-F238E27FC236}">
                <a16:creationId xmlns:a16="http://schemas.microsoft.com/office/drawing/2014/main" id="{CECD5793-FBD9-4C94-AA1E-4FBB37AE78FD}"/>
              </a:ext>
            </a:extLst>
          </p:cNvPr>
          <p:cNvSpPr>
            <a:spLocks xmlns:a="http://schemas.openxmlformats.org/drawingml/2006/main" noGrp="1"/>
          </p:cNvSpPr>
          <p:nvPr/>
        </p:nvSpPr>
        <p:spPr>
          <a:xfrm xmlns:a="http://schemas.openxmlformats.org/drawingml/2006/main">
            <a:off x="457200" y="3941064"/>
            <a:ext cx="8229600" cy="749808"/>
          </a:xfrm>
          <a:prstGeom xmlns:a="http://schemas.openxmlformats.org/drawingml/2006/main" prst="rect">
            <a:avLst/>
          </a:prstGeom>
          <a:solidFill xmlns:a="http://schemas.openxmlformats.org/drawingml/2006/main">
            <a:srgbClr val="F5F7FB"/>
          </a:solidFill>
          <a:ln xmlns:a="http://schemas.openxmlformats.org/drawingml/2006/main" w="6350">
            <a:solidFill>
              <a:srgbClr val="E5E7EB"/>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Shape 24">
            <a:extLst xmlns:a="http://schemas.openxmlformats.org/drawingml/2006/main">
              <a:ext uri="{FF2B5EF4-FFF2-40B4-BE49-F238E27FC236}">
                <a16:creationId xmlns:a16="http://schemas.microsoft.com/office/drawing/2014/main" id="{069C6BE8-2BCC-44FD-B970-F69D18DDA07C}"/>
              </a:ext>
            </a:extLst>
          </p:cNvPr>
          <p:cNvSpPr>
            <a:spLocks xmlns:a="http://schemas.openxmlformats.org/drawingml/2006/main" noGrp="1"/>
          </p:cNvSpPr>
          <p:nvPr/>
        </p:nvSpPr>
        <p:spPr>
          <a:xfrm xmlns:a="http://schemas.openxmlformats.org/drawingml/2006/main">
            <a:off x="457200" y="3941064"/>
            <a:ext cx="822960" cy="749808"/>
          </a:xfrm>
          <a:prstGeom xmlns:a="http://schemas.openxmlformats.org/drawingml/2006/main" prst="rect">
            <a:avLst/>
          </a:prstGeom>
          <a:solidFill xmlns:a="http://schemas.openxmlformats.org/drawingml/2006/main">
            <a:srgbClr val="1E2761"/>
          </a:solidFill>
          <a:ln xmlns:a="http://schemas.openxmlformats.org/drawingml/2006/main" w="12700">
            <a:solidFill>
              <a:srgbClr val="1E2761"/>
            </a:solidFill>
            <a:prstDash val="solid"/>
          </a:ln>
        </p:spPr>
        <p:txBody>
          <a:bodyPr xmlns:a="http://schemas.openxmlformats.org/drawingml/2006/main"/>
          <a:lstStyle xmlns:a="http://schemas.openxmlformats.org/drawingml/2006/main"/>
          <a:p xmlns:a="http://schemas.openxmlformats.org/drawingml/2006/main">
            <a:endParaRPr/>
          </a:p>
        </p:txBody>
      </p:sp>
      <p:sp>
        <p:nvSpPr>
          <p:cNvPr id="27" name="Text 25">
            <a:extLst xmlns:a="http://schemas.openxmlformats.org/drawingml/2006/main">
              <a:ext uri="{FF2B5EF4-FFF2-40B4-BE49-F238E27FC236}">
                <a16:creationId xmlns:a16="http://schemas.microsoft.com/office/drawing/2014/main" id="{E9B7B441-85F4-4B1C-AD33-44BEEAB6D8C5}"/>
              </a:ext>
            </a:extLst>
          </p:cNvPr>
          <p:cNvSpPr>
            <a:spLocks xmlns:a="http://schemas.openxmlformats.org/drawingml/2006/main" noGrp="1"/>
          </p:cNvSpPr>
          <p:nvPr/>
        </p:nvSpPr>
        <p:spPr>
          <a:xfrm xmlns:a="http://schemas.openxmlformats.org/drawingml/2006/main">
            <a:off x="457200" y="4078224"/>
            <a:ext cx="82296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2600" b="1">
                <a:solidFill>
                  <a:srgbClr val="C9A961"/>
                </a:solidFill>
                <a:latin typeface="Cambria"/>
                <a:ea typeface="Cambria"/>
                <a:cs typeface="Cambria"/>
              </a:rPr>
              <a:t>04</a:t>
            </a:r>
            <a:endParaRPr sz="2600"/>
          </a:p>
        </p:txBody>
      </p:sp>
      <p:sp>
        <p:nvSpPr>
          <p:cNvPr id="28" name="Text 26">
            <a:extLst xmlns:a="http://schemas.openxmlformats.org/drawingml/2006/main">
              <a:ext uri="{FF2B5EF4-FFF2-40B4-BE49-F238E27FC236}">
                <a16:creationId xmlns:a16="http://schemas.microsoft.com/office/drawing/2014/main" id="{06270932-4C02-4D89-99E6-44A15CDD1988}"/>
              </a:ext>
            </a:extLst>
          </p:cNvPr>
          <p:cNvSpPr>
            <a:spLocks xmlns:a="http://schemas.openxmlformats.org/drawingml/2006/main" noGrp="1"/>
          </p:cNvSpPr>
          <p:nvPr/>
        </p:nvSpPr>
        <p:spPr>
          <a:xfrm xmlns:a="http://schemas.openxmlformats.org/drawingml/2006/main">
            <a:off x="1463040" y="4032504"/>
            <a:ext cx="53035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E2761"/>
                </a:solidFill>
                <a:latin typeface="Cambria"/>
                <a:ea typeface="Cambria"/>
                <a:cs typeface="Cambria"/>
              </a:rPr>
              <a:t>Building and scaling AI use cases</a:t>
            </a:r>
            <a:endParaRPr sz="1600"/>
          </a:p>
        </p:txBody>
      </p:sp>
      <p:sp>
        <p:nvSpPr>
          <p:cNvPr id="29" name="Text 27">
            <a:extLst xmlns:a="http://schemas.openxmlformats.org/drawingml/2006/main">
              <a:ext uri="{FF2B5EF4-FFF2-40B4-BE49-F238E27FC236}">
                <a16:creationId xmlns:a16="http://schemas.microsoft.com/office/drawing/2014/main" id="{95C73F37-BB86-4A8B-99C4-4A3034A1B5F2}"/>
              </a:ext>
            </a:extLst>
          </p:cNvPr>
          <p:cNvSpPr>
            <a:spLocks xmlns:a="http://schemas.openxmlformats.org/drawingml/2006/main" noGrp="1"/>
          </p:cNvSpPr>
          <p:nvPr/>
        </p:nvSpPr>
        <p:spPr>
          <a:xfrm xmlns:a="http://schemas.openxmlformats.org/drawingml/2006/main">
            <a:off x="1463040" y="4334256"/>
            <a:ext cx="53035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i="1">
                <a:solidFill>
                  <a:srgbClr val="6B7280"/>
                </a:solidFill>
                <a:latin typeface="Calibri"/>
                <a:ea typeface="Calibri"/>
                <a:cs typeface="Calibri"/>
              </a:rPr>
              <a:t>Prioritization, design, deployment, scale</a:t>
            </a:r>
            <a:endParaRPr sz="1100"/>
          </a:p>
        </p:txBody>
      </p:sp>
      <p:sp>
        <p:nvSpPr>
          <p:cNvPr id="30" name="Text 28">
            <a:extLst xmlns:a="http://schemas.openxmlformats.org/drawingml/2006/main">
              <a:ext uri="{FF2B5EF4-FFF2-40B4-BE49-F238E27FC236}">
                <a16:creationId xmlns:a16="http://schemas.microsoft.com/office/drawing/2014/main" id="{A7FF645B-347F-4EAD-AC60-487C9DA2EAB1}"/>
              </a:ext>
            </a:extLst>
          </p:cNvPr>
          <p:cNvSpPr>
            <a:spLocks xmlns:a="http://schemas.openxmlformats.org/drawingml/2006/main" noGrp="1"/>
          </p:cNvSpPr>
          <p:nvPr/>
        </p:nvSpPr>
        <p:spPr>
          <a:xfrm xmlns:a="http://schemas.openxmlformats.org/drawingml/2006/main">
            <a:off x="6858000" y="4050792"/>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b="1">
                <a:solidFill>
                  <a:srgbClr val="1A1F3A"/>
                </a:solidFill>
                <a:latin typeface="Calibri"/>
                <a:ea typeface="Calibri"/>
                <a:cs typeface="Calibri"/>
              </a:rPr>
              <a:t>2 hours</a:t>
            </a:r>
            <a:endParaRPr sz="1200"/>
          </a:p>
        </p:txBody>
      </p:sp>
      <p:sp>
        <p:nvSpPr>
          <p:cNvPr id="31" name="Text 29">
            <a:extLst xmlns:a="http://schemas.openxmlformats.org/drawingml/2006/main">
              <a:ext uri="{FF2B5EF4-FFF2-40B4-BE49-F238E27FC236}">
                <a16:creationId xmlns:a16="http://schemas.microsoft.com/office/drawing/2014/main" id="{485BF0EA-0894-46A0-B539-E1A5057B6C94}"/>
              </a:ext>
            </a:extLst>
          </p:cNvPr>
          <p:cNvSpPr>
            <a:spLocks xmlns:a="http://schemas.openxmlformats.org/drawingml/2006/main" noGrp="1"/>
          </p:cNvSpPr>
          <p:nvPr/>
        </p:nvSpPr>
        <p:spPr>
          <a:xfrm xmlns:a="http://schemas.openxmlformats.org/drawingml/2006/main">
            <a:off x="6858000" y="4325112"/>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i="1">
                <a:solidFill>
                  <a:srgbClr val="6B7280"/>
                </a:solidFill>
                <a:latin typeface="Calibri"/>
                <a:ea typeface="Calibri"/>
                <a:cs typeface="Calibri"/>
              </a:rPr>
              <a:t>Workshop + project</a:t>
            </a:r>
            <a:endParaRPr sz="1000"/>
          </a:p>
        </p:txBody>
      </p:sp>
      <p:sp>
        <p:nvSpPr>
          <p:cNvPr id="32" name="Text 30">
            <a:extLst xmlns:a="http://schemas.openxmlformats.org/drawingml/2006/main">
              <a:ext uri="{FF2B5EF4-FFF2-40B4-BE49-F238E27FC236}">
                <a16:creationId xmlns:a16="http://schemas.microsoft.com/office/drawing/2014/main" id="{80F871FC-BC04-4A18-8D2F-DC61ABACAC83}"/>
              </a:ext>
            </a:extLst>
          </p:cNvPr>
          <p:cNvSpPr>
            <a:spLocks xmlns:a="http://schemas.openxmlformats.org/drawingml/2006/main" noGrp="1"/>
          </p:cNvSpPr>
          <p:nvPr/>
        </p:nvSpPr>
        <p:spPr>
          <a:xfrm xmlns:a="http://schemas.openxmlformats.org/drawingml/2006/main">
            <a:off x="457200" y="4846320"/>
            <a:ext cx="45720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HR AI Literacy Curriculum</a:t>
            </a:r>
            <a:endParaRPr sz="900"/>
          </a:p>
        </p:txBody>
      </p:sp>
      <p:sp>
        <p:nvSpPr>
          <p:cNvPr id="33" name="Text 31">
            <a:extLst xmlns:a="http://schemas.openxmlformats.org/drawingml/2006/main">
              <a:ext uri="{FF2B5EF4-FFF2-40B4-BE49-F238E27FC236}">
                <a16:creationId xmlns:a16="http://schemas.microsoft.com/office/drawing/2014/main" id="{E6515B85-BA5C-4CF2-9406-F45643C9E290}"/>
              </a:ext>
            </a:extLst>
          </p:cNvPr>
          <p:cNvSpPr>
            <a:spLocks xmlns:a="http://schemas.openxmlformats.org/drawingml/2006/main" noGrp="1"/>
          </p:cNvSpPr>
          <p:nvPr/>
        </p:nvSpPr>
        <p:spPr>
          <a:xfrm xmlns:a="http://schemas.openxmlformats.org/drawingml/2006/main">
            <a:off x="8412480" y="4846320"/>
            <a:ext cx="4572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6B7280"/>
                </a:solidFill>
                <a:latin typeface="Calibri"/>
                <a:ea typeface="Calibri"/>
                <a:cs typeface="Calibri"/>
              </a:rPr>
              <a:t>3</a:t>
            </a:r>
            <a:endParaRPr sz="900"/>
          </a:p>
        </p:txBody>
      </p:sp>
    </p:spTree>
    <p:extLst>
      <p:ext uri="{BB962C8B-B14F-4D97-AF65-F5344CB8AC3E}">
        <p14:creationId xmlns:p14="http://schemas.microsoft.com/office/powerpoint/2010/main" val="713512405"/>
      </p:ext>
    </p:extLst>
  </p:cSld>
</p:sld>
</file>

<file path=ppt/slides/slide4.xml><?xml version="1.0" encoding="utf-8"?>
<p:sld xmlns:p="http://schemas.openxmlformats.org/presentationml/2006/main">
  <p:cSld>
    <p:bg>
      <p:bgPr>
        <a:solidFill xmlns:a="http://schemas.openxmlformats.org/drawingml/2006/main">
          <a:srgbClr val="1E2761"/>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598869A-5A81-48D5-A281-AA86001773F6}"/>
              </a:ext>
            </a:extLst>
          </p:cNvPr>
          <p:cNvSpPr>
            <a:spLocks xmlns:a="http://schemas.openxmlformats.org/drawingml/2006/main" noGrp="1"/>
          </p:cNvSpPr>
          <p:nvPr/>
        </p:nvSpPr>
        <p:spPr>
          <a:xfrm xmlns:a="http://schemas.openxmlformats.org/drawingml/2006/main">
            <a:off x="640080" y="960120"/>
            <a:ext cx="2743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600">
                <a:solidFill>
                  <a:srgbClr val="CADCFC"/>
                </a:solidFill>
                <a:latin typeface="Calibri"/>
                <a:ea typeface="Calibri"/>
                <a:cs typeface="Calibri"/>
              </a:rPr>
              <a:t>MODULE</a:t>
            </a:r>
            <a:endParaRPr sz="1100"/>
          </a:p>
        </p:txBody>
      </p:sp>
      <p:sp>
        <p:nvSpPr>
          <p:cNvPr id="3" name="Text 1">
            <a:extLst xmlns:a="http://schemas.openxmlformats.org/drawingml/2006/main">
              <a:ext uri="{FF2B5EF4-FFF2-40B4-BE49-F238E27FC236}">
                <a16:creationId xmlns:a16="http://schemas.microsoft.com/office/drawing/2014/main" id="{85B9CCEC-1BAB-4AD6-959B-213A717FA885}"/>
              </a:ext>
            </a:extLst>
          </p:cNvPr>
          <p:cNvSpPr>
            <a:spLocks xmlns:a="http://schemas.openxmlformats.org/drawingml/2006/main" noGrp="1"/>
          </p:cNvSpPr>
          <p:nvPr/>
        </p:nvSpPr>
        <p:spPr>
          <a:xfrm xmlns:a="http://schemas.openxmlformats.org/drawingml/2006/main">
            <a:off x="457200" y="1463040"/>
            <a:ext cx="2286000" cy="18288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3000" b="1">
                <a:solidFill>
                  <a:srgbClr val="C9A961"/>
                </a:solidFill>
                <a:latin typeface="Cambria"/>
                <a:ea typeface="Cambria"/>
                <a:cs typeface="Cambria"/>
              </a:rPr>
              <a:t>01</a:t>
            </a:r>
            <a:endParaRPr sz="13000"/>
          </a:p>
        </p:txBody>
      </p:sp>
      <p:sp>
        <p:nvSpPr>
          <p:cNvPr id="4" name="Text 2">
            <a:extLst xmlns:a="http://schemas.openxmlformats.org/drawingml/2006/main">
              <a:ext uri="{FF2B5EF4-FFF2-40B4-BE49-F238E27FC236}">
                <a16:creationId xmlns:a16="http://schemas.microsoft.com/office/drawing/2014/main" id="{A122B08E-82B2-4F2C-8716-C4FD50D49DA0}"/>
              </a:ext>
            </a:extLst>
          </p:cNvPr>
          <p:cNvSpPr>
            <a:spLocks xmlns:a="http://schemas.openxmlformats.org/drawingml/2006/main" noGrp="1"/>
          </p:cNvSpPr>
          <p:nvPr/>
        </p:nvSpPr>
        <p:spPr>
          <a:xfrm xmlns:a="http://schemas.openxmlformats.org/drawingml/2006/main">
            <a:off x="3200400" y="1737360"/>
            <a:ext cx="548640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600" b="1">
                <a:solidFill>
                  <a:srgbClr val="FFFFFF"/>
                </a:solidFill>
                <a:latin typeface="Cambria"/>
                <a:ea typeface="Cambria"/>
                <a:cs typeface="Cambria"/>
              </a:rPr>
              <a:t>How AI works</a:t>
            </a:r>
            <a:endParaRPr sz="3600"/>
          </a:p>
        </p:txBody>
      </p:sp>
      <p:sp>
        <p:nvSpPr>
          <p:cNvPr id="5" name="Text 3">
            <a:extLst xmlns:a="http://schemas.openxmlformats.org/drawingml/2006/main">
              <a:ext uri="{FF2B5EF4-FFF2-40B4-BE49-F238E27FC236}">
                <a16:creationId xmlns:a16="http://schemas.microsoft.com/office/drawing/2014/main" id="{65FB0B20-3D68-4BE9-BEF3-26521E2E0F6C}"/>
              </a:ext>
            </a:extLst>
          </p:cNvPr>
          <p:cNvSpPr>
            <a:spLocks xmlns:a="http://schemas.openxmlformats.org/drawingml/2006/main" noGrp="1"/>
          </p:cNvSpPr>
          <p:nvPr/>
        </p:nvSpPr>
        <p:spPr>
          <a:xfrm xmlns:a="http://schemas.openxmlformats.org/drawingml/2006/main">
            <a:off x="3200400" y="2560320"/>
            <a:ext cx="54864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800" i="1">
                <a:solidFill>
                  <a:srgbClr val="CADCFC"/>
                </a:solidFill>
                <a:latin typeface="Calibri"/>
                <a:ea typeface="Calibri"/>
                <a:cs typeface="Calibri"/>
              </a:rPr>
              <a:t>What HR professionals actually need to know</a:t>
            </a:r>
            <a:endParaRPr sz="1800"/>
          </a:p>
        </p:txBody>
      </p:sp>
      <p:sp>
        <p:nvSpPr>
          <p:cNvPr id="6" name="Shape 4">
            <a:extLst xmlns:a="http://schemas.openxmlformats.org/drawingml/2006/main">
              <a:ext uri="{FF2B5EF4-FFF2-40B4-BE49-F238E27FC236}">
                <a16:creationId xmlns:a16="http://schemas.microsoft.com/office/drawing/2014/main" id="{36E90D5B-B986-47AE-8477-8A04EBC4736E}"/>
              </a:ext>
            </a:extLst>
          </p:cNvPr>
          <p:cNvSpPr>
            <a:spLocks xmlns:a="http://schemas.openxmlformats.org/drawingml/2006/main" noGrp="1"/>
          </p:cNvSpPr>
          <p:nvPr/>
        </p:nvSpPr>
        <p:spPr>
          <a:xfrm xmlns:a="http://schemas.openxmlformats.org/drawingml/2006/main">
            <a:off x="3200400" y="3383280"/>
            <a:ext cx="36576" cy="914400"/>
          </a:xfrm>
          <a:prstGeom xmlns:a="http://schemas.openxmlformats.org/drawingml/2006/main" prst="rect">
            <a:avLst/>
          </a:prstGeom>
          <a:solidFill xmlns:a="http://schemas.openxmlformats.org/drawingml/2006/main">
            <a:srgbClr val="C9A961"/>
          </a:solidFill>
          <a:ln xmlns:a="http://schemas.openxmlformats.org/drawingml/2006/main" w="12700">
            <a:solidFill>
              <a:srgbClr val="C9A961"/>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Text 5">
            <a:extLst xmlns:a="http://schemas.openxmlformats.org/drawingml/2006/main">
              <a:ext uri="{FF2B5EF4-FFF2-40B4-BE49-F238E27FC236}">
                <a16:creationId xmlns:a16="http://schemas.microsoft.com/office/drawing/2014/main" id="{B02F28E5-58B5-4EF8-90D8-5279FF2D431D}"/>
              </a:ext>
            </a:extLst>
          </p:cNvPr>
          <p:cNvSpPr>
            <a:spLocks xmlns:a="http://schemas.openxmlformats.org/drawingml/2006/main" noGrp="1"/>
          </p:cNvSpPr>
          <p:nvPr/>
        </p:nvSpPr>
        <p:spPr>
          <a:xfrm xmlns:a="http://schemas.openxmlformats.org/drawingml/2006/main">
            <a:off x="3383280" y="3383280"/>
            <a:ext cx="45720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FFFFFF"/>
                </a:solidFill>
                <a:latin typeface="Calibri"/>
                <a:ea typeface="Calibri"/>
                <a:cs typeface="Calibri"/>
              </a:rPr>
              <a:t>90 minutes</a:t>
            </a:r>
            <a:endParaRPr sz="1600"/>
          </a:p>
        </p:txBody>
      </p:sp>
      <p:sp>
        <p:nvSpPr>
          <p:cNvPr id="8" name="Text 6">
            <a:extLst xmlns:a="http://schemas.openxmlformats.org/drawingml/2006/main">
              <a:ext uri="{FF2B5EF4-FFF2-40B4-BE49-F238E27FC236}">
                <a16:creationId xmlns:a16="http://schemas.microsoft.com/office/drawing/2014/main" id="{F7385B52-ACE2-4D26-87F3-9EB14B438791}"/>
              </a:ext>
            </a:extLst>
          </p:cNvPr>
          <p:cNvSpPr>
            <a:spLocks xmlns:a="http://schemas.openxmlformats.org/drawingml/2006/main" noGrp="1"/>
          </p:cNvSpPr>
          <p:nvPr/>
        </p:nvSpPr>
        <p:spPr>
          <a:xfrm xmlns:a="http://schemas.openxmlformats.org/drawingml/2006/main">
            <a:off x="3383280" y="3749040"/>
            <a:ext cx="4572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a:solidFill>
                  <a:srgbClr val="CADCFC"/>
                </a:solidFill>
                <a:latin typeface="Calibri"/>
                <a:ea typeface="Calibri"/>
                <a:cs typeface="Calibri"/>
              </a:rPr>
              <a:t>Workshop format</a:t>
            </a:r>
            <a:endParaRPr sz="1200"/>
          </a:p>
        </p:txBody>
      </p:sp>
      <p:sp>
        <p:nvSpPr>
          <p:cNvPr id="9" name="Text 7">
            <a:extLst xmlns:a="http://schemas.openxmlformats.org/drawingml/2006/main">
              <a:ext uri="{FF2B5EF4-FFF2-40B4-BE49-F238E27FC236}">
                <a16:creationId xmlns:a16="http://schemas.microsoft.com/office/drawing/2014/main" id="{4D6870F9-B027-4E05-93AD-B15C4CB594C9}"/>
              </a:ext>
            </a:extLst>
          </p:cNvPr>
          <p:cNvSpPr>
            <a:spLocks xmlns:a="http://schemas.openxmlformats.org/drawingml/2006/main" noGrp="1"/>
          </p:cNvSpPr>
          <p:nvPr/>
        </p:nvSpPr>
        <p:spPr>
          <a:xfrm xmlns:a="http://schemas.openxmlformats.org/drawingml/2006/main">
            <a:off x="3383280" y="4069080"/>
            <a:ext cx="530352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i="1">
                <a:solidFill>
                  <a:srgbClr val="CADCFC"/>
                </a:solidFill>
                <a:latin typeface="Calibri"/>
                <a:ea typeface="Calibri"/>
                <a:cs typeface="Calibri"/>
              </a:rPr>
              <a:t>Foundational concepts: how LLMs work, hallucination, the rule-based to agentic spectrum, and why prompt quality drives output quality.</a:t>
            </a:r>
            <a:endParaRPr sz="1100"/>
          </a:p>
        </p:txBody>
      </p:sp>
    </p:spTree>
    <p:extLst>
      <p:ext uri="{BB962C8B-B14F-4D97-AF65-F5344CB8AC3E}">
        <p14:creationId xmlns:p14="http://schemas.microsoft.com/office/powerpoint/2010/main" val="38728308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CE8BC95-CAEA-421A-AB49-708156563F01}"/>
              </a:ext>
            </a:extLst>
          </p:cNvPr>
          <p:cNvSpPr>
            <a:spLocks xmlns:a="http://schemas.openxmlformats.org/drawingml/2006/main" noGrp="1"/>
          </p:cNvSpPr>
          <p:nvPr/>
        </p:nvSpPr>
        <p:spPr>
          <a:xfrm xmlns:a="http://schemas.openxmlformats.org/drawingml/2006/main">
            <a:off x="0" y="0"/>
            <a:ext cx="9144000" cy="411480"/>
          </a:xfrm>
          <a:prstGeom xmlns:a="http://schemas.openxmlformats.org/drawingml/2006/main" prst="rect">
            <a:avLst/>
          </a:prstGeom>
          <a:solidFill xmlns:a="http://schemas.openxmlformats.org/drawingml/2006/main">
            <a:srgbClr val="1E2761"/>
          </a:solidFill>
          <a:ln xmlns:a="http://schemas.openxmlformats.org/drawingml/2006/main" w="12700">
            <a:solidFill>
              <a:srgbClr val="1E2761"/>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D9D925B5-537B-4DBE-8307-06862D60EB2F}"/>
              </a:ext>
            </a:extLst>
          </p:cNvPr>
          <p:cNvSpPr>
            <a:spLocks xmlns:a="http://schemas.openxmlformats.org/drawingml/2006/main" noGrp="1"/>
          </p:cNvSpPr>
          <p:nvPr/>
        </p:nvSpPr>
        <p:spPr>
          <a:xfrm xmlns:a="http://schemas.openxmlformats.org/drawingml/2006/main">
            <a:off x="457200" y="73152"/>
            <a:ext cx="2743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spc="400">
                <a:solidFill>
                  <a:srgbClr val="C9A961"/>
                </a:solidFill>
                <a:latin typeface="Calibri"/>
                <a:ea typeface="Calibri"/>
                <a:cs typeface="Calibri"/>
              </a:rPr>
              <a:t>MODULE 01</a:t>
            </a:r>
            <a:endParaRPr sz="1000"/>
          </a:p>
        </p:txBody>
      </p:sp>
      <p:sp>
        <p:nvSpPr>
          <p:cNvPr id="4" name="Text 2">
            <a:extLst xmlns:a="http://schemas.openxmlformats.org/drawingml/2006/main">
              <a:ext uri="{FF2B5EF4-FFF2-40B4-BE49-F238E27FC236}">
                <a16:creationId xmlns:a16="http://schemas.microsoft.com/office/drawing/2014/main" id="{80A3DB23-98E4-4ED5-9321-4EE282FB2BA5}"/>
              </a:ext>
            </a:extLst>
          </p:cNvPr>
          <p:cNvSpPr>
            <a:spLocks xmlns:a="http://schemas.openxmlformats.org/drawingml/2006/main" noGrp="1"/>
          </p:cNvSpPr>
          <p:nvPr/>
        </p:nvSpPr>
        <p:spPr>
          <a:xfrm xmlns:a="http://schemas.openxmlformats.org/drawingml/2006/main">
            <a:off x="3200400" y="73152"/>
            <a:ext cx="54864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000">
                <a:solidFill>
                  <a:srgbClr val="CADCFC"/>
                </a:solidFill>
                <a:latin typeface="Calibri"/>
                <a:ea typeface="Calibri"/>
                <a:cs typeface="Calibri"/>
              </a:rPr>
              <a:t>How AI works</a:t>
            </a:r>
            <a:endParaRPr sz="1000"/>
          </a:p>
        </p:txBody>
      </p:sp>
      <p:sp>
        <p:nvSpPr>
          <p:cNvPr id="5" name="Text 3">
            <a:extLst xmlns:a="http://schemas.openxmlformats.org/drawingml/2006/main">
              <a:ext uri="{FF2B5EF4-FFF2-40B4-BE49-F238E27FC236}">
                <a16:creationId xmlns:a16="http://schemas.microsoft.com/office/drawing/2014/main" id="{93154DFE-4261-43E3-9D3B-2176DD18EE64}"/>
              </a:ext>
            </a:extLst>
          </p:cNvPr>
          <p:cNvSpPr>
            <a:spLocks xmlns:a="http://schemas.openxmlformats.org/drawingml/2006/main" noGrp="1"/>
          </p:cNvSpPr>
          <p:nvPr/>
        </p:nvSpPr>
        <p:spPr>
          <a:xfrm xmlns:a="http://schemas.openxmlformats.org/drawingml/2006/main">
            <a:off x="457200" y="685800"/>
            <a:ext cx="822960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800" b="1">
                <a:solidFill>
                  <a:srgbClr val="1E2761"/>
                </a:solidFill>
                <a:latin typeface="Cambria"/>
                <a:ea typeface="Cambria"/>
                <a:cs typeface="Cambria"/>
              </a:rPr>
              <a:t>Learning objectives</a:t>
            </a:r>
            <a:endParaRPr sz="2800"/>
          </a:p>
        </p:txBody>
      </p:sp>
      <p:sp>
        <p:nvSpPr>
          <p:cNvPr id="6" name="Text 4">
            <a:extLst xmlns:a="http://schemas.openxmlformats.org/drawingml/2006/main">
              <a:ext uri="{FF2B5EF4-FFF2-40B4-BE49-F238E27FC236}">
                <a16:creationId xmlns:a16="http://schemas.microsoft.com/office/drawing/2014/main" id="{6B803F39-B630-4EB3-9B1A-8BD8CFDC4667}"/>
              </a:ext>
            </a:extLst>
          </p:cNvPr>
          <p:cNvSpPr>
            <a:spLocks xmlns:a="http://schemas.openxmlformats.org/drawingml/2006/main" noGrp="1"/>
          </p:cNvSpPr>
          <p:nvPr/>
        </p:nvSpPr>
        <p:spPr>
          <a:xfrm xmlns:a="http://schemas.openxmlformats.org/drawingml/2006/main">
            <a:off x="457200" y="1234440"/>
            <a:ext cx="82296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i="1">
                <a:solidFill>
                  <a:srgbClr val="6B7280"/>
                </a:solidFill>
                <a:latin typeface="Calibri"/>
                <a:ea typeface="Calibri"/>
                <a:cs typeface="Calibri"/>
              </a:rPr>
              <a:t>After this session, participants will be able to:</a:t>
            </a:r>
            <a:endParaRPr sz="1300"/>
          </a:p>
        </p:txBody>
      </p:sp>
      <p:sp>
        <p:nvSpPr>
          <p:cNvPr id="7" name="Shape 5">
            <a:extLst xmlns:a="http://schemas.openxmlformats.org/drawingml/2006/main">
              <a:ext uri="{FF2B5EF4-FFF2-40B4-BE49-F238E27FC236}">
                <a16:creationId xmlns:a16="http://schemas.microsoft.com/office/drawing/2014/main" id="{49D47B1B-0415-47B1-BB8D-255B2FE81ABC}"/>
              </a:ext>
            </a:extLst>
          </p:cNvPr>
          <p:cNvSpPr>
            <a:spLocks xmlns:a="http://schemas.openxmlformats.org/drawingml/2006/main" noGrp="1"/>
          </p:cNvSpPr>
          <p:nvPr/>
        </p:nvSpPr>
        <p:spPr>
          <a:xfrm xmlns:a="http://schemas.openxmlformats.org/drawingml/2006/main">
            <a:off x="457200" y="1965960"/>
            <a:ext cx="548640" cy="548640"/>
          </a:xfrm>
          <a:prstGeom xmlns:a="http://schemas.openxmlformats.org/drawingml/2006/main" prst="ellipse">
            <a:avLst/>
          </a:prstGeom>
          <a:solidFill xmlns:a="http://schemas.openxmlformats.org/drawingml/2006/main">
            <a:srgbClr val="1E2761"/>
          </a:solidFill>
          <a:ln xmlns:a="http://schemas.openxmlformats.org/drawingml/2006/main" w="12700">
            <a:solidFill>
              <a:srgbClr val="1E2761"/>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3AB95D08-95CD-4E6B-B072-9E1DBDD5DC7F}"/>
              </a:ext>
            </a:extLst>
          </p:cNvPr>
          <p:cNvSpPr>
            <a:spLocks xmlns:a="http://schemas.openxmlformats.org/drawingml/2006/main" noGrp="1"/>
          </p:cNvSpPr>
          <p:nvPr/>
        </p:nvSpPr>
        <p:spPr>
          <a:xfrm xmlns:a="http://schemas.openxmlformats.org/drawingml/2006/main">
            <a:off x="457200" y="1993392"/>
            <a:ext cx="5486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C9A961"/>
                </a:solidFill>
                <a:latin typeface="Cambria"/>
                <a:ea typeface="Cambria"/>
                <a:cs typeface="Cambria"/>
              </a:rPr>
              <a:t>1</a:t>
            </a:r>
            <a:endParaRPr sz="2200"/>
          </a:p>
        </p:txBody>
      </p:sp>
      <p:sp>
        <p:nvSpPr>
          <p:cNvPr id="9" name="Text 7">
            <a:extLst xmlns:a="http://schemas.openxmlformats.org/drawingml/2006/main">
              <a:ext uri="{FF2B5EF4-FFF2-40B4-BE49-F238E27FC236}">
                <a16:creationId xmlns:a16="http://schemas.microsoft.com/office/drawing/2014/main" id="{B166705A-6C77-4C4D-9729-C8499644B039}"/>
              </a:ext>
            </a:extLst>
          </p:cNvPr>
          <p:cNvSpPr>
            <a:spLocks xmlns:a="http://schemas.openxmlformats.org/drawingml/2006/main" noGrp="1"/>
          </p:cNvSpPr>
          <p:nvPr/>
        </p:nvSpPr>
        <p:spPr>
          <a:xfrm xmlns:a="http://schemas.openxmlformats.org/drawingml/2006/main">
            <a:off x="1280160" y="2057400"/>
            <a:ext cx="731520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00">
                <a:solidFill>
                  <a:srgbClr val="1A1F3A"/>
                </a:solidFill>
                <a:latin typeface="Calibri"/>
                <a:ea typeface="Calibri"/>
                <a:cs typeface="Calibri"/>
              </a:rPr>
              <a:t>Explain the difference between traditional automation and generative AI.</a:t>
            </a:r>
            <a:endParaRPr sz="1500"/>
          </a:p>
        </p:txBody>
      </p:sp>
      <p:sp>
        <p:nvSpPr>
          <p:cNvPr id="10" name="Shape 8">
            <a:extLst xmlns:a="http://schemas.openxmlformats.org/drawingml/2006/main">
              <a:ext uri="{FF2B5EF4-FFF2-40B4-BE49-F238E27FC236}">
                <a16:creationId xmlns:a16="http://schemas.microsoft.com/office/drawing/2014/main" id="{413BBC17-C1E9-46B7-93B0-2B3E701831A4}"/>
              </a:ext>
            </a:extLst>
          </p:cNvPr>
          <p:cNvSpPr>
            <a:spLocks xmlns:a="http://schemas.openxmlformats.org/drawingml/2006/main" noGrp="1"/>
          </p:cNvSpPr>
          <p:nvPr/>
        </p:nvSpPr>
        <p:spPr>
          <a:xfrm xmlns:a="http://schemas.openxmlformats.org/drawingml/2006/main">
            <a:off x="457200" y="2971800"/>
            <a:ext cx="548640" cy="548640"/>
          </a:xfrm>
          <a:prstGeom xmlns:a="http://schemas.openxmlformats.org/drawingml/2006/main" prst="ellipse">
            <a:avLst/>
          </a:prstGeom>
          <a:solidFill xmlns:a="http://schemas.openxmlformats.org/drawingml/2006/main">
            <a:srgbClr val="1E2761"/>
          </a:solidFill>
          <a:ln xmlns:a="http://schemas.openxmlformats.org/drawingml/2006/main" w="12700">
            <a:solidFill>
              <a:srgbClr val="1E2761"/>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3A1C21AF-3964-4AF9-B997-EF1AF660B43A}"/>
              </a:ext>
            </a:extLst>
          </p:cNvPr>
          <p:cNvSpPr>
            <a:spLocks xmlns:a="http://schemas.openxmlformats.org/drawingml/2006/main" noGrp="1"/>
          </p:cNvSpPr>
          <p:nvPr/>
        </p:nvSpPr>
        <p:spPr>
          <a:xfrm xmlns:a="http://schemas.openxmlformats.org/drawingml/2006/main">
            <a:off x="457200" y="2999232"/>
            <a:ext cx="5486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C9A961"/>
                </a:solidFill>
                <a:latin typeface="Cambria"/>
                <a:ea typeface="Cambria"/>
                <a:cs typeface="Cambria"/>
              </a:rPr>
              <a:t>2</a:t>
            </a:r>
            <a:endParaRPr sz="2200"/>
          </a:p>
        </p:txBody>
      </p:sp>
      <p:sp>
        <p:nvSpPr>
          <p:cNvPr id="12" name="Text 10">
            <a:extLst xmlns:a="http://schemas.openxmlformats.org/drawingml/2006/main">
              <a:ext uri="{FF2B5EF4-FFF2-40B4-BE49-F238E27FC236}">
                <a16:creationId xmlns:a16="http://schemas.microsoft.com/office/drawing/2014/main" id="{51B2FCC7-6644-4AB8-8070-FC03CE338B82}"/>
              </a:ext>
            </a:extLst>
          </p:cNvPr>
          <p:cNvSpPr>
            <a:spLocks xmlns:a="http://schemas.openxmlformats.org/drawingml/2006/main" noGrp="1"/>
          </p:cNvSpPr>
          <p:nvPr/>
        </p:nvSpPr>
        <p:spPr>
          <a:xfrm xmlns:a="http://schemas.openxmlformats.org/drawingml/2006/main">
            <a:off x="1280160" y="3063240"/>
            <a:ext cx="731520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00">
                <a:solidFill>
                  <a:srgbClr val="1A1F3A"/>
                </a:solidFill>
                <a:latin typeface="Calibri"/>
                <a:ea typeface="Calibri"/>
                <a:cs typeface="Calibri"/>
              </a:rPr>
              <a:t>Describe why AI "hallucinates" and how to mitigate it in HR contexts.</a:t>
            </a:r>
            <a:endParaRPr sz="1500"/>
          </a:p>
        </p:txBody>
      </p:sp>
      <p:sp>
        <p:nvSpPr>
          <p:cNvPr id="13" name="Shape 11">
            <a:extLst xmlns:a="http://schemas.openxmlformats.org/drawingml/2006/main">
              <a:ext uri="{FF2B5EF4-FFF2-40B4-BE49-F238E27FC236}">
                <a16:creationId xmlns:a16="http://schemas.microsoft.com/office/drawing/2014/main" id="{2704D8A3-4636-43D8-9BC0-A6A7410FDF03}"/>
              </a:ext>
            </a:extLst>
          </p:cNvPr>
          <p:cNvSpPr>
            <a:spLocks xmlns:a="http://schemas.openxmlformats.org/drawingml/2006/main" noGrp="1"/>
          </p:cNvSpPr>
          <p:nvPr/>
        </p:nvSpPr>
        <p:spPr>
          <a:xfrm xmlns:a="http://schemas.openxmlformats.org/drawingml/2006/main">
            <a:off x="457200" y="3977640"/>
            <a:ext cx="548640" cy="548640"/>
          </a:xfrm>
          <a:prstGeom xmlns:a="http://schemas.openxmlformats.org/drawingml/2006/main" prst="ellipse">
            <a:avLst/>
          </a:prstGeom>
          <a:solidFill xmlns:a="http://schemas.openxmlformats.org/drawingml/2006/main">
            <a:srgbClr val="1E2761"/>
          </a:solidFill>
          <a:ln xmlns:a="http://schemas.openxmlformats.org/drawingml/2006/main" w="12700">
            <a:solidFill>
              <a:srgbClr val="1E2761"/>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ED139173-90C7-4646-9067-D0D360394BB4}"/>
              </a:ext>
            </a:extLst>
          </p:cNvPr>
          <p:cNvSpPr>
            <a:spLocks xmlns:a="http://schemas.openxmlformats.org/drawingml/2006/main" noGrp="1"/>
          </p:cNvSpPr>
          <p:nvPr/>
        </p:nvSpPr>
        <p:spPr>
          <a:xfrm xmlns:a="http://schemas.openxmlformats.org/drawingml/2006/main">
            <a:off x="457200" y="4005072"/>
            <a:ext cx="5486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C9A961"/>
                </a:solidFill>
                <a:latin typeface="Cambria"/>
                <a:ea typeface="Cambria"/>
                <a:cs typeface="Cambria"/>
              </a:rPr>
              <a:t>3</a:t>
            </a:r>
            <a:endParaRPr sz="2200"/>
          </a:p>
        </p:txBody>
      </p:sp>
      <p:sp>
        <p:nvSpPr>
          <p:cNvPr id="15" name="Text 13">
            <a:extLst xmlns:a="http://schemas.openxmlformats.org/drawingml/2006/main">
              <a:ext uri="{FF2B5EF4-FFF2-40B4-BE49-F238E27FC236}">
                <a16:creationId xmlns:a16="http://schemas.microsoft.com/office/drawing/2014/main" id="{E127988A-9E11-4919-A4AD-527249D4910D}"/>
              </a:ext>
            </a:extLst>
          </p:cNvPr>
          <p:cNvSpPr>
            <a:spLocks xmlns:a="http://schemas.openxmlformats.org/drawingml/2006/main" noGrp="1"/>
          </p:cNvSpPr>
          <p:nvPr/>
        </p:nvSpPr>
        <p:spPr>
          <a:xfrm xmlns:a="http://schemas.openxmlformats.org/drawingml/2006/main">
            <a:off x="1280160" y="4069080"/>
            <a:ext cx="731520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00">
                <a:solidFill>
                  <a:srgbClr val="1A1F3A"/>
                </a:solidFill>
                <a:latin typeface="Calibri"/>
                <a:ea typeface="Calibri"/>
                <a:cs typeface="Calibri"/>
              </a:rPr>
              <a:t>Identify which HR tasks are good candidates for AI assistance and which are not.</a:t>
            </a:r>
            <a:endParaRPr sz="1500"/>
          </a:p>
        </p:txBody>
      </p:sp>
      <p:sp>
        <p:nvSpPr>
          <p:cNvPr id="16" name="Text 14">
            <a:extLst xmlns:a="http://schemas.openxmlformats.org/drawingml/2006/main">
              <a:ext uri="{FF2B5EF4-FFF2-40B4-BE49-F238E27FC236}">
                <a16:creationId xmlns:a16="http://schemas.microsoft.com/office/drawing/2014/main" id="{4106DC42-3813-4BC6-A4B0-7DE404B70D5C}"/>
              </a:ext>
            </a:extLst>
          </p:cNvPr>
          <p:cNvSpPr>
            <a:spLocks xmlns:a="http://schemas.openxmlformats.org/drawingml/2006/main" noGrp="1"/>
          </p:cNvSpPr>
          <p:nvPr/>
        </p:nvSpPr>
        <p:spPr>
          <a:xfrm xmlns:a="http://schemas.openxmlformats.org/drawingml/2006/main">
            <a:off x="457200" y="4846320"/>
            <a:ext cx="45720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HR AI Literacy Curriculum</a:t>
            </a:r>
            <a:endParaRPr sz="900"/>
          </a:p>
        </p:txBody>
      </p:sp>
      <p:sp>
        <p:nvSpPr>
          <p:cNvPr id="17" name="Text 15">
            <a:extLst xmlns:a="http://schemas.openxmlformats.org/drawingml/2006/main">
              <a:ext uri="{FF2B5EF4-FFF2-40B4-BE49-F238E27FC236}">
                <a16:creationId xmlns:a16="http://schemas.microsoft.com/office/drawing/2014/main" id="{D87E09EF-D1FB-405A-B16F-F37E4B9A6412}"/>
              </a:ext>
            </a:extLst>
          </p:cNvPr>
          <p:cNvSpPr>
            <a:spLocks xmlns:a="http://schemas.openxmlformats.org/drawingml/2006/main" noGrp="1"/>
          </p:cNvSpPr>
          <p:nvPr/>
        </p:nvSpPr>
        <p:spPr>
          <a:xfrm xmlns:a="http://schemas.openxmlformats.org/drawingml/2006/main">
            <a:off x="8412480" y="4846320"/>
            <a:ext cx="4572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6B7280"/>
                </a:solidFill>
                <a:latin typeface="Calibri"/>
                <a:ea typeface="Calibri"/>
                <a:cs typeface="Calibri"/>
              </a:rPr>
              <a:t>5</a:t>
            </a:r>
            <a:endParaRPr sz="900"/>
          </a:p>
        </p:txBody>
      </p:sp>
    </p:spTree>
    <p:extLst>
      <p:ext uri="{BB962C8B-B14F-4D97-AF65-F5344CB8AC3E}">
        <p14:creationId xmlns:p14="http://schemas.microsoft.com/office/powerpoint/2010/main" val="112412543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547E71F-87DF-428E-8B7C-BFD406240F89}"/>
              </a:ext>
            </a:extLst>
          </p:cNvPr>
          <p:cNvSpPr>
            <a:spLocks xmlns:a="http://schemas.openxmlformats.org/drawingml/2006/main" noGrp="1"/>
          </p:cNvSpPr>
          <p:nvPr/>
        </p:nvSpPr>
        <p:spPr>
          <a:xfrm xmlns:a="http://schemas.openxmlformats.org/drawingml/2006/main">
            <a:off x="0" y="0"/>
            <a:ext cx="9144000" cy="411480"/>
          </a:xfrm>
          <a:prstGeom xmlns:a="http://schemas.openxmlformats.org/drawingml/2006/main" prst="rect">
            <a:avLst/>
          </a:prstGeom>
          <a:solidFill xmlns:a="http://schemas.openxmlformats.org/drawingml/2006/main">
            <a:srgbClr val="1E2761"/>
          </a:solidFill>
          <a:ln xmlns:a="http://schemas.openxmlformats.org/drawingml/2006/main" w="12700">
            <a:solidFill>
              <a:srgbClr val="1E2761"/>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2B1171FE-CC21-4EBA-AC1A-607DD72632A2}"/>
              </a:ext>
            </a:extLst>
          </p:cNvPr>
          <p:cNvSpPr>
            <a:spLocks xmlns:a="http://schemas.openxmlformats.org/drawingml/2006/main" noGrp="1"/>
          </p:cNvSpPr>
          <p:nvPr/>
        </p:nvSpPr>
        <p:spPr>
          <a:xfrm xmlns:a="http://schemas.openxmlformats.org/drawingml/2006/main">
            <a:off x="457200" y="73152"/>
            <a:ext cx="2743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spc="400">
                <a:solidFill>
                  <a:srgbClr val="C9A961"/>
                </a:solidFill>
                <a:latin typeface="Calibri"/>
                <a:ea typeface="Calibri"/>
                <a:cs typeface="Calibri"/>
              </a:rPr>
              <a:t>MODULE 01</a:t>
            </a:r>
            <a:endParaRPr sz="1000"/>
          </a:p>
        </p:txBody>
      </p:sp>
      <p:sp>
        <p:nvSpPr>
          <p:cNvPr id="4" name="Text 2">
            <a:extLst xmlns:a="http://schemas.openxmlformats.org/drawingml/2006/main">
              <a:ext uri="{FF2B5EF4-FFF2-40B4-BE49-F238E27FC236}">
                <a16:creationId xmlns:a16="http://schemas.microsoft.com/office/drawing/2014/main" id="{67491E7B-B6F2-49B2-9F93-5C694F4F8A86}"/>
              </a:ext>
            </a:extLst>
          </p:cNvPr>
          <p:cNvSpPr>
            <a:spLocks xmlns:a="http://schemas.openxmlformats.org/drawingml/2006/main" noGrp="1"/>
          </p:cNvSpPr>
          <p:nvPr/>
        </p:nvSpPr>
        <p:spPr>
          <a:xfrm xmlns:a="http://schemas.openxmlformats.org/drawingml/2006/main">
            <a:off x="3200400" y="73152"/>
            <a:ext cx="54864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000">
                <a:solidFill>
                  <a:srgbClr val="CADCFC"/>
                </a:solidFill>
                <a:latin typeface="Calibri"/>
                <a:ea typeface="Calibri"/>
                <a:cs typeface="Calibri"/>
              </a:rPr>
              <a:t>How AI works</a:t>
            </a:r>
            <a:endParaRPr sz="1000"/>
          </a:p>
        </p:txBody>
      </p:sp>
      <p:sp>
        <p:nvSpPr>
          <p:cNvPr id="5" name="Text 3">
            <a:extLst xmlns:a="http://schemas.openxmlformats.org/drawingml/2006/main">
              <a:ext uri="{FF2B5EF4-FFF2-40B4-BE49-F238E27FC236}">
                <a16:creationId xmlns:a16="http://schemas.microsoft.com/office/drawing/2014/main" id="{C0DF2D1F-63C0-4377-951B-6A24C7F4CE30}"/>
              </a:ext>
            </a:extLst>
          </p:cNvPr>
          <p:cNvSpPr>
            <a:spLocks xmlns:a="http://schemas.openxmlformats.org/drawingml/2006/main" noGrp="1"/>
          </p:cNvSpPr>
          <p:nvPr/>
        </p:nvSpPr>
        <p:spPr>
          <a:xfrm xmlns:a="http://schemas.openxmlformats.org/drawingml/2006/main">
            <a:off x="457200" y="685800"/>
            <a:ext cx="548640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800" b="1">
                <a:solidFill>
                  <a:srgbClr val="1E2761"/>
                </a:solidFill>
                <a:latin typeface="Cambria"/>
                <a:ea typeface="Cambria"/>
                <a:cs typeface="Cambria"/>
              </a:rPr>
              <a:t>Session outline</a:t>
            </a:r>
            <a:endParaRPr sz="2800"/>
          </a:p>
        </p:txBody>
      </p:sp>
      <p:sp>
        <p:nvSpPr>
          <p:cNvPr id="6" name="Text 4">
            <a:extLst xmlns:a="http://schemas.openxmlformats.org/drawingml/2006/main">
              <a:ext uri="{FF2B5EF4-FFF2-40B4-BE49-F238E27FC236}">
                <a16:creationId xmlns:a16="http://schemas.microsoft.com/office/drawing/2014/main" id="{7FDA511B-3472-4E74-9152-7F3F591EA906}"/>
              </a:ext>
            </a:extLst>
          </p:cNvPr>
          <p:cNvSpPr>
            <a:spLocks xmlns:a="http://schemas.openxmlformats.org/drawingml/2006/main" noGrp="1"/>
          </p:cNvSpPr>
          <p:nvPr/>
        </p:nvSpPr>
        <p:spPr>
          <a:xfrm xmlns:a="http://schemas.openxmlformats.org/drawingml/2006/main">
            <a:off x="6858000" y="777240"/>
            <a:ext cx="18288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400" b="1">
                <a:solidFill>
                  <a:srgbClr val="C9A961"/>
                </a:solidFill>
                <a:latin typeface="Calibri"/>
                <a:ea typeface="Calibri"/>
                <a:cs typeface="Calibri"/>
              </a:rPr>
              <a:t>90 minutes</a:t>
            </a:r>
            <a:endParaRPr sz="1400"/>
          </a:p>
        </p:txBody>
      </p:sp>
      <p:sp>
        <p:nvSpPr>
          <p:cNvPr id="7" name="Shape 5">
            <a:extLst xmlns:a="http://schemas.openxmlformats.org/drawingml/2006/main">
              <a:ext uri="{FF2B5EF4-FFF2-40B4-BE49-F238E27FC236}">
                <a16:creationId xmlns:a16="http://schemas.microsoft.com/office/drawing/2014/main" id="{B651566F-EF02-4285-A9A2-7126967CAC29}"/>
              </a:ext>
            </a:extLst>
          </p:cNvPr>
          <p:cNvSpPr>
            <a:spLocks xmlns:a="http://schemas.openxmlformats.org/drawingml/2006/main" noGrp="1"/>
          </p:cNvSpPr>
          <p:nvPr/>
        </p:nvSpPr>
        <p:spPr>
          <a:xfrm xmlns:a="http://schemas.openxmlformats.org/drawingml/2006/main">
            <a:off x="457200" y="1417320"/>
            <a:ext cx="8229600" cy="502920"/>
          </a:xfrm>
          <a:prstGeom xmlns:a="http://schemas.openxmlformats.org/drawingml/2006/main" prst="rect">
            <a:avLst/>
          </a:prstGeom>
          <a:solidFill xmlns:a="http://schemas.openxmlformats.org/drawingml/2006/main">
            <a:srgbClr val="F5F7FB"/>
          </a:solidFill>
          <a:ln xmlns:a="http://schemas.openxmlformats.org/drawingml/2006/main" w="6350">
            <a:solidFill>
              <a:srgbClr val="E5E7EB"/>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A08C48E4-B1F7-46A8-8AD7-EF0D0360E171}"/>
              </a:ext>
            </a:extLst>
          </p:cNvPr>
          <p:cNvSpPr>
            <a:spLocks xmlns:a="http://schemas.openxmlformats.org/drawingml/2006/main" noGrp="1"/>
          </p:cNvSpPr>
          <p:nvPr/>
        </p:nvSpPr>
        <p:spPr>
          <a:xfrm xmlns:a="http://schemas.openxmlformats.org/drawingml/2006/main">
            <a:off x="548640" y="1527048"/>
            <a:ext cx="12801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E2761"/>
                </a:solidFill>
                <a:latin typeface="Calibri"/>
                <a:ea typeface="Calibri"/>
                <a:cs typeface="Calibri"/>
              </a:rPr>
              <a:t>0:00–0:10</a:t>
            </a:r>
            <a:endParaRPr sz="1100"/>
          </a:p>
        </p:txBody>
      </p:sp>
      <p:sp>
        <p:nvSpPr>
          <p:cNvPr id="9" name="Text 7">
            <a:extLst xmlns:a="http://schemas.openxmlformats.org/drawingml/2006/main">
              <a:ext uri="{FF2B5EF4-FFF2-40B4-BE49-F238E27FC236}">
                <a16:creationId xmlns:a16="http://schemas.microsoft.com/office/drawing/2014/main" id="{1B95582F-7FEE-4253-9E68-0AEF26D1FF6E}"/>
              </a:ext>
            </a:extLst>
          </p:cNvPr>
          <p:cNvSpPr>
            <a:spLocks xmlns:a="http://schemas.openxmlformats.org/drawingml/2006/main" noGrp="1"/>
          </p:cNvSpPr>
          <p:nvPr/>
        </p:nvSpPr>
        <p:spPr>
          <a:xfrm xmlns:a="http://schemas.openxmlformats.org/drawingml/2006/main">
            <a:off x="1828800" y="1527048"/>
            <a:ext cx="13716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200">
                <a:solidFill>
                  <a:srgbClr val="C9A961"/>
                </a:solidFill>
                <a:latin typeface="Calibri"/>
                <a:ea typeface="Calibri"/>
                <a:cs typeface="Calibri"/>
              </a:rPr>
              <a:t>Opening</a:t>
            </a:r>
            <a:endParaRPr sz="1000"/>
          </a:p>
        </p:txBody>
      </p:sp>
      <p:sp>
        <p:nvSpPr>
          <p:cNvPr id="10" name="Text 8">
            <a:extLst xmlns:a="http://schemas.openxmlformats.org/drawingml/2006/main">
              <a:ext uri="{FF2B5EF4-FFF2-40B4-BE49-F238E27FC236}">
                <a16:creationId xmlns:a16="http://schemas.microsoft.com/office/drawing/2014/main" id="{D0F58888-5087-423D-A18B-332D98093C17}"/>
              </a:ext>
            </a:extLst>
          </p:cNvPr>
          <p:cNvSpPr>
            <a:spLocks xmlns:a="http://schemas.openxmlformats.org/drawingml/2006/main" noGrp="1"/>
          </p:cNvSpPr>
          <p:nvPr/>
        </p:nvSpPr>
        <p:spPr>
          <a:xfrm xmlns:a="http://schemas.openxmlformats.org/drawingml/2006/main">
            <a:off x="3291840" y="1527048"/>
            <a:ext cx="53035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1A1F3A"/>
                </a:solidFill>
                <a:latin typeface="Calibri"/>
                <a:ea typeface="Calibri"/>
                <a:cs typeface="Calibri"/>
              </a:rPr>
              <a:t>What do you already believe about AI? Quick poll + discussion.</a:t>
            </a:r>
            <a:endParaRPr sz="1100"/>
          </a:p>
        </p:txBody>
      </p:sp>
      <p:sp>
        <p:nvSpPr>
          <p:cNvPr id="11" name="Shape 9">
            <a:extLst xmlns:a="http://schemas.openxmlformats.org/drawingml/2006/main">
              <a:ext uri="{FF2B5EF4-FFF2-40B4-BE49-F238E27FC236}">
                <a16:creationId xmlns:a16="http://schemas.microsoft.com/office/drawing/2014/main" id="{FD3F1E3B-A12C-428D-9891-7BFBB21C133C}"/>
              </a:ext>
            </a:extLst>
          </p:cNvPr>
          <p:cNvSpPr>
            <a:spLocks xmlns:a="http://schemas.openxmlformats.org/drawingml/2006/main" noGrp="1"/>
          </p:cNvSpPr>
          <p:nvPr/>
        </p:nvSpPr>
        <p:spPr>
          <a:xfrm xmlns:a="http://schemas.openxmlformats.org/drawingml/2006/main">
            <a:off x="457200" y="1965960"/>
            <a:ext cx="8229600" cy="502920"/>
          </a:xfrm>
          <a:prstGeom xmlns:a="http://schemas.openxmlformats.org/drawingml/2006/main" prst="rect">
            <a:avLst/>
          </a:prstGeom>
          <a:solidFill xmlns:a="http://schemas.openxmlformats.org/drawingml/2006/main">
            <a:srgbClr val="FFFFFF"/>
          </a:solidFill>
          <a:ln xmlns:a="http://schemas.openxmlformats.org/drawingml/2006/main" w="6350">
            <a:solidFill>
              <a:srgbClr val="E5E7EB"/>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8E7A0FEC-2907-4160-9C80-3138C32C077F}"/>
              </a:ext>
            </a:extLst>
          </p:cNvPr>
          <p:cNvSpPr>
            <a:spLocks xmlns:a="http://schemas.openxmlformats.org/drawingml/2006/main" noGrp="1"/>
          </p:cNvSpPr>
          <p:nvPr/>
        </p:nvSpPr>
        <p:spPr>
          <a:xfrm xmlns:a="http://schemas.openxmlformats.org/drawingml/2006/main">
            <a:off x="548640" y="2075688"/>
            <a:ext cx="12801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E2761"/>
                </a:solidFill>
                <a:latin typeface="Calibri"/>
                <a:ea typeface="Calibri"/>
                <a:cs typeface="Calibri"/>
              </a:rPr>
              <a:t>0:10–0:30</a:t>
            </a:r>
            <a:endParaRPr sz="1100"/>
          </a:p>
        </p:txBody>
      </p:sp>
      <p:sp>
        <p:nvSpPr>
          <p:cNvPr id="13" name="Text 11">
            <a:extLst xmlns:a="http://schemas.openxmlformats.org/drawingml/2006/main">
              <a:ext uri="{FF2B5EF4-FFF2-40B4-BE49-F238E27FC236}">
                <a16:creationId xmlns:a16="http://schemas.microsoft.com/office/drawing/2014/main" id="{DE6D8904-A273-4136-A1AB-E7EDF4D09CE6}"/>
              </a:ext>
            </a:extLst>
          </p:cNvPr>
          <p:cNvSpPr>
            <a:spLocks xmlns:a="http://schemas.openxmlformats.org/drawingml/2006/main" noGrp="1"/>
          </p:cNvSpPr>
          <p:nvPr/>
        </p:nvSpPr>
        <p:spPr>
          <a:xfrm xmlns:a="http://schemas.openxmlformats.org/drawingml/2006/main">
            <a:off x="1828800" y="2075688"/>
            <a:ext cx="13716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200">
                <a:solidFill>
                  <a:srgbClr val="C9A961"/>
                </a:solidFill>
                <a:latin typeface="Calibri"/>
                <a:ea typeface="Calibri"/>
                <a:cs typeface="Calibri"/>
              </a:rPr>
              <a:t>Concept</a:t>
            </a:r>
            <a:endParaRPr sz="1000"/>
          </a:p>
        </p:txBody>
      </p:sp>
      <p:sp>
        <p:nvSpPr>
          <p:cNvPr id="14" name="Text 12">
            <a:extLst xmlns:a="http://schemas.openxmlformats.org/drawingml/2006/main">
              <a:ext uri="{FF2B5EF4-FFF2-40B4-BE49-F238E27FC236}">
                <a16:creationId xmlns:a16="http://schemas.microsoft.com/office/drawing/2014/main" id="{7EDB67C6-FA80-4A68-ADEC-B2F222B82600}"/>
              </a:ext>
            </a:extLst>
          </p:cNvPr>
          <p:cNvSpPr>
            <a:spLocks xmlns:a="http://schemas.openxmlformats.org/drawingml/2006/main" noGrp="1"/>
          </p:cNvSpPr>
          <p:nvPr/>
        </p:nvSpPr>
        <p:spPr>
          <a:xfrm xmlns:a="http://schemas.openxmlformats.org/drawingml/2006/main">
            <a:off x="3291840" y="2075688"/>
            <a:ext cx="53035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1A1F3A"/>
                </a:solidFill>
                <a:latin typeface="Calibri"/>
                <a:ea typeface="Calibri"/>
                <a:cs typeface="Calibri"/>
              </a:rPr>
              <a:t>How LLMs work:  without the jargon. Facilitator presentation.</a:t>
            </a:r>
            <a:endParaRPr sz="1100"/>
          </a:p>
        </p:txBody>
      </p:sp>
      <p:sp>
        <p:nvSpPr>
          <p:cNvPr id="15" name="Shape 13">
            <a:extLst xmlns:a="http://schemas.openxmlformats.org/drawingml/2006/main">
              <a:ext uri="{FF2B5EF4-FFF2-40B4-BE49-F238E27FC236}">
                <a16:creationId xmlns:a16="http://schemas.microsoft.com/office/drawing/2014/main" id="{187139D8-349A-42A4-8CD8-4141E0C61825}"/>
              </a:ext>
            </a:extLst>
          </p:cNvPr>
          <p:cNvSpPr>
            <a:spLocks xmlns:a="http://schemas.openxmlformats.org/drawingml/2006/main" noGrp="1"/>
          </p:cNvSpPr>
          <p:nvPr/>
        </p:nvSpPr>
        <p:spPr>
          <a:xfrm xmlns:a="http://schemas.openxmlformats.org/drawingml/2006/main">
            <a:off x="457200" y="2514600"/>
            <a:ext cx="8229600" cy="502920"/>
          </a:xfrm>
          <a:prstGeom xmlns:a="http://schemas.openxmlformats.org/drawingml/2006/main" prst="rect">
            <a:avLst/>
          </a:prstGeom>
          <a:solidFill xmlns:a="http://schemas.openxmlformats.org/drawingml/2006/main">
            <a:srgbClr val="F5F7FB"/>
          </a:solidFill>
          <a:ln xmlns:a="http://schemas.openxmlformats.org/drawingml/2006/main" w="6350">
            <a:solidFill>
              <a:srgbClr val="E5E7EB"/>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5438EB8E-965F-4456-AC3A-9B86AAB78DC5}"/>
              </a:ext>
            </a:extLst>
          </p:cNvPr>
          <p:cNvSpPr>
            <a:spLocks xmlns:a="http://schemas.openxmlformats.org/drawingml/2006/main" noGrp="1"/>
          </p:cNvSpPr>
          <p:nvPr/>
        </p:nvSpPr>
        <p:spPr>
          <a:xfrm xmlns:a="http://schemas.openxmlformats.org/drawingml/2006/main">
            <a:off x="548640" y="2624328"/>
            <a:ext cx="12801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E2761"/>
                </a:solidFill>
                <a:latin typeface="Calibri"/>
                <a:ea typeface="Calibri"/>
                <a:cs typeface="Calibri"/>
              </a:rPr>
              <a:t>0:30–0:45</a:t>
            </a:r>
            <a:endParaRPr sz="1100"/>
          </a:p>
        </p:txBody>
      </p:sp>
      <p:sp>
        <p:nvSpPr>
          <p:cNvPr id="17" name="Text 15">
            <a:extLst xmlns:a="http://schemas.openxmlformats.org/drawingml/2006/main">
              <a:ext uri="{FF2B5EF4-FFF2-40B4-BE49-F238E27FC236}">
                <a16:creationId xmlns:a16="http://schemas.microsoft.com/office/drawing/2014/main" id="{694156A0-8916-41DB-B265-FF2919450478}"/>
              </a:ext>
            </a:extLst>
          </p:cNvPr>
          <p:cNvSpPr>
            <a:spLocks xmlns:a="http://schemas.openxmlformats.org/drawingml/2006/main" noGrp="1"/>
          </p:cNvSpPr>
          <p:nvPr/>
        </p:nvSpPr>
        <p:spPr>
          <a:xfrm xmlns:a="http://schemas.openxmlformats.org/drawingml/2006/main">
            <a:off x="1828800" y="2624328"/>
            <a:ext cx="13716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200">
                <a:solidFill>
                  <a:srgbClr val="C9A961"/>
                </a:solidFill>
                <a:latin typeface="Calibri"/>
                <a:ea typeface="Calibri"/>
                <a:cs typeface="Calibri"/>
              </a:rPr>
              <a:t>Concept</a:t>
            </a:r>
            <a:endParaRPr sz="1000"/>
          </a:p>
        </p:txBody>
      </p:sp>
      <p:sp>
        <p:nvSpPr>
          <p:cNvPr id="18" name="Text 16">
            <a:extLst xmlns:a="http://schemas.openxmlformats.org/drawingml/2006/main">
              <a:ext uri="{FF2B5EF4-FFF2-40B4-BE49-F238E27FC236}">
                <a16:creationId xmlns:a16="http://schemas.microsoft.com/office/drawing/2014/main" id="{2A23944B-C16B-4732-9A39-B285E731D7DF}"/>
              </a:ext>
            </a:extLst>
          </p:cNvPr>
          <p:cNvSpPr>
            <a:spLocks xmlns:a="http://schemas.openxmlformats.org/drawingml/2006/main" noGrp="1"/>
          </p:cNvSpPr>
          <p:nvPr/>
        </p:nvSpPr>
        <p:spPr>
          <a:xfrm xmlns:a="http://schemas.openxmlformats.org/drawingml/2006/main">
            <a:off x="3291840" y="2624328"/>
            <a:ext cx="53035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1A1F3A"/>
                </a:solidFill>
                <a:latin typeface="Calibri"/>
                <a:ea typeface="Calibri"/>
                <a:cs typeface="Calibri"/>
              </a:rPr>
              <a:t>Hallucination, confidence, and why AI makes things up.</a:t>
            </a:r>
            <a:endParaRPr sz="1100"/>
          </a:p>
        </p:txBody>
      </p:sp>
      <p:sp>
        <p:nvSpPr>
          <p:cNvPr id="19" name="Shape 17">
            <a:extLst xmlns:a="http://schemas.openxmlformats.org/drawingml/2006/main">
              <a:ext uri="{FF2B5EF4-FFF2-40B4-BE49-F238E27FC236}">
                <a16:creationId xmlns:a16="http://schemas.microsoft.com/office/drawing/2014/main" id="{CAA4A1CE-7937-4BC8-B977-0D40C408CB39}"/>
              </a:ext>
            </a:extLst>
          </p:cNvPr>
          <p:cNvSpPr>
            <a:spLocks xmlns:a="http://schemas.openxmlformats.org/drawingml/2006/main" noGrp="1"/>
          </p:cNvSpPr>
          <p:nvPr/>
        </p:nvSpPr>
        <p:spPr>
          <a:xfrm xmlns:a="http://schemas.openxmlformats.org/drawingml/2006/main">
            <a:off x="457200" y="3063240"/>
            <a:ext cx="8229600" cy="502920"/>
          </a:xfrm>
          <a:prstGeom xmlns:a="http://schemas.openxmlformats.org/drawingml/2006/main" prst="rect">
            <a:avLst/>
          </a:prstGeom>
          <a:solidFill xmlns:a="http://schemas.openxmlformats.org/drawingml/2006/main">
            <a:srgbClr val="FFFFFF"/>
          </a:solidFill>
          <a:ln xmlns:a="http://schemas.openxmlformats.org/drawingml/2006/main" w="6350">
            <a:solidFill>
              <a:srgbClr val="E5E7EB"/>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E7DCBADE-5C18-405F-9FD2-72C4631EDA0C}"/>
              </a:ext>
            </a:extLst>
          </p:cNvPr>
          <p:cNvSpPr>
            <a:spLocks xmlns:a="http://schemas.openxmlformats.org/drawingml/2006/main" noGrp="1"/>
          </p:cNvSpPr>
          <p:nvPr/>
        </p:nvSpPr>
        <p:spPr>
          <a:xfrm xmlns:a="http://schemas.openxmlformats.org/drawingml/2006/main">
            <a:off x="548640" y="3172968"/>
            <a:ext cx="12801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E2761"/>
                </a:solidFill>
                <a:latin typeface="Calibri"/>
                <a:ea typeface="Calibri"/>
                <a:cs typeface="Calibri"/>
              </a:rPr>
              <a:t>0:45–1:05</a:t>
            </a:r>
            <a:endParaRPr sz="1100"/>
          </a:p>
        </p:txBody>
      </p:sp>
      <p:sp>
        <p:nvSpPr>
          <p:cNvPr id="21" name="Text 19">
            <a:extLst xmlns:a="http://schemas.openxmlformats.org/drawingml/2006/main">
              <a:ext uri="{FF2B5EF4-FFF2-40B4-BE49-F238E27FC236}">
                <a16:creationId xmlns:a16="http://schemas.microsoft.com/office/drawing/2014/main" id="{8D2A8C34-E459-4EA0-89A6-45BA461B5836}"/>
              </a:ext>
            </a:extLst>
          </p:cNvPr>
          <p:cNvSpPr>
            <a:spLocks xmlns:a="http://schemas.openxmlformats.org/drawingml/2006/main" noGrp="1"/>
          </p:cNvSpPr>
          <p:nvPr/>
        </p:nvSpPr>
        <p:spPr>
          <a:xfrm xmlns:a="http://schemas.openxmlformats.org/drawingml/2006/main">
            <a:off x="1828800" y="3172968"/>
            <a:ext cx="13716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200">
                <a:solidFill>
                  <a:srgbClr val="C9A961"/>
                </a:solidFill>
                <a:latin typeface="Calibri"/>
                <a:ea typeface="Calibri"/>
                <a:cs typeface="Calibri"/>
              </a:rPr>
              <a:t>Exercise</a:t>
            </a:r>
            <a:endParaRPr sz="1000"/>
          </a:p>
        </p:txBody>
      </p:sp>
      <p:sp>
        <p:nvSpPr>
          <p:cNvPr id="22" name="Text 20">
            <a:extLst xmlns:a="http://schemas.openxmlformats.org/drawingml/2006/main">
              <a:ext uri="{FF2B5EF4-FFF2-40B4-BE49-F238E27FC236}">
                <a16:creationId xmlns:a16="http://schemas.microsoft.com/office/drawing/2014/main" id="{AC9C0142-3D11-445E-8CD3-FC7094A1F901}"/>
              </a:ext>
            </a:extLst>
          </p:cNvPr>
          <p:cNvSpPr>
            <a:spLocks xmlns:a="http://schemas.openxmlformats.org/drawingml/2006/main" noGrp="1"/>
          </p:cNvSpPr>
          <p:nvPr/>
        </p:nvSpPr>
        <p:spPr>
          <a:xfrm xmlns:a="http://schemas.openxmlformats.org/drawingml/2006/main">
            <a:off x="3291840" y="3172968"/>
            <a:ext cx="53035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1A1F3A"/>
                </a:solidFill>
                <a:latin typeface="Calibri"/>
                <a:ea typeface="Calibri"/>
                <a:cs typeface="Calibri"/>
              </a:rPr>
              <a:t>Spot the hallucination, identify errors in AI-generated HR content.</a:t>
            </a:r>
            <a:endParaRPr sz="1100"/>
          </a:p>
        </p:txBody>
      </p:sp>
      <p:sp>
        <p:nvSpPr>
          <p:cNvPr id="23" name="Shape 21">
            <a:extLst xmlns:a="http://schemas.openxmlformats.org/drawingml/2006/main">
              <a:ext uri="{FF2B5EF4-FFF2-40B4-BE49-F238E27FC236}">
                <a16:creationId xmlns:a16="http://schemas.microsoft.com/office/drawing/2014/main" id="{69DBBBBE-1E2A-4076-B1E0-7DEE499934ED}"/>
              </a:ext>
            </a:extLst>
          </p:cNvPr>
          <p:cNvSpPr>
            <a:spLocks xmlns:a="http://schemas.openxmlformats.org/drawingml/2006/main" noGrp="1"/>
          </p:cNvSpPr>
          <p:nvPr/>
        </p:nvSpPr>
        <p:spPr>
          <a:xfrm xmlns:a="http://schemas.openxmlformats.org/drawingml/2006/main">
            <a:off x="457200" y="3611880"/>
            <a:ext cx="8229600" cy="502920"/>
          </a:xfrm>
          <a:prstGeom xmlns:a="http://schemas.openxmlformats.org/drawingml/2006/main" prst="rect">
            <a:avLst/>
          </a:prstGeom>
          <a:solidFill xmlns:a="http://schemas.openxmlformats.org/drawingml/2006/main">
            <a:srgbClr val="F5F7FB"/>
          </a:solidFill>
          <a:ln xmlns:a="http://schemas.openxmlformats.org/drawingml/2006/main" w="6350">
            <a:solidFill>
              <a:srgbClr val="E5E7EB"/>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Text 22">
            <a:extLst xmlns:a="http://schemas.openxmlformats.org/drawingml/2006/main">
              <a:ext uri="{FF2B5EF4-FFF2-40B4-BE49-F238E27FC236}">
                <a16:creationId xmlns:a16="http://schemas.microsoft.com/office/drawing/2014/main" id="{DDE07882-3426-4594-94E5-BC401936C2DB}"/>
              </a:ext>
            </a:extLst>
          </p:cNvPr>
          <p:cNvSpPr>
            <a:spLocks xmlns:a="http://schemas.openxmlformats.org/drawingml/2006/main" noGrp="1"/>
          </p:cNvSpPr>
          <p:nvPr/>
        </p:nvSpPr>
        <p:spPr>
          <a:xfrm xmlns:a="http://schemas.openxmlformats.org/drawingml/2006/main">
            <a:off x="548640" y="3721608"/>
            <a:ext cx="12801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E2761"/>
                </a:solidFill>
                <a:latin typeface="Calibri"/>
                <a:ea typeface="Calibri"/>
                <a:cs typeface="Calibri"/>
              </a:rPr>
              <a:t>1:05–1:20</a:t>
            </a:r>
            <a:endParaRPr sz="1100"/>
          </a:p>
        </p:txBody>
      </p:sp>
      <p:sp>
        <p:nvSpPr>
          <p:cNvPr id="25" name="Text 23">
            <a:extLst xmlns:a="http://schemas.openxmlformats.org/drawingml/2006/main">
              <a:ext uri="{FF2B5EF4-FFF2-40B4-BE49-F238E27FC236}">
                <a16:creationId xmlns:a16="http://schemas.microsoft.com/office/drawing/2014/main" id="{53C14575-A53F-45BC-AED9-DDDFC0D69B32}"/>
              </a:ext>
            </a:extLst>
          </p:cNvPr>
          <p:cNvSpPr>
            <a:spLocks xmlns:a="http://schemas.openxmlformats.org/drawingml/2006/main" noGrp="1"/>
          </p:cNvSpPr>
          <p:nvPr/>
        </p:nvSpPr>
        <p:spPr>
          <a:xfrm xmlns:a="http://schemas.openxmlformats.org/drawingml/2006/main">
            <a:off x="1828800" y="3721608"/>
            <a:ext cx="13716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200">
                <a:solidFill>
                  <a:srgbClr val="C9A961"/>
                </a:solidFill>
                <a:latin typeface="Calibri"/>
                <a:ea typeface="Calibri"/>
                <a:cs typeface="Calibri"/>
              </a:rPr>
              <a:t>Discussion</a:t>
            </a:r>
            <a:endParaRPr sz="1000"/>
          </a:p>
        </p:txBody>
      </p:sp>
      <p:sp>
        <p:nvSpPr>
          <p:cNvPr id="26" name="Text 24">
            <a:extLst xmlns:a="http://schemas.openxmlformats.org/drawingml/2006/main">
              <a:ext uri="{FF2B5EF4-FFF2-40B4-BE49-F238E27FC236}">
                <a16:creationId xmlns:a16="http://schemas.microsoft.com/office/drawing/2014/main" id="{B4012316-13CB-4575-B9F5-CE2C397B12DC}"/>
              </a:ext>
            </a:extLst>
          </p:cNvPr>
          <p:cNvSpPr>
            <a:spLocks xmlns:a="http://schemas.openxmlformats.org/drawingml/2006/main" noGrp="1"/>
          </p:cNvSpPr>
          <p:nvPr/>
        </p:nvSpPr>
        <p:spPr>
          <a:xfrm xmlns:a="http://schemas.openxmlformats.org/drawingml/2006/main">
            <a:off x="3291840" y="3721608"/>
            <a:ext cx="53035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1A1F3A"/>
                </a:solidFill>
                <a:latin typeface="Calibri"/>
                <a:ea typeface="Calibri"/>
                <a:cs typeface="Calibri"/>
              </a:rPr>
              <a:t>Where should HR use AI? Where should we be cautious?</a:t>
            </a:r>
            <a:endParaRPr sz="1100"/>
          </a:p>
        </p:txBody>
      </p:sp>
      <p:sp>
        <p:nvSpPr>
          <p:cNvPr id="27" name="Shape 25">
            <a:extLst xmlns:a="http://schemas.openxmlformats.org/drawingml/2006/main">
              <a:ext uri="{FF2B5EF4-FFF2-40B4-BE49-F238E27FC236}">
                <a16:creationId xmlns:a16="http://schemas.microsoft.com/office/drawing/2014/main" id="{B5C1206A-3282-4E43-AEDB-240FE65B9006}"/>
              </a:ext>
            </a:extLst>
          </p:cNvPr>
          <p:cNvSpPr>
            <a:spLocks xmlns:a="http://schemas.openxmlformats.org/drawingml/2006/main" noGrp="1"/>
          </p:cNvSpPr>
          <p:nvPr/>
        </p:nvSpPr>
        <p:spPr>
          <a:xfrm xmlns:a="http://schemas.openxmlformats.org/drawingml/2006/main">
            <a:off x="457200" y="4160520"/>
            <a:ext cx="8229600" cy="502920"/>
          </a:xfrm>
          <a:prstGeom xmlns:a="http://schemas.openxmlformats.org/drawingml/2006/main" prst="rect">
            <a:avLst/>
          </a:prstGeom>
          <a:solidFill xmlns:a="http://schemas.openxmlformats.org/drawingml/2006/main">
            <a:srgbClr val="FFFFFF"/>
          </a:solidFill>
          <a:ln xmlns:a="http://schemas.openxmlformats.org/drawingml/2006/main" w="6350">
            <a:solidFill>
              <a:srgbClr val="E5E7EB"/>
            </a:solidFill>
            <a:prstDash val="solid"/>
          </a:ln>
        </p:spPr>
        <p:txBody>
          <a:bodyPr xmlns:a="http://schemas.openxmlformats.org/drawingml/2006/main"/>
          <a:lstStyle xmlns:a="http://schemas.openxmlformats.org/drawingml/2006/main"/>
          <a:p xmlns:a="http://schemas.openxmlformats.org/drawingml/2006/main">
            <a:endParaRPr/>
          </a:p>
        </p:txBody>
      </p:sp>
      <p:sp>
        <p:nvSpPr>
          <p:cNvPr id="28" name="Text 26">
            <a:extLst xmlns:a="http://schemas.openxmlformats.org/drawingml/2006/main">
              <a:ext uri="{FF2B5EF4-FFF2-40B4-BE49-F238E27FC236}">
                <a16:creationId xmlns:a16="http://schemas.microsoft.com/office/drawing/2014/main" id="{EA80EDE1-853B-417F-8678-6722B1DD0EA8}"/>
              </a:ext>
            </a:extLst>
          </p:cNvPr>
          <p:cNvSpPr>
            <a:spLocks xmlns:a="http://schemas.openxmlformats.org/drawingml/2006/main" noGrp="1"/>
          </p:cNvSpPr>
          <p:nvPr/>
        </p:nvSpPr>
        <p:spPr>
          <a:xfrm xmlns:a="http://schemas.openxmlformats.org/drawingml/2006/main">
            <a:off x="548640" y="4270248"/>
            <a:ext cx="12801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E2761"/>
                </a:solidFill>
                <a:latin typeface="Calibri"/>
                <a:ea typeface="Calibri"/>
                <a:cs typeface="Calibri"/>
              </a:rPr>
              <a:t>1:20–1:30</a:t>
            </a:r>
            <a:endParaRPr sz="1100"/>
          </a:p>
        </p:txBody>
      </p:sp>
      <p:sp>
        <p:nvSpPr>
          <p:cNvPr id="29" name="Text 27">
            <a:extLst xmlns:a="http://schemas.openxmlformats.org/drawingml/2006/main">
              <a:ext uri="{FF2B5EF4-FFF2-40B4-BE49-F238E27FC236}">
                <a16:creationId xmlns:a16="http://schemas.microsoft.com/office/drawing/2014/main" id="{0358EAEE-E78F-441F-8A6E-258096538D67}"/>
              </a:ext>
            </a:extLst>
          </p:cNvPr>
          <p:cNvSpPr>
            <a:spLocks xmlns:a="http://schemas.openxmlformats.org/drawingml/2006/main" noGrp="1"/>
          </p:cNvSpPr>
          <p:nvPr/>
        </p:nvSpPr>
        <p:spPr>
          <a:xfrm xmlns:a="http://schemas.openxmlformats.org/drawingml/2006/main">
            <a:off x="1828800" y="4270248"/>
            <a:ext cx="13716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200">
                <a:solidFill>
                  <a:srgbClr val="C9A961"/>
                </a:solidFill>
                <a:latin typeface="Calibri"/>
                <a:ea typeface="Calibri"/>
                <a:cs typeface="Calibri"/>
              </a:rPr>
              <a:t>Wrap-up</a:t>
            </a:r>
            <a:endParaRPr sz="1000"/>
          </a:p>
        </p:txBody>
      </p:sp>
      <p:sp>
        <p:nvSpPr>
          <p:cNvPr id="30" name="Text 28">
            <a:extLst xmlns:a="http://schemas.openxmlformats.org/drawingml/2006/main">
              <a:ext uri="{FF2B5EF4-FFF2-40B4-BE49-F238E27FC236}">
                <a16:creationId xmlns:a16="http://schemas.microsoft.com/office/drawing/2014/main" id="{6672EFCB-03D8-4A24-9FD6-6309620727AF}"/>
              </a:ext>
            </a:extLst>
          </p:cNvPr>
          <p:cNvSpPr>
            <a:spLocks xmlns:a="http://schemas.openxmlformats.org/drawingml/2006/main" noGrp="1"/>
          </p:cNvSpPr>
          <p:nvPr/>
        </p:nvSpPr>
        <p:spPr>
          <a:xfrm xmlns:a="http://schemas.openxmlformats.org/drawingml/2006/main">
            <a:off x="3291840" y="4270248"/>
            <a:ext cx="53035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1A1F3A"/>
                </a:solidFill>
                <a:latin typeface="Calibri"/>
                <a:ea typeface="Calibri"/>
                <a:cs typeface="Calibri"/>
              </a:rPr>
              <a:t>Homework: try one AI tool before next session.</a:t>
            </a:r>
            <a:endParaRPr sz="1100"/>
          </a:p>
        </p:txBody>
      </p:sp>
      <p:sp>
        <p:nvSpPr>
          <p:cNvPr id="31" name="Text 29">
            <a:extLst xmlns:a="http://schemas.openxmlformats.org/drawingml/2006/main">
              <a:ext uri="{FF2B5EF4-FFF2-40B4-BE49-F238E27FC236}">
                <a16:creationId xmlns:a16="http://schemas.microsoft.com/office/drawing/2014/main" id="{B5CD6D72-5B8F-47A1-9CD3-3395E4D574ED}"/>
              </a:ext>
            </a:extLst>
          </p:cNvPr>
          <p:cNvSpPr>
            <a:spLocks xmlns:a="http://schemas.openxmlformats.org/drawingml/2006/main" noGrp="1"/>
          </p:cNvSpPr>
          <p:nvPr/>
        </p:nvSpPr>
        <p:spPr>
          <a:xfrm xmlns:a="http://schemas.openxmlformats.org/drawingml/2006/main">
            <a:off x="457200" y="4846320"/>
            <a:ext cx="45720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HR AI Literacy Curriculum</a:t>
            </a:r>
            <a:endParaRPr sz="900"/>
          </a:p>
        </p:txBody>
      </p:sp>
      <p:sp>
        <p:nvSpPr>
          <p:cNvPr id="32" name="Text 30">
            <a:extLst xmlns:a="http://schemas.openxmlformats.org/drawingml/2006/main">
              <a:ext uri="{FF2B5EF4-FFF2-40B4-BE49-F238E27FC236}">
                <a16:creationId xmlns:a16="http://schemas.microsoft.com/office/drawing/2014/main" id="{7BD04664-04B7-423E-BA2B-076B00282571}"/>
              </a:ext>
            </a:extLst>
          </p:cNvPr>
          <p:cNvSpPr>
            <a:spLocks xmlns:a="http://schemas.openxmlformats.org/drawingml/2006/main" noGrp="1"/>
          </p:cNvSpPr>
          <p:nvPr/>
        </p:nvSpPr>
        <p:spPr>
          <a:xfrm xmlns:a="http://schemas.openxmlformats.org/drawingml/2006/main">
            <a:off x="8412480" y="4846320"/>
            <a:ext cx="4572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6B7280"/>
                </a:solidFill>
                <a:latin typeface="Calibri"/>
                <a:ea typeface="Calibri"/>
                <a:cs typeface="Calibri"/>
              </a:rPr>
              <a:t>6</a:t>
            </a:r>
            <a:endParaRPr sz="900"/>
          </a:p>
        </p:txBody>
      </p:sp>
    </p:spTree>
    <p:extLst>
      <p:ext uri="{BB962C8B-B14F-4D97-AF65-F5344CB8AC3E}">
        <p14:creationId xmlns:p14="http://schemas.microsoft.com/office/powerpoint/2010/main" val="45939420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4081B4C-F35C-4099-95C0-FAF8F12F7E55}"/>
              </a:ext>
            </a:extLst>
          </p:cNvPr>
          <p:cNvSpPr>
            <a:spLocks xmlns:a="http://schemas.openxmlformats.org/drawingml/2006/main" noGrp="1"/>
          </p:cNvSpPr>
          <p:nvPr/>
        </p:nvSpPr>
        <p:spPr>
          <a:xfrm xmlns:a="http://schemas.openxmlformats.org/drawingml/2006/main">
            <a:off x="0" y="0"/>
            <a:ext cx="9144000" cy="411480"/>
          </a:xfrm>
          <a:prstGeom xmlns:a="http://schemas.openxmlformats.org/drawingml/2006/main" prst="rect">
            <a:avLst/>
          </a:prstGeom>
          <a:solidFill xmlns:a="http://schemas.openxmlformats.org/drawingml/2006/main">
            <a:srgbClr val="1E2761"/>
          </a:solidFill>
          <a:ln xmlns:a="http://schemas.openxmlformats.org/drawingml/2006/main" w="12700">
            <a:solidFill>
              <a:srgbClr val="1E2761"/>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207DC3B6-AB2F-4A2B-BF2C-429339675E0F}"/>
              </a:ext>
            </a:extLst>
          </p:cNvPr>
          <p:cNvSpPr>
            <a:spLocks xmlns:a="http://schemas.openxmlformats.org/drawingml/2006/main" noGrp="1"/>
          </p:cNvSpPr>
          <p:nvPr/>
        </p:nvSpPr>
        <p:spPr>
          <a:xfrm xmlns:a="http://schemas.openxmlformats.org/drawingml/2006/main">
            <a:off x="457200" y="73152"/>
            <a:ext cx="2743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spc="400">
                <a:solidFill>
                  <a:srgbClr val="C9A961"/>
                </a:solidFill>
                <a:latin typeface="Calibri"/>
                <a:ea typeface="Calibri"/>
                <a:cs typeface="Calibri"/>
              </a:rPr>
              <a:t>MODULE 01</a:t>
            </a:r>
            <a:endParaRPr sz="1000"/>
          </a:p>
        </p:txBody>
      </p:sp>
      <p:sp>
        <p:nvSpPr>
          <p:cNvPr id="4" name="Text 2">
            <a:extLst xmlns:a="http://schemas.openxmlformats.org/drawingml/2006/main">
              <a:ext uri="{FF2B5EF4-FFF2-40B4-BE49-F238E27FC236}">
                <a16:creationId xmlns:a16="http://schemas.microsoft.com/office/drawing/2014/main" id="{493B2772-E8E8-4C7A-92F6-5945AA00D557}"/>
              </a:ext>
            </a:extLst>
          </p:cNvPr>
          <p:cNvSpPr>
            <a:spLocks xmlns:a="http://schemas.openxmlformats.org/drawingml/2006/main" noGrp="1"/>
          </p:cNvSpPr>
          <p:nvPr/>
        </p:nvSpPr>
        <p:spPr>
          <a:xfrm xmlns:a="http://schemas.openxmlformats.org/drawingml/2006/main">
            <a:off x="3200400" y="73152"/>
            <a:ext cx="54864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000">
                <a:solidFill>
                  <a:srgbClr val="CADCFC"/>
                </a:solidFill>
                <a:latin typeface="Calibri"/>
                <a:ea typeface="Calibri"/>
                <a:cs typeface="Calibri"/>
              </a:rPr>
              <a:t>How AI works</a:t>
            </a:r>
            <a:endParaRPr sz="1000"/>
          </a:p>
        </p:txBody>
      </p:sp>
      <p:sp>
        <p:nvSpPr>
          <p:cNvPr id="5" name="Text 3">
            <a:extLst xmlns:a="http://schemas.openxmlformats.org/drawingml/2006/main">
              <a:ext uri="{FF2B5EF4-FFF2-40B4-BE49-F238E27FC236}">
                <a16:creationId xmlns:a16="http://schemas.microsoft.com/office/drawing/2014/main" id="{ABDE9B37-E2B5-4DE8-8DDD-E1B2B0EDD5BD}"/>
              </a:ext>
            </a:extLst>
          </p:cNvPr>
          <p:cNvSpPr>
            <a:spLocks xmlns:a="http://schemas.openxmlformats.org/drawingml/2006/main" noGrp="1"/>
          </p:cNvSpPr>
          <p:nvPr/>
        </p:nvSpPr>
        <p:spPr>
          <a:xfrm xmlns:a="http://schemas.openxmlformats.org/drawingml/2006/main">
            <a:off x="457200" y="685800"/>
            <a:ext cx="822960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400" b="1">
                <a:solidFill>
                  <a:srgbClr val="1E2761"/>
                </a:solidFill>
                <a:latin typeface="Cambria"/>
                <a:ea typeface="Cambria"/>
                <a:cs typeface="Cambria"/>
              </a:rPr>
              <a:t>Three concepts every HR professional needs</a:t>
            </a:r>
            <a:endParaRPr sz="2400"/>
          </a:p>
        </p:txBody>
      </p:sp>
      <p:sp>
        <p:nvSpPr>
          <p:cNvPr id="6" name="Shape 4">
            <a:extLst xmlns:a="http://schemas.openxmlformats.org/drawingml/2006/main">
              <a:ext uri="{FF2B5EF4-FFF2-40B4-BE49-F238E27FC236}">
                <a16:creationId xmlns:a16="http://schemas.microsoft.com/office/drawing/2014/main" id="{58D3AE7A-B9FD-4695-93DE-77E2BCD2E1A0}"/>
              </a:ext>
            </a:extLst>
          </p:cNvPr>
          <p:cNvSpPr>
            <a:spLocks xmlns:a="http://schemas.openxmlformats.org/drawingml/2006/main" noGrp="1"/>
          </p:cNvSpPr>
          <p:nvPr/>
        </p:nvSpPr>
        <p:spPr>
          <a:xfrm xmlns:a="http://schemas.openxmlformats.org/drawingml/2006/main">
            <a:off x="457200" y="1463040"/>
            <a:ext cx="2606040" cy="3108960"/>
          </a:xfrm>
          <a:prstGeom xmlns:a="http://schemas.openxmlformats.org/drawingml/2006/main" prst="rect">
            <a:avLst/>
          </a:prstGeom>
          <a:solidFill xmlns:a="http://schemas.openxmlformats.org/drawingml/2006/main">
            <a:srgbClr val="F5F7FB"/>
          </a:solidFill>
          <a:ln xmlns:a="http://schemas.openxmlformats.org/drawingml/2006/main" w="6350">
            <a:solidFill>
              <a:srgbClr val="E5E7EB"/>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Shape 5">
            <a:extLst xmlns:a="http://schemas.openxmlformats.org/drawingml/2006/main">
              <a:ext uri="{FF2B5EF4-FFF2-40B4-BE49-F238E27FC236}">
                <a16:creationId xmlns:a16="http://schemas.microsoft.com/office/drawing/2014/main" id="{F0CDBC33-4CB6-40D0-B3C2-9440243EBF8F}"/>
              </a:ext>
            </a:extLst>
          </p:cNvPr>
          <p:cNvSpPr>
            <a:spLocks xmlns:a="http://schemas.openxmlformats.org/drawingml/2006/main" noGrp="1"/>
          </p:cNvSpPr>
          <p:nvPr/>
        </p:nvSpPr>
        <p:spPr>
          <a:xfrm xmlns:a="http://schemas.openxmlformats.org/drawingml/2006/main">
            <a:off x="457200" y="1463040"/>
            <a:ext cx="2606040" cy="73152"/>
          </a:xfrm>
          <a:prstGeom xmlns:a="http://schemas.openxmlformats.org/drawingml/2006/main" prst="rect">
            <a:avLst/>
          </a:prstGeom>
          <a:solidFill xmlns:a="http://schemas.openxmlformats.org/drawingml/2006/main">
            <a:srgbClr val="C9A961"/>
          </a:solidFill>
          <a:ln xmlns:a="http://schemas.openxmlformats.org/drawingml/2006/main" w="12700">
            <a:solidFill>
              <a:srgbClr val="C9A961"/>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0D0DC03C-40B8-4909-878A-A94DB9243E73}"/>
              </a:ext>
            </a:extLst>
          </p:cNvPr>
          <p:cNvSpPr>
            <a:spLocks xmlns:a="http://schemas.openxmlformats.org/drawingml/2006/main" noGrp="1"/>
          </p:cNvSpPr>
          <p:nvPr/>
        </p:nvSpPr>
        <p:spPr>
          <a:xfrm xmlns:a="http://schemas.openxmlformats.org/drawingml/2006/main">
            <a:off x="640080" y="1691640"/>
            <a:ext cx="22860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E2761"/>
                </a:solidFill>
                <a:latin typeface="Cambria"/>
                <a:ea typeface="Cambria"/>
                <a:cs typeface="Cambria"/>
              </a:rPr>
              <a:t>What LLMs actually are</a:t>
            </a:r>
            <a:endParaRPr sz="1500"/>
          </a:p>
        </p:txBody>
      </p:sp>
      <p:sp>
        <p:nvSpPr>
          <p:cNvPr id="9" name="Text 7">
            <a:extLst xmlns:a="http://schemas.openxmlformats.org/drawingml/2006/main">
              <a:ext uri="{FF2B5EF4-FFF2-40B4-BE49-F238E27FC236}">
                <a16:creationId xmlns:a16="http://schemas.microsoft.com/office/drawing/2014/main" id="{C33224C8-FD4D-4469-9213-191F7D806996}"/>
              </a:ext>
            </a:extLst>
          </p:cNvPr>
          <p:cNvSpPr>
            <a:spLocks xmlns:a="http://schemas.openxmlformats.org/drawingml/2006/main" noGrp="1"/>
          </p:cNvSpPr>
          <p:nvPr/>
        </p:nvSpPr>
        <p:spPr>
          <a:xfrm xmlns:a="http://schemas.openxmlformats.org/drawingml/2006/main">
            <a:off x="640080" y="2423160"/>
            <a:ext cx="2331720" cy="20574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1A1F3A"/>
                </a:solidFill>
                <a:latin typeface="Calibri"/>
                <a:ea typeface="Calibri"/>
                <a:cs typeface="Calibri"/>
              </a:rPr>
              <a:t>Large language models predict the next most likely word given context. They don't "know" things the way a database knows things, they pattern-match against training data. This is why they can sound authoritative while being wrong.</a:t>
            </a:r>
            <a:endParaRPr sz="1100"/>
          </a:p>
        </p:txBody>
      </p:sp>
      <p:sp>
        <p:nvSpPr>
          <p:cNvPr id="10" name="Shape 8">
            <a:extLst xmlns:a="http://schemas.openxmlformats.org/drawingml/2006/main">
              <a:ext uri="{FF2B5EF4-FFF2-40B4-BE49-F238E27FC236}">
                <a16:creationId xmlns:a16="http://schemas.microsoft.com/office/drawing/2014/main" id="{87FF9442-2230-432D-8B21-12194E723297}"/>
              </a:ext>
            </a:extLst>
          </p:cNvPr>
          <p:cNvSpPr>
            <a:spLocks xmlns:a="http://schemas.openxmlformats.org/drawingml/2006/main" noGrp="1"/>
          </p:cNvSpPr>
          <p:nvPr/>
        </p:nvSpPr>
        <p:spPr>
          <a:xfrm xmlns:a="http://schemas.openxmlformats.org/drawingml/2006/main">
            <a:off x="3383280" y="1463040"/>
            <a:ext cx="2606040" cy="3108960"/>
          </a:xfrm>
          <a:prstGeom xmlns:a="http://schemas.openxmlformats.org/drawingml/2006/main" prst="rect">
            <a:avLst/>
          </a:prstGeom>
          <a:solidFill xmlns:a="http://schemas.openxmlformats.org/drawingml/2006/main">
            <a:srgbClr val="F5F7FB"/>
          </a:solidFill>
          <a:ln xmlns:a="http://schemas.openxmlformats.org/drawingml/2006/main" w="6350">
            <a:solidFill>
              <a:srgbClr val="E5E7EB"/>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810D3BEC-17A9-4934-935E-C65B3EDC6A12}"/>
              </a:ext>
            </a:extLst>
          </p:cNvPr>
          <p:cNvSpPr>
            <a:spLocks xmlns:a="http://schemas.openxmlformats.org/drawingml/2006/main" noGrp="1"/>
          </p:cNvSpPr>
          <p:nvPr/>
        </p:nvSpPr>
        <p:spPr>
          <a:xfrm xmlns:a="http://schemas.openxmlformats.org/drawingml/2006/main">
            <a:off x="3383280" y="1463040"/>
            <a:ext cx="2606040" cy="73152"/>
          </a:xfrm>
          <a:prstGeom xmlns:a="http://schemas.openxmlformats.org/drawingml/2006/main" prst="rect">
            <a:avLst/>
          </a:prstGeom>
          <a:solidFill xmlns:a="http://schemas.openxmlformats.org/drawingml/2006/main">
            <a:srgbClr val="C9A961"/>
          </a:solidFill>
          <a:ln xmlns:a="http://schemas.openxmlformats.org/drawingml/2006/main" w="12700">
            <a:solidFill>
              <a:srgbClr val="C9A961"/>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4013189F-6B17-4A13-A46F-AE7A556A5D21}"/>
              </a:ext>
            </a:extLst>
          </p:cNvPr>
          <p:cNvSpPr>
            <a:spLocks xmlns:a="http://schemas.openxmlformats.org/drawingml/2006/main" noGrp="1"/>
          </p:cNvSpPr>
          <p:nvPr/>
        </p:nvSpPr>
        <p:spPr>
          <a:xfrm xmlns:a="http://schemas.openxmlformats.org/drawingml/2006/main">
            <a:off x="3566160" y="1691640"/>
            <a:ext cx="22860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E2761"/>
                </a:solidFill>
                <a:latin typeface="Cambria"/>
                <a:ea typeface="Cambria"/>
                <a:cs typeface="Cambria"/>
              </a:rPr>
              <a:t>The rule-based to agentic spectrum</a:t>
            </a:r>
            <a:endParaRPr sz="1500"/>
          </a:p>
        </p:txBody>
      </p:sp>
      <p:sp>
        <p:nvSpPr>
          <p:cNvPr id="13" name="Text 11">
            <a:extLst xmlns:a="http://schemas.openxmlformats.org/drawingml/2006/main">
              <a:ext uri="{FF2B5EF4-FFF2-40B4-BE49-F238E27FC236}">
                <a16:creationId xmlns:a16="http://schemas.microsoft.com/office/drawing/2014/main" id="{A1AA5552-FF7F-4873-9218-3BCBBA682671}"/>
              </a:ext>
            </a:extLst>
          </p:cNvPr>
          <p:cNvSpPr>
            <a:spLocks xmlns:a="http://schemas.openxmlformats.org/drawingml/2006/main" noGrp="1"/>
          </p:cNvSpPr>
          <p:nvPr/>
        </p:nvSpPr>
        <p:spPr>
          <a:xfrm xmlns:a="http://schemas.openxmlformats.org/drawingml/2006/main">
            <a:off x="3566160" y="2423160"/>
            <a:ext cx="2331720" cy="20574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1A1F3A"/>
                </a:solidFill>
                <a:latin typeface="Calibri"/>
                <a:ea typeface="Calibri"/>
                <a:cs typeface="Calibri"/>
              </a:rPr>
              <a:t>Rules → Assist / Augment → Agent. Use rules when they reliably answer the task. A person owns HR decisions. Multi-step model action must earn autonomy through evidence and governance.</a:t>
            </a:r>
            <a:endParaRPr sz="1100" b="1"/>
          </a:p>
        </p:txBody>
      </p:sp>
      <p:sp>
        <p:nvSpPr>
          <p:cNvPr id="14" name="Shape 12">
            <a:extLst xmlns:a="http://schemas.openxmlformats.org/drawingml/2006/main">
              <a:ext uri="{FF2B5EF4-FFF2-40B4-BE49-F238E27FC236}">
                <a16:creationId xmlns:a16="http://schemas.microsoft.com/office/drawing/2014/main" id="{61932F9A-C3F9-433C-8088-AF8C3DB8501B}"/>
              </a:ext>
            </a:extLst>
          </p:cNvPr>
          <p:cNvSpPr>
            <a:spLocks xmlns:a="http://schemas.openxmlformats.org/drawingml/2006/main" noGrp="1"/>
          </p:cNvSpPr>
          <p:nvPr/>
        </p:nvSpPr>
        <p:spPr>
          <a:xfrm xmlns:a="http://schemas.openxmlformats.org/drawingml/2006/main">
            <a:off x="6309360" y="1463040"/>
            <a:ext cx="2606040" cy="3108960"/>
          </a:xfrm>
          <a:prstGeom xmlns:a="http://schemas.openxmlformats.org/drawingml/2006/main" prst="rect">
            <a:avLst/>
          </a:prstGeom>
          <a:solidFill xmlns:a="http://schemas.openxmlformats.org/drawingml/2006/main">
            <a:srgbClr val="F5F7FB"/>
          </a:solidFill>
          <a:ln xmlns:a="http://schemas.openxmlformats.org/drawingml/2006/main" w="6350">
            <a:solidFill>
              <a:srgbClr val="E5E7EB"/>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Shape 13">
            <a:extLst xmlns:a="http://schemas.openxmlformats.org/drawingml/2006/main">
              <a:ext uri="{FF2B5EF4-FFF2-40B4-BE49-F238E27FC236}">
                <a16:creationId xmlns:a16="http://schemas.microsoft.com/office/drawing/2014/main" id="{0912C4FA-0DA9-4B4B-91FB-2B3495FB7EA5}"/>
              </a:ext>
            </a:extLst>
          </p:cNvPr>
          <p:cNvSpPr>
            <a:spLocks xmlns:a="http://schemas.openxmlformats.org/drawingml/2006/main" noGrp="1"/>
          </p:cNvSpPr>
          <p:nvPr/>
        </p:nvSpPr>
        <p:spPr>
          <a:xfrm xmlns:a="http://schemas.openxmlformats.org/drawingml/2006/main">
            <a:off x="6309360" y="1463040"/>
            <a:ext cx="2606040" cy="73152"/>
          </a:xfrm>
          <a:prstGeom xmlns:a="http://schemas.openxmlformats.org/drawingml/2006/main" prst="rect">
            <a:avLst/>
          </a:prstGeom>
          <a:solidFill xmlns:a="http://schemas.openxmlformats.org/drawingml/2006/main">
            <a:srgbClr val="C9A961"/>
          </a:solidFill>
          <a:ln xmlns:a="http://schemas.openxmlformats.org/drawingml/2006/main" w="12700">
            <a:solidFill>
              <a:srgbClr val="C9A961"/>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886ED1CB-7F86-41EF-AC3E-8F0C82B55DE7}"/>
              </a:ext>
            </a:extLst>
          </p:cNvPr>
          <p:cNvSpPr>
            <a:spLocks xmlns:a="http://schemas.openxmlformats.org/drawingml/2006/main" noGrp="1"/>
          </p:cNvSpPr>
          <p:nvPr/>
        </p:nvSpPr>
        <p:spPr>
          <a:xfrm xmlns:a="http://schemas.openxmlformats.org/drawingml/2006/main">
            <a:off x="6492240" y="1691640"/>
            <a:ext cx="22860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E2761"/>
                </a:solidFill>
                <a:latin typeface="Cambria"/>
                <a:ea typeface="Cambria"/>
                <a:cs typeface="Cambria"/>
              </a:rPr>
              <a:t>Prompts define task boundaries</a:t>
            </a:r>
            <a:endParaRPr sz="1500"/>
          </a:p>
        </p:txBody>
      </p:sp>
      <p:sp>
        <p:nvSpPr>
          <p:cNvPr id="17" name="Text 15">
            <a:extLst xmlns:a="http://schemas.openxmlformats.org/drawingml/2006/main">
              <a:ext uri="{FF2B5EF4-FFF2-40B4-BE49-F238E27FC236}">
                <a16:creationId xmlns:a16="http://schemas.microsoft.com/office/drawing/2014/main" id="{0122414E-E564-4CB7-909C-A557D8E7A799}"/>
              </a:ext>
            </a:extLst>
          </p:cNvPr>
          <p:cNvSpPr>
            <a:spLocks xmlns:a="http://schemas.openxmlformats.org/drawingml/2006/main" noGrp="1"/>
          </p:cNvSpPr>
          <p:nvPr/>
        </p:nvSpPr>
        <p:spPr>
          <a:xfrm xmlns:a="http://schemas.openxmlformats.org/drawingml/2006/main">
            <a:off x="6492240" y="2423160"/>
            <a:ext cx="2331720" cy="20574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1A1F3A"/>
                </a:solidFill>
                <a:latin typeface="Calibri"/>
                <a:ea typeface="Calibri"/>
                <a:cs typeface="Calibri"/>
              </a:rPr>
              <a:t>Clear prompts help, but output also depends on the model, sources, workflow controls and verification. A good prompt does not establish accuracy or safe HR judgment.</a:t>
            </a:r>
            <a:endParaRPr sz="1100"/>
          </a:p>
        </p:txBody>
      </p:sp>
      <p:sp>
        <p:nvSpPr>
          <p:cNvPr id="18" name="Text 16">
            <a:extLst xmlns:a="http://schemas.openxmlformats.org/drawingml/2006/main">
              <a:ext uri="{FF2B5EF4-FFF2-40B4-BE49-F238E27FC236}">
                <a16:creationId xmlns:a16="http://schemas.microsoft.com/office/drawing/2014/main" id="{3A8E0D4F-2F78-45F0-88B2-3DF2769E8E32}"/>
              </a:ext>
            </a:extLst>
          </p:cNvPr>
          <p:cNvSpPr>
            <a:spLocks xmlns:a="http://schemas.openxmlformats.org/drawingml/2006/main" noGrp="1"/>
          </p:cNvSpPr>
          <p:nvPr/>
        </p:nvSpPr>
        <p:spPr>
          <a:xfrm xmlns:a="http://schemas.openxmlformats.org/drawingml/2006/main">
            <a:off x="457200" y="4846320"/>
            <a:ext cx="45720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HR AI Literacy Curriculum</a:t>
            </a:r>
            <a:endParaRPr sz="900"/>
          </a:p>
        </p:txBody>
      </p:sp>
      <p:sp>
        <p:nvSpPr>
          <p:cNvPr id="19" name="Text 17">
            <a:extLst xmlns:a="http://schemas.openxmlformats.org/drawingml/2006/main">
              <a:ext uri="{FF2B5EF4-FFF2-40B4-BE49-F238E27FC236}">
                <a16:creationId xmlns:a16="http://schemas.microsoft.com/office/drawing/2014/main" id="{837403DB-EC9A-4915-9E06-315A5A08523D}"/>
              </a:ext>
            </a:extLst>
          </p:cNvPr>
          <p:cNvSpPr>
            <a:spLocks xmlns:a="http://schemas.openxmlformats.org/drawingml/2006/main" noGrp="1"/>
          </p:cNvSpPr>
          <p:nvPr/>
        </p:nvSpPr>
        <p:spPr>
          <a:xfrm xmlns:a="http://schemas.openxmlformats.org/drawingml/2006/main">
            <a:off x="8412480" y="4846320"/>
            <a:ext cx="4572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6B7280"/>
                </a:solidFill>
                <a:latin typeface="Calibri"/>
                <a:ea typeface="Calibri"/>
                <a:cs typeface="Calibri"/>
              </a:rPr>
              <a:t>7</a:t>
            </a:r>
            <a:endParaRPr sz="900"/>
          </a:p>
        </p:txBody>
      </p:sp>
    </p:spTree>
    <p:extLst>
      <p:ext uri="{BB962C8B-B14F-4D97-AF65-F5344CB8AC3E}">
        <p14:creationId xmlns:p14="http://schemas.microsoft.com/office/powerpoint/2010/main" val="1167018811"/>
      </p:ext>
    </p:extLst>
  </p:cSld>
</p:sld>
</file>

<file path=ppt/slides/slide8.xml><?xml version="1.0" encoding="utf-8"?>
<p:sld xmlns:p="http://schemas.openxmlformats.org/presentationml/2006/main">
  <p:cSld>
    <p:bg>
      <p:bgPr>
        <a:solidFill xmlns:a="http://schemas.openxmlformats.org/drawingml/2006/main">
          <a:srgbClr val="1E2761"/>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D91AC3D-3DE9-42C5-92B1-922D447B1B33}"/>
              </a:ext>
            </a:extLst>
          </p:cNvPr>
          <p:cNvSpPr>
            <a:spLocks xmlns:a="http://schemas.openxmlformats.org/drawingml/2006/main" noGrp="1"/>
          </p:cNvSpPr>
          <p:nvPr/>
        </p:nvSpPr>
        <p:spPr>
          <a:xfrm xmlns:a="http://schemas.openxmlformats.org/drawingml/2006/main">
            <a:off x="640080" y="960120"/>
            <a:ext cx="2743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600">
                <a:solidFill>
                  <a:srgbClr val="CADCFC"/>
                </a:solidFill>
                <a:latin typeface="Calibri"/>
                <a:ea typeface="Calibri"/>
                <a:cs typeface="Calibri"/>
              </a:rPr>
              <a:t>MODULE</a:t>
            </a:r>
            <a:endParaRPr sz="1100"/>
          </a:p>
        </p:txBody>
      </p:sp>
      <p:sp>
        <p:nvSpPr>
          <p:cNvPr id="3" name="Text 1">
            <a:extLst xmlns:a="http://schemas.openxmlformats.org/drawingml/2006/main">
              <a:ext uri="{FF2B5EF4-FFF2-40B4-BE49-F238E27FC236}">
                <a16:creationId xmlns:a16="http://schemas.microsoft.com/office/drawing/2014/main" id="{7033C464-F73D-4475-806E-DFDC37237798}"/>
              </a:ext>
            </a:extLst>
          </p:cNvPr>
          <p:cNvSpPr>
            <a:spLocks xmlns:a="http://schemas.openxmlformats.org/drawingml/2006/main" noGrp="1"/>
          </p:cNvSpPr>
          <p:nvPr/>
        </p:nvSpPr>
        <p:spPr>
          <a:xfrm xmlns:a="http://schemas.openxmlformats.org/drawingml/2006/main">
            <a:off x="457200" y="1463040"/>
            <a:ext cx="2286000" cy="18288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3000" b="1">
                <a:solidFill>
                  <a:srgbClr val="C9A961"/>
                </a:solidFill>
                <a:latin typeface="Cambria"/>
                <a:ea typeface="Cambria"/>
                <a:cs typeface="Cambria"/>
              </a:rPr>
              <a:t>02</a:t>
            </a:r>
            <a:endParaRPr sz="13000"/>
          </a:p>
        </p:txBody>
      </p:sp>
      <p:sp>
        <p:nvSpPr>
          <p:cNvPr id="4" name="Text 2">
            <a:extLst xmlns:a="http://schemas.openxmlformats.org/drawingml/2006/main">
              <a:ext uri="{FF2B5EF4-FFF2-40B4-BE49-F238E27FC236}">
                <a16:creationId xmlns:a16="http://schemas.microsoft.com/office/drawing/2014/main" id="{12EBD81B-342A-459B-AEED-057CD1E00CC4}"/>
              </a:ext>
            </a:extLst>
          </p:cNvPr>
          <p:cNvSpPr>
            <a:spLocks xmlns:a="http://schemas.openxmlformats.org/drawingml/2006/main" noGrp="1"/>
          </p:cNvSpPr>
          <p:nvPr/>
        </p:nvSpPr>
        <p:spPr>
          <a:xfrm xmlns:a="http://schemas.openxmlformats.org/drawingml/2006/main">
            <a:off x="3200400" y="1737360"/>
            <a:ext cx="548640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200" b="1">
                <a:solidFill>
                  <a:srgbClr val="FFFFFF"/>
                </a:solidFill>
                <a:latin typeface="Cambria"/>
                <a:ea typeface="Cambria"/>
                <a:cs typeface="Cambria"/>
              </a:rPr>
              <a:t>Using AI in your daily HR work</a:t>
            </a:r>
            <a:endParaRPr sz="3200"/>
          </a:p>
        </p:txBody>
      </p:sp>
      <p:sp>
        <p:nvSpPr>
          <p:cNvPr id="5" name="Text 3">
            <a:extLst xmlns:a="http://schemas.openxmlformats.org/drawingml/2006/main">
              <a:ext uri="{FF2B5EF4-FFF2-40B4-BE49-F238E27FC236}">
                <a16:creationId xmlns:a16="http://schemas.microsoft.com/office/drawing/2014/main" id="{5E55CB7D-DFE3-4AEB-9EB0-DEEEF3996765}"/>
              </a:ext>
            </a:extLst>
          </p:cNvPr>
          <p:cNvSpPr>
            <a:spLocks xmlns:a="http://schemas.openxmlformats.org/drawingml/2006/main" noGrp="1"/>
          </p:cNvSpPr>
          <p:nvPr/>
        </p:nvSpPr>
        <p:spPr>
          <a:xfrm xmlns:a="http://schemas.openxmlformats.org/drawingml/2006/main">
            <a:off x="3200400" y="2606040"/>
            <a:ext cx="54864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i="1">
                <a:solidFill>
                  <a:srgbClr val="CADCFC"/>
                </a:solidFill>
                <a:latin typeface="Calibri"/>
                <a:ea typeface="Calibri"/>
                <a:cs typeface="Calibri"/>
              </a:rPr>
              <a:t>Prompts, labs, and the verify-before-use discipline</a:t>
            </a:r>
            <a:endParaRPr sz="1600"/>
          </a:p>
        </p:txBody>
      </p:sp>
      <p:sp>
        <p:nvSpPr>
          <p:cNvPr id="6" name="Shape 4">
            <a:extLst xmlns:a="http://schemas.openxmlformats.org/drawingml/2006/main">
              <a:ext uri="{FF2B5EF4-FFF2-40B4-BE49-F238E27FC236}">
                <a16:creationId xmlns:a16="http://schemas.microsoft.com/office/drawing/2014/main" id="{C7865B0B-B24A-40ED-A8F2-029831B9CB3F}"/>
              </a:ext>
            </a:extLst>
          </p:cNvPr>
          <p:cNvSpPr>
            <a:spLocks xmlns:a="http://schemas.openxmlformats.org/drawingml/2006/main" noGrp="1"/>
          </p:cNvSpPr>
          <p:nvPr/>
        </p:nvSpPr>
        <p:spPr>
          <a:xfrm xmlns:a="http://schemas.openxmlformats.org/drawingml/2006/main">
            <a:off x="3200400" y="3429000"/>
            <a:ext cx="36576" cy="914400"/>
          </a:xfrm>
          <a:prstGeom xmlns:a="http://schemas.openxmlformats.org/drawingml/2006/main" prst="rect">
            <a:avLst/>
          </a:prstGeom>
          <a:solidFill xmlns:a="http://schemas.openxmlformats.org/drawingml/2006/main">
            <a:srgbClr val="C9A961"/>
          </a:solidFill>
          <a:ln xmlns:a="http://schemas.openxmlformats.org/drawingml/2006/main" w="12700">
            <a:solidFill>
              <a:srgbClr val="C9A961"/>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Text 5">
            <a:extLst xmlns:a="http://schemas.openxmlformats.org/drawingml/2006/main">
              <a:ext uri="{FF2B5EF4-FFF2-40B4-BE49-F238E27FC236}">
                <a16:creationId xmlns:a16="http://schemas.microsoft.com/office/drawing/2014/main" id="{B05AEDED-95A1-4C66-B3E4-5D346DAD2C91}"/>
              </a:ext>
            </a:extLst>
          </p:cNvPr>
          <p:cNvSpPr>
            <a:spLocks xmlns:a="http://schemas.openxmlformats.org/drawingml/2006/main" noGrp="1"/>
          </p:cNvSpPr>
          <p:nvPr/>
        </p:nvSpPr>
        <p:spPr>
          <a:xfrm xmlns:a="http://schemas.openxmlformats.org/drawingml/2006/main">
            <a:off x="3383280" y="3429000"/>
            <a:ext cx="45720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FFFFFF"/>
                </a:solidFill>
                <a:latin typeface="Calibri"/>
                <a:ea typeface="Calibri"/>
                <a:cs typeface="Calibri"/>
              </a:rPr>
              <a:t>2 hours</a:t>
            </a:r>
            <a:endParaRPr sz="1600"/>
          </a:p>
        </p:txBody>
      </p:sp>
      <p:sp>
        <p:nvSpPr>
          <p:cNvPr id="8" name="Text 6">
            <a:extLst xmlns:a="http://schemas.openxmlformats.org/drawingml/2006/main">
              <a:ext uri="{FF2B5EF4-FFF2-40B4-BE49-F238E27FC236}">
                <a16:creationId xmlns:a16="http://schemas.microsoft.com/office/drawing/2014/main" id="{A0680077-264B-4DA1-A1CD-3F89A6D073A1}"/>
              </a:ext>
            </a:extLst>
          </p:cNvPr>
          <p:cNvSpPr>
            <a:spLocks xmlns:a="http://schemas.openxmlformats.org/drawingml/2006/main" noGrp="1"/>
          </p:cNvSpPr>
          <p:nvPr/>
        </p:nvSpPr>
        <p:spPr>
          <a:xfrm xmlns:a="http://schemas.openxmlformats.org/drawingml/2006/main">
            <a:off x="3383280" y="3794760"/>
            <a:ext cx="4572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a:solidFill>
                  <a:srgbClr val="CADCFC"/>
                </a:solidFill>
                <a:latin typeface="Calibri"/>
                <a:ea typeface="Calibri"/>
                <a:cs typeface="Calibri"/>
              </a:rPr>
              <a:t>Workshop + hands-on lab</a:t>
            </a:r>
            <a:endParaRPr sz="1200"/>
          </a:p>
        </p:txBody>
      </p:sp>
      <p:sp>
        <p:nvSpPr>
          <p:cNvPr id="9" name="Text 7">
            <a:extLst xmlns:a="http://schemas.openxmlformats.org/drawingml/2006/main">
              <a:ext uri="{FF2B5EF4-FFF2-40B4-BE49-F238E27FC236}">
                <a16:creationId xmlns:a16="http://schemas.microsoft.com/office/drawing/2014/main" id="{7627E8FF-C701-4602-B0AD-B59CB8BB0C4D}"/>
              </a:ext>
            </a:extLst>
          </p:cNvPr>
          <p:cNvSpPr>
            <a:spLocks xmlns:a="http://schemas.openxmlformats.org/drawingml/2006/main" noGrp="1"/>
          </p:cNvSpPr>
          <p:nvPr/>
        </p:nvSpPr>
        <p:spPr>
          <a:xfrm xmlns:a="http://schemas.openxmlformats.org/drawingml/2006/main">
            <a:off x="3383280" y="4114800"/>
            <a:ext cx="530352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i="1">
                <a:solidFill>
                  <a:srgbClr val="CADCFC"/>
                </a:solidFill>
                <a:latin typeface="Calibri"/>
                <a:ea typeface="Calibri"/>
                <a:cs typeface="Calibri"/>
              </a:rPr>
              <a:t>Use approved tools and fictional HR scenarios. Run two library prompts, evaluate the outputs and iterate. Do not upload employee or confidential employer data.</a:t>
            </a:r>
            <a:endParaRPr sz="1100"/>
          </a:p>
        </p:txBody>
      </p:sp>
    </p:spTree>
    <p:extLst>
      <p:ext uri="{BB962C8B-B14F-4D97-AF65-F5344CB8AC3E}">
        <p14:creationId xmlns:p14="http://schemas.microsoft.com/office/powerpoint/2010/main" val="58549989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CF837FC-A3D3-47FB-9BE8-DA795E5876F0}"/>
              </a:ext>
            </a:extLst>
          </p:cNvPr>
          <p:cNvSpPr>
            <a:spLocks xmlns:a="http://schemas.openxmlformats.org/drawingml/2006/main" noGrp="1"/>
          </p:cNvSpPr>
          <p:nvPr/>
        </p:nvSpPr>
        <p:spPr>
          <a:xfrm xmlns:a="http://schemas.openxmlformats.org/drawingml/2006/main">
            <a:off x="0" y="0"/>
            <a:ext cx="9144000" cy="411480"/>
          </a:xfrm>
          <a:prstGeom xmlns:a="http://schemas.openxmlformats.org/drawingml/2006/main" prst="rect">
            <a:avLst/>
          </a:prstGeom>
          <a:solidFill xmlns:a="http://schemas.openxmlformats.org/drawingml/2006/main">
            <a:srgbClr val="1E2761"/>
          </a:solidFill>
          <a:ln xmlns:a="http://schemas.openxmlformats.org/drawingml/2006/main" w="12700">
            <a:solidFill>
              <a:srgbClr val="1E2761"/>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503E9F80-C025-4E49-A9BF-EF763C164AD2}"/>
              </a:ext>
            </a:extLst>
          </p:cNvPr>
          <p:cNvSpPr>
            <a:spLocks xmlns:a="http://schemas.openxmlformats.org/drawingml/2006/main" noGrp="1"/>
          </p:cNvSpPr>
          <p:nvPr/>
        </p:nvSpPr>
        <p:spPr>
          <a:xfrm xmlns:a="http://schemas.openxmlformats.org/drawingml/2006/main">
            <a:off x="457200" y="73152"/>
            <a:ext cx="2743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spc="400">
                <a:solidFill>
                  <a:srgbClr val="C9A961"/>
                </a:solidFill>
                <a:latin typeface="Calibri"/>
                <a:ea typeface="Calibri"/>
                <a:cs typeface="Calibri"/>
              </a:rPr>
              <a:t>MODULE 02</a:t>
            </a:r>
            <a:endParaRPr sz="1000"/>
          </a:p>
        </p:txBody>
      </p:sp>
      <p:sp>
        <p:nvSpPr>
          <p:cNvPr id="4" name="Text 2">
            <a:extLst xmlns:a="http://schemas.openxmlformats.org/drawingml/2006/main">
              <a:ext uri="{FF2B5EF4-FFF2-40B4-BE49-F238E27FC236}">
                <a16:creationId xmlns:a16="http://schemas.microsoft.com/office/drawing/2014/main" id="{F6637A0C-5035-46B6-BD70-7EC3CA68A176}"/>
              </a:ext>
            </a:extLst>
          </p:cNvPr>
          <p:cNvSpPr>
            <a:spLocks xmlns:a="http://schemas.openxmlformats.org/drawingml/2006/main" noGrp="1"/>
          </p:cNvSpPr>
          <p:nvPr/>
        </p:nvSpPr>
        <p:spPr>
          <a:xfrm xmlns:a="http://schemas.openxmlformats.org/drawingml/2006/main">
            <a:off x="3200400" y="73152"/>
            <a:ext cx="54864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000">
                <a:solidFill>
                  <a:srgbClr val="CADCFC"/>
                </a:solidFill>
                <a:latin typeface="Calibri"/>
                <a:ea typeface="Calibri"/>
                <a:cs typeface="Calibri"/>
              </a:rPr>
              <a:t>Using AI in your daily HR work</a:t>
            </a:r>
            <a:endParaRPr sz="1000"/>
          </a:p>
        </p:txBody>
      </p:sp>
      <p:sp>
        <p:nvSpPr>
          <p:cNvPr id="5" name="Text 3">
            <a:extLst xmlns:a="http://schemas.openxmlformats.org/drawingml/2006/main">
              <a:ext uri="{FF2B5EF4-FFF2-40B4-BE49-F238E27FC236}">
                <a16:creationId xmlns:a16="http://schemas.microsoft.com/office/drawing/2014/main" id="{338888F6-231F-4C30-9E4B-80AF0424FA03}"/>
              </a:ext>
            </a:extLst>
          </p:cNvPr>
          <p:cNvSpPr>
            <a:spLocks xmlns:a="http://schemas.openxmlformats.org/drawingml/2006/main" noGrp="1"/>
          </p:cNvSpPr>
          <p:nvPr/>
        </p:nvSpPr>
        <p:spPr>
          <a:xfrm xmlns:a="http://schemas.openxmlformats.org/drawingml/2006/main">
            <a:off x="457200" y="685800"/>
            <a:ext cx="822960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800" b="1">
                <a:solidFill>
                  <a:srgbClr val="1E2761"/>
                </a:solidFill>
                <a:latin typeface="Cambria"/>
                <a:ea typeface="Cambria"/>
                <a:cs typeface="Cambria"/>
              </a:rPr>
              <a:t>Learning objectives</a:t>
            </a:r>
            <a:endParaRPr sz="2800"/>
          </a:p>
        </p:txBody>
      </p:sp>
      <p:sp>
        <p:nvSpPr>
          <p:cNvPr id="6" name="Text 4">
            <a:extLst xmlns:a="http://schemas.openxmlformats.org/drawingml/2006/main">
              <a:ext uri="{FF2B5EF4-FFF2-40B4-BE49-F238E27FC236}">
                <a16:creationId xmlns:a16="http://schemas.microsoft.com/office/drawing/2014/main" id="{F1188130-3B5E-40AE-8FD7-9F83000391D2}"/>
              </a:ext>
            </a:extLst>
          </p:cNvPr>
          <p:cNvSpPr>
            <a:spLocks xmlns:a="http://schemas.openxmlformats.org/drawingml/2006/main" noGrp="1"/>
          </p:cNvSpPr>
          <p:nvPr/>
        </p:nvSpPr>
        <p:spPr>
          <a:xfrm xmlns:a="http://schemas.openxmlformats.org/drawingml/2006/main">
            <a:off x="457200" y="1234440"/>
            <a:ext cx="82296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i="1">
                <a:solidFill>
                  <a:srgbClr val="6B7280"/>
                </a:solidFill>
                <a:latin typeface="Calibri"/>
                <a:ea typeface="Calibri"/>
                <a:cs typeface="Calibri"/>
              </a:rPr>
              <a:t>After this session, participants will be able to:</a:t>
            </a:r>
            <a:endParaRPr sz="1300"/>
          </a:p>
        </p:txBody>
      </p:sp>
      <p:sp>
        <p:nvSpPr>
          <p:cNvPr id="7" name="Shape 5">
            <a:extLst xmlns:a="http://schemas.openxmlformats.org/drawingml/2006/main">
              <a:ext uri="{FF2B5EF4-FFF2-40B4-BE49-F238E27FC236}">
                <a16:creationId xmlns:a16="http://schemas.microsoft.com/office/drawing/2014/main" id="{1DA9292C-CACE-46AB-B2A0-1D3B37131C84}"/>
              </a:ext>
            </a:extLst>
          </p:cNvPr>
          <p:cNvSpPr>
            <a:spLocks xmlns:a="http://schemas.openxmlformats.org/drawingml/2006/main" noGrp="1"/>
          </p:cNvSpPr>
          <p:nvPr/>
        </p:nvSpPr>
        <p:spPr>
          <a:xfrm xmlns:a="http://schemas.openxmlformats.org/drawingml/2006/main">
            <a:off x="457200" y="1965960"/>
            <a:ext cx="548640" cy="548640"/>
          </a:xfrm>
          <a:prstGeom xmlns:a="http://schemas.openxmlformats.org/drawingml/2006/main" prst="ellipse">
            <a:avLst/>
          </a:prstGeom>
          <a:solidFill xmlns:a="http://schemas.openxmlformats.org/drawingml/2006/main">
            <a:srgbClr val="1E2761"/>
          </a:solidFill>
          <a:ln xmlns:a="http://schemas.openxmlformats.org/drawingml/2006/main" w="12700">
            <a:solidFill>
              <a:srgbClr val="1E2761"/>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DF0B6CD9-053E-4DBE-9080-BAF3DB2BA68A}"/>
              </a:ext>
            </a:extLst>
          </p:cNvPr>
          <p:cNvSpPr>
            <a:spLocks xmlns:a="http://schemas.openxmlformats.org/drawingml/2006/main" noGrp="1"/>
          </p:cNvSpPr>
          <p:nvPr/>
        </p:nvSpPr>
        <p:spPr>
          <a:xfrm xmlns:a="http://schemas.openxmlformats.org/drawingml/2006/main">
            <a:off x="457200" y="1993392"/>
            <a:ext cx="5486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C9A961"/>
                </a:solidFill>
                <a:latin typeface="Cambria"/>
                <a:ea typeface="Cambria"/>
                <a:cs typeface="Cambria"/>
              </a:rPr>
              <a:t>1</a:t>
            </a:r>
            <a:endParaRPr sz="2200"/>
          </a:p>
        </p:txBody>
      </p:sp>
      <p:sp>
        <p:nvSpPr>
          <p:cNvPr id="9" name="Text 7">
            <a:extLst xmlns:a="http://schemas.openxmlformats.org/drawingml/2006/main">
              <a:ext uri="{FF2B5EF4-FFF2-40B4-BE49-F238E27FC236}">
                <a16:creationId xmlns:a16="http://schemas.microsoft.com/office/drawing/2014/main" id="{807B1D24-CB61-49EA-A24C-4FCC8A911445}"/>
              </a:ext>
            </a:extLst>
          </p:cNvPr>
          <p:cNvSpPr>
            <a:spLocks xmlns:a="http://schemas.openxmlformats.org/drawingml/2006/main" noGrp="1"/>
          </p:cNvSpPr>
          <p:nvPr/>
        </p:nvSpPr>
        <p:spPr>
          <a:xfrm xmlns:a="http://schemas.openxmlformats.org/drawingml/2006/main">
            <a:off x="1280160" y="2057400"/>
            <a:ext cx="731520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00">
                <a:solidFill>
                  <a:srgbClr val="1A1F3A"/>
                </a:solidFill>
                <a:latin typeface="Calibri"/>
                <a:ea typeface="Calibri"/>
                <a:cs typeface="Calibri"/>
              </a:rPr>
              <a:t>Write effective prompts for HR use cases using the four-elements framework.</a:t>
            </a:r>
            <a:endParaRPr sz="1500"/>
          </a:p>
        </p:txBody>
      </p:sp>
      <p:sp>
        <p:nvSpPr>
          <p:cNvPr id="10" name="Shape 8">
            <a:extLst xmlns:a="http://schemas.openxmlformats.org/drawingml/2006/main">
              <a:ext uri="{FF2B5EF4-FFF2-40B4-BE49-F238E27FC236}">
                <a16:creationId xmlns:a16="http://schemas.microsoft.com/office/drawing/2014/main" id="{CAEA99B5-7AA7-4D4C-9E58-13E5A9B57C6C}"/>
              </a:ext>
            </a:extLst>
          </p:cNvPr>
          <p:cNvSpPr>
            <a:spLocks xmlns:a="http://schemas.openxmlformats.org/drawingml/2006/main" noGrp="1"/>
          </p:cNvSpPr>
          <p:nvPr/>
        </p:nvSpPr>
        <p:spPr>
          <a:xfrm xmlns:a="http://schemas.openxmlformats.org/drawingml/2006/main">
            <a:off x="457200" y="2971800"/>
            <a:ext cx="548640" cy="548640"/>
          </a:xfrm>
          <a:prstGeom xmlns:a="http://schemas.openxmlformats.org/drawingml/2006/main" prst="ellipse">
            <a:avLst/>
          </a:prstGeom>
          <a:solidFill xmlns:a="http://schemas.openxmlformats.org/drawingml/2006/main">
            <a:srgbClr val="1E2761"/>
          </a:solidFill>
          <a:ln xmlns:a="http://schemas.openxmlformats.org/drawingml/2006/main" w="12700">
            <a:solidFill>
              <a:srgbClr val="1E2761"/>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2765ADF2-8246-4DCF-B68D-580C483BE2A9}"/>
              </a:ext>
            </a:extLst>
          </p:cNvPr>
          <p:cNvSpPr>
            <a:spLocks xmlns:a="http://schemas.openxmlformats.org/drawingml/2006/main" noGrp="1"/>
          </p:cNvSpPr>
          <p:nvPr/>
        </p:nvSpPr>
        <p:spPr>
          <a:xfrm xmlns:a="http://schemas.openxmlformats.org/drawingml/2006/main">
            <a:off x="457200" y="2999232"/>
            <a:ext cx="5486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C9A961"/>
                </a:solidFill>
                <a:latin typeface="Cambria"/>
                <a:ea typeface="Cambria"/>
                <a:cs typeface="Cambria"/>
              </a:rPr>
              <a:t>2</a:t>
            </a:r>
            <a:endParaRPr sz="2200"/>
          </a:p>
        </p:txBody>
      </p:sp>
      <p:sp>
        <p:nvSpPr>
          <p:cNvPr id="12" name="Text 10">
            <a:extLst xmlns:a="http://schemas.openxmlformats.org/drawingml/2006/main">
              <a:ext uri="{FF2B5EF4-FFF2-40B4-BE49-F238E27FC236}">
                <a16:creationId xmlns:a16="http://schemas.microsoft.com/office/drawing/2014/main" id="{5A5ECFE2-C466-4950-BBC5-5D4300223206}"/>
              </a:ext>
            </a:extLst>
          </p:cNvPr>
          <p:cNvSpPr>
            <a:spLocks xmlns:a="http://schemas.openxmlformats.org/drawingml/2006/main" noGrp="1"/>
          </p:cNvSpPr>
          <p:nvPr/>
        </p:nvSpPr>
        <p:spPr>
          <a:xfrm xmlns:a="http://schemas.openxmlformats.org/drawingml/2006/main">
            <a:off x="1280160" y="3063240"/>
            <a:ext cx="731520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00">
                <a:solidFill>
                  <a:srgbClr val="1A1F3A"/>
                </a:solidFill>
                <a:latin typeface="Calibri"/>
                <a:ea typeface="Calibri"/>
                <a:cs typeface="Calibri"/>
              </a:rPr>
              <a:t>Use the prompt library for at least three HR workflows.</a:t>
            </a:r>
            <a:endParaRPr sz="1500"/>
          </a:p>
        </p:txBody>
      </p:sp>
      <p:sp>
        <p:nvSpPr>
          <p:cNvPr id="13" name="Shape 11">
            <a:extLst xmlns:a="http://schemas.openxmlformats.org/drawingml/2006/main">
              <a:ext uri="{FF2B5EF4-FFF2-40B4-BE49-F238E27FC236}">
                <a16:creationId xmlns:a16="http://schemas.microsoft.com/office/drawing/2014/main" id="{1CE2F8A7-D532-40EE-B53B-15D701109952}"/>
              </a:ext>
            </a:extLst>
          </p:cNvPr>
          <p:cNvSpPr>
            <a:spLocks xmlns:a="http://schemas.openxmlformats.org/drawingml/2006/main" noGrp="1"/>
          </p:cNvSpPr>
          <p:nvPr/>
        </p:nvSpPr>
        <p:spPr>
          <a:xfrm xmlns:a="http://schemas.openxmlformats.org/drawingml/2006/main">
            <a:off x="457200" y="3977640"/>
            <a:ext cx="548640" cy="548640"/>
          </a:xfrm>
          <a:prstGeom xmlns:a="http://schemas.openxmlformats.org/drawingml/2006/main" prst="ellipse">
            <a:avLst/>
          </a:prstGeom>
          <a:solidFill xmlns:a="http://schemas.openxmlformats.org/drawingml/2006/main">
            <a:srgbClr val="1E2761"/>
          </a:solidFill>
          <a:ln xmlns:a="http://schemas.openxmlformats.org/drawingml/2006/main" w="12700">
            <a:solidFill>
              <a:srgbClr val="1E2761"/>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C98F7B88-2A09-4CC7-AE16-B00D992DE929}"/>
              </a:ext>
            </a:extLst>
          </p:cNvPr>
          <p:cNvSpPr>
            <a:spLocks xmlns:a="http://schemas.openxmlformats.org/drawingml/2006/main" noGrp="1"/>
          </p:cNvSpPr>
          <p:nvPr/>
        </p:nvSpPr>
        <p:spPr>
          <a:xfrm xmlns:a="http://schemas.openxmlformats.org/drawingml/2006/main">
            <a:off x="457200" y="4005072"/>
            <a:ext cx="5486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C9A961"/>
                </a:solidFill>
                <a:latin typeface="Cambria"/>
                <a:ea typeface="Cambria"/>
                <a:cs typeface="Cambria"/>
              </a:rPr>
              <a:t>3</a:t>
            </a:r>
            <a:endParaRPr sz="2200"/>
          </a:p>
        </p:txBody>
      </p:sp>
      <p:sp>
        <p:nvSpPr>
          <p:cNvPr id="15" name="Text 13">
            <a:extLst xmlns:a="http://schemas.openxmlformats.org/drawingml/2006/main">
              <a:ext uri="{FF2B5EF4-FFF2-40B4-BE49-F238E27FC236}">
                <a16:creationId xmlns:a16="http://schemas.microsoft.com/office/drawing/2014/main" id="{909B2A57-5C80-4EF9-AE53-AC2BB0BA15BA}"/>
              </a:ext>
            </a:extLst>
          </p:cNvPr>
          <p:cNvSpPr>
            <a:spLocks xmlns:a="http://schemas.openxmlformats.org/drawingml/2006/main" noGrp="1"/>
          </p:cNvSpPr>
          <p:nvPr/>
        </p:nvSpPr>
        <p:spPr>
          <a:xfrm xmlns:a="http://schemas.openxmlformats.org/drawingml/2006/main">
            <a:off x="1280160" y="4069080"/>
            <a:ext cx="731520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00">
                <a:solidFill>
                  <a:srgbClr val="1A1F3A"/>
                </a:solidFill>
                <a:latin typeface="Calibri"/>
                <a:ea typeface="Calibri"/>
                <a:cs typeface="Calibri"/>
              </a:rPr>
              <a:t>Identify when to use AI, when to verify AI output, and when not to use it.</a:t>
            </a:r>
            <a:endParaRPr sz="1500"/>
          </a:p>
        </p:txBody>
      </p:sp>
      <p:sp>
        <p:nvSpPr>
          <p:cNvPr id="16" name="Text 14">
            <a:extLst xmlns:a="http://schemas.openxmlformats.org/drawingml/2006/main">
              <a:ext uri="{FF2B5EF4-FFF2-40B4-BE49-F238E27FC236}">
                <a16:creationId xmlns:a16="http://schemas.microsoft.com/office/drawing/2014/main" id="{4CA4FD9C-62DB-4381-A0D1-AED8B5496121}"/>
              </a:ext>
            </a:extLst>
          </p:cNvPr>
          <p:cNvSpPr>
            <a:spLocks xmlns:a="http://schemas.openxmlformats.org/drawingml/2006/main" noGrp="1"/>
          </p:cNvSpPr>
          <p:nvPr/>
        </p:nvSpPr>
        <p:spPr>
          <a:xfrm xmlns:a="http://schemas.openxmlformats.org/drawingml/2006/main">
            <a:off x="457200" y="4846320"/>
            <a:ext cx="45720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HR AI Literacy Curriculum</a:t>
            </a:r>
            <a:endParaRPr sz="900"/>
          </a:p>
        </p:txBody>
      </p:sp>
      <p:sp>
        <p:nvSpPr>
          <p:cNvPr id="17" name="Text 15">
            <a:extLst xmlns:a="http://schemas.openxmlformats.org/drawingml/2006/main">
              <a:ext uri="{FF2B5EF4-FFF2-40B4-BE49-F238E27FC236}">
                <a16:creationId xmlns:a16="http://schemas.microsoft.com/office/drawing/2014/main" id="{E5085E87-EE5F-4991-B130-1B3DD12D4B8C}"/>
              </a:ext>
            </a:extLst>
          </p:cNvPr>
          <p:cNvSpPr>
            <a:spLocks xmlns:a="http://schemas.openxmlformats.org/drawingml/2006/main" noGrp="1"/>
          </p:cNvSpPr>
          <p:nvPr/>
        </p:nvSpPr>
        <p:spPr>
          <a:xfrm xmlns:a="http://schemas.openxmlformats.org/drawingml/2006/main">
            <a:off x="8412480" y="4846320"/>
            <a:ext cx="4572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6B7280"/>
                </a:solidFill>
                <a:latin typeface="Calibri"/>
                <a:ea typeface="Calibri"/>
                <a:cs typeface="Calibri"/>
              </a:rPr>
              <a:t>9</a:t>
            </a:r>
            <a:endParaRPr sz="900"/>
          </a:p>
        </p:txBody>
      </p:sp>
    </p:spTree>
    <p:extLst>
      <p:ext uri="{BB962C8B-B14F-4D97-AF65-F5344CB8AC3E}">
        <p14:creationId xmlns:p14="http://schemas.microsoft.com/office/powerpoint/2010/main" val="115650106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08EA6C6-EB6C-4DE3-853D-568469EFE707}"/>
              </a:ext>
            </a:extLst>
          </p:cNvPr>
          <p:cNvSpPr>
            <a:spLocks xmlns:a="http://schemas.openxmlformats.org/drawingml/2006/main" noGrp="1"/>
          </p:cNvSpPr>
          <p:nvPr/>
        </p:nvSpPr>
        <p:spPr>
          <a:xfrm xmlns:a="http://schemas.openxmlformats.org/drawingml/2006/main">
            <a:off x="0" y="0"/>
            <a:ext cx="9144000" cy="411480"/>
          </a:xfrm>
          <a:prstGeom xmlns:a="http://schemas.openxmlformats.org/drawingml/2006/main" prst="rect">
            <a:avLst/>
          </a:prstGeom>
          <a:solidFill xmlns:a="http://schemas.openxmlformats.org/drawingml/2006/main">
            <a:srgbClr val="1E2761"/>
          </a:solidFill>
          <a:ln xmlns:a="http://schemas.openxmlformats.org/drawingml/2006/main" w="12700">
            <a:solidFill>
              <a:srgbClr val="1E2761"/>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82780497-5270-4559-BFD5-BF8C90B89BB5}"/>
              </a:ext>
            </a:extLst>
          </p:cNvPr>
          <p:cNvSpPr>
            <a:spLocks xmlns:a="http://schemas.openxmlformats.org/drawingml/2006/main" noGrp="1"/>
          </p:cNvSpPr>
          <p:nvPr/>
        </p:nvSpPr>
        <p:spPr>
          <a:xfrm xmlns:a="http://schemas.openxmlformats.org/drawingml/2006/main">
            <a:off x="457200" y="73152"/>
            <a:ext cx="2743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spc="400">
                <a:solidFill>
                  <a:srgbClr val="C9A961"/>
                </a:solidFill>
                <a:latin typeface="Calibri"/>
                <a:ea typeface="Calibri"/>
                <a:cs typeface="Calibri"/>
              </a:rPr>
              <a:t>MODULE 02</a:t>
            </a:r>
            <a:endParaRPr sz="1000"/>
          </a:p>
        </p:txBody>
      </p:sp>
      <p:sp>
        <p:nvSpPr>
          <p:cNvPr id="4" name="Text 2">
            <a:extLst xmlns:a="http://schemas.openxmlformats.org/drawingml/2006/main">
              <a:ext uri="{FF2B5EF4-FFF2-40B4-BE49-F238E27FC236}">
                <a16:creationId xmlns:a16="http://schemas.microsoft.com/office/drawing/2014/main" id="{3F62CF0D-9587-4D60-AA5C-1150B05E189D}"/>
              </a:ext>
            </a:extLst>
          </p:cNvPr>
          <p:cNvSpPr>
            <a:spLocks xmlns:a="http://schemas.openxmlformats.org/drawingml/2006/main" noGrp="1"/>
          </p:cNvSpPr>
          <p:nvPr/>
        </p:nvSpPr>
        <p:spPr>
          <a:xfrm xmlns:a="http://schemas.openxmlformats.org/drawingml/2006/main">
            <a:off x="3200400" y="73152"/>
            <a:ext cx="54864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000">
                <a:solidFill>
                  <a:srgbClr val="CADCFC"/>
                </a:solidFill>
                <a:latin typeface="Calibri"/>
                <a:ea typeface="Calibri"/>
                <a:cs typeface="Calibri"/>
              </a:rPr>
              <a:t>Using AI in your daily HR work</a:t>
            </a:r>
            <a:endParaRPr sz="1000"/>
          </a:p>
        </p:txBody>
      </p:sp>
      <p:sp>
        <p:nvSpPr>
          <p:cNvPr id="5" name="Text 3">
            <a:extLst xmlns:a="http://schemas.openxmlformats.org/drawingml/2006/main">
              <a:ext uri="{FF2B5EF4-FFF2-40B4-BE49-F238E27FC236}">
                <a16:creationId xmlns:a16="http://schemas.microsoft.com/office/drawing/2014/main" id="{53A31F06-8BAA-4BF9-BF9D-0C18CB5B99E2}"/>
              </a:ext>
            </a:extLst>
          </p:cNvPr>
          <p:cNvSpPr>
            <a:spLocks xmlns:a="http://schemas.openxmlformats.org/drawingml/2006/main" noGrp="1"/>
          </p:cNvSpPr>
          <p:nvPr/>
        </p:nvSpPr>
        <p:spPr>
          <a:xfrm xmlns:a="http://schemas.openxmlformats.org/drawingml/2006/main">
            <a:off x="457200" y="685800"/>
            <a:ext cx="548640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800" b="1">
                <a:solidFill>
                  <a:srgbClr val="1E2761"/>
                </a:solidFill>
                <a:latin typeface="Cambria"/>
                <a:ea typeface="Cambria"/>
                <a:cs typeface="Cambria"/>
              </a:rPr>
              <a:t>Session outline</a:t>
            </a:r>
            <a:endParaRPr sz="2800"/>
          </a:p>
        </p:txBody>
      </p:sp>
      <p:sp>
        <p:nvSpPr>
          <p:cNvPr id="6" name="Text 4">
            <a:extLst xmlns:a="http://schemas.openxmlformats.org/drawingml/2006/main">
              <a:ext uri="{FF2B5EF4-FFF2-40B4-BE49-F238E27FC236}">
                <a16:creationId xmlns:a16="http://schemas.microsoft.com/office/drawing/2014/main" id="{8D43F33E-10D7-4F6C-9CE8-3AAE943161EC}"/>
              </a:ext>
            </a:extLst>
          </p:cNvPr>
          <p:cNvSpPr>
            <a:spLocks xmlns:a="http://schemas.openxmlformats.org/drawingml/2006/main" noGrp="1"/>
          </p:cNvSpPr>
          <p:nvPr/>
        </p:nvSpPr>
        <p:spPr>
          <a:xfrm xmlns:a="http://schemas.openxmlformats.org/drawingml/2006/main">
            <a:off x="5943600" y="777240"/>
            <a:ext cx="2743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400" b="1">
                <a:solidFill>
                  <a:srgbClr val="C9A961"/>
                </a:solidFill>
                <a:latin typeface="Calibri"/>
                <a:ea typeface="Calibri"/>
                <a:cs typeface="Calibri"/>
              </a:rPr>
              <a:t>2 hours including lab</a:t>
            </a:r>
            <a:endParaRPr sz="1400"/>
          </a:p>
        </p:txBody>
      </p:sp>
      <p:sp>
        <p:nvSpPr>
          <p:cNvPr id="7" name="Shape 5">
            <a:extLst xmlns:a="http://schemas.openxmlformats.org/drawingml/2006/main">
              <a:ext uri="{FF2B5EF4-FFF2-40B4-BE49-F238E27FC236}">
                <a16:creationId xmlns:a16="http://schemas.microsoft.com/office/drawing/2014/main" id="{EB0E9523-965B-4A8B-AC9D-43D96708AA9B}"/>
              </a:ext>
            </a:extLst>
          </p:cNvPr>
          <p:cNvSpPr>
            <a:spLocks xmlns:a="http://schemas.openxmlformats.org/drawingml/2006/main" noGrp="1"/>
          </p:cNvSpPr>
          <p:nvPr/>
        </p:nvSpPr>
        <p:spPr>
          <a:xfrm xmlns:a="http://schemas.openxmlformats.org/drawingml/2006/main">
            <a:off x="457200" y="1417320"/>
            <a:ext cx="8229600" cy="594360"/>
          </a:xfrm>
          <a:prstGeom xmlns:a="http://schemas.openxmlformats.org/drawingml/2006/main" prst="rect">
            <a:avLst/>
          </a:prstGeom>
          <a:solidFill xmlns:a="http://schemas.openxmlformats.org/drawingml/2006/main">
            <a:srgbClr val="F5F7FB"/>
          </a:solidFill>
          <a:ln xmlns:a="http://schemas.openxmlformats.org/drawingml/2006/main" w="6350">
            <a:solidFill>
              <a:srgbClr val="E5E7EB"/>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F6E74B35-162F-462C-85D7-2031F70C1D5E}"/>
              </a:ext>
            </a:extLst>
          </p:cNvPr>
          <p:cNvSpPr>
            <a:spLocks xmlns:a="http://schemas.openxmlformats.org/drawingml/2006/main" noGrp="1"/>
          </p:cNvSpPr>
          <p:nvPr/>
        </p:nvSpPr>
        <p:spPr>
          <a:xfrm xmlns:a="http://schemas.openxmlformats.org/drawingml/2006/main">
            <a:off x="548640" y="1581912"/>
            <a:ext cx="12801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E2761"/>
                </a:solidFill>
                <a:latin typeface="Calibri"/>
                <a:ea typeface="Calibri"/>
                <a:cs typeface="Calibri"/>
              </a:rPr>
              <a:t>0:00–0:15</a:t>
            </a:r>
            <a:endParaRPr sz="1100"/>
          </a:p>
        </p:txBody>
      </p:sp>
      <p:sp>
        <p:nvSpPr>
          <p:cNvPr id="9" name="Text 7">
            <a:extLst xmlns:a="http://schemas.openxmlformats.org/drawingml/2006/main">
              <a:ext uri="{FF2B5EF4-FFF2-40B4-BE49-F238E27FC236}">
                <a16:creationId xmlns:a16="http://schemas.microsoft.com/office/drawing/2014/main" id="{FA0C706C-CF1A-46DC-96EB-4F411E30063B}"/>
              </a:ext>
            </a:extLst>
          </p:cNvPr>
          <p:cNvSpPr>
            <a:spLocks xmlns:a="http://schemas.openxmlformats.org/drawingml/2006/main" noGrp="1"/>
          </p:cNvSpPr>
          <p:nvPr/>
        </p:nvSpPr>
        <p:spPr>
          <a:xfrm xmlns:a="http://schemas.openxmlformats.org/drawingml/2006/main">
            <a:off x="1828800" y="1581912"/>
            <a:ext cx="13716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200">
                <a:solidFill>
                  <a:srgbClr val="C9A961"/>
                </a:solidFill>
                <a:latin typeface="Calibri"/>
                <a:ea typeface="Calibri"/>
                <a:cs typeface="Calibri"/>
              </a:rPr>
              <a:t>Share-back</a:t>
            </a:r>
            <a:endParaRPr sz="1000"/>
          </a:p>
        </p:txBody>
      </p:sp>
      <p:sp>
        <p:nvSpPr>
          <p:cNvPr id="10" name="Text 8">
            <a:extLst xmlns:a="http://schemas.openxmlformats.org/drawingml/2006/main">
              <a:ext uri="{FF2B5EF4-FFF2-40B4-BE49-F238E27FC236}">
                <a16:creationId xmlns:a16="http://schemas.microsoft.com/office/drawing/2014/main" id="{5009D36E-C7B9-4BE1-81C3-BFA717CB931E}"/>
              </a:ext>
            </a:extLst>
          </p:cNvPr>
          <p:cNvSpPr>
            <a:spLocks xmlns:a="http://schemas.openxmlformats.org/drawingml/2006/main" noGrp="1"/>
          </p:cNvSpPr>
          <p:nvPr/>
        </p:nvSpPr>
        <p:spPr>
          <a:xfrm xmlns:a="http://schemas.openxmlformats.org/drawingml/2006/main">
            <a:off x="3291840" y="1581912"/>
            <a:ext cx="53035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1A1F3A"/>
                </a:solidFill>
                <a:latin typeface="Calibri"/>
                <a:ea typeface="Calibri"/>
                <a:cs typeface="Calibri"/>
              </a:rPr>
              <a:t>What did you try from Module 1 homework? What happened?</a:t>
            </a:r>
            <a:endParaRPr sz="1100"/>
          </a:p>
        </p:txBody>
      </p:sp>
      <p:sp>
        <p:nvSpPr>
          <p:cNvPr id="11" name="Shape 9">
            <a:extLst xmlns:a="http://schemas.openxmlformats.org/drawingml/2006/main">
              <a:ext uri="{FF2B5EF4-FFF2-40B4-BE49-F238E27FC236}">
                <a16:creationId xmlns:a16="http://schemas.microsoft.com/office/drawing/2014/main" id="{81BF6DBF-9F3B-49C0-BF14-2FDF2A327B77}"/>
              </a:ext>
            </a:extLst>
          </p:cNvPr>
          <p:cNvSpPr>
            <a:spLocks xmlns:a="http://schemas.openxmlformats.org/drawingml/2006/main" noGrp="1"/>
          </p:cNvSpPr>
          <p:nvPr/>
        </p:nvSpPr>
        <p:spPr>
          <a:xfrm xmlns:a="http://schemas.openxmlformats.org/drawingml/2006/main">
            <a:off x="457200" y="2057400"/>
            <a:ext cx="8229600" cy="594360"/>
          </a:xfrm>
          <a:prstGeom xmlns:a="http://schemas.openxmlformats.org/drawingml/2006/main" prst="rect">
            <a:avLst/>
          </a:prstGeom>
          <a:solidFill xmlns:a="http://schemas.openxmlformats.org/drawingml/2006/main">
            <a:srgbClr val="FFFFFF"/>
          </a:solidFill>
          <a:ln xmlns:a="http://schemas.openxmlformats.org/drawingml/2006/main" w="6350">
            <a:solidFill>
              <a:srgbClr val="E5E7EB"/>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3EDF032B-46B9-490F-A2B6-3569A9867D9E}"/>
              </a:ext>
            </a:extLst>
          </p:cNvPr>
          <p:cNvSpPr>
            <a:spLocks xmlns:a="http://schemas.openxmlformats.org/drawingml/2006/main" noGrp="1"/>
          </p:cNvSpPr>
          <p:nvPr/>
        </p:nvSpPr>
        <p:spPr>
          <a:xfrm xmlns:a="http://schemas.openxmlformats.org/drawingml/2006/main">
            <a:off x="548640" y="2221992"/>
            <a:ext cx="12801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E2761"/>
                </a:solidFill>
                <a:latin typeface="Calibri"/>
                <a:ea typeface="Calibri"/>
                <a:cs typeface="Calibri"/>
              </a:rPr>
              <a:t>0:15–0:45</a:t>
            </a:r>
            <a:endParaRPr sz="1100"/>
          </a:p>
        </p:txBody>
      </p:sp>
      <p:sp>
        <p:nvSpPr>
          <p:cNvPr id="13" name="Text 11">
            <a:extLst xmlns:a="http://schemas.openxmlformats.org/drawingml/2006/main">
              <a:ext uri="{FF2B5EF4-FFF2-40B4-BE49-F238E27FC236}">
                <a16:creationId xmlns:a16="http://schemas.microsoft.com/office/drawing/2014/main" id="{9D7BEA7A-0DAE-42DC-A13E-636C88F58EEB}"/>
              </a:ext>
            </a:extLst>
          </p:cNvPr>
          <p:cNvSpPr>
            <a:spLocks xmlns:a="http://schemas.openxmlformats.org/drawingml/2006/main" noGrp="1"/>
          </p:cNvSpPr>
          <p:nvPr/>
        </p:nvSpPr>
        <p:spPr>
          <a:xfrm xmlns:a="http://schemas.openxmlformats.org/drawingml/2006/main">
            <a:off x="1828800" y="2221992"/>
            <a:ext cx="13716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200">
                <a:solidFill>
                  <a:srgbClr val="C9A961"/>
                </a:solidFill>
                <a:latin typeface="Calibri"/>
                <a:ea typeface="Calibri"/>
                <a:cs typeface="Calibri"/>
              </a:rPr>
              <a:t>Concept</a:t>
            </a:r>
            <a:endParaRPr sz="1000"/>
          </a:p>
        </p:txBody>
      </p:sp>
      <p:sp>
        <p:nvSpPr>
          <p:cNvPr id="14" name="Text 12">
            <a:extLst xmlns:a="http://schemas.openxmlformats.org/drawingml/2006/main">
              <a:ext uri="{FF2B5EF4-FFF2-40B4-BE49-F238E27FC236}">
                <a16:creationId xmlns:a16="http://schemas.microsoft.com/office/drawing/2014/main" id="{D8B4DE84-29CC-4C9F-8F42-9DE8AC455FA5}"/>
              </a:ext>
            </a:extLst>
          </p:cNvPr>
          <p:cNvSpPr>
            <a:spLocks xmlns:a="http://schemas.openxmlformats.org/drawingml/2006/main" noGrp="1"/>
          </p:cNvSpPr>
          <p:nvPr/>
        </p:nvSpPr>
        <p:spPr>
          <a:xfrm xmlns:a="http://schemas.openxmlformats.org/drawingml/2006/main">
            <a:off x="3291840" y="2221992"/>
            <a:ext cx="53035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1A1F3A"/>
                </a:solidFill>
                <a:latin typeface="Calibri"/>
                <a:ea typeface="Calibri"/>
                <a:cs typeface="Calibri"/>
              </a:rPr>
              <a:t>Prompt engineering for HR: the four elements of a good prompt.</a:t>
            </a:r>
            <a:endParaRPr sz="1100"/>
          </a:p>
        </p:txBody>
      </p:sp>
      <p:sp>
        <p:nvSpPr>
          <p:cNvPr id="15" name="Shape 13">
            <a:extLst xmlns:a="http://schemas.openxmlformats.org/drawingml/2006/main">
              <a:ext uri="{FF2B5EF4-FFF2-40B4-BE49-F238E27FC236}">
                <a16:creationId xmlns:a16="http://schemas.microsoft.com/office/drawing/2014/main" id="{A4B5A5EC-6E9E-4C00-BF26-3098C15E3435}"/>
              </a:ext>
            </a:extLst>
          </p:cNvPr>
          <p:cNvSpPr>
            <a:spLocks xmlns:a="http://schemas.openxmlformats.org/drawingml/2006/main" noGrp="1"/>
          </p:cNvSpPr>
          <p:nvPr/>
        </p:nvSpPr>
        <p:spPr>
          <a:xfrm xmlns:a="http://schemas.openxmlformats.org/drawingml/2006/main">
            <a:off x="457200" y="2697480"/>
            <a:ext cx="8229600" cy="594360"/>
          </a:xfrm>
          <a:prstGeom xmlns:a="http://schemas.openxmlformats.org/drawingml/2006/main" prst="rect">
            <a:avLst/>
          </a:prstGeom>
          <a:solidFill xmlns:a="http://schemas.openxmlformats.org/drawingml/2006/main">
            <a:srgbClr val="F5F7FB"/>
          </a:solidFill>
          <a:ln xmlns:a="http://schemas.openxmlformats.org/drawingml/2006/main" w="6350">
            <a:solidFill>
              <a:srgbClr val="E5E7EB"/>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3D3DA87D-E33E-441A-B6A7-9EA8050157E5}"/>
              </a:ext>
            </a:extLst>
          </p:cNvPr>
          <p:cNvSpPr>
            <a:spLocks xmlns:a="http://schemas.openxmlformats.org/drawingml/2006/main" noGrp="1"/>
          </p:cNvSpPr>
          <p:nvPr/>
        </p:nvSpPr>
        <p:spPr>
          <a:xfrm xmlns:a="http://schemas.openxmlformats.org/drawingml/2006/main">
            <a:off x="548640" y="2862072"/>
            <a:ext cx="12801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E2761"/>
                </a:solidFill>
                <a:latin typeface="Calibri"/>
                <a:ea typeface="Calibri"/>
                <a:cs typeface="Calibri"/>
              </a:rPr>
              <a:t>0:45–1:10</a:t>
            </a:r>
            <a:endParaRPr sz="1100"/>
          </a:p>
        </p:txBody>
      </p:sp>
      <p:sp>
        <p:nvSpPr>
          <p:cNvPr id="17" name="Text 15">
            <a:extLst xmlns:a="http://schemas.openxmlformats.org/drawingml/2006/main">
              <a:ext uri="{FF2B5EF4-FFF2-40B4-BE49-F238E27FC236}">
                <a16:creationId xmlns:a16="http://schemas.microsoft.com/office/drawing/2014/main" id="{41159978-5DFD-4C56-845D-E087E8C41699}"/>
              </a:ext>
            </a:extLst>
          </p:cNvPr>
          <p:cNvSpPr>
            <a:spLocks xmlns:a="http://schemas.openxmlformats.org/drawingml/2006/main" noGrp="1"/>
          </p:cNvSpPr>
          <p:nvPr/>
        </p:nvSpPr>
        <p:spPr>
          <a:xfrm xmlns:a="http://schemas.openxmlformats.org/drawingml/2006/main">
            <a:off x="1828800" y="2862072"/>
            <a:ext cx="13716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200">
                <a:solidFill>
                  <a:srgbClr val="C9A961"/>
                </a:solidFill>
                <a:latin typeface="Calibri"/>
                <a:ea typeface="Calibri"/>
                <a:cs typeface="Calibri"/>
              </a:rPr>
              <a:t>Demo</a:t>
            </a:r>
            <a:endParaRPr sz="1000"/>
          </a:p>
        </p:txBody>
      </p:sp>
      <p:sp>
        <p:nvSpPr>
          <p:cNvPr id="18" name="Text 16">
            <a:extLst xmlns:a="http://schemas.openxmlformats.org/drawingml/2006/main">
              <a:ext uri="{FF2B5EF4-FFF2-40B4-BE49-F238E27FC236}">
                <a16:creationId xmlns:a16="http://schemas.microsoft.com/office/drawing/2014/main" id="{32F37956-23FA-4450-A8CA-3010A6801F88}"/>
              </a:ext>
            </a:extLst>
          </p:cNvPr>
          <p:cNvSpPr>
            <a:spLocks xmlns:a="http://schemas.openxmlformats.org/drawingml/2006/main" noGrp="1"/>
          </p:cNvSpPr>
          <p:nvPr/>
        </p:nvSpPr>
        <p:spPr>
          <a:xfrm xmlns:a="http://schemas.openxmlformats.org/drawingml/2006/main">
            <a:off x="3291840" y="2862072"/>
            <a:ext cx="53035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1A1F3A"/>
                </a:solidFill>
                <a:latin typeface="Calibri"/>
                <a:ea typeface="Calibri"/>
                <a:cs typeface="Calibri"/>
              </a:rPr>
              <a:t>Live demo: onboarding plan, performance review draft, policy Q&amp;A.</a:t>
            </a:r>
            <a:endParaRPr sz="1100"/>
          </a:p>
        </p:txBody>
      </p:sp>
      <p:sp>
        <p:nvSpPr>
          <p:cNvPr id="19" name="Shape 17">
            <a:extLst xmlns:a="http://schemas.openxmlformats.org/drawingml/2006/main">
              <a:ext uri="{FF2B5EF4-FFF2-40B4-BE49-F238E27FC236}">
                <a16:creationId xmlns:a16="http://schemas.microsoft.com/office/drawing/2014/main" id="{8AF732DB-C597-43A4-9E08-2069DB9A7B30}"/>
              </a:ext>
            </a:extLst>
          </p:cNvPr>
          <p:cNvSpPr>
            <a:spLocks xmlns:a="http://schemas.openxmlformats.org/drawingml/2006/main" noGrp="1"/>
          </p:cNvSpPr>
          <p:nvPr/>
        </p:nvSpPr>
        <p:spPr>
          <a:xfrm xmlns:a="http://schemas.openxmlformats.org/drawingml/2006/main">
            <a:off x="457200" y="3337560"/>
            <a:ext cx="8229600" cy="594360"/>
          </a:xfrm>
          <a:prstGeom xmlns:a="http://schemas.openxmlformats.org/drawingml/2006/main" prst="rect">
            <a:avLst/>
          </a:prstGeom>
          <a:solidFill xmlns:a="http://schemas.openxmlformats.org/drawingml/2006/main">
            <a:srgbClr val="FFFFFF"/>
          </a:solidFill>
          <a:ln xmlns:a="http://schemas.openxmlformats.org/drawingml/2006/main" w="6350">
            <a:solidFill>
              <a:srgbClr val="E5E7EB"/>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EDF6246F-44FE-4C00-8E99-E5EEF9DC4752}"/>
              </a:ext>
            </a:extLst>
          </p:cNvPr>
          <p:cNvSpPr>
            <a:spLocks xmlns:a="http://schemas.openxmlformats.org/drawingml/2006/main" noGrp="1"/>
          </p:cNvSpPr>
          <p:nvPr/>
        </p:nvSpPr>
        <p:spPr>
          <a:xfrm xmlns:a="http://schemas.openxmlformats.org/drawingml/2006/main">
            <a:off x="548640" y="3502152"/>
            <a:ext cx="12801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E2761"/>
                </a:solidFill>
                <a:latin typeface="Calibri"/>
                <a:ea typeface="Calibri"/>
                <a:cs typeface="Calibri"/>
              </a:rPr>
              <a:t>1:10–1:50</a:t>
            </a:r>
            <a:endParaRPr sz="1100"/>
          </a:p>
        </p:txBody>
      </p:sp>
      <p:sp>
        <p:nvSpPr>
          <p:cNvPr id="21" name="Text 19">
            <a:extLst xmlns:a="http://schemas.openxmlformats.org/drawingml/2006/main">
              <a:ext uri="{FF2B5EF4-FFF2-40B4-BE49-F238E27FC236}">
                <a16:creationId xmlns:a16="http://schemas.microsoft.com/office/drawing/2014/main" id="{ADE9064A-FCA6-414C-9148-428F4DFF7CC2}"/>
              </a:ext>
            </a:extLst>
          </p:cNvPr>
          <p:cNvSpPr>
            <a:spLocks xmlns:a="http://schemas.openxmlformats.org/drawingml/2006/main" noGrp="1"/>
          </p:cNvSpPr>
          <p:nvPr/>
        </p:nvSpPr>
        <p:spPr>
          <a:xfrm xmlns:a="http://schemas.openxmlformats.org/drawingml/2006/main">
            <a:off x="1828800" y="3502152"/>
            <a:ext cx="13716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200">
                <a:solidFill>
                  <a:srgbClr val="C9A961"/>
                </a:solidFill>
                <a:latin typeface="Calibri"/>
                <a:ea typeface="Calibri"/>
                <a:cs typeface="Calibri"/>
              </a:rPr>
              <a:t>Lab</a:t>
            </a:r>
            <a:endParaRPr sz="1000"/>
          </a:p>
        </p:txBody>
      </p:sp>
      <p:sp>
        <p:nvSpPr>
          <p:cNvPr id="22" name="Text 20">
            <a:extLst xmlns:a="http://schemas.openxmlformats.org/drawingml/2006/main">
              <a:ext uri="{FF2B5EF4-FFF2-40B4-BE49-F238E27FC236}">
                <a16:creationId xmlns:a16="http://schemas.microsoft.com/office/drawing/2014/main" id="{134C7A49-F198-421C-92DE-6F2501E04EC3}"/>
              </a:ext>
            </a:extLst>
          </p:cNvPr>
          <p:cNvSpPr>
            <a:spLocks xmlns:a="http://schemas.openxmlformats.org/drawingml/2006/main" noGrp="1"/>
          </p:cNvSpPr>
          <p:nvPr/>
        </p:nvSpPr>
        <p:spPr>
          <a:xfrm xmlns:a="http://schemas.openxmlformats.org/drawingml/2006/main">
            <a:off x="3291840" y="3502152"/>
            <a:ext cx="53035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1A1F3A"/>
                </a:solidFill>
                <a:latin typeface="Calibri"/>
                <a:ea typeface="Calibri"/>
                <a:cs typeface="Calibri"/>
              </a:rPr>
              <a:t>Run 2 library prompts using synthetic HR scenarios in approved tools.</a:t>
            </a:r>
            <a:endParaRPr sz="1100"/>
          </a:p>
        </p:txBody>
      </p:sp>
      <p:sp>
        <p:nvSpPr>
          <p:cNvPr id="23" name="Shape 21">
            <a:extLst xmlns:a="http://schemas.openxmlformats.org/drawingml/2006/main">
              <a:ext uri="{FF2B5EF4-FFF2-40B4-BE49-F238E27FC236}">
                <a16:creationId xmlns:a16="http://schemas.microsoft.com/office/drawing/2014/main" id="{FCA64F74-7BAC-4D16-A666-D28787864DF4}"/>
              </a:ext>
            </a:extLst>
          </p:cNvPr>
          <p:cNvSpPr>
            <a:spLocks xmlns:a="http://schemas.openxmlformats.org/drawingml/2006/main" noGrp="1"/>
          </p:cNvSpPr>
          <p:nvPr/>
        </p:nvSpPr>
        <p:spPr>
          <a:xfrm xmlns:a="http://schemas.openxmlformats.org/drawingml/2006/main">
            <a:off x="457200" y="3977640"/>
            <a:ext cx="8229600" cy="594360"/>
          </a:xfrm>
          <a:prstGeom xmlns:a="http://schemas.openxmlformats.org/drawingml/2006/main" prst="rect">
            <a:avLst/>
          </a:prstGeom>
          <a:solidFill xmlns:a="http://schemas.openxmlformats.org/drawingml/2006/main">
            <a:srgbClr val="F5F7FB"/>
          </a:solidFill>
          <a:ln xmlns:a="http://schemas.openxmlformats.org/drawingml/2006/main" w="6350">
            <a:solidFill>
              <a:srgbClr val="E5E7EB"/>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Text 22">
            <a:extLst xmlns:a="http://schemas.openxmlformats.org/drawingml/2006/main">
              <a:ext uri="{FF2B5EF4-FFF2-40B4-BE49-F238E27FC236}">
                <a16:creationId xmlns:a16="http://schemas.microsoft.com/office/drawing/2014/main" id="{2D936685-46B9-4986-890B-87E364CA295D}"/>
              </a:ext>
            </a:extLst>
          </p:cNvPr>
          <p:cNvSpPr>
            <a:spLocks xmlns:a="http://schemas.openxmlformats.org/drawingml/2006/main" noGrp="1"/>
          </p:cNvSpPr>
          <p:nvPr/>
        </p:nvSpPr>
        <p:spPr>
          <a:xfrm xmlns:a="http://schemas.openxmlformats.org/drawingml/2006/main">
            <a:off x="548640" y="4142232"/>
            <a:ext cx="12801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E2761"/>
                </a:solidFill>
                <a:latin typeface="Calibri"/>
                <a:ea typeface="Calibri"/>
                <a:cs typeface="Calibri"/>
              </a:rPr>
              <a:t>1:50–2:00</a:t>
            </a:r>
            <a:endParaRPr sz="1100"/>
          </a:p>
        </p:txBody>
      </p:sp>
      <p:sp>
        <p:nvSpPr>
          <p:cNvPr id="25" name="Text 23">
            <a:extLst xmlns:a="http://schemas.openxmlformats.org/drawingml/2006/main">
              <a:ext uri="{FF2B5EF4-FFF2-40B4-BE49-F238E27FC236}">
                <a16:creationId xmlns:a16="http://schemas.microsoft.com/office/drawing/2014/main" id="{10099B51-0ADD-4A9C-B060-09E5C22A2BD9}"/>
              </a:ext>
            </a:extLst>
          </p:cNvPr>
          <p:cNvSpPr>
            <a:spLocks xmlns:a="http://schemas.openxmlformats.org/drawingml/2006/main" noGrp="1"/>
          </p:cNvSpPr>
          <p:nvPr/>
        </p:nvSpPr>
        <p:spPr>
          <a:xfrm xmlns:a="http://schemas.openxmlformats.org/drawingml/2006/main">
            <a:off x="1828800" y="4142232"/>
            <a:ext cx="13716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200">
                <a:solidFill>
                  <a:srgbClr val="C9A961"/>
                </a:solidFill>
                <a:latin typeface="Calibri"/>
                <a:ea typeface="Calibri"/>
                <a:cs typeface="Calibri"/>
              </a:rPr>
              <a:t>Debrief</a:t>
            </a:r>
            <a:endParaRPr sz="1000"/>
          </a:p>
        </p:txBody>
      </p:sp>
      <p:sp>
        <p:nvSpPr>
          <p:cNvPr id="26" name="Text 24">
            <a:extLst xmlns:a="http://schemas.openxmlformats.org/drawingml/2006/main">
              <a:ext uri="{FF2B5EF4-FFF2-40B4-BE49-F238E27FC236}">
                <a16:creationId xmlns:a16="http://schemas.microsoft.com/office/drawing/2014/main" id="{69A50134-C4D2-4394-B211-604259C013C8}"/>
              </a:ext>
            </a:extLst>
          </p:cNvPr>
          <p:cNvSpPr>
            <a:spLocks xmlns:a="http://schemas.openxmlformats.org/drawingml/2006/main" noGrp="1"/>
          </p:cNvSpPr>
          <p:nvPr/>
        </p:nvSpPr>
        <p:spPr>
          <a:xfrm xmlns:a="http://schemas.openxmlformats.org/drawingml/2006/main">
            <a:off x="3291840" y="4142232"/>
            <a:ext cx="53035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1A1F3A"/>
                </a:solidFill>
                <a:latin typeface="Calibri"/>
                <a:ea typeface="Calibri"/>
                <a:cs typeface="Calibri"/>
              </a:rPr>
              <a:t>What surprised you? What didn't work?</a:t>
            </a:r>
            <a:endParaRPr sz="1100"/>
          </a:p>
        </p:txBody>
      </p:sp>
      <p:sp>
        <p:nvSpPr>
          <p:cNvPr id="27" name="Text 25">
            <a:extLst xmlns:a="http://schemas.openxmlformats.org/drawingml/2006/main">
              <a:ext uri="{FF2B5EF4-FFF2-40B4-BE49-F238E27FC236}">
                <a16:creationId xmlns:a16="http://schemas.microsoft.com/office/drawing/2014/main" id="{B56CB6DD-F80B-4E8E-AE56-5B6E3AED443B}"/>
              </a:ext>
            </a:extLst>
          </p:cNvPr>
          <p:cNvSpPr>
            <a:spLocks xmlns:a="http://schemas.openxmlformats.org/drawingml/2006/main" noGrp="1"/>
          </p:cNvSpPr>
          <p:nvPr/>
        </p:nvSpPr>
        <p:spPr>
          <a:xfrm xmlns:a="http://schemas.openxmlformats.org/drawingml/2006/main">
            <a:off x="457200" y="4846320"/>
            <a:ext cx="45720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HR AI Literacy Curriculum</a:t>
            </a:r>
            <a:endParaRPr sz="900"/>
          </a:p>
        </p:txBody>
      </p:sp>
      <p:sp>
        <p:nvSpPr>
          <p:cNvPr id="28" name="Text 26">
            <a:extLst xmlns:a="http://schemas.openxmlformats.org/drawingml/2006/main">
              <a:ext uri="{FF2B5EF4-FFF2-40B4-BE49-F238E27FC236}">
                <a16:creationId xmlns:a16="http://schemas.microsoft.com/office/drawing/2014/main" id="{61B081FF-A5EC-4D50-8F4C-3A3BF8C239FE}"/>
              </a:ext>
            </a:extLst>
          </p:cNvPr>
          <p:cNvSpPr>
            <a:spLocks xmlns:a="http://schemas.openxmlformats.org/drawingml/2006/main" noGrp="1"/>
          </p:cNvSpPr>
          <p:nvPr/>
        </p:nvSpPr>
        <p:spPr>
          <a:xfrm xmlns:a="http://schemas.openxmlformats.org/drawingml/2006/main">
            <a:off x="8412480" y="4846320"/>
            <a:ext cx="4572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6B7280"/>
                </a:solidFill>
                <a:latin typeface="Calibri"/>
                <a:ea typeface="Calibri"/>
                <a:cs typeface="Calibri"/>
              </a:rPr>
              <a:t>10</a:t>
            </a:r>
            <a:endParaRPr sz="900"/>
          </a:p>
        </p:txBody>
      </p:sp>
    </p:spTree>
    <p:extLst>
      <p:ext uri="{BB962C8B-B14F-4D97-AF65-F5344CB8AC3E}">
        <p14:creationId xmlns:p14="http://schemas.microsoft.com/office/powerpoint/2010/main" val="49624395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C91E883-02FC-4470-A582-B874F732DE49}"/>
              </a:ext>
            </a:extLst>
          </p:cNvPr>
          <p:cNvSpPr>
            <a:spLocks xmlns:a="http://schemas.openxmlformats.org/drawingml/2006/main" noGrp="1"/>
          </p:cNvSpPr>
          <p:nvPr/>
        </p:nvSpPr>
        <p:spPr>
          <a:xfrm xmlns:a="http://schemas.openxmlformats.org/drawingml/2006/main">
            <a:off x="0" y="0"/>
            <a:ext cx="9144000" cy="411480"/>
          </a:xfrm>
          <a:prstGeom xmlns:a="http://schemas.openxmlformats.org/drawingml/2006/main" prst="rect">
            <a:avLst/>
          </a:prstGeom>
          <a:solidFill xmlns:a="http://schemas.openxmlformats.org/drawingml/2006/main">
            <a:srgbClr val="1E2761"/>
          </a:solidFill>
          <a:ln xmlns:a="http://schemas.openxmlformats.org/drawingml/2006/main" w="12700">
            <a:solidFill>
              <a:srgbClr val="1E2761"/>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44A9BB06-918A-4BCB-88E4-B8BB5BAAE0B3}"/>
              </a:ext>
            </a:extLst>
          </p:cNvPr>
          <p:cNvSpPr>
            <a:spLocks xmlns:a="http://schemas.openxmlformats.org/drawingml/2006/main" noGrp="1"/>
          </p:cNvSpPr>
          <p:nvPr/>
        </p:nvSpPr>
        <p:spPr>
          <a:xfrm xmlns:a="http://schemas.openxmlformats.org/drawingml/2006/main">
            <a:off x="457200" y="73152"/>
            <a:ext cx="2743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spc="400">
                <a:solidFill>
                  <a:srgbClr val="C9A961"/>
                </a:solidFill>
                <a:latin typeface="Calibri"/>
                <a:ea typeface="Calibri"/>
                <a:cs typeface="Calibri"/>
              </a:rPr>
              <a:t>MODULE 02</a:t>
            </a:r>
            <a:endParaRPr sz="1000"/>
          </a:p>
        </p:txBody>
      </p:sp>
      <p:sp>
        <p:nvSpPr>
          <p:cNvPr id="4" name="Text 2">
            <a:extLst xmlns:a="http://schemas.openxmlformats.org/drawingml/2006/main">
              <a:ext uri="{FF2B5EF4-FFF2-40B4-BE49-F238E27FC236}">
                <a16:creationId xmlns:a16="http://schemas.microsoft.com/office/drawing/2014/main" id="{FEB9CBE6-D861-4759-92B8-069DEEFA240E}"/>
              </a:ext>
            </a:extLst>
          </p:cNvPr>
          <p:cNvSpPr>
            <a:spLocks xmlns:a="http://schemas.openxmlformats.org/drawingml/2006/main" noGrp="1"/>
          </p:cNvSpPr>
          <p:nvPr/>
        </p:nvSpPr>
        <p:spPr>
          <a:xfrm xmlns:a="http://schemas.openxmlformats.org/drawingml/2006/main">
            <a:off x="3200400" y="73152"/>
            <a:ext cx="54864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000">
                <a:solidFill>
                  <a:srgbClr val="CADCFC"/>
                </a:solidFill>
                <a:latin typeface="Calibri"/>
                <a:ea typeface="Calibri"/>
                <a:cs typeface="Calibri"/>
              </a:rPr>
              <a:t>Using AI in your daily HR work</a:t>
            </a:r>
            <a:endParaRPr sz="1000"/>
          </a:p>
        </p:txBody>
      </p:sp>
      <p:sp>
        <p:nvSpPr>
          <p:cNvPr id="5" name="Text 3">
            <a:extLst xmlns:a="http://schemas.openxmlformats.org/drawingml/2006/main">
              <a:ext uri="{FF2B5EF4-FFF2-40B4-BE49-F238E27FC236}">
                <a16:creationId xmlns:a16="http://schemas.microsoft.com/office/drawing/2014/main" id="{110BCC0F-3ACD-46A7-A7B0-3C317857D401}"/>
              </a:ext>
            </a:extLst>
          </p:cNvPr>
          <p:cNvSpPr>
            <a:spLocks xmlns:a="http://schemas.openxmlformats.org/drawingml/2006/main" noGrp="1"/>
          </p:cNvSpPr>
          <p:nvPr/>
        </p:nvSpPr>
        <p:spPr>
          <a:xfrm xmlns:a="http://schemas.openxmlformats.org/drawingml/2006/main">
            <a:off x="457200" y="685800"/>
            <a:ext cx="822960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400" b="1">
                <a:solidFill>
                  <a:srgbClr val="1E2761"/>
                </a:solidFill>
                <a:latin typeface="Cambria"/>
                <a:ea typeface="Cambria"/>
                <a:cs typeface="Cambria"/>
              </a:rPr>
              <a:t>The four elements of an effective HR prompt</a:t>
            </a:r>
            <a:endParaRPr sz="2400"/>
          </a:p>
        </p:txBody>
      </p:sp>
      <p:sp>
        <p:nvSpPr>
          <p:cNvPr id="6" name="Text 4">
            <a:extLst xmlns:a="http://schemas.openxmlformats.org/drawingml/2006/main">
              <a:ext uri="{FF2B5EF4-FFF2-40B4-BE49-F238E27FC236}">
                <a16:creationId xmlns:a16="http://schemas.microsoft.com/office/drawing/2014/main" id="{E1F7B592-F97E-4955-B9EB-32588D4DF5C2}"/>
              </a:ext>
            </a:extLst>
          </p:cNvPr>
          <p:cNvSpPr>
            <a:spLocks xmlns:a="http://schemas.openxmlformats.org/drawingml/2006/main" noGrp="1"/>
          </p:cNvSpPr>
          <p:nvPr/>
        </p:nvSpPr>
        <p:spPr>
          <a:xfrm xmlns:a="http://schemas.openxmlformats.org/drawingml/2006/main">
            <a:off x="457200" y="1188720"/>
            <a:ext cx="82296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i="1">
                <a:solidFill>
                  <a:srgbClr val="6B7280"/>
                </a:solidFill>
                <a:latin typeface="Calibri"/>
                <a:ea typeface="Calibri"/>
                <a:cs typeface="Calibri"/>
              </a:rPr>
              <a:t>Define the task and verify the result. A role is not professional authority.</a:t>
            </a:r>
            <a:endParaRPr sz="1200"/>
          </a:p>
        </p:txBody>
      </p:sp>
      <p:sp>
        <p:nvSpPr>
          <p:cNvPr id="7" name="Shape 5">
            <a:extLst xmlns:a="http://schemas.openxmlformats.org/drawingml/2006/main">
              <a:ext uri="{FF2B5EF4-FFF2-40B4-BE49-F238E27FC236}">
                <a16:creationId xmlns:a16="http://schemas.microsoft.com/office/drawing/2014/main" id="{4F7F01BF-4D60-4E21-974C-12AC412D790C}"/>
              </a:ext>
            </a:extLst>
          </p:cNvPr>
          <p:cNvSpPr>
            <a:spLocks xmlns:a="http://schemas.openxmlformats.org/drawingml/2006/main" noGrp="1"/>
          </p:cNvSpPr>
          <p:nvPr/>
        </p:nvSpPr>
        <p:spPr>
          <a:xfrm xmlns:a="http://schemas.openxmlformats.org/drawingml/2006/main">
            <a:off x="457200" y="1645920"/>
            <a:ext cx="8229600" cy="713232"/>
          </a:xfrm>
          <a:prstGeom xmlns:a="http://schemas.openxmlformats.org/drawingml/2006/main" prst="rect">
            <a:avLst/>
          </a:prstGeom>
          <a:solidFill xmlns:a="http://schemas.openxmlformats.org/drawingml/2006/main">
            <a:srgbClr val="F5F7FB"/>
          </a:solidFill>
          <a:ln xmlns:a="http://schemas.openxmlformats.org/drawingml/2006/main" w="6350">
            <a:solidFill>
              <a:srgbClr val="E5E7EB"/>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Shape 6">
            <a:extLst xmlns:a="http://schemas.openxmlformats.org/drawingml/2006/main">
              <a:ext uri="{FF2B5EF4-FFF2-40B4-BE49-F238E27FC236}">
                <a16:creationId xmlns:a16="http://schemas.microsoft.com/office/drawing/2014/main" id="{6FB3297E-092C-4A1F-9139-6F9E5ABDFA71}"/>
              </a:ext>
            </a:extLst>
          </p:cNvPr>
          <p:cNvSpPr>
            <a:spLocks xmlns:a="http://schemas.openxmlformats.org/drawingml/2006/main" noGrp="1"/>
          </p:cNvSpPr>
          <p:nvPr/>
        </p:nvSpPr>
        <p:spPr>
          <a:xfrm xmlns:a="http://schemas.openxmlformats.org/drawingml/2006/main">
            <a:off x="457200" y="1645920"/>
            <a:ext cx="73152" cy="713232"/>
          </a:xfrm>
          <a:prstGeom xmlns:a="http://schemas.openxmlformats.org/drawingml/2006/main" prst="rect">
            <a:avLst/>
          </a:prstGeom>
          <a:solidFill xmlns:a="http://schemas.openxmlformats.org/drawingml/2006/main">
            <a:srgbClr val="C9A961"/>
          </a:solidFill>
          <a:ln xmlns:a="http://schemas.openxmlformats.org/drawingml/2006/main" w="12700">
            <a:solidFill>
              <a:srgbClr val="C9A961"/>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Text 7">
            <a:extLst xmlns:a="http://schemas.openxmlformats.org/drawingml/2006/main">
              <a:ext uri="{FF2B5EF4-FFF2-40B4-BE49-F238E27FC236}">
                <a16:creationId xmlns:a16="http://schemas.microsoft.com/office/drawing/2014/main" id="{7DBC9855-A831-4528-B9AC-66074815FA9D}"/>
              </a:ext>
            </a:extLst>
          </p:cNvPr>
          <p:cNvSpPr>
            <a:spLocks xmlns:a="http://schemas.openxmlformats.org/drawingml/2006/main" noGrp="1"/>
          </p:cNvSpPr>
          <p:nvPr/>
        </p:nvSpPr>
        <p:spPr>
          <a:xfrm xmlns:a="http://schemas.openxmlformats.org/drawingml/2006/main">
            <a:off x="640080" y="1764792"/>
            <a:ext cx="4572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E2761"/>
                </a:solidFill>
                <a:latin typeface="Cambria"/>
                <a:ea typeface="Cambria"/>
                <a:cs typeface="Cambria"/>
              </a:rPr>
              <a:t>1</a:t>
            </a:r>
            <a:endParaRPr sz="2800"/>
          </a:p>
        </p:txBody>
      </p:sp>
      <p:sp>
        <p:nvSpPr>
          <p:cNvPr id="10" name="Text 8">
            <a:extLst xmlns:a="http://schemas.openxmlformats.org/drawingml/2006/main">
              <a:ext uri="{FF2B5EF4-FFF2-40B4-BE49-F238E27FC236}">
                <a16:creationId xmlns:a16="http://schemas.microsoft.com/office/drawing/2014/main" id="{58FFD61F-FC38-4194-8D43-19E61F707989}"/>
              </a:ext>
            </a:extLst>
          </p:cNvPr>
          <p:cNvSpPr>
            <a:spLocks xmlns:a="http://schemas.openxmlformats.org/drawingml/2006/main" noGrp="1"/>
          </p:cNvSpPr>
          <p:nvPr/>
        </p:nvSpPr>
        <p:spPr>
          <a:xfrm xmlns:a="http://schemas.openxmlformats.org/drawingml/2006/main">
            <a:off x="1280160" y="1764792"/>
            <a:ext cx="13716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300">
                <a:solidFill>
                  <a:srgbClr val="1E2761"/>
                </a:solidFill>
                <a:latin typeface="Calibri"/>
                <a:ea typeface="Calibri"/>
                <a:cs typeface="Calibri"/>
              </a:rPr>
              <a:t>ROLE</a:t>
            </a:r>
            <a:endParaRPr sz="1300"/>
          </a:p>
        </p:txBody>
      </p:sp>
      <p:sp>
        <p:nvSpPr>
          <p:cNvPr id="11" name="Text 9">
            <a:extLst xmlns:a="http://schemas.openxmlformats.org/drawingml/2006/main">
              <a:ext uri="{FF2B5EF4-FFF2-40B4-BE49-F238E27FC236}">
                <a16:creationId xmlns:a16="http://schemas.microsoft.com/office/drawing/2014/main" id="{60BD75DD-8307-4159-AF61-AD7761F4C6A7}"/>
              </a:ext>
            </a:extLst>
          </p:cNvPr>
          <p:cNvSpPr>
            <a:spLocks xmlns:a="http://schemas.openxmlformats.org/drawingml/2006/main" noGrp="1"/>
          </p:cNvSpPr>
          <p:nvPr/>
        </p:nvSpPr>
        <p:spPr>
          <a:xfrm xmlns:a="http://schemas.openxmlformats.org/drawingml/2006/main">
            <a:off x="1280160" y="2029968"/>
            <a:ext cx="72237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1A1F3A"/>
                </a:solidFill>
                <a:latin typeface="Calibri"/>
                <a:ea typeface="Calibri"/>
                <a:cs typeface="Calibri"/>
              </a:rPr>
              <a:t>Define the task perspective, such as drafting support for an HRBP. A role instruction does not grant professional authority.</a:t>
            </a:r>
            <a:endParaRPr sz="1100"/>
          </a:p>
        </p:txBody>
      </p:sp>
      <p:sp>
        <p:nvSpPr>
          <p:cNvPr id="12" name="Shape 10">
            <a:extLst xmlns:a="http://schemas.openxmlformats.org/drawingml/2006/main">
              <a:ext uri="{FF2B5EF4-FFF2-40B4-BE49-F238E27FC236}">
                <a16:creationId xmlns:a16="http://schemas.microsoft.com/office/drawing/2014/main" id="{D0C0D18A-9AFE-41A9-AE2A-1125ADABE03A}"/>
              </a:ext>
            </a:extLst>
          </p:cNvPr>
          <p:cNvSpPr>
            <a:spLocks xmlns:a="http://schemas.openxmlformats.org/drawingml/2006/main" noGrp="1"/>
          </p:cNvSpPr>
          <p:nvPr/>
        </p:nvSpPr>
        <p:spPr>
          <a:xfrm xmlns:a="http://schemas.openxmlformats.org/drawingml/2006/main">
            <a:off x="457200" y="2404872"/>
            <a:ext cx="8229600" cy="713232"/>
          </a:xfrm>
          <a:prstGeom xmlns:a="http://schemas.openxmlformats.org/drawingml/2006/main" prst="rect">
            <a:avLst/>
          </a:prstGeom>
          <a:solidFill xmlns:a="http://schemas.openxmlformats.org/drawingml/2006/main">
            <a:srgbClr val="F5F7FB"/>
          </a:solidFill>
          <a:ln xmlns:a="http://schemas.openxmlformats.org/drawingml/2006/main" w="6350">
            <a:solidFill>
              <a:srgbClr val="E5E7EB"/>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Shape 11">
            <a:extLst xmlns:a="http://schemas.openxmlformats.org/drawingml/2006/main">
              <a:ext uri="{FF2B5EF4-FFF2-40B4-BE49-F238E27FC236}">
                <a16:creationId xmlns:a16="http://schemas.microsoft.com/office/drawing/2014/main" id="{51C67744-62B6-4FE5-A57B-0BF13A99C500}"/>
              </a:ext>
            </a:extLst>
          </p:cNvPr>
          <p:cNvSpPr>
            <a:spLocks xmlns:a="http://schemas.openxmlformats.org/drawingml/2006/main" noGrp="1"/>
          </p:cNvSpPr>
          <p:nvPr/>
        </p:nvSpPr>
        <p:spPr>
          <a:xfrm xmlns:a="http://schemas.openxmlformats.org/drawingml/2006/main">
            <a:off x="457200" y="2404872"/>
            <a:ext cx="73152" cy="713232"/>
          </a:xfrm>
          <a:prstGeom xmlns:a="http://schemas.openxmlformats.org/drawingml/2006/main" prst="rect">
            <a:avLst/>
          </a:prstGeom>
          <a:solidFill xmlns:a="http://schemas.openxmlformats.org/drawingml/2006/main">
            <a:srgbClr val="C9A961"/>
          </a:solidFill>
          <a:ln xmlns:a="http://schemas.openxmlformats.org/drawingml/2006/main" w="12700">
            <a:solidFill>
              <a:srgbClr val="C9A961"/>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628C8319-A1F0-4C77-AE1B-C370457966D9}"/>
              </a:ext>
            </a:extLst>
          </p:cNvPr>
          <p:cNvSpPr>
            <a:spLocks xmlns:a="http://schemas.openxmlformats.org/drawingml/2006/main" noGrp="1"/>
          </p:cNvSpPr>
          <p:nvPr/>
        </p:nvSpPr>
        <p:spPr>
          <a:xfrm xmlns:a="http://schemas.openxmlformats.org/drawingml/2006/main">
            <a:off x="640080" y="2523744"/>
            <a:ext cx="4572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E2761"/>
                </a:solidFill>
                <a:latin typeface="Cambria"/>
                <a:ea typeface="Cambria"/>
                <a:cs typeface="Cambria"/>
              </a:rPr>
              <a:t>2</a:t>
            </a:r>
            <a:endParaRPr sz="2800"/>
          </a:p>
        </p:txBody>
      </p:sp>
      <p:sp>
        <p:nvSpPr>
          <p:cNvPr id="15" name="Text 13">
            <a:extLst xmlns:a="http://schemas.openxmlformats.org/drawingml/2006/main">
              <a:ext uri="{FF2B5EF4-FFF2-40B4-BE49-F238E27FC236}">
                <a16:creationId xmlns:a16="http://schemas.microsoft.com/office/drawing/2014/main" id="{F9E85126-88C1-41F8-A165-317266B8393B}"/>
              </a:ext>
            </a:extLst>
          </p:cNvPr>
          <p:cNvSpPr>
            <a:spLocks xmlns:a="http://schemas.openxmlformats.org/drawingml/2006/main" noGrp="1"/>
          </p:cNvSpPr>
          <p:nvPr/>
        </p:nvSpPr>
        <p:spPr>
          <a:xfrm xmlns:a="http://schemas.openxmlformats.org/drawingml/2006/main">
            <a:off x="1280160" y="2523744"/>
            <a:ext cx="13716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300">
                <a:solidFill>
                  <a:srgbClr val="1E2761"/>
                </a:solidFill>
                <a:latin typeface="Calibri"/>
                <a:ea typeface="Calibri"/>
                <a:cs typeface="Calibri"/>
              </a:rPr>
              <a:t>CONTEXT</a:t>
            </a:r>
            <a:endParaRPr sz="1300"/>
          </a:p>
        </p:txBody>
      </p:sp>
      <p:sp>
        <p:nvSpPr>
          <p:cNvPr id="16" name="Text 14">
            <a:extLst xmlns:a="http://schemas.openxmlformats.org/drawingml/2006/main">
              <a:ext uri="{FF2B5EF4-FFF2-40B4-BE49-F238E27FC236}">
                <a16:creationId xmlns:a16="http://schemas.microsoft.com/office/drawing/2014/main" id="{E59AFB46-1B08-4B05-B9FE-2CB7B500B944}"/>
              </a:ext>
            </a:extLst>
          </p:cNvPr>
          <p:cNvSpPr>
            <a:spLocks xmlns:a="http://schemas.openxmlformats.org/drawingml/2006/main" noGrp="1"/>
          </p:cNvSpPr>
          <p:nvPr/>
        </p:nvSpPr>
        <p:spPr>
          <a:xfrm xmlns:a="http://schemas.openxmlformats.org/drawingml/2006/main">
            <a:off x="1280160" y="2788920"/>
            <a:ext cx="72237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1A1F3A"/>
                </a:solidFill>
                <a:latin typeface="Calibri"/>
                <a:ea typeface="Calibri"/>
                <a:cs typeface="Calibri"/>
              </a:rPr>
              <a:t>Use fictional role, tenure, team and situation details. Keep employee, candidate, compensation and confidential employer data out of the lab.</a:t>
            </a:r>
            <a:endParaRPr sz="1100"/>
          </a:p>
        </p:txBody>
      </p:sp>
      <p:sp>
        <p:nvSpPr>
          <p:cNvPr id="17" name="Shape 15">
            <a:extLst xmlns:a="http://schemas.openxmlformats.org/drawingml/2006/main">
              <a:ext uri="{FF2B5EF4-FFF2-40B4-BE49-F238E27FC236}">
                <a16:creationId xmlns:a16="http://schemas.microsoft.com/office/drawing/2014/main" id="{C017CD54-5125-4F3F-8E08-C699A640BE2B}"/>
              </a:ext>
            </a:extLst>
          </p:cNvPr>
          <p:cNvSpPr>
            <a:spLocks xmlns:a="http://schemas.openxmlformats.org/drawingml/2006/main" noGrp="1"/>
          </p:cNvSpPr>
          <p:nvPr/>
        </p:nvSpPr>
        <p:spPr>
          <a:xfrm xmlns:a="http://schemas.openxmlformats.org/drawingml/2006/main">
            <a:off x="457200" y="3163824"/>
            <a:ext cx="8229600" cy="713232"/>
          </a:xfrm>
          <a:prstGeom xmlns:a="http://schemas.openxmlformats.org/drawingml/2006/main" prst="rect">
            <a:avLst/>
          </a:prstGeom>
          <a:solidFill xmlns:a="http://schemas.openxmlformats.org/drawingml/2006/main">
            <a:srgbClr val="F5F7FB"/>
          </a:solidFill>
          <a:ln xmlns:a="http://schemas.openxmlformats.org/drawingml/2006/main" w="6350">
            <a:solidFill>
              <a:srgbClr val="E5E7EB"/>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Shape 16">
            <a:extLst xmlns:a="http://schemas.openxmlformats.org/drawingml/2006/main">
              <a:ext uri="{FF2B5EF4-FFF2-40B4-BE49-F238E27FC236}">
                <a16:creationId xmlns:a16="http://schemas.microsoft.com/office/drawing/2014/main" id="{18B741A1-A2B4-4722-8E4C-03310773A7BD}"/>
              </a:ext>
            </a:extLst>
          </p:cNvPr>
          <p:cNvSpPr>
            <a:spLocks xmlns:a="http://schemas.openxmlformats.org/drawingml/2006/main" noGrp="1"/>
          </p:cNvSpPr>
          <p:nvPr/>
        </p:nvSpPr>
        <p:spPr>
          <a:xfrm xmlns:a="http://schemas.openxmlformats.org/drawingml/2006/main">
            <a:off x="457200" y="3163824"/>
            <a:ext cx="73152" cy="713232"/>
          </a:xfrm>
          <a:prstGeom xmlns:a="http://schemas.openxmlformats.org/drawingml/2006/main" prst="rect">
            <a:avLst/>
          </a:prstGeom>
          <a:solidFill xmlns:a="http://schemas.openxmlformats.org/drawingml/2006/main">
            <a:srgbClr val="C9A961"/>
          </a:solidFill>
          <a:ln xmlns:a="http://schemas.openxmlformats.org/drawingml/2006/main" w="12700">
            <a:solidFill>
              <a:srgbClr val="C9A961"/>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Text 17">
            <a:extLst xmlns:a="http://schemas.openxmlformats.org/drawingml/2006/main">
              <a:ext uri="{FF2B5EF4-FFF2-40B4-BE49-F238E27FC236}">
                <a16:creationId xmlns:a16="http://schemas.microsoft.com/office/drawing/2014/main" id="{296B4DD6-5CA8-4DF4-919B-96EF6575ACE6}"/>
              </a:ext>
            </a:extLst>
          </p:cNvPr>
          <p:cNvSpPr>
            <a:spLocks xmlns:a="http://schemas.openxmlformats.org/drawingml/2006/main" noGrp="1"/>
          </p:cNvSpPr>
          <p:nvPr/>
        </p:nvSpPr>
        <p:spPr>
          <a:xfrm xmlns:a="http://schemas.openxmlformats.org/drawingml/2006/main">
            <a:off x="640080" y="3282696"/>
            <a:ext cx="4572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E2761"/>
                </a:solidFill>
                <a:latin typeface="Cambria"/>
                <a:ea typeface="Cambria"/>
                <a:cs typeface="Cambria"/>
              </a:rPr>
              <a:t>3</a:t>
            </a:r>
            <a:endParaRPr sz="2800"/>
          </a:p>
        </p:txBody>
      </p:sp>
      <p:sp>
        <p:nvSpPr>
          <p:cNvPr id="20" name="Text 18">
            <a:extLst xmlns:a="http://schemas.openxmlformats.org/drawingml/2006/main">
              <a:ext uri="{FF2B5EF4-FFF2-40B4-BE49-F238E27FC236}">
                <a16:creationId xmlns:a16="http://schemas.microsoft.com/office/drawing/2014/main" id="{2538BA84-F992-4EF1-AD99-479C6E67B28F}"/>
              </a:ext>
            </a:extLst>
          </p:cNvPr>
          <p:cNvSpPr>
            <a:spLocks xmlns:a="http://schemas.openxmlformats.org/drawingml/2006/main" noGrp="1"/>
          </p:cNvSpPr>
          <p:nvPr/>
        </p:nvSpPr>
        <p:spPr>
          <a:xfrm xmlns:a="http://schemas.openxmlformats.org/drawingml/2006/main">
            <a:off x="1280160" y="3282696"/>
            <a:ext cx="13716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300">
                <a:solidFill>
                  <a:srgbClr val="1E2761"/>
                </a:solidFill>
                <a:latin typeface="Calibri"/>
                <a:ea typeface="Calibri"/>
                <a:cs typeface="Calibri"/>
              </a:rPr>
              <a:t>TASK</a:t>
            </a:r>
            <a:endParaRPr sz="1300"/>
          </a:p>
        </p:txBody>
      </p:sp>
      <p:sp>
        <p:nvSpPr>
          <p:cNvPr id="21" name="Text 19">
            <a:extLst xmlns:a="http://schemas.openxmlformats.org/drawingml/2006/main">
              <a:ext uri="{FF2B5EF4-FFF2-40B4-BE49-F238E27FC236}">
                <a16:creationId xmlns:a16="http://schemas.microsoft.com/office/drawing/2014/main" id="{7FE843DA-CD1C-406E-8E42-087D5A3EEAE4}"/>
              </a:ext>
            </a:extLst>
          </p:cNvPr>
          <p:cNvSpPr>
            <a:spLocks xmlns:a="http://schemas.openxmlformats.org/drawingml/2006/main" noGrp="1"/>
          </p:cNvSpPr>
          <p:nvPr/>
        </p:nvSpPr>
        <p:spPr>
          <a:xfrm xmlns:a="http://schemas.openxmlformats.org/drawingml/2006/main">
            <a:off x="1280160" y="3547872"/>
            <a:ext cx="72237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1A1F3A"/>
                </a:solidFill>
                <a:latin typeface="Calibri"/>
                <a:ea typeface="Calibri"/>
                <a:cs typeface="Calibri"/>
              </a:rPr>
              <a:t>State clearly what you want it to produce. One output per prompt. "Draft a..." is clearer than "Help me with..."</a:t>
            </a:r>
            <a:endParaRPr sz="1100"/>
          </a:p>
        </p:txBody>
      </p:sp>
      <p:sp>
        <p:nvSpPr>
          <p:cNvPr id="22" name="Shape 20">
            <a:extLst xmlns:a="http://schemas.openxmlformats.org/drawingml/2006/main">
              <a:ext uri="{FF2B5EF4-FFF2-40B4-BE49-F238E27FC236}">
                <a16:creationId xmlns:a16="http://schemas.microsoft.com/office/drawing/2014/main" id="{EAF272A6-9935-48B0-AC0E-94A6B917A72F}"/>
              </a:ext>
            </a:extLst>
          </p:cNvPr>
          <p:cNvSpPr>
            <a:spLocks xmlns:a="http://schemas.openxmlformats.org/drawingml/2006/main" noGrp="1"/>
          </p:cNvSpPr>
          <p:nvPr/>
        </p:nvSpPr>
        <p:spPr>
          <a:xfrm xmlns:a="http://schemas.openxmlformats.org/drawingml/2006/main">
            <a:off x="457200" y="3922776"/>
            <a:ext cx="8229600" cy="713232"/>
          </a:xfrm>
          <a:prstGeom xmlns:a="http://schemas.openxmlformats.org/drawingml/2006/main" prst="rect">
            <a:avLst/>
          </a:prstGeom>
          <a:solidFill xmlns:a="http://schemas.openxmlformats.org/drawingml/2006/main">
            <a:srgbClr val="F5F7FB"/>
          </a:solidFill>
          <a:ln xmlns:a="http://schemas.openxmlformats.org/drawingml/2006/main" w="6350">
            <a:solidFill>
              <a:srgbClr val="E5E7EB"/>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Shape 21">
            <a:extLst xmlns:a="http://schemas.openxmlformats.org/drawingml/2006/main">
              <a:ext uri="{FF2B5EF4-FFF2-40B4-BE49-F238E27FC236}">
                <a16:creationId xmlns:a16="http://schemas.microsoft.com/office/drawing/2014/main" id="{6EE3684C-95AC-4ED2-97F7-B2D2A0FD63B9}"/>
              </a:ext>
            </a:extLst>
          </p:cNvPr>
          <p:cNvSpPr>
            <a:spLocks xmlns:a="http://schemas.openxmlformats.org/drawingml/2006/main" noGrp="1"/>
          </p:cNvSpPr>
          <p:nvPr/>
        </p:nvSpPr>
        <p:spPr>
          <a:xfrm xmlns:a="http://schemas.openxmlformats.org/drawingml/2006/main">
            <a:off x="457200" y="3922776"/>
            <a:ext cx="73152" cy="713232"/>
          </a:xfrm>
          <a:prstGeom xmlns:a="http://schemas.openxmlformats.org/drawingml/2006/main" prst="rect">
            <a:avLst/>
          </a:prstGeom>
          <a:solidFill xmlns:a="http://schemas.openxmlformats.org/drawingml/2006/main">
            <a:srgbClr val="C9A961"/>
          </a:solidFill>
          <a:ln xmlns:a="http://schemas.openxmlformats.org/drawingml/2006/main" w="12700">
            <a:solidFill>
              <a:srgbClr val="C9A961"/>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Text 22">
            <a:extLst xmlns:a="http://schemas.openxmlformats.org/drawingml/2006/main">
              <a:ext uri="{FF2B5EF4-FFF2-40B4-BE49-F238E27FC236}">
                <a16:creationId xmlns:a16="http://schemas.microsoft.com/office/drawing/2014/main" id="{453CF4F1-EE5E-48CE-8D27-33B4CF9A4524}"/>
              </a:ext>
            </a:extLst>
          </p:cNvPr>
          <p:cNvSpPr>
            <a:spLocks xmlns:a="http://schemas.openxmlformats.org/drawingml/2006/main" noGrp="1"/>
          </p:cNvSpPr>
          <p:nvPr/>
        </p:nvSpPr>
        <p:spPr>
          <a:xfrm xmlns:a="http://schemas.openxmlformats.org/drawingml/2006/main">
            <a:off x="640080" y="4041648"/>
            <a:ext cx="4572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E2761"/>
                </a:solidFill>
                <a:latin typeface="Cambria"/>
                <a:ea typeface="Cambria"/>
                <a:cs typeface="Cambria"/>
              </a:rPr>
              <a:t>4</a:t>
            </a:r>
            <a:endParaRPr sz="2800"/>
          </a:p>
        </p:txBody>
      </p:sp>
      <p:sp>
        <p:nvSpPr>
          <p:cNvPr id="25" name="Text 23">
            <a:extLst xmlns:a="http://schemas.openxmlformats.org/drawingml/2006/main">
              <a:ext uri="{FF2B5EF4-FFF2-40B4-BE49-F238E27FC236}">
                <a16:creationId xmlns:a16="http://schemas.microsoft.com/office/drawing/2014/main" id="{17185748-CE87-4889-A228-8306A7671E1B}"/>
              </a:ext>
            </a:extLst>
          </p:cNvPr>
          <p:cNvSpPr>
            <a:spLocks xmlns:a="http://schemas.openxmlformats.org/drawingml/2006/main" noGrp="1"/>
          </p:cNvSpPr>
          <p:nvPr/>
        </p:nvSpPr>
        <p:spPr>
          <a:xfrm xmlns:a="http://schemas.openxmlformats.org/drawingml/2006/main">
            <a:off x="1280160" y="4041648"/>
            <a:ext cx="22860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300">
                <a:solidFill>
                  <a:srgbClr val="1E2761"/>
                </a:solidFill>
                <a:latin typeface="Calibri"/>
                <a:ea typeface="Calibri"/>
                <a:cs typeface="Calibri"/>
              </a:rPr>
              <a:t>CONSTRAINTS</a:t>
            </a:r>
            <a:endParaRPr sz="1300"/>
          </a:p>
        </p:txBody>
      </p:sp>
      <p:sp>
        <p:nvSpPr>
          <p:cNvPr id="26" name="Text 24">
            <a:extLst xmlns:a="http://schemas.openxmlformats.org/drawingml/2006/main">
              <a:ext uri="{FF2B5EF4-FFF2-40B4-BE49-F238E27FC236}">
                <a16:creationId xmlns:a16="http://schemas.microsoft.com/office/drawing/2014/main" id="{945D1702-3C0F-4E55-8492-BD2F7FB9680E}"/>
              </a:ext>
            </a:extLst>
          </p:cNvPr>
          <p:cNvSpPr>
            <a:spLocks xmlns:a="http://schemas.openxmlformats.org/drawingml/2006/main" noGrp="1"/>
          </p:cNvSpPr>
          <p:nvPr/>
        </p:nvSpPr>
        <p:spPr>
          <a:xfrm xmlns:a="http://schemas.openxmlformats.org/drawingml/2006/main">
            <a:off x="1280160" y="4306824"/>
            <a:ext cx="72237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1A1F3A"/>
                </a:solidFill>
                <a:latin typeface="Calibri"/>
                <a:ea typeface="Calibri"/>
                <a:cs typeface="Calibri"/>
              </a:rPr>
              <a:t>Define length, tone, format, exclusions and required verification. Check whether the output follows them.</a:t>
            </a:r>
            <a:endParaRPr sz="1100"/>
          </a:p>
        </p:txBody>
      </p:sp>
      <p:sp>
        <p:nvSpPr>
          <p:cNvPr id="27" name="Text 25">
            <a:extLst xmlns:a="http://schemas.openxmlformats.org/drawingml/2006/main">
              <a:ext uri="{FF2B5EF4-FFF2-40B4-BE49-F238E27FC236}">
                <a16:creationId xmlns:a16="http://schemas.microsoft.com/office/drawing/2014/main" id="{6EFAF8CF-A7B9-43AC-814E-393B98F6353B}"/>
              </a:ext>
            </a:extLst>
          </p:cNvPr>
          <p:cNvSpPr>
            <a:spLocks xmlns:a="http://schemas.openxmlformats.org/drawingml/2006/main" noGrp="1"/>
          </p:cNvSpPr>
          <p:nvPr/>
        </p:nvSpPr>
        <p:spPr>
          <a:xfrm xmlns:a="http://schemas.openxmlformats.org/drawingml/2006/main">
            <a:off x="457200" y="4846320"/>
            <a:ext cx="45720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HR AI Literacy Curriculum</a:t>
            </a:r>
            <a:endParaRPr sz="900"/>
          </a:p>
        </p:txBody>
      </p:sp>
      <p:sp>
        <p:nvSpPr>
          <p:cNvPr id="28" name="Text 26">
            <a:extLst xmlns:a="http://schemas.openxmlformats.org/drawingml/2006/main">
              <a:ext uri="{FF2B5EF4-FFF2-40B4-BE49-F238E27FC236}">
                <a16:creationId xmlns:a16="http://schemas.microsoft.com/office/drawing/2014/main" id="{E12EE04E-C726-4590-B3AF-CD5DF0ED8779}"/>
              </a:ext>
            </a:extLst>
          </p:cNvPr>
          <p:cNvSpPr>
            <a:spLocks xmlns:a="http://schemas.openxmlformats.org/drawingml/2006/main" noGrp="1"/>
          </p:cNvSpPr>
          <p:nvPr/>
        </p:nvSpPr>
        <p:spPr>
          <a:xfrm xmlns:a="http://schemas.openxmlformats.org/drawingml/2006/main">
            <a:off x="8412480" y="4846320"/>
            <a:ext cx="4572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6B7280"/>
                </a:solidFill>
                <a:latin typeface="Calibri"/>
                <a:ea typeface="Calibri"/>
                <a:cs typeface="Calibri"/>
              </a:rPr>
              <a:t>11</a:t>
            </a:r>
            <a:endParaRPr sz="900"/>
          </a:p>
        </p:txBody>
      </p:sp>
    </p:spTree>
    <p:extLst>
      <p:ext uri="{BB962C8B-B14F-4D97-AF65-F5344CB8AC3E}">
        <p14:creationId xmlns:p14="http://schemas.microsoft.com/office/powerpoint/2010/main" val="169187980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9880476-92B0-4591-8CE6-C99090E8800F}"/>
              </a:ext>
            </a:extLst>
          </p:cNvPr>
          <p:cNvSpPr>
            <a:spLocks xmlns:a="http://schemas.openxmlformats.org/drawingml/2006/main" noGrp="1"/>
          </p:cNvSpPr>
          <p:nvPr/>
        </p:nvSpPr>
        <p:spPr>
          <a:xfrm xmlns:a="http://schemas.openxmlformats.org/drawingml/2006/main">
            <a:off x="0" y="0"/>
            <a:ext cx="9144000" cy="411480"/>
          </a:xfrm>
          <a:prstGeom xmlns:a="http://schemas.openxmlformats.org/drawingml/2006/main" prst="rect">
            <a:avLst/>
          </a:prstGeom>
          <a:solidFill xmlns:a="http://schemas.openxmlformats.org/drawingml/2006/main">
            <a:srgbClr val="1E2761"/>
          </a:solidFill>
          <a:ln xmlns:a="http://schemas.openxmlformats.org/drawingml/2006/main" w="12700">
            <a:solidFill>
              <a:srgbClr val="1E2761"/>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FE040647-4F65-4A49-AC10-987F5A5CA560}"/>
              </a:ext>
            </a:extLst>
          </p:cNvPr>
          <p:cNvSpPr>
            <a:spLocks xmlns:a="http://schemas.openxmlformats.org/drawingml/2006/main" noGrp="1"/>
          </p:cNvSpPr>
          <p:nvPr/>
        </p:nvSpPr>
        <p:spPr>
          <a:xfrm xmlns:a="http://schemas.openxmlformats.org/drawingml/2006/main">
            <a:off x="457200" y="73152"/>
            <a:ext cx="2743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spc="400">
                <a:solidFill>
                  <a:srgbClr val="C9A961"/>
                </a:solidFill>
                <a:latin typeface="Calibri"/>
                <a:ea typeface="Calibri"/>
                <a:cs typeface="Calibri"/>
              </a:rPr>
              <a:t>MODULE 02</a:t>
            </a:r>
            <a:endParaRPr sz="1000"/>
          </a:p>
        </p:txBody>
      </p:sp>
      <p:sp>
        <p:nvSpPr>
          <p:cNvPr id="4" name="Text 2">
            <a:extLst xmlns:a="http://schemas.openxmlformats.org/drawingml/2006/main">
              <a:ext uri="{FF2B5EF4-FFF2-40B4-BE49-F238E27FC236}">
                <a16:creationId xmlns:a16="http://schemas.microsoft.com/office/drawing/2014/main" id="{4832FB3D-FF23-4FCB-B022-0D1C6DE135ED}"/>
              </a:ext>
            </a:extLst>
          </p:cNvPr>
          <p:cNvSpPr>
            <a:spLocks xmlns:a="http://schemas.openxmlformats.org/drawingml/2006/main" noGrp="1"/>
          </p:cNvSpPr>
          <p:nvPr/>
        </p:nvSpPr>
        <p:spPr>
          <a:xfrm xmlns:a="http://schemas.openxmlformats.org/drawingml/2006/main">
            <a:off x="3200400" y="73152"/>
            <a:ext cx="54864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000">
                <a:solidFill>
                  <a:srgbClr val="CADCFC"/>
                </a:solidFill>
                <a:latin typeface="Calibri"/>
                <a:ea typeface="Calibri"/>
                <a:cs typeface="Calibri"/>
              </a:rPr>
              <a:t>Using AI in your daily HR work</a:t>
            </a:r>
            <a:endParaRPr sz="1000"/>
          </a:p>
        </p:txBody>
      </p:sp>
      <p:sp>
        <p:nvSpPr>
          <p:cNvPr id="5" name="Text 3">
            <a:extLst xmlns:a="http://schemas.openxmlformats.org/drawingml/2006/main">
              <a:ext uri="{FF2B5EF4-FFF2-40B4-BE49-F238E27FC236}">
                <a16:creationId xmlns:a16="http://schemas.microsoft.com/office/drawing/2014/main" id="{E4288870-838C-4D58-8574-34D3BE47067A}"/>
              </a:ext>
            </a:extLst>
          </p:cNvPr>
          <p:cNvSpPr>
            <a:spLocks xmlns:a="http://schemas.openxmlformats.org/drawingml/2006/main" noGrp="1"/>
          </p:cNvSpPr>
          <p:nvPr/>
        </p:nvSpPr>
        <p:spPr>
          <a:xfrm xmlns:a="http://schemas.openxmlformats.org/drawingml/2006/main">
            <a:off x="457200" y="685800"/>
            <a:ext cx="822960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800" b="1">
                <a:solidFill>
                  <a:srgbClr val="1E2761"/>
                </a:solidFill>
                <a:latin typeface="Cambria"/>
                <a:ea typeface="Cambria"/>
                <a:cs typeface="Cambria"/>
              </a:rPr>
              <a:t>The verify-before-use rule</a:t>
            </a:r>
            <a:endParaRPr sz="2800"/>
          </a:p>
        </p:txBody>
      </p:sp>
      <p:sp>
        <p:nvSpPr>
          <p:cNvPr id="6" name="Text 4">
            <a:extLst xmlns:a="http://schemas.openxmlformats.org/drawingml/2006/main">
              <a:ext uri="{FF2B5EF4-FFF2-40B4-BE49-F238E27FC236}">
                <a16:creationId xmlns:a16="http://schemas.microsoft.com/office/drawing/2014/main" id="{AD96A409-6D9B-4223-BC7B-22A8A6F7D0D0}"/>
              </a:ext>
            </a:extLst>
          </p:cNvPr>
          <p:cNvSpPr>
            <a:spLocks xmlns:a="http://schemas.openxmlformats.org/drawingml/2006/main" noGrp="1"/>
          </p:cNvSpPr>
          <p:nvPr/>
        </p:nvSpPr>
        <p:spPr>
          <a:xfrm xmlns:a="http://schemas.openxmlformats.org/drawingml/2006/main">
            <a:off x="457200" y="1234440"/>
            <a:ext cx="82296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i="1">
                <a:solidFill>
                  <a:srgbClr val="6B7280"/>
                </a:solidFill>
                <a:latin typeface="Calibri"/>
                <a:ea typeface="Calibri"/>
                <a:cs typeface="Calibri"/>
              </a:rPr>
              <a:t>A heuristic introduced in Module 2 and reinforced throughout the program.</a:t>
            </a:r>
            <a:endParaRPr sz="1300"/>
          </a:p>
        </p:txBody>
      </p:sp>
      <p:sp>
        <p:nvSpPr>
          <p:cNvPr id="7" name="Shape 5">
            <a:extLst xmlns:a="http://schemas.openxmlformats.org/drawingml/2006/main">
              <a:ext uri="{FF2B5EF4-FFF2-40B4-BE49-F238E27FC236}">
                <a16:creationId xmlns:a16="http://schemas.microsoft.com/office/drawing/2014/main" id="{B92A3714-9DAA-4E55-9462-EC45BBB26D6E}"/>
              </a:ext>
            </a:extLst>
          </p:cNvPr>
          <p:cNvSpPr>
            <a:spLocks xmlns:a="http://schemas.openxmlformats.org/drawingml/2006/main" noGrp="1"/>
          </p:cNvSpPr>
          <p:nvPr/>
        </p:nvSpPr>
        <p:spPr>
          <a:xfrm xmlns:a="http://schemas.openxmlformats.org/drawingml/2006/main">
            <a:off x="457200" y="1783080"/>
            <a:ext cx="2560320" cy="594360"/>
          </a:xfrm>
          <a:prstGeom xmlns:a="http://schemas.openxmlformats.org/drawingml/2006/main" prst="rect">
            <a:avLst/>
          </a:prstGeom>
          <a:solidFill xmlns:a="http://schemas.openxmlformats.org/drawingml/2006/main">
            <a:srgbClr val="1E2761"/>
          </a:solidFill>
          <a:ln xmlns:a="http://schemas.openxmlformats.org/drawingml/2006/main" w="12700">
            <a:solidFill>
              <a:srgbClr val="1E2761"/>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30B1E3E3-D0CB-4EA1-A0F0-22BBC0EEEF78}"/>
              </a:ext>
            </a:extLst>
          </p:cNvPr>
          <p:cNvSpPr>
            <a:spLocks xmlns:a="http://schemas.openxmlformats.org/drawingml/2006/main" noGrp="1"/>
          </p:cNvSpPr>
          <p:nvPr/>
        </p:nvSpPr>
        <p:spPr>
          <a:xfrm xmlns:a="http://schemas.openxmlformats.org/drawingml/2006/main">
            <a:off x="548640" y="1947672"/>
            <a:ext cx="23774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300">
                <a:solidFill>
                  <a:srgbClr val="C9A961"/>
                </a:solidFill>
                <a:latin typeface="Calibri"/>
                <a:ea typeface="Calibri"/>
                <a:cs typeface="Calibri"/>
              </a:rPr>
              <a:t>POLICY DETAILS</a:t>
            </a:r>
            <a:endParaRPr sz="1100"/>
          </a:p>
        </p:txBody>
      </p:sp>
      <p:sp>
        <p:nvSpPr>
          <p:cNvPr id="9" name="Shape 7">
            <a:extLst xmlns:a="http://schemas.openxmlformats.org/drawingml/2006/main">
              <a:ext uri="{FF2B5EF4-FFF2-40B4-BE49-F238E27FC236}">
                <a16:creationId xmlns:a16="http://schemas.microsoft.com/office/drawing/2014/main" id="{7BA05310-994E-4485-9AC8-399AA5C1175B}"/>
              </a:ext>
            </a:extLst>
          </p:cNvPr>
          <p:cNvSpPr>
            <a:spLocks xmlns:a="http://schemas.openxmlformats.org/drawingml/2006/main" noGrp="1"/>
          </p:cNvSpPr>
          <p:nvPr/>
        </p:nvSpPr>
        <p:spPr>
          <a:xfrm xmlns:a="http://schemas.openxmlformats.org/drawingml/2006/main">
            <a:off x="3017520" y="1783080"/>
            <a:ext cx="5669280" cy="594360"/>
          </a:xfrm>
          <a:prstGeom xmlns:a="http://schemas.openxmlformats.org/drawingml/2006/main" prst="rect">
            <a:avLst/>
          </a:prstGeom>
          <a:solidFill xmlns:a="http://schemas.openxmlformats.org/drawingml/2006/main">
            <a:srgbClr val="F5F7FB"/>
          </a:solidFill>
          <a:ln xmlns:a="http://schemas.openxmlformats.org/drawingml/2006/main" w="6350">
            <a:solidFill>
              <a:srgbClr val="E5E7EB"/>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Text 8">
            <a:extLst xmlns:a="http://schemas.openxmlformats.org/drawingml/2006/main">
              <a:ext uri="{FF2B5EF4-FFF2-40B4-BE49-F238E27FC236}">
                <a16:creationId xmlns:a16="http://schemas.microsoft.com/office/drawing/2014/main" id="{1D644E42-23C6-43A4-BCA9-9D5E33BDDEE4}"/>
              </a:ext>
            </a:extLst>
          </p:cNvPr>
          <p:cNvSpPr>
            <a:spLocks xmlns:a="http://schemas.openxmlformats.org/drawingml/2006/main" noGrp="1"/>
          </p:cNvSpPr>
          <p:nvPr/>
        </p:nvSpPr>
        <p:spPr>
          <a:xfrm xmlns:a="http://schemas.openxmlformats.org/drawingml/2006/main">
            <a:off x="3200400" y="1947672"/>
            <a:ext cx="5486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1A1F3A"/>
                </a:solidFill>
                <a:latin typeface="Calibri"/>
                <a:ea typeface="Calibri"/>
                <a:cs typeface="Calibri"/>
              </a:rPr>
              <a:t>Always verify against source system before sharing.</a:t>
            </a:r>
            <a:endParaRPr sz="1300"/>
          </a:p>
        </p:txBody>
      </p:sp>
      <p:sp>
        <p:nvSpPr>
          <p:cNvPr id="11" name="Shape 9">
            <a:extLst xmlns:a="http://schemas.openxmlformats.org/drawingml/2006/main">
              <a:ext uri="{FF2B5EF4-FFF2-40B4-BE49-F238E27FC236}">
                <a16:creationId xmlns:a16="http://schemas.microsoft.com/office/drawing/2014/main" id="{D805E9ED-1A35-4AD7-B8C7-ABAC1B1A9B6E}"/>
              </a:ext>
            </a:extLst>
          </p:cNvPr>
          <p:cNvSpPr>
            <a:spLocks xmlns:a="http://schemas.openxmlformats.org/drawingml/2006/main" noGrp="1"/>
          </p:cNvSpPr>
          <p:nvPr/>
        </p:nvSpPr>
        <p:spPr>
          <a:xfrm xmlns:a="http://schemas.openxmlformats.org/drawingml/2006/main">
            <a:off x="457200" y="2450592"/>
            <a:ext cx="2560320" cy="594360"/>
          </a:xfrm>
          <a:prstGeom xmlns:a="http://schemas.openxmlformats.org/drawingml/2006/main" prst="rect">
            <a:avLst/>
          </a:prstGeom>
          <a:solidFill xmlns:a="http://schemas.openxmlformats.org/drawingml/2006/main">
            <a:srgbClr val="1E2761"/>
          </a:solidFill>
          <a:ln xmlns:a="http://schemas.openxmlformats.org/drawingml/2006/main" w="12700">
            <a:solidFill>
              <a:srgbClr val="1E2761"/>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8AA5382A-260B-43C4-9F29-8525A589B838}"/>
              </a:ext>
            </a:extLst>
          </p:cNvPr>
          <p:cNvSpPr>
            <a:spLocks xmlns:a="http://schemas.openxmlformats.org/drawingml/2006/main" noGrp="1"/>
          </p:cNvSpPr>
          <p:nvPr/>
        </p:nvSpPr>
        <p:spPr>
          <a:xfrm xmlns:a="http://schemas.openxmlformats.org/drawingml/2006/main">
            <a:off x="548640" y="2615184"/>
            <a:ext cx="23774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300">
                <a:solidFill>
                  <a:srgbClr val="C9A961"/>
                </a:solidFill>
                <a:latin typeface="Calibri"/>
                <a:ea typeface="Calibri"/>
                <a:cs typeface="Calibri"/>
              </a:rPr>
              <a:t>LEGAL REQUIREMENTS</a:t>
            </a:r>
            <a:endParaRPr sz="1100"/>
          </a:p>
        </p:txBody>
      </p:sp>
      <p:sp>
        <p:nvSpPr>
          <p:cNvPr id="13" name="Shape 11">
            <a:extLst xmlns:a="http://schemas.openxmlformats.org/drawingml/2006/main">
              <a:ext uri="{FF2B5EF4-FFF2-40B4-BE49-F238E27FC236}">
                <a16:creationId xmlns:a16="http://schemas.microsoft.com/office/drawing/2014/main" id="{084787CD-4E23-4A56-A6BD-AD15B79F8DF1}"/>
              </a:ext>
            </a:extLst>
          </p:cNvPr>
          <p:cNvSpPr>
            <a:spLocks xmlns:a="http://schemas.openxmlformats.org/drawingml/2006/main" noGrp="1"/>
          </p:cNvSpPr>
          <p:nvPr/>
        </p:nvSpPr>
        <p:spPr>
          <a:xfrm xmlns:a="http://schemas.openxmlformats.org/drawingml/2006/main">
            <a:off x="3017520" y="2450592"/>
            <a:ext cx="5669280" cy="594360"/>
          </a:xfrm>
          <a:prstGeom xmlns:a="http://schemas.openxmlformats.org/drawingml/2006/main" prst="rect">
            <a:avLst/>
          </a:prstGeom>
          <a:solidFill xmlns:a="http://schemas.openxmlformats.org/drawingml/2006/main">
            <a:srgbClr val="F5F7FB"/>
          </a:solidFill>
          <a:ln xmlns:a="http://schemas.openxmlformats.org/drawingml/2006/main" w="6350">
            <a:solidFill>
              <a:srgbClr val="E5E7EB"/>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06588A48-EFFE-41D4-8934-C3D4CD667579}"/>
              </a:ext>
            </a:extLst>
          </p:cNvPr>
          <p:cNvSpPr>
            <a:spLocks xmlns:a="http://schemas.openxmlformats.org/drawingml/2006/main" noGrp="1"/>
          </p:cNvSpPr>
          <p:nvPr/>
        </p:nvSpPr>
        <p:spPr>
          <a:xfrm xmlns:a="http://schemas.openxmlformats.org/drawingml/2006/main">
            <a:off x="3200400" y="2615184"/>
            <a:ext cx="5486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1A1F3A"/>
                </a:solidFill>
                <a:latin typeface="Calibri"/>
                <a:ea typeface="Calibri"/>
                <a:cs typeface="Calibri"/>
              </a:rPr>
              <a:t>Always verify with Legal before relying on.</a:t>
            </a:r>
            <a:endParaRPr sz="1300"/>
          </a:p>
        </p:txBody>
      </p:sp>
      <p:sp>
        <p:nvSpPr>
          <p:cNvPr id="15" name="Shape 13">
            <a:extLst xmlns:a="http://schemas.openxmlformats.org/drawingml/2006/main">
              <a:ext uri="{FF2B5EF4-FFF2-40B4-BE49-F238E27FC236}">
                <a16:creationId xmlns:a16="http://schemas.microsoft.com/office/drawing/2014/main" id="{7EA9B717-1F91-4CD8-86CB-4978877F56C0}"/>
              </a:ext>
            </a:extLst>
          </p:cNvPr>
          <p:cNvSpPr>
            <a:spLocks xmlns:a="http://schemas.openxmlformats.org/drawingml/2006/main" noGrp="1"/>
          </p:cNvSpPr>
          <p:nvPr/>
        </p:nvSpPr>
        <p:spPr>
          <a:xfrm xmlns:a="http://schemas.openxmlformats.org/drawingml/2006/main">
            <a:off x="457200" y="3118104"/>
            <a:ext cx="2560320" cy="594360"/>
          </a:xfrm>
          <a:prstGeom xmlns:a="http://schemas.openxmlformats.org/drawingml/2006/main" prst="rect">
            <a:avLst/>
          </a:prstGeom>
          <a:solidFill xmlns:a="http://schemas.openxmlformats.org/drawingml/2006/main">
            <a:srgbClr val="1E2761"/>
          </a:solidFill>
          <a:ln xmlns:a="http://schemas.openxmlformats.org/drawingml/2006/main" w="12700">
            <a:solidFill>
              <a:srgbClr val="1E2761"/>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5C54D14B-4BBF-4D9D-8D85-72B32D6966FC}"/>
              </a:ext>
            </a:extLst>
          </p:cNvPr>
          <p:cNvSpPr>
            <a:spLocks xmlns:a="http://schemas.openxmlformats.org/drawingml/2006/main" noGrp="1"/>
          </p:cNvSpPr>
          <p:nvPr/>
        </p:nvSpPr>
        <p:spPr>
          <a:xfrm xmlns:a="http://schemas.openxmlformats.org/drawingml/2006/main">
            <a:off x="548640" y="3282696"/>
            <a:ext cx="23774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300">
                <a:solidFill>
                  <a:srgbClr val="C9A961"/>
                </a:solidFill>
                <a:latin typeface="Calibri"/>
                <a:ea typeface="Calibri"/>
                <a:cs typeface="Calibri"/>
              </a:rPr>
              <a:t>FACTUAL CLAIMS</a:t>
            </a:r>
            <a:endParaRPr sz="1100"/>
          </a:p>
        </p:txBody>
      </p:sp>
      <p:sp>
        <p:nvSpPr>
          <p:cNvPr id="17" name="Shape 15">
            <a:extLst xmlns:a="http://schemas.openxmlformats.org/drawingml/2006/main">
              <a:ext uri="{FF2B5EF4-FFF2-40B4-BE49-F238E27FC236}">
                <a16:creationId xmlns:a16="http://schemas.microsoft.com/office/drawing/2014/main" id="{98AD4E05-794C-46AA-8992-56AA986690E1}"/>
              </a:ext>
            </a:extLst>
          </p:cNvPr>
          <p:cNvSpPr>
            <a:spLocks xmlns:a="http://schemas.openxmlformats.org/drawingml/2006/main" noGrp="1"/>
          </p:cNvSpPr>
          <p:nvPr/>
        </p:nvSpPr>
        <p:spPr>
          <a:xfrm xmlns:a="http://schemas.openxmlformats.org/drawingml/2006/main">
            <a:off x="3017520" y="3118104"/>
            <a:ext cx="5669280" cy="594360"/>
          </a:xfrm>
          <a:prstGeom xmlns:a="http://schemas.openxmlformats.org/drawingml/2006/main" prst="rect">
            <a:avLst/>
          </a:prstGeom>
          <a:solidFill xmlns:a="http://schemas.openxmlformats.org/drawingml/2006/main">
            <a:srgbClr val="F5F7FB"/>
          </a:solidFill>
          <a:ln xmlns:a="http://schemas.openxmlformats.org/drawingml/2006/main" w="6350">
            <a:solidFill>
              <a:srgbClr val="E5E7EB"/>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6">
            <a:extLst xmlns:a="http://schemas.openxmlformats.org/drawingml/2006/main">
              <a:ext uri="{FF2B5EF4-FFF2-40B4-BE49-F238E27FC236}">
                <a16:creationId xmlns:a16="http://schemas.microsoft.com/office/drawing/2014/main" id="{7DD517AB-999A-4C11-B2AC-8495804B8E59}"/>
              </a:ext>
            </a:extLst>
          </p:cNvPr>
          <p:cNvSpPr>
            <a:spLocks xmlns:a="http://schemas.openxmlformats.org/drawingml/2006/main" noGrp="1"/>
          </p:cNvSpPr>
          <p:nvPr/>
        </p:nvSpPr>
        <p:spPr>
          <a:xfrm xmlns:a="http://schemas.openxmlformats.org/drawingml/2006/main">
            <a:off x="3200400" y="3282696"/>
            <a:ext cx="5486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1A1F3A"/>
                </a:solidFill>
                <a:latin typeface="Calibri"/>
                <a:ea typeface="Calibri"/>
                <a:cs typeface="Calibri"/>
              </a:rPr>
              <a:t>Spot-check against a known source.</a:t>
            </a:r>
            <a:endParaRPr sz="1300"/>
          </a:p>
        </p:txBody>
      </p:sp>
      <p:sp>
        <p:nvSpPr>
          <p:cNvPr id="19" name="Shape 17">
            <a:extLst xmlns:a="http://schemas.openxmlformats.org/drawingml/2006/main">
              <a:ext uri="{FF2B5EF4-FFF2-40B4-BE49-F238E27FC236}">
                <a16:creationId xmlns:a16="http://schemas.microsoft.com/office/drawing/2014/main" id="{BB62EE48-B978-482F-91E4-9B3BFAF78257}"/>
              </a:ext>
            </a:extLst>
          </p:cNvPr>
          <p:cNvSpPr>
            <a:spLocks xmlns:a="http://schemas.openxmlformats.org/drawingml/2006/main" noGrp="1"/>
          </p:cNvSpPr>
          <p:nvPr/>
        </p:nvSpPr>
        <p:spPr>
          <a:xfrm xmlns:a="http://schemas.openxmlformats.org/drawingml/2006/main">
            <a:off x="457200" y="3785616"/>
            <a:ext cx="2560320" cy="594360"/>
          </a:xfrm>
          <a:prstGeom xmlns:a="http://schemas.openxmlformats.org/drawingml/2006/main" prst="rect">
            <a:avLst/>
          </a:prstGeom>
          <a:solidFill xmlns:a="http://schemas.openxmlformats.org/drawingml/2006/main">
            <a:srgbClr val="1E2761"/>
          </a:solidFill>
          <a:ln xmlns:a="http://schemas.openxmlformats.org/drawingml/2006/main" w="12700">
            <a:solidFill>
              <a:srgbClr val="1E2761"/>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D38897E9-1927-4824-84A1-7C96DF6621C6}"/>
              </a:ext>
            </a:extLst>
          </p:cNvPr>
          <p:cNvSpPr>
            <a:spLocks xmlns:a="http://schemas.openxmlformats.org/drawingml/2006/main" noGrp="1"/>
          </p:cNvSpPr>
          <p:nvPr/>
        </p:nvSpPr>
        <p:spPr>
          <a:xfrm xmlns:a="http://schemas.openxmlformats.org/drawingml/2006/main">
            <a:off x="548640" y="3950208"/>
            <a:ext cx="23774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300">
                <a:solidFill>
                  <a:srgbClr val="C9A961"/>
                </a:solidFill>
                <a:latin typeface="Calibri"/>
                <a:ea typeface="Calibri"/>
                <a:cs typeface="Calibri"/>
              </a:rPr>
              <a:t>TONE AND CONTENT</a:t>
            </a:r>
            <a:endParaRPr sz="1100"/>
          </a:p>
        </p:txBody>
      </p:sp>
      <p:sp>
        <p:nvSpPr>
          <p:cNvPr id="21" name="Shape 19">
            <a:extLst xmlns:a="http://schemas.openxmlformats.org/drawingml/2006/main">
              <a:ext uri="{FF2B5EF4-FFF2-40B4-BE49-F238E27FC236}">
                <a16:creationId xmlns:a16="http://schemas.microsoft.com/office/drawing/2014/main" id="{F2FCCEF0-B0A0-4CB1-AC5D-E9F2C7383A02}"/>
              </a:ext>
            </a:extLst>
          </p:cNvPr>
          <p:cNvSpPr>
            <a:spLocks xmlns:a="http://schemas.openxmlformats.org/drawingml/2006/main" noGrp="1"/>
          </p:cNvSpPr>
          <p:nvPr/>
        </p:nvSpPr>
        <p:spPr>
          <a:xfrm xmlns:a="http://schemas.openxmlformats.org/drawingml/2006/main">
            <a:off x="3017520" y="3785616"/>
            <a:ext cx="5669280" cy="594360"/>
          </a:xfrm>
          <a:prstGeom xmlns:a="http://schemas.openxmlformats.org/drawingml/2006/main" prst="rect">
            <a:avLst/>
          </a:prstGeom>
          <a:solidFill xmlns:a="http://schemas.openxmlformats.org/drawingml/2006/main">
            <a:srgbClr val="F5F7FB"/>
          </a:solidFill>
          <a:ln xmlns:a="http://schemas.openxmlformats.org/drawingml/2006/main" w="6350">
            <a:solidFill>
              <a:srgbClr val="E5E7EB"/>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Text 20">
            <a:extLst xmlns:a="http://schemas.openxmlformats.org/drawingml/2006/main">
              <a:ext uri="{FF2B5EF4-FFF2-40B4-BE49-F238E27FC236}">
                <a16:creationId xmlns:a16="http://schemas.microsoft.com/office/drawing/2014/main" id="{6BB3CA0A-2E1C-447A-A243-0B08828B5E7E}"/>
              </a:ext>
            </a:extLst>
          </p:cNvPr>
          <p:cNvSpPr>
            <a:spLocks xmlns:a="http://schemas.openxmlformats.org/drawingml/2006/main" noGrp="1"/>
          </p:cNvSpPr>
          <p:nvPr/>
        </p:nvSpPr>
        <p:spPr>
          <a:xfrm xmlns:a="http://schemas.openxmlformats.org/drawingml/2006/main">
            <a:off x="3200400" y="3950208"/>
            <a:ext cx="5486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1A1F3A"/>
                </a:solidFill>
                <a:latin typeface="Calibri"/>
                <a:ea typeface="Calibri"/>
                <a:cs typeface="Calibri"/>
              </a:rPr>
              <a:t>Always read before sending. AI doesn't know your audience.</a:t>
            </a:r>
            <a:endParaRPr sz="1300"/>
          </a:p>
        </p:txBody>
      </p:sp>
      <p:sp>
        <p:nvSpPr>
          <p:cNvPr id="23" name="Text 21">
            <a:extLst xmlns:a="http://schemas.openxmlformats.org/drawingml/2006/main">
              <a:ext uri="{FF2B5EF4-FFF2-40B4-BE49-F238E27FC236}">
                <a16:creationId xmlns:a16="http://schemas.microsoft.com/office/drawing/2014/main" id="{0BBB9AA9-B50E-4DFA-A948-A6FBD98F8862}"/>
              </a:ext>
            </a:extLst>
          </p:cNvPr>
          <p:cNvSpPr>
            <a:spLocks xmlns:a="http://schemas.openxmlformats.org/drawingml/2006/main" noGrp="1"/>
          </p:cNvSpPr>
          <p:nvPr/>
        </p:nvSpPr>
        <p:spPr>
          <a:xfrm xmlns:a="http://schemas.openxmlformats.org/drawingml/2006/main">
            <a:off x="457200" y="4846320"/>
            <a:ext cx="45720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HR AI Literacy Curriculum</a:t>
            </a:r>
            <a:endParaRPr sz="900"/>
          </a:p>
        </p:txBody>
      </p:sp>
      <p:sp>
        <p:nvSpPr>
          <p:cNvPr id="24" name="Text 22">
            <a:extLst xmlns:a="http://schemas.openxmlformats.org/drawingml/2006/main">
              <a:ext uri="{FF2B5EF4-FFF2-40B4-BE49-F238E27FC236}">
                <a16:creationId xmlns:a16="http://schemas.microsoft.com/office/drawing/2014/main" id="{2F8712B9-C4E4-476C-ACE5-3F206EC8633C}"/>
              </a:ext>
            </a:extLst>
          </p:cNvPr>
          <p:cNvSpPr>
            <a:spLocks xmlns:a="http://schemas.openxmlformats.org/drawingml/2006/main" noGrp="1"/>
          </p:cNvSpPr>
          <p:nvPr/>
        </p:nvSpPr>
        <p:spPr>
          <a:xfrm xmlns:a="http://schemas.openxmlformats.org/drawingml/2006/main">
            <a:off x="8412480" y="4846320"/>
            <a:ext cx="4572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6B7280"/>
                </a:solidFill>
                <a:latin typeface="Calibri"/>
                <a:ea typeface="Calibri"/>
                <a:cs typeface="Calibri"/>
              </a:rPr>
              <a:t>12</a:t>
            </a:r>
            <a:endParaRPr sz="900"/>
          </a:p>
        </p:txBody>
      </p:sp>
    </p:spTree>
    <p:extLst>
      <p:ext uri="{BB962C8B-B14F-4D97-AF65-F5344CB8AC3E}">
        <p14:creationId xmlns:p14="http://schemas.microsoft.com/office/powerpoint/2010/main" val="168050406"/>
      </p:ext>
    </p:extLst>
  </p:cSld>
</p:sld>
</file>

<file path=ppt/slides/slide13.xml><?xml version="1.0" encoding="utf-8"?>
<p:sld xmlns:p="http://schemas.openxmlformats.org/presentationml/2006/main">
  <p:cSld>
    <p:bg>
      <p:bgPr>
        <a:solidFill xmlns:a="http://schemas.openxmlformats.org/drawingml/2006/main">
          <a:srgbClr val="1E2761"/>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24A4AD2-F2A8-4377-8BFA-47926AD59051}"/>
              </a:ext>
            </a:extLst>
          </p:cNvPr>
          <p:cNvSpPr>
            <a:spLocks xmlns:a="http://schemas.openxmlformats.org/drawingml/2006/main" noGrp="1"/>
          </p:cNvSpPr>
          <p:nvPr/>
        </p:nvSpPr>
        <p:spPr>
          <a:xfrm xmlns:a="http://schemas.openxmlformats.org/drawingml/2006/main">
            <a:off x="640080" y="960120"/>
            <a:ext cx="2743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600">
                <a:solidFill>
                  <a:srgbClr val="CADCFC"/>
                </a:solidFill>
                <a:latin typeface="Calibri"/>
                <a:ea typeface="Calibri"/>
                <a:cs typeface="Calibri"/>
              </a:rPr>
              <a:t>MODULE</a:t>
            </a:r>
            <a:endParaRPr sz="1100"/>
          </a:p>
        </p:txBody>
      </p:sp>
      <p:sp>
        <p:nvSpPr>
          <p:cNvPr id="3" name="Text 1">
            <a:extLst xmlns:a="http://schemas.openxmlformats.org/drawingml/2006/main">
              <a:ext uri="{FF2B5EF4-FFF2-40B4-BE49-F238E27FC236}">
                <a16:creationId xmlns:a16="http://schemas.microsoft.com/office/drawing/2014/main" id="{4C75C471-96D8-4248-B018-199AEC83AB55}"/>
              </a:ext>
            </a:extLst>
          </p:cNvPr>
          <p:cNvSpPr>
            <a:spLocks xmlns:a="http://schemas.openxmlformats.org/drawingml/2006/main" noGrp="1"/>
          </p:cNvSpPr>
          <p:nvPr/>
        </p:nvSpPr>
        <p:spPr>
          <a:xfrm xmlns:a="http://schemas.openxmlformats.org/drawingml/2006/main">
            <a:off x="457200" y="1463040"/>
            <a:ext cx="2286000" cy="18288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3000" b="1">
                <a:solidFill>
                  <a:srgbClr val="C9A961"/>
                </a:solidFill>
                <a:latin typeface="Cambria"/>
                <a:ea typeface="Cambria"/>
                <a:cs typeface="Cambria"/>
              </a:rPr>
              <a:t>03</a:t>
            </a:r>
            <a:endParaRPr sz="13000"/>
          </a:p>
        </p:txBody>
      </p:sp>
      <p:sp>
        <p:nvSpPr>
          <p:cNvPr id="4" name="Text 2">
            <a:extLst xmlns:a="http://schemas.openxmlformats.org/drawingml/2006/main">
              <a:ext uri="{FF2B5EF4-FFF2-40B4-BE49-F238E27FC236}">
                <a16:creationId xmlns:a16="http://schemas.microsoft.com/office/drawing/2014/main" id="{1701A2FD-1068-4FF9-B7FA-A4FE107EC160}"/>
              </a:ext>
            </a:extLst>
          </p:cNvPr>
          <p:cNvSpPr>
            <a:spLocks xmlns:a="http://schemas.openxmlformats.org/drawingml/2006/main" noGrp="1"/>
          </p:cNvSpPr>
          <p:nvPr/>
        </p:nvSpPr>
        <p:spPr>
          <a:xfrm xmlns:a="http://schemas.openxmlformats.org/drawingml/2006/main">
            <a:off x="3200400" y="1737360"/>
            <a:ext cx="548640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FFFFFF"/>
                </a:solidFill>
                <a:latin typeface="Cambria"/>
                <a:ea typeface="Cambria"/>
                <a:cs typeface="Cambria"/>
              </a:rPr>
              <a:t>Governance, ethics, responsible use</a:t>
            </a:r>
            <a:endParaRPr sz="3000"/>
          </a:p>
        </p:txBody>
      </p:sp>
      <p:sp>
        <p:nvSpPr>
          <p:cNvPr id="5" name="Text 3">
            <a:extLst xmlns:a="http://schemas.openxmlformats.org/drawingml/2006/main">
              <a:ext uri="{FF2B5EF4-FFF2-40B4-BE49-F238E27FC236}">
                <a16:creationId xmlns:a16="http://schemas.microsoft.com/office/drawing/2014/main" id="{1C64252E-C5DE-451A-91B1-2481AFF09E40}"/>
              </a:ext>
            </a:extLst>
          </p:cNvPr>
          <p:cNvSpPr>
            <a:spLocks xmlns:a="http://schemas.openxmlformats.org/drawingml/2006/main" noGrp="1"/>
          </p:cNvSpPr>
          <p:nvPr/>
        </p:nvSpPr>
        <p:spPr>
          <a:xfrm xmlns:a="http://schemas.openxmlformats.org/drawingml/2006/main">
            <a:off x="3200400" y="2606040"/>
            <a:ext cx="54864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i="1">
                <a:solidFill>
                  <a:srgbClr val="CADCFC"/>
                </a:solidFill>
                <a:latin typeface="Calibri"/>
                <a:ea typeface="Calibri"/>
                <a:cs typeface="Calibri"/>
              </a:rPr>
              <a:t>Legal risk, scenarios, and the risk assessment template</a:t>
            </a:r>
            <a:endParaRPr sz="1600"/>
          </a:p>
        </p:txBody>
      </p:sp>
      <p:sp>
        <p:nvSpPr>
          <p:cNvPr id="6" name="Shape 4">
            <a:extLst xmlns:a="http://schemas.openxmlformats.org/drawingml/2006/main">
              <a:ext uri="{FF2B5EF4-FFF2-40B4-BE49-F238E27FC236}">
                <a16:creationId xmlns:a16="http://schemas.microsoft.com/office/drawing/2014/main" id="{9CAF2051-ECDF-4E28-B338-FA3E4D44C4C5}"/>
              </a:ext>
            </a:extLst>
          </p:cNvPr>
          <p:cNvSpPr>
            <a:spLocks xmlns:a="http://schemas.openxmlformats.org/drawingml/2006/main" noGrp="1"/>
          </p:cNvSpPr>
          <p:nvPr/>
        </p:nvSpPr>
        <p:spPr>
          <a:xfrm xmlns:a="http://schemas.openxmlformats.org/drawingml/2006/main">
            <a:off x="3200400" y="3429000"/>
            <a:ext cx="36576" cy="914400"/>
          </a:xfrm>
          <a:prstGeom xmlns:a="http://schemas.openxmlformats.org/drawingml/2006/main" prst="rect">
            <a:avLst/>
          </a:prstGeom>
          <a:solidFill xmlns:a="http://schemas.openxmlformats.org/drawingml/2006/main">
            <a:srgbClr val="C9A961"/>
          </a:solidFill>
          <a:ln xmlns:a="http://schemas.openxmlformats.org/drawingml/2006/main" w="12700">
            <a:solidFill>
              <a:srgbClr val="C9A961"/>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Text 5">
            <a:extLst xmlns:a="http://schemas.openxmlformats.org/drawingml/2006/main">
              <a:ext uri="{FF2B5EF4-FFF2-40B4-BE49-F238E27FC236}">
                <a16:creationId xmlns:a16="http://schemas.microsoft.com/office/drawing/2014/main" id="{888E1354-531B-452A-9991-C31D8AE05A29}"/>
              </a:ext>
            </a:extLst>
          </p:cNvPr>
          <p:cNvSpPr>
            <a:spLocks xmlns:a="http://schemas.openxmlformats.org/drawingml/2006/main" noGrp="1"/>
          </p:cNvSpPr>
          <p:nvPr/>
        </p:nvSpPr>
        <p:spPr>
          <a:xfrm xmlns:a="http://schemas.openxmlformats.org/drawingml/2006/main">
            <a:off x="3383280" y="3429000"/>
            <a:ext cx="45720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FFFFFF"/>
                </a:solidFill>
                <a:latin typeface="Calibri"/>
                <a:ea typeface="Calibri"/>
                <a:cs typeface="Calibri"/>
              </a:rPr>
              <a:t>90 minutes</a:t>
            </a:r>
            <a:endParaRPr sz="1600"/>
          </a:p>
        </p:txBody>
      </p:sp>
      <p:sp>
        <p:nvSpPr>
          <p:cNvPr id="8" name="Text 6">
            <a:extLst xmlns:a="http://schemas.openxmlformats.org/drawingml/2006/main">
              <a:ext uri="{FF2B5EF4-FFF2-40B4-BE49-F238E27FC236}">
                <a16:creationId xmlns:a16="http://schemas.microsoft.com/office/drawing/2014/main" id="{E28054E3-F855-469A-91C0-E6C33F78AAF4}"/>
              </a:ext>
            </a:extLst>
          </p:cNvPr>
          <p:cNvSpPr>
            <a:spLocks xmlns:a="http://schemas.openxmlformats.org/drawingml/2006/main" noGrp="1"/>
          </p:cNvSpPr>
          <p:nvPr/>
        </p:nvSpPr>
        <p:spPr>
          <a:xfrm xmlns:a="http://schemas.openxmlformats.org/drawingml/2006/main">
            <a:off x="3383280" y="3794760"/>
            <a:ext cx="4572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a:solidFill>
                  <a:srgbClr val="CADCFC"/>
                </a:solidFill>
                <a:latin typeface="Calibri"/>
                <a:ea typeface="Calibri"/>
                <a:cs typeface="Calibri"/>
              </a:rPr>
              <a:t>Workshop format</a:t>
            </a:r>
            <a:endParaRPr sz="1200"/>
          </a:p>
        </p:txBody>
      </p:sp>
      <p:sp>
        <p:nvSpPr>
          <p:cNvPr id="9" name="Text 7">
            <a:extLst xmlns:a="http://schemas.openxmlformats.org/drawingml/2006/main">
              <a:ext uri="{FF2B5EF4-FFF2-40B4-BE49-F238E27FC236}">
                <a16:creationId xmlns:a16="http://schemas.microsoft.com/office/drawing/2014/main" id="{67E0B0B1-C977-4FD9-A681-45B2A2FE86C5}"/>
              </a:ext>
            </a:extLst>
          </p:cNvPr>
          <p:cNvSpPr>
            <a:spLocks xmlns:a="http://schemas.openxmlformats.org/drawingml/2006/main" noGrp="1"/>
          </p:cNvSpPr>
          <p:nvPr/>
        </p:nvSpPr>
        <p:spPr>
          <a:xfrm xmlns:a="http://schemas.openxmlformats.org/drawingml/2006/main">
            <a:off x="3383280" y="4114800"/>
            <a:ext cx="530352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i="1">
                <a:solidFill>
                  <a:srgbClr val="CADCFC"/>
                </a:solidFill>
                <a:latin typeface="Calibri"/>
                <a:ea typeface="Calibri"/>
                <a:cs typeface="Calibri"/>
              </a:rPr>
              <a:t>Practice risk decisions using fictional scenarios. Invite different perspectives. Complete governance approvals before any real-work pilot.</a:t>
            </a:r>
            <a:endParaRPr sz="1100"/>
          </a:p>
        </p:txBody>
      </p:sp>
    </p:spTree>
    <p:extLst>
      <p:ext uri="{BB962C8B-B14F-4D97-AF65-F5344CB8AC3E}">
        <p14:creationId xmlns:p14="http://schemas.microsoft.com/office/powerpoint/2010/main" val="1431855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D60B0E4-F97E-41CC-A99B-57D43E715BF3}"/>
              </a:ext>
            </a:extLst>
          </p:cNvPr>
          <p:cNvSpPr>
            <a:spLocks xmlns:a="http://schemas.openxmlformats.org/drawingml/2006/main" noGrp="1"/>
          </p:cNvSpPr>
          <p:nvPr/>
        </p:nvSpPr>
        <p:spPr>
          <a:xfrm xmlns:a="http://schemas.openxmlformats.org/drawingml/2006/main">
            <a:off x="0" y="0"/>
            <a:ext cx="9144000" cy="411480"/>
          </a:xfrm>
          <a:prstGeom xmlns:a="http://schemas.openxmlformats.org/drawingml/2006/main" prst="rect">
            <a:avLst/>
          </a:prstGeom>
          <a:solidFill xmlns:a="http://schemas.openxmlformats.org/drawingml/2006/main">
            <a:srgbClr val="1E2761"/>
          </a:solidFill>
          <a:ln xmlns:a="http://schemas.openxmlformats.org/drawingml/2006/main" w="12700">
            <a:solidFill>
              <a:srgbClr val="1E2761"/>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F03A8A6D-0F16-4172-BD87-B5999C606533}"/>
              </a:ext>
            </a:extLst>
          </p:cNvPr>
          <p:cNvSpPr>
            <a:spLocks xmlns:a="http://schemas.openxmlformats.org/drawingml/2006/main" noGrp="1"/>
          </p:cNvSpPr>
          <p:nvPr/>
        </p:nvSpPr>
        <p:spPr>
          <a:xfrm xmlns:a="http://schemas.openxmlformats.org/drawingml/2006/main">
            <a:off x="457200" y="73152"/>
            <a:ext cx="2743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spc="400">
                <a:solidFill>
                  <a:srgbClr val="C9A961"/>
                </a:solidFill>
                <a:latin typeface="Calibri"/>
                <a:ea typeface="Calibri"/>
                <a:cs typeface="Calibri"/>
              </a:rPr>
              <a:t>MODULE 03</a:t>
            </a:r>
            <a:endParaRPr sz="1000"/>
          </a:p>
        </p:txBody>
      </p:sp>
      <p:sp>
        <p:nvSpPr>
          <p:cNvPr id="4" name="Text 2">
            <a:extLst xmlns:a="http://schemas.openxmlformats.org/drawingml/2006/main">
              <a:ext uri="{FF2B5EF4-FFF2-40B4-BE49-F238E27FC236}">
                <a16:creationId xmlns:a16="http://schemas.microsoft.com/office/drawing/2014/main" id="{A3FDC123-96DE-41EF-9DC2-91147D8A3193}"/>
              </a:ext>
            </a:extLst>
          </p:cNvPr>
          <p:cNvSpPr>
            <a:spLocks xmlns:a="http://schemas.openxmlformats.org/drawingml/2006/main" noGrp="1"/>
          </p:cNvSpPr>
          <p:nvPr/>
        </p:nvSpPr>
        <p:spPr>
          <a:xfrm xmlns:a="http://schemas.openxmlformats.org/drawingml/2006/main">
            <a:off x="3200400" y="73152"/>
            <a:ext cx="54864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000">
                <a:solidFill>
                  <a:srgbClr val="CADCFC"/>
                </a:solidFill>
                <a:latin typeface="Calibri"/>
                <a:ea typeface="Calibri"/>
                <a:cs typeface="Calibri"/>
              </a:rPr>
              <a:t>Governance, ethics, responsible use</a:t>
            </a:r>
            <a:endParaRPr sz="1000"/>
          </a:p>
        </p:txBody>
      </p:sp>
      <p:sp>
        <p:nvSpPr>
          <p:cNvPr id="5" name="Text 3">
            <a:extLst xmlns:a="http://schemas.openxmlformats.org/drawingml/2006/main">
              <a:ext uri="{FF2B5EF4-FFF2-40B4-BE49-F238E27FC236}">
                <a16:creationId xmlns:a16="http://schemas.microsoft.com/office/drawing/2014/main" id="{3FF1C781-2424-4155-B575-D2D12C3F73BA}"/>
              </a:ext>
            </a:extLst>
          </p:cNvPr>
          <p:cNvSpPr>
            <a:spLocks xmlns:a="http://schemas.openxmlformats.org/drawingml/2006/main" noGrp="1"/>
          </p:cNvSpPr>
          <p:nvPr/>
        </p:nvSpPr>
        <p:spPr>
          <a:xfrm xmlns:a="http://schemas.openxmlformats.org/drawingml/2006/main">
            <a:off x="457200" y="685800"/>
            <a:ext cx="822960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800" b="1">
                <a:solidFill>
                  <a:srgbClr val="1E2761"/>
                </a:solidFill>
                <a:latin typeface="Cambria"/>
                <a:ea typeface="Cambria"/>
                <a:cs typeface="Cambria"/>
              </a:rPr>
              <a:t>Learning objectives</a:t>
            </a:r>
            <a:endParaRPr sz="2800"/>
          </a:p>
        </p:txBody>
      </p:sp>
      <p:sp>
        <p:nvSpPr>
          <p:cNvPr id="6" name="Text 4">
            <a:extLst xmlns:a="http://schemas.openxmlformats.org/drawingml/2006/main">
              <a:ext uri="{FF2B5EF4-FFF2-40B4-BE49-F238E27FC236}">
                <a16:creationId xmlns:a16="http://schemas.microsoft.com/office/drawing/2014/main" id="{0518BAF8-C807-4C24-A6B6-BA8BCFE708CE}"/>
              </a:ext>
            </a:extLst>
          </p:cNvPr>
          <p:cNvSpPr>
            <a:spLocks xmlns:a="http://schemas.openxmlformats.org/drawingml/2006/main" noGrp="1"/>
          </p:cNvSpPr>
          <p:nvPr/>
        </p:nvSpPr>
        <p:spPr>
          <a:xfrm xmlns:a="http://schemas.openxmlformats.org/drawingml/2006/main">
            <a:off x="457200" y="1234440"/>
            <a:ext cx="82296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i="1">
                <a:solidFill>
                  <a:srgbClr val="6B7280"/>
                </a:solidFill>
                <a:latin typeface="Calibri"/>
                <a:ea typeface="Calibri"/>
                <a:cs typeface="Calibri"/>
              </a:rPr>
              <a:t>After this session, participants will be able to:</a:t>
            </a:r>
            <a:endParaRPr sz="1300"/>
          </a:p>
        </p:txBody>
      </p:sp>
      <p:sp>
        <p:nvSpPr>
          <p:cNvPr id="7" name="Shape 5">
            <a:extLst xmlns:a="http://schemas.openxmlformats.org/drawingml/2006/main">
              <a:ext uri="{FF2B5EF4-FFF2-40B4-BE49-F238E27FC236}">
                <a16:creationId xmlns:a16="http://schemas.microsoft.com/office/drawing/2014/main" id="{69C38085-C346-4021-9C6E-5E384BFC39E1}"/>
              </a:ext>
            </a:extLst>
          </p:cNvPr>
          <p:cNvSpPr>
            <a:spLocks xmlns:a="http://schemas.openxmlformats.org/drawingml/2006/main" noGrp="1"/>
          </p:cNvSpPr>
          <p:nvPr/>
        </p:nvSpPr>
        <p:spPr>
          <a:xfrm xmlns:a="http://schemas.openxmlformats.org/drawingml/2006/main">
            <a:off x="457200" y="1965960"/>
            <a:ext cx="548640" cy="548640"/>
          </a:xfrm>
          <a:prstGeom xmlns:a="http://schemas.openxmlformats.org/drawingml/2006/main" prst="ellipse">
            <a:avLst/>
          </a:prstGeom>
          <a:solidFill xmlns:a="http://schemas.openxmlformats.org/drawingml/2006/main">
            <a:srgbClr val="1E2761"/>
          </a:solidFill>
          <a:ln xmlns:a="http://schemas.openxmlformats.org/drawingml/2006/main" w="12700">
            <a:solidFill>
              <a:srgbClr val="1E2761"/>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21AB4981-DA25-45F7-9357-5F84AA006B31}"/>
              </a:ext>
            </a:extLst>
          </p:cNvPr>
          <p:cNvSpPr>
            <a:spLocks xmlns:a="http://schemas.openxmlformats.org/drawingml/2006/main" noGrp="1"/>
          </p:cNvSpPr>
          <p:nvPr/>
        </p:nvSpPr>
        <p:spPr>
          <a:xfrm xmlns:a="http://schemas.openxmlformats.org/drawingml/2006/main">
            <a:off x="457200" y="1993392"/>
            <a:ext cx="5486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C9A961"/>
                </a:solidFill>
                <a:latin typeface="Cambria"/>
                <a:ea typeface="Cambria"/>
                <a:cs typeface="Cambria"/>
              </a:rPr>
              <a:t>1</a:t>
            </a:r>
            <a:endParaRPr sz="2200"/>
          </a:p>
        </p:txBody>
      </p:sp>
      <p:sp>
        <p:nvSpPr>
          <p:cNvPr id="9" name="Text 7">
            <a:extLst xmlns:a="http://schemas.openxmlformats.org/drawingml/2006/main">
              <a:ext uri="{FF2B5EF4-FFF2-40B4-BE49-F238E27FC236}">
                <a16:creationId xmlns:a16="http://schemas.microsoft.com/office/drawing/2014/main" id="{5062A931-5F48-4EFD-A43C-2EE4977BBDED}"/>
              </a:ext>
            </a:extLst>
          </p:cNvPr>
          <p:cNvSpPr>
            <a:spLocks xmlns:a="http://schemas.openxmlformats.org/drawingml/2006/main" noGrp="1"/>
          </p:cNvSpPr>
          <p:nvPr/>
        </p:nvSpPr>
        <p:spPr>
          <a:xfrm xmlns:a="http://schemas.openxmlformats.org/drawingml/2006/main">
            <a:off x="1280160" y="2057400"/>
            <a:ext cx="731520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00">
                <a:solidFill>
                  <a:srgbClr val="1A1F3A"/>
                </a:solidFill>
                <a:latin typeface="Calibri"/>
                <a:ea typeface="Calibri"/>
                <a:cs typeface="Calibri"/>
              </a:rPr>
              <a:t>Apply the organization's AI use policy to real HR scenarios.</a:t>
            </a:r>
            <a:endParaRPr sz="1500"/>
          </a:p>
        </p:txBody>
      </p:sp>
      <p:sp>
        <p:nvSpPr>
          <p:cNvPr id="10" name="Shape 8">
            <a:extLst xmlns:a="http://schemas.openxmlformats.org/drawingml/2006/main">
              <a:ext uri="{FF2B5EF4-FFF2-40B4-BE49-F238E27FC236}">
                <a16:creationId xmlns:a16="http://schemas.microsoft.com/office/drawing/2014/main" id="{56399079-4CCA-4E41-B499-96711B3B7122}"/>
              </a:ext>
            </a:extLst>
          </p:cNvPr>
          <p:cNvSpPr>
            <a:spLocks xmlns:a="http://schemas.openxmlformats.org/drawingml/2006/main" noGrp="1"/>
          </p:cNvSpPr>
          <p:nvPr/>
        </p:nvSpPr>
        <p:spPr>
          <a:xfrm xmlns:a="http://schemas.openxmlformats.org/drawingml/2006/main">
            <a:off x="457200" y="2971800"/>
            <a:ext cx="548640" cy="548640"/>
          </a:xfrm>
          <a:prstGeom xmlns:a="http://schemas.openxmlformats.org/drawingml/2006/main" prst="ellipse">
            <a:avLst/>
          </a:prstGeom>
          <a:solidFill xmlns:a="http://schemas.openxmlformats.org/drawingml/2006/main">
            <a:srgbClr val="1E2761"/>
          </a:solidFill>
          <a:ln xmlns:a="http://schemas.openxmlformats.org/drawingml/2006/main" w="12700">
            <a:solidFill>
              <a:srgbClr val="1E2761"/>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03343C14-EF47-4047-A98A-D229CAD2F635}"/>
              </a:ext>
            </a:extLst>
          </p:cNvPr>
          <p:cNvSpPr>
            <a:spLocks xmlns:a="http://schemas.openxmlformats.org/drawingml/2006/main" noGrp="1"/>
          </p:cNvSpPr>
          <p:nvPr/>
        </p:nvSpPr>
        <p:spPr>
          <a:xfrm xmlns:a="http://schemas.openxmlformats.org/drawingml/2006/main">
            <a:off x="457200" y="2999232"/>
            <a:ext cx="5486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C9A961"/>
                </a:solidFill>
                <a:latin typeface="Cambria"/>
                <a:ea typeface="Cambria"/>
                <a:cs typeface="Cambria"/>
              </a:rPr>
              <a:t>2</a:t>
            </a:r>
            <a:endParaRPr sz="2200"/>
          </a:p>
        </p:txBody>
      </p:sp>
      <p:sp>
        <p:nvSpPr>
          <p:cNvPr id="12" name="Text 10">
            <a:extLst xmlns:a="http://schemas.openxmlformats.org/drawingml/2006/main">
              <a:ext uri="{FF2B5EF4-FFF2-40B4-BE49-F238E27FC236}">
                <a16:creationId xmlns:a16="http://schemas.microsoft.com/office/drawing/2014/main" id="{E22D17AF-F60A-4AE9-8A0E-14FF19C1D22A}"/>
              </a:ext>
            </a:extLst>
          </p:cNvPr>
          <p:cNvSpPr>
            <a:spLocks xmlns:a="http://schemas.openxmlformats.org/drawingml/2006/main" noGrp="1"/>
          </p:cNvSpPr>
          <p:nvPr/>
        </p:nvSpPr>
        <p:spPr>
          <a:xfrm xmlns:a="http://schemas.openxmlformats.org/drawingml/2006/main">
            <a:off x="1280160" y="3063240"/>
            <a:ext cx="731520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00">
                <a:solidFill>
                  <a:srgbClr val="1A1F3A"/>
                </a:solidFill>
                <a:latin typeface="Calibri"/>
                <a:ea typeface="Calibri"/>
                <a:cs typeface="Calibri"/>
              </a:rPr>
              <a:t>Identify the key legal risk areas in HR AI: bias, privacy, employment law.</a:t>
            </a:r>
            <a:endParaRPr sz="1500"/>
          </a:p>
        </p:txBody>
      </p:sp>
      <p:sp>
        <p:nvSpPr>
          <p:cNvPr id="13" name="Shape 11">
            <a:extLst xmlns:a="http://schemas.openxmlformats.org/drawingml/2006/main">
              <a:ext uri="{FF2B5EF4-FFF2-40B4-BE49-F238E27FC236}">
                <a16:creationId xmlns:a16="http://schemas.microsoft.com/office/drawing/2014/main" id="{1F6D0756-6AFD-4F60-A16E-501A5A31DB4B}"/>
              </a:ext>
            </a:extLst>
          </p:cNvPr>
          <p:cNvSpPr>
            <a:spLocks xmlns:a="http://schemas.openxmlformats.org/drawingml/2006/main" noGrp="1"/>
          </p:cNvSpPr>
          <p:nvPr/>
        </p:nvSpPr>
        <p:spPr>
          <a:xfrm xmlns:a="http://schemas.openxmlformats.org/drawingml/2006/main">
            <a:off x="457200" y="3977640"/>
            <a:ext cx="548640" cy="548640"/>
          </a:xfrm>
          <a:prstGeom xmlns:a="http://schemas.openxmlformats.org/drawingml/2006/main" prst="ellipse">
            <a:avLst/>
          </a:prstGeom>
          <a:solidFill xmlns:a="http://schemas.openxmlformats.org/drawingml/2006/main">
            <a:srgbClr val="1E2761"/>
          </a:solidFill>
          <a:ln xmlns:a="http://schemas.openxmlformats.org/drawingml/2006/main" w="12700">
            <a:solidFill>
              <a:srgbClr val="1E2761"/>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60C9D350-CBFA-46BF-A3DC-EB8FE2CC66F3}"/>
              </a:ext>
            </a:extLst>
          </p:cNvPr>
          <p:cNvSpPr>
            <a:spLocks xmlns:a="http://schemas.openxmlformats.org/drawingml/2006/main" noGrp="1"/>
          </p:cNvSpPr>
          <p:nvPr/>
        </p:nvSpPr>
        <p:spPr>
          <a:xfrm xmlns:a="http://schemas.openxmlformats.org/drawingml/2006/main">
            <a:off x="457200" y="4005072"/>
            <a:ext cx="5486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C9A961"/>
                </a:solidFill>
                <a:latin typeface="Cambria"/>
                <a:ea typeface="Cambria"/>
                <a:cs typeface="Cambria"/>
              </a:rPr>
              <a:t>3</a:t>
            </a:r>
            <a:endParaRPr sz="2200"/>
          </a:p>
        </p:txBody>
      </p:sp>
      <p:sp>
        <p:nvSpPr>
          <p:cNvPr id="15" name="Text 13">
            <a:extLst xmlns:a="http://schemas.openxmlformats.org/drawingml/2006/main">
              <a:ext uri="{FF2B5EF4-FFF2-40B4-BE49-F238E27FC236}">
                <a16:creationId xmlns:a16="http://schemas.microsoft.com/office/drawing/2014/main" id="{15DDB98F-D135-4986-B642-671821AADC86}"/>
              </a:ext>
            </a:extLst>
          </p:cNvPr>
          <p:cNvSpPr>
            <a:spLocks xmlns:a="http://schemas.openxmlformats.org/drawingml/2006/main" noGrp="1"/>
          </p:cNvSpPr>
          <p:nvPr/>
        </p:nvSpPr>
        <p:spPr>
          <a:xfrm xmlns:a="http://schemas.openxmlformats.org/drawingml/2006/main">
            <a:off x="1280160" y="4069080"/>
            <a:ext cx="731520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00">
                <a:solidFill>
                  <a:srgbClr val="1A1F3A"/>
                </a:solidFill>
                <a:latin typeface="Calibri"/>
                <a:ea typeface="Calibri"/>
                <a:cs typeface="Calibri"/>
              </a:rPr>
              <a:t>Complete a basic risk assessment for a new use case.</a:t>
            </a:r>
            <a:endParaRPr sz="1500"/>
          </a:p>
        </p:txBody>
      </p:sp>
      <p:sp>
        <p:nvSpPr>
          <p:cNvPr id="16" name="Text 14">
            <a:extLst xmlns:a="http://schemas.openxmlformats.org/drawingml/2006/main">
              <a:ext uri="{FF2B5EF4-FFF2-40B4-BE49-F238E27FC236}">
                <a16:creationId xmlns:a16="http://schemas.microsoft.com/office/drawing/2014/main" id="{EB465FFB-6289-4474-A4A6-A4833493246D}"/>
              </a:ext>
            </a:extLst>
          </p:cNvPr>
          <p:cNvSpPr>
            <a:spLocks xmlns:a="http://schemas.openxmlformats.org/drawingml/2006/main" noGrp="1"/>
          </p:cNvSpPr>
          <p:nvPr/>
        </p:nvSpPr>
        <p:spPr>
          <a:xfrm xmlns:a="http://schemas.openxmlformats.org/drawingml/2006/main">
            <a:off x="457200" y="4846320"/>
            <a:ext cx="45720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HR AI Literacy Curriculum</a:t>
            </a:r>
            <a:endParaRPr sz="900"/>
          </a:p>
        </p:txBody>
      </p:sp>
      <p:sp>
        <p:nvSpPr>
          <p:cNvPr id="17" name="Text 15">
            <a:extLst xmlns:a="http://schemas.openxmlformats.org/drawingml/2006/main">
              <a:ext uri="{FF2B5EF4-FFF2-40B4-BE49-F238E27FC236}">
                <a16:creationId xmlns:a16="http://schemas.microsoft.com/office/drawing/2014/main" id="{AE0D609F-99D1-4BF0-B377-0640AC46653F}"/>
              </a:ext>
            </a:extLst>
          </p:cNvPr>
          <p:cNvSpPr>
            <a:spLocks xmlns:a="http://schemas.openxmlformats.org/drawingml/2006/main" noGrp="1"/>
          </p:cNvSpPr>
          <p:nvPr/>
        </p:nvSpPr>
        <p:spPr>
          <a:xfrm xmlns:a="http://schemas.openxmlformats.org/drawingml/2006/main">
            <a:off x="8412480" y="4846320"/>
            <a:ext cx="4572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6B7280"/>
                </a:solidFill>
                <a:latin typeface="Calibri"/>
                <a:ea typeface="Calibri"/>
                <a:cs typeface="Calibri"/>
              </a:rPr>
              <a:t>14</a:t>
            </a:r>
            <a:endParaRPr sz="900"/>
          </a:p>
        </p:txBody>
      </p:sp>
    </p:spTree>
    <p:extLst>
      <p:ext uri="{BB962C8B-B14F-4D97-AF65-F5344CB8AC3E}">
        <p14:creationId xmlns:p14="http://schemas.microsoft.com/office/powerpoint/2010/main" val="135669317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C57B889-ADE6-4FCF-A61E-73A059B50A84}"/>
              </a:ext>
            </a:extLst>
          </p:cNvPr>
          <p:cNvSpPr>
            <a:spLocks xmlns:a="http://schemas.openxmlformats.org/drawingml/2006/main" noGrp="1"/>
          </p:cNvSpPr>
          <p:nvPr/>
        </p:nvSpPr>
        <p:spPr>
          <a:xfrm xmlns:a="http://schemas.openxmlformats.org/drawingml/2006/main">
            <a:off x="0" y="0"/>
            <a:ext cx="9144000" cy="411480"/>
          </a:xfrm>
          <a:prstGeom xmlns:a="http://schemas.openxmlformats.org/drawingml/2006/main" prst="rect">
            <a:avLst/>
          </a:prstGeom>
          <a:solidFill xmlns:a="http://schemas.openxmlformats.org/drawingml/2006/main">
            <a:srgbClr val="1E2761"/>
          </a:solidFill>
          <a:ln xmlns:a="http://schemas.openxmlformats.org/drawingml/2006/main" w="12700">
            <a:solidFill>
              <a:srgbClr val="1E2761"/>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EDC7CE72-9E02-496A-ACDF-A7353C4CABA5}"/>
              </a:ext>
            </a:extLst>
          </p:cNvPr>
          <p:cNvSpPr>
            <a:spLocks xmlns:a="http://schemas.openxmlformats.org/drawingml/2006/main" noGrp="1"/>
          </p:cNvSpPr>
          <p:nvPr/>
        </p:nvSpPr>
        <p:spPr>
          <a:xfrm xmlns:a="http://schemas.openxmlformats.org/drawingml/2006/main">
            <a:off x="457200" y="73152"/>
            <a:ext cx="2743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spc="400">
                <a:solidFill>
                  <a:srgbClr val="C9A961"/>
                </a:solidFill>
                <a:latin typeface="Calibri"/>
                <a:ea typeface="Calibri"/>
                <a:cs typeface="Calibri"/>
              </a:rPr>
              <a:t>MODULE 03</a:t>
            </a:r>
            <a:endParaRPr sz="1000"/>
          </a:p>
        </p:txBody>
      </p:sp>
      <p:sp>
        <p:nvSpPr>
          <p:cNvPr id="4" name="Text 2">
            <a:extLst xmlns:a="http://schemas.openxmlformats.org/drawingml/2006/main">
              <a:ext uri="{FF2B5EF4-FFF2-40B4-BE49-F238E27FC236}">
                <a16:creationId xmlns:a16="http://schemas.microsoft.com/office/drawing/2014/main" id="{F69FDDFA-8CF7-4623-8202-2D3C7FA410B8}"/>
              </a:ext>
            </a:extLst>
          </p:cNvPr>
          <p:cNvSpPr>
            <a:spLocks xmlns:a="http://schemas.openxmlformats.org/drawingml/2006/main" noGrp="1"/>
          </p:cNvSpPr>
          <p:nvPr/>
        </p:nvSpPr>
        <p:spPr>
          <a:xfrm xmlns:a="http://schemas.openxmlformats.org/drawingml/2006/main">
            <a:off x="3200400" y="73152"/>
            <a:ext cx="54864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000">
                <a:solidFill>
                  <a:srgbClr val="CADCFC"/>
                </a:solidFill>
                <a:latin typeface="Calibri"/>
                <a:ea typeface="Calibri"/>
                <a:cs typeface="Calibri"/>
              </a:rPr>
              <a:t>Governance, ethics, responsible use</a:t>
            </a:r>
            <a:endParaRPr sz="1000"/>
          </a:p>
        </p:txBody>
      </p:sp>
      <p:sp>
        <p:nvSpPr>
          <p:cNvPr id="5" name="Text 3">
            <a:extLst xmlns:a="http://schemas.openxmlformats.org/drawingml/2006/main">
              <a:ext uri="{FF2B5EF4-FFF2-40B4-BE49-F238E27FC236}">
                <a16:creationId xmlns:a16="http://schemas.microsoft.com/office/drawing/2014/main" id="{48CCFDFC-C816-4306-B030-C053D7C431E2}"/>
              </a:ext>
            </a:extLst>
          </p:cNvPr>
          <p:cNvSpPr>
            <a:spLocks xmlns:a="http://schemas.openxmlformats.org/drawingml/2006/main" noGrp="1"/>
          </p:cNvSpPr>
          <p:nvPr/>
        </p:nvSpPr>
        <p:spPr>
          <a:xfrm xmlns:a="http://schemas.openxmlformats.org/drawingml/2006/main">
            <a:off x="457200" y="685800"/>
            <a:ext cx="822960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800" b="1">
                <a:solidFill>
                  <a:srgbClr val="1E2761"/>
                </a:solidFill>
                <a:latin typeface="Cambria"/>
                <a:ea typeface="Cambria"/>
                <a:cs typeface="Cambria"/>
              </a:rPr>
              <a:t>Key legal risk areas</a:t>
            </a:r>
            <a:endParaRPr sz="2800"/>
          </a:p>
        </p:txBody>
      </p:sp>
      <p:sp>
        <p:nvSpPr>
          <p:cNvPr id="6" name="Text 4">
            <a:extLst xmlns:a="http://schemas.openxmlformats.org/drawingml/2006/main">
              <a:ext uri="{FF2B5EF4-FFF2-40B4-BE49-F238E27FC236}">
                <a16:creationId xmlns:a16="http://schemas.microsoft.com/office/drawing/2014/main" id="{FEB46B15-A670-4A14-A684-B69FA8CDD23A}"/>
              </a:ext>
            </a:extLst>
          </p:cNvPr>
          <p:cNvSpPr>
            <a:spLocks xmlns:a="http://schemas.openxmlformats.org/drawingml/2006/main" noGrp="1"/>
          </p:cNvSpPr>
          <p:nvPr/>
        </p:nvSpPr>
        <p:spPr>
          <a:xfrm xmlns:a="http://schemas.openxmlformats.org/drawingml/2006/main">
            <a:off x="457200" y="1234440"/>
            <a:ext cx="82296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i="1">
                <a:solidFill>
                  <a:srgbClr val="6B7280"/>
                </a:solidFill>
                <a:latin typeface="Calibri"/>
                <a:ea typeface="Calibri"/>
                <a:cs typeface="Calibri"/>
              </a:rPr>
              <a:t>Risk questions, not a complete legal reference. Use the dated </a:t>
            </a:r>
            <a:r>
              <a:rPr sz="1100" i="1">
                <a:solidFill>
                  <a:srgbClr val="6B7280"/>
                </a:solidFill>
                <a:latin typeface="Calibri"/>
                <a:ea typeface="Calibri"/>
                <a:cs typeface="Calibri"/>
                <a:hlinkClick xmlns:r="http://schemas.openxmlformats.org/officeDocument/2006/relationships" r:id="R44e95aeadc574dac"/>
              </a:rPr>
              <a:t>Key dates for HR</a:t>
            </a:r>
            <a:r>
              <a:rPr sz="1100" i="1">
                <a:solidFill>
                  <a:srgbClr val="6B7280"/>
                </a:solidFill>
                <a:latin typeface="Calibri"/>
                <a:ea typeface="Calibri"/>
                <a:cs typeface="Calibri"/>
              </a:rPr>
              <a:t> in the playbook; verify scope and obligations with Legal.</a:t>
            </a:r>
            <a:endParaRPr sz="1100"/>
          </a:p>
        </p:txBody>
      </p:sp>
      <p:sp>
        <p:nvSpPr>
          <p:cNvPr id="7" name="Shape 5">
            <a:extLst xmlns:a="http://schemas.openxmlformats.org/drawingml/2006/main">
              <a:ext uri="{FF2B5EF4-FFF2-40B4-BE49-F238E27FC236}">
                <a16:creationId xmlns:a16="http://schemas.microsoft.com/office/drawing/2014/main" id="{7C11C675-F935-4A28-959C-633B594829E1}"/>
              </a:ext>
            </a:extLst>
          </p:cNvPr>
          <p:cNvSpPr>
            <a:spLocks xmlns:a="http://schemas.openxmlformats.org/drawingml/2006/main" noGrp="1"/>
          </p:cNvSpPr>
          <p:nvPr/>
        </p:nvSpPr>
        <p:spPr>
          <a:xfrm xmlns:a="http://schemas.openxmlformats.org/drawingml/2006/main">
            <a:off x="457200" y="1783080"/>
            <a:ext cx="4069080" cy="1417320"/>
          </a:xfrm>
          <a:prstGeom xmlns:a="http://schemas.openxmlformats.org/drawingml/2006/main" prst="rect">
            <a:avLst/>
          </a:prstGeom>
          <a:solidFill xmlns:a="http://schemas.openxmlformats.org/drawingml/2006/main">
            <a:srgbClr val="F5F7FB"/>
          </a:solidFill>
          <a:ln xmlns:a="http://schemas.openxmlformats.org/drawingml/2006/main" w="6350">
            <a:solidFill>
              <a:srgbClr val="E5E7EB"/>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Shape 6">
            <a:extLst xmlns:a="http://schemas.openxmlformats.org/drawingml/2006/main">
              <a:ext uri="{FF2B5EF4-FFF2-40B4-BE49-F238E27FC236}">
                <a16:creationId xmlns:a16="http://schemas.microsoft.com/office/drawing/2014/main" id="{BF4BD707-68F7-4143-9544-37F8FA5F77A1}"/>
              </a:ext>
            </a:extLst>
          </p:cNvPr>
          <p:cNvSpPr>
            <a:spLocks xmlns:a="http://schemas.openxmlformats.org/drawingml/2006/main" noGrp="1"/>
          </p:cNvSpPr>
          <p:nvPr/>
        </p:nvSpPr>
        <p:spPr>
          <a:xfrm xmlns:a="http://schemas.openxmlformats.org/drawingml/2006/main">
            <a:off x="457200" y="1783080"/>
            <a:ext cx="73152" cy="1417320"/>
          </a:xfrm>
          <a:prstGeom xmlns:a="http://schemas.openxmlformats.org/drawingml/2006/main" prst="rect">
            <a:avLst/>
          </a:prstGeom>
          <a:solidFill xmlns:a="http://schemas.openxmlformats.org/drawingml/2006/main">
            <a:srgbClr val="C9A961"/>
          </a:solidFill>
          <a:ln xmlns:a="http://schemas.openxmlformats.org/drawingml/2006/main" w="12700">
            <a:solidFill>
              <a:srgbClr val="C9A961"/>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Text 7">
            <a:extLst xmlns:a="http://schemas.openxmlformats.org/drawingml/2006/main">
              <a:ext uri="{FF2B5EF4-FFF2-40B4-BE49-F238E27FC236}">
                <a16:creationId xmlns:a16="http://schemas.microsoft.com/office/drawing/2014/main" id="{6F54E539-FFC5-487A-BF2C-3DE44ECDA6C8}"/>
              </a:ext>
            </a:extLst>
          </p:cNvPr>
          <p:cNvSpPr>
            <a:spLocks xmlns:a="http://schemas.openxmlformats.org/drawingml/2006/main" noGrp="1"/>
          </p:cNvSpPr>
          <p:nvPr/>
        </p:nvSpPr>
        <p:spPr>
          <a:xfrm xmlns:a="http://schemas.openxmlformats.org/drawingml/2006/main">
            <a:off x="685800" y="1920240"/>
            <a:ext cx="3749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1E2761"/>
                </a:solidFill>
                <a:latin typeface="Cambria"/>
                <a:ea typeface="Cambria"/>
                <a:cs typeface="Cambria"/>
              </a:rPr>
              <a:t>Bias and disparate impact</a:t>
            </a:r>
            <a:endParaRPr sz="1400"/>
          </a:p>
        </p:txBody>
      </p:sp>
      <p:sp>
        <p:nvSpPr>
          <p:cNvPr id="10" name="Text 8">
            <a:extLst xmlns:a="http://schemas.openxmlformats.org/drawingml/2006/main">
              <a:ext uri="{FF2B5EF4-FFF2-40B4-BE49-F238E27FC236}">
                <a16:creationId xmlns:a16="http://schemas.microsoft.com/office/drawing/2014/main" id="{4C60387B-D7BD-4CEA-874E-DA55447266EB}"/>
              </a:ext>
            </a:extLst>
          </p:cNvPr>
          <p:cNvSpPr>
            <a:spLocks xmlns:a="http://schemas.openxmlformats.org/drawingml/2006/main" noGrp="1"/>
          </p:cNvSpPr>
          <p:nvPr/>
        </p:nvSpPr>
        <p:spPr>
          <a:xfrm xmlns:a="http://schemas.openxmlformats.org/drawingml/2006/main">
            <a:off x="685800" y="2286000"/>
            <a:ext cx="3749040" cy="8686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1A1F3A"/>
                </a:solidFill>
                <a:latin typeface="Calibri"/>
                <a:ea typeface="Calibri"/>
                <a:cs typeface="Calibri"/>
              </a:rPr>
              <a:t>Examine historical labels, features, selection effects and group outcomes. Assess adverse impact and corrective action. Ask Legal which tests, audits and review cadence apply.</a:t>
            </a:r>
            <a:endParaRPr sz="1100"/>
          </a:p>
        </p:txBody>
      </p:sp>
      <p:sp>
        <p:nvSpPr>
          <p:cNvPr id="11" name="Shape 9">
            <a:extLst xmlns:a="http://schemas.openxmlformats.org/drawingml/2006/main">
              <a:ext uri="{FF2B5EF4-FFF2-40B4-BE49-F238E27FC236}">
                <a16:creationId xmlns:a16="http://schemas.microsoft.com/office/drawing/2014/main" id="{ECCB2685-5438-47C0-A05B-25C479D88A53}"/>
              </a:ext>
            </a:extLst>
          </p:cNvPr>
          <p:cNvSpPr>
            <a:spLocks xmlns:a="http://schemas.openxmlformats.org/drawingml/2006/main" noGrp="1"/>
          </p:cNvSpPr>
          <p:nvPr/>
        </p:nvSpPr>
        <p:spPr>
          <a:xfrm xmlns:a="http://schemas.openxmlformats.org/drawingml/2006/main">
            <a:off x="4617720" y="1783080"/>
            <a:ext cx="4069080" cy="1417320"/>
          </a:xfrm>
          <a:prstGeom xmlns:a="http://schemas.openxmlformats.org/drawingml/2006/main" prst="rect">
            <a:avLst/>
          </a:prstGeom>
          <a:solidFill xmlns:a="http://schemas.openxmlformats.org/drawingml/2006/main">
            <a:srgbClr val="F5F7FB"/>
          </a:solidFill>
          <a:ln xmlns:a="http://schemas.openxmlformats.org/drawingml/2006/main" w="6350">
            <a:solidFill>
              <a:srgbClr val="E5E7EB"/>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Shape 10">
            <a:extLst xmlns:a="http://schemas.openxmlformats.org/drawingml/2006/main">
              <a:ext uri="{FF2B5EF4-FFF2-40B4-BE49-F238E27FC236}">
                <a16:creationId xmlns:a16="http://schemas.microsoft.com/office/drawing/2014/main" id="{AF4DD9B3-C8A4-4B69-B4DF-E4495127B86A}"/>
              </a:ext>
            </a:extLst>
          </p:cNvPr>
          <p:cNvSpPr>
            <a:spLocks xmlns:a="http://schemas.openxmlformats.org/drawingml/2006/main" noGrp="1"/>
          </p:cNvSpPr>
          <p:nvPr/>
        </p:nvSpPr>
        <p:spPr>
          <a:xfrm xmlns:a="http://schemas.openxmlformats.org/drawingml/2006/main">
            <a:off x="4617720" y="1783080"/>
            <a:ext cx="73152" cy="1417320"/>
          </a:xfrm>
          <a:prstGeom xmlns:a="http://schemas.openxmlformats.org/drawingml/2006/main" prst="rect">
            <a:avLst/>
          </a:prstGeom>
          <a:solidFill xmlns:a="http://schemas.openxmlformats.org/drawingml/2006/main">
            <a:srgbClr val="C9A961"/>
          </a:solidFill>
          <a:ln xmlns:a="http://schemas.openxmlformats.org/drawingml/2006/main" w="12700">
            <a:solidFill>
              <a:srgbClr val="C9A961"/>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Text 11">
            <a:extLst xmlns:a="http://schemas.openxmlformats.org/drawingml/2006/main">
              <a:ext uri="{FF2B5EF4-FFF2-40B4-BE49-F238E27FC236}">
                <a16:creationId xmlns:a16="http://schemas.microsoft.com/office/drawing/2014/main" id="{D4870FBE-FDAB-464A-AE55-4F70D6B435D6}"/>
              </a:ext>
            </a:extLst>
          </p:cNvPr>
          <p:cNvSpPr>
            <a:spLocks xmlns:a="http://schemas.openxmlformats.org/drawingml/2006/main" noGrp="1"/>
          </p:cNvSpPr>
          <p:nvPr/>
        </p:nvSpPr>
        <p:spPr>
          <a:xfrm xmlns:a="http://schemas.openxmlformats.org/drawingml/2006/main">
            <a:off x="4846320" y="1920240"/>
            <a:ext cx="3749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1E2761"/>
                </a:solidFill>
                <a:latin typeface="Cambria"/>
                <a:ea typeface="Cambria"/>
                <a:cs typeface="Cambria"/>
              </a:rPr>
              <a:t>State and local AI hiring laws</a:t>
            </a:r>
            <a:endParaRPr sz="1400"/>
          </a:p>
        </p:txBody>
      </p:sp>
      <p:sp>
        <p:nvSpPr>
          <p:cNvPr id="14" name="Text 12">
            <a:extLst xmlns:a="http://schemas.openxmlformats.org/drawingml/2006/main">
              <a:ext uri="{FF2B5EF4-FFF2-40B4-BE49-F238E27FC236}">
                <a16:creationId xmlns:a16="http://schemas.microsoft.com/office/drawing/2014/main" id="{B847B4AF-3F08-4A05-96EC-594FE898C05D}"/>
              </a:ext>
            </a:extLst>
          </p:cNvPr>
          <p:cNvSpPr>
            <a:spLocks xmlns:a="http://schemas.openxmlformats.org/drawingml/2006/main" noGrp="1"/>
          </p:cNvSpPr>
          <p:nvPr/>
        </p:nvSpPr>
        <p:spPr>
          <a:xfrm xmlns:a="http://schemas.openxmlformats.org/drawingml/2006/main">
            <a:off x="4846320" y="2286000"/>
            <a:ext cx="3749040" cy="8686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1A1F3A"/>
                </a:solidFill>
                <a:latin typeface="Calibri"/>
                <a:ea typeface="Calibri"/>
                <a:cs typeface="Calibri"/>
              </a:rPr>
              <a:t>Hiring requirements differ by jurisdiction, tool and decision. Confirm notice, consent, assessments, effective dates and transition rules using the linked primary sources.</a:t>
            </a:r>
            <a:endParaRPr sz="1100"/>
          </a:p>
        </p:txBody>
      </p:sp>
      <p:sp>
        <p:nvSpPr>
          <p:cNvPr id="15" name="Shape 13">
            <a:extLst xmlns:a="http://schemas.openxmlformats.org/drawingml/2006/main">
              <a:ext uri="{FF2B5EF4-FFF2-40B4-BE49-F238E27FC236}">
                <a16:creationId xmlns:a16="http://schemas.microsoft.com/office/drawing/2014/main" id="{32C27E59-0F3A-48FE-8E11-2EE3EBF206EA}"/>
              </a:ext>
            </a:extLst>
          </p:cNvPr>
          <p:cNvSpPr>
            <a:spLocks xmlns:a="http://schemas.openxmlformats.org/drawingml/2006/main" noGrp="1"/>
          </p:cNvSpPr>
          <p:nvPr/>
        </p:nvSpPr>
        <p:spPr>
          <a:xfrm xmlns:a="http://schemas.openxmlformats.org/drawingml/2006/main">
            <a:off x="457200" y="3337560"/>
            <a:ext cx="4069080" cy="1417320"/>
          </a:xfrm>
          <a:prstGeom xmlns:a="http://schemas.openxmlformats.org/drawingml/2006/main" prst="rect">
            <a:avLst/>
          </a:prstGeom>
          <a:solidFill xmlns:a="http://schemas.openxmlformats.org/drawingml/2006/main">
            <a:srgbClr val="F5F7FB"/>
          </a:solidFill>
          <a:ln xmlns:a="http://schemas.openxmlformats.org/drawingml/2006/main" w="6350">
            <a:solidFill>
              <a:srgbClr val="E5E7EB"/>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Shape 14">
            <a:extLst xmlns:a="http://schemas.openxmlformats.org/drawingml/2006/main">
              <a:ext uri="{FF2B5EF4-FFF2-40B4-BE49-F238E27FC236}">
                <a16:creationId xmlns:a16="http://schemas.microsoft.com/office/drawing/2014/main" id="{E2641426-7EC0-40A4-B27D-79A1C23F5AA3}"/>
              </a:ext>
            </a:extLst>
          </p:cNvPr>
          <p:cNvSpPr>
            <a:spLocks xmlns:a="http://schemas.openxmlformats.org/drawingml/2006/main" noGrp="1"/>
          </p:cNvSpPr>
          <p:nvPr/>
        </p:nvSpPr>
        <p:spPr>
          <a:xfrm xmlns:a="http://schemas.openxmlformats.org/drawingml/2006/main">
            <a:off x="457200" y="3337560"/>
            <a:ext cx="73152" cy="1417320"/>
          </a:xfrm>
          <a:prstGeom xmlns:a="http://schemas.openxmlformats.org/drawingml/2006/main" prst="rect">
            <a:avLst/>
          </a:prstGeom>
          <a:solidFill xmlns:a="http://schemas.openxmlformats.org/drawingml/2006/main">
            <a:srgbClr val="C9A961"/>
          </a:solidFill>
          <a:ln xmlns:a="http://schemas.openxmlformats.org/drawingml/2006/main" w="12700">
            <a:solidFill>
              <a:srgbClr val="C9A961"/>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AB087BA2-F443-4AD6-A155-6EE52B8D5FA8}"/>
              </a:ext>
            </a:extLst>
          </p:cNvPr>
          <p:cNvSpPr>
            <a:spLocks xmlns:a="http://schemas.openxmlformats.org/drawingml/2006/main" noGrp="1"/>
          </p:cNvSpPr>
          <p:nvPr/>
        </p:nvSpPr>
        <p:spPr>
          <a:xfrm xmlns:a="http://schemas.openxmlformats.org/drawingml/2006/main">
            <a:off x="685800" y="3474720"/>
            <a:ext cx="3749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1E2761"/>
                </a:solidFill>
                <a:latin typeface="Cambria"/>
                <a:ea typeface="Cambria"/>
                <a:cs typeface="Cambria"/>
              </a:rPr>
              <a:t>GDPR and CCPA</a:t>
            </a:r>
            <a:endParaRPr sz="1400"/>
          </a:p>
        </p:txBody>
      </p:sp>
      <p:sp>
        <p:nvSpPr>
          <p:cNvPr id="18" name="Text 16">
            <a:extLst xmlns:a="http://schemas.openxmlformats.org/drawingml/2006/main">
              <a:ext uri="{FF2B5EF4-FFF2-40B4-BE49-F238E27FC236}">
                <a16:creationId xmlns:a16="http://schemas.microsoft.com/office/drawing/2014/main" id="{F7CAB1A2-C174-4509-A308-5DC802603AC6}"/>
              </a:ext>
            </a:extLst>
          </p:cNvPr>
          <p:cNvSpPr>
            <a:spLocks xmlns:a="http://schemas.openxmlformats.org/drawingml/2006/main" noGrp="1"/>
          </p:cNvSpPr>
          <p:nvPr/>
        </p:nvSpPr>
        <p:spPr>
          <a:xfrm xmlns:a="http://schemas.openxmlformats.org/drawingml/2006/main">
            <a:off x="685800" y="3840480"/>
            <a:ext cx="3749040" cy="8686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1A1F3A"/>
                </a:solidFill>
                <a:latin typeface="Calibri"/>
                <a:ea typeface="Calibri"/>
                <a:cs typeface="Calibri"/>
              </a:rPr>
              <a:t>Determine which privacy and automated-decision rights apply. Verify purpose, data minimization, retention, access and routes for human review with Privacy and Legal.</a:t>
            </a:r>
            <a:endParaRPr sz="1100"/>
          </a:p>
        </p:txBody>
      </p:sp>
      <p:sp>
        <p:nvSpPr>
          <p:cNvPr id="19" name="Shape 17">
            <a:extLst xmlns:a="http://schemas.openxmlformats.org/drawingml/2006/main">
              <a:ext uri="{FF2B5EF4-FFF2-40B4-BE49-F238E27FC236}">
                <a16:creationId xmlns:a16="http://schemas.microsoft.com/office/drawing/2014/main" id="{B5741BB6-D796-4F8C-8CF6-B4F6B6737541}"/>
              </a:ext>
            </a:extLst>
          </p:cNvPr>
          <p:cNvSpPr>
            <a:spLocks xmlns:a="http://schemas.openxmlformats.org/drawingml/2006/main" noGrp="1"/>
          </p:cNvSpPr>
          <p:nvPr/>
        </p:nvSpPr>
        <p:spPr>
          <a:xfrm xmlns:a="http://schemas.openxmlformats.org/drawingml/2006/main">
            <a:off x="4617720" y="3337560"/>
            <a:ext cx="4069080" cy="1417320"/>
          </a:xfrm>
          <a:prstGeom xmlns:a="http://schemas.openxmlformats.org/drawingml/2006/main" prst="rect">
            <a:avLst/>
          </a:prstGeom>
          <a:solidFill xmlns:a="http://schemas.openxmlformats.org/drawingml/2006/main">
            <a:srgbClr val="F5F7FB"/>
          </a:solidFill>
          <a:ln xmlns:a="http://schemas.openxmlformats.org/drawingml/2006/main" w="6350">
            <a:solidFill>
              <a:srgbClr val="E5E7EB"/>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Shape 18">
            <a:extLst xmlns:a="http://schemas.openxmlformats.org/drawingml/2006/main">
              <a:ext uri="{FF2B5EF4-FFF2-40B4-BE49-F238E27FC236}">
                <a16:creationId xmlns:a16="http://schemas.microsoft.com/office/drawing/2014/main" id="{462445DB-EBEA-41B8-B1B3-9B06A816212C}"/>
              </a:ext>
            </a:extLst>
          </p:cNvPr>
          <p:cNvSpPr>
            <a:spLocks xmlns:a="http://schemas.openxmlformats.org/drawingml/2006/main" noGrp="1"/>
          </p:cNvSpPr>
          <p:nvPr/>
        </p:nvSpPr>
        <p:spPr>
          <a:xfrm xmlns:a="http://schemas.openxmlformats.org/drawingml/2006/main">
            <a:off x="4617720" y="3337560"/>
            <a:ext cx="73152" cy="1417320"/>
          </a:xfrm>
          <a:prstGeom xmlns:a="http://schemas.openxmlformats.org/drawingml/2006/main" prst="rect">
            <a:avLst/>
          </a:prstGeom>
          <a:solidFill xmlns:a="http://schemas.openxmlformats.org/drawingml/2006/main">
            <a:srgbClr val="C9A961"/>
          </a:solidFill>
          <a:ln xmlns:a="http://schemas.openxmlformats.org/drawingml/2006/main" w="12700">
            <a:solidFill>
              <a:srgbClr val="C9A961"/>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Text 19">
            <a:extLst xmlns:a="http://schemas.openxmlformats.org/drawingml/2006/main">
              <a:ext uri="{FF2B5EF4-FFF2-40B4-BE49-F238E27FC236}">
                <a16:creationId xmlns:a16="http://schemas.microsoft.com/office/drawing/2014/main" id="{3CBBA85B-7ECF-4677-8262-1980965AE0E1}"/>
              </a:ext>
            </a:extLst>
          </p:cNvPr>
          <p:cNvSpPr>
            <a:spLocks xmlns:a="http://schemas.openxmlformats.org/drawingml/2006/main" noGrp="1"/>
          </p:cNvSpPr>
          <p:nvPr/>
        </p:nvSpPr>
        <p:spPr>
          <a:xfrm xmlns:a="http://schemas.openxmlformats.org/drawingml/2006/main">
            <a:off x="4846320" y="3474720"/>
            <a:ext cx="3749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1E2761"/>
                </a:solidFill>
                <a:latin typeface="Cambria"/>
                <a:ea typeface="Cambria"/>
                <a:cs typeface="Cambria"/>
              </a:rPr>
              <a:t>The "AI as a manager" trap</a:t>
            </a:r>
            <a:endParaRPr sz="1400"/>
          </a:p>
        </p:txBody>
      </p:sp>
      <p:sp>
        <p:nvSpPr>
          <p:cNvPr id="22" name="Text 20">
            <a:extLst xmlns:a="http://schemas.openxmlformats.org/drawingml/2006/main">
              <a:ext uri="{FF2B5EF4-FFF2-40B4-BE49-F238E27FC236}">
                <a16:creationId xmlns:a16="http://schemas.microsoft.com/office/drawing/2014/main" id="{E8398F67-AAB0-40E9-AEF0-CAFF10037772}"/>
              </a:ext>
            </a:extLst>
          </p:cNvPr>
          <p:cNvSpPr>
            <a:spLocks xmlns:a="http://schemas.openxmlformats.org/drawingml/2006/main" noGrp="1"/>
          </p:cNvSpPr>
          <p:nvPr/>
        </p:nvSpPr>
        <p:spPr>
          <a:xfrm xmlns:a="http://schemas.openxmlformats.org/drawingml/2006/main">
            <a:off x="4846320" y="3840480"/>
            <a:ext cx="3749040" cy="8686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1A1F3A"/>
                </a:solidFill>
                <a:latin typeface="Calibri"/>
                <a:ea typeface="Calibri"/>
                <a:cs typeface="Calibri"/>
              </a:rPr>
              <a:t>Monitoring, evaluating or scoring employees raises legal and trust risks. Assess transparency, challenge routes and accountable human decisions; disclosure alone is not a safeguard.</a:t>
            </a:r>
            <a:endParaRPr sz="1100"/>
          </a:p>
        </p:txBody>
      </p:sp>
      <p:sp>
        <p:nvSpPr>
          <p:cNvPr id="23" name="Text 21">
            <a:extLst xmlns:a="http://schemas.openxmlformats.org/drawingml/2006/main">
              <a:ext uri="{FF2B5EF4-FFF2-40B4-BE49-F238E27FC236}">
                <a16:creationId xmlns:a16="http://schemas.microsoft.com/office/drawing/2014/main" id="{C9B0598A-819F-49E9-9C73-504184C2E799}"/>
              </a:ext>
            </a:extLst>
          </p:cNvPr>
          <p:cNvSpPr>
            <a:spLocks xmlns:a="http://schemas.openxmlformats.org/drawingml/2006/main" noGrp="1"/>
          </p:cNvSpPr>
          <p:nvPr/>
        </p:nvSpPr>
        <p:spPr>
          <a:xfrm xmlns:a="http://schemas.openxmlformats.org/drawingml/2006/main">
            <a:off x="457200" y="4846320"/>
            <a:ext cx="45720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HR AI Literacy Curriculum</a:t>
            </a:r>
            <a:endParaRPr sz="900"/>
          </a:p>
        </p:txBody>
      </p:sp>
      <p:sp>
        <p:nvSpPr>
          <p:cNvPr id="24" name="Text 22">
            <a:extLst xmlns:a="http://schemas.openxmlformats.org/drawingml/2006/main">
              <a:ext uri="{FF2B5EF4-FFF2-40B4-BE49-F238E27FC236}">
                <a16:creationId xmlns:a16="http://schemas.microsoft.com/office/drawing/2014/main" id="{7AA18B04-715D-448B-9F32-D122937123BF}"/>
              </a:ext>
            </a:extLst>
          </p:cNvPr>
          <p:cNvSpPr>
            <a:spLocks xmlns:a="http://schemas.openxmlformats.org/drawingml/2006/main" noGrp="1"/>
          </p:cNvSpPr>
          <p:nvPr/>
        </p:nvSpPr>
        <p:spPr>
          <a:xfrm xmlns:a="http://schemas.openxmlformats.org/drawingml/2006/main">
            <a:off x="8412480" y="4846320"/>
            <a:ext cx="4572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6B7280"/>
                </a:solidFill>
                <a:latin typeface="Calibri"/>
                <a:ea typeface="Calibri"/>
                <a:cs typeface="Calibri"/>
              </a:rPr>
              <a:t>15</a:t>
            </a:r>
            <a:endParaRPr sz="900"/>
          </a:p>
        </p:txBody>
      </p:sp>
    </p:spTree>
    <p:extLst>
      <p:ext uri="{BB962C8B-B14F-4D97-AF65-F5344CB8AC3E}">
        <p14:creationId xmlns:p14="http://schemas.microsoft.com/office/powerpoint/2010/main" val="39568807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7B037DE-4681-4B74-BA3F-FACD81D27353}"/>
              </a:ext>
            </a:extLst>
          </p:cNvPr>
          <p:cNvSpPr>
            <a:spLocks xmlns:a="http://schemas.openxmlformats.org/drawingml/2006/main" noGrp="1"/>
          </p:cNvSpPr>
          <p:nvPr/>
        </p:nvSpPr>
        <p:spPr>
          <a:xfrm xmlns:a="http://schemas.openxmlformats.org/drawingml/2006/main">
            <a:off x="0" y="0"/>
            <a:ext cx="9144000" cy="411480"/>
          </a:xfrm>
          <a:prstGeom xmlns:a="http://schemas.openxmlformats.org/drawingml/2006/main" prst="rect">
            <a:avLst/>
          </a:prstGeom>
          <a:solidFill xmlns:a="http://schemas.openxmlformats.org/drawingml/2006/main">
            <a:srgbClr val="1E2761"/>
          </a:solidFill>
          <a:ln xmlns:a="http://schemas.openxmlformats.org/drawingml/2006/main" w="12700">
            <a:solidFill>
              <a:srgbClr val="1E2761"/>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07B2EAB5-500B-4805-9AC7-7538A7B7410E}"/>
              </a:ext>
            </a:extLst>
          </p:cNvPr>
          <p:cNvSpPr>
            <a:spLocks xmlns:a="http://schemas.openxmlformats.org/drawingml/2006/main" noGrp="1"/>
          </p:cNvSpPr>
          <p:nvPr/>
        </p:nvSpPr>
        <p:spPr>
          <a:xfrm xmlns:a="http://schemas.openxmlformats.org/drawingml/2006/main">
            <a:off x="457200" y="73152"/>
            <a:ext cx="2743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spc="400">
                <a:solidFill>
                  <a:srgbClr val="C9A961"/>
                </a:solidFill>
                <a:latin typeface="Calibri"/>
                <a:ea typeface="Calibri"/>
                <a:cs typeface="Calibri"/>
              </a:rPr>
              <a:t>MODULE 03</a:t>
            </a:r>
            <a:endParaRPr sz="1000"/>
          </a:p>
        </p:txBody>
      </p:sp>
      <p:sp>
        <p:nvSpPr>
          <p:cNvPr id="4" name="Text 2">
            <a:extLst xmlns:a="http://schemas.openxmlformats.org/drawingml/2006/main">
              <a:ext uri="{FF2B5EF4-FFF2-40B4-BE49-F238E27FC236}">
                <a16:creationId xmlns:a16="http://schemas.microsoft.com/office/drawing/2014/main" id="{3629840D-722B-48FB-A9F0-0B3606BBE95A}"/>
              </a:ext>
            </a:extLst>
          </p:cNvPr>
          <p:cNvSpPr>
            <a:spLocks xmlns:a="http://schemas.openxmlformats.org/drawingml/2006/main" noGrp="1"/>
          </p:cNvSpPr>
          <p:nvPr/>
        </p:nvSpPr>
        <p:spPr>
          <a:xfrm xmlns:a="http://schemas.openxmlformats.org/drawingml/2006/main">
            <a:off x="3200400" y="73152"/>
            <a:ext cx="54864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000">
                <a:solidFill>
                  <a:srgbClr val="CADCFC"/>
                </a:solidFill>
                <a:latin typeface="Calibri"/>
                <a:ea typeface="Calibri"/>
                <a:cs typeface="Calibri"/>
              </a:rPr>
              <a:t>Governance, ethics, responsible use</a:t>
            </a:r>
            <a:endParaRPr sz="1000"/>
          </a:p>
        </p:txBody>
      </p:sp>
      <p:sp>
        <p:nvSpPr>
          <p:cNvPr id="5" name="Text 3">
            <a:extLst xmlns:a="http://schemas.openxmlformats.org/drawingml/2006/main">
              <a:ext uri="{FF2B5EF4-FFF2-40B4-BE49-F238E27FC236}">
                <a16:creationId xmlns:a16="http://schemas.microsoft.com/office/drawing/2014/main" id="{494BD461-E793-4E48-ADBE-5F3943F08AA4}"/>
              </a:ext>
            </a:extLst>
          </p:cNvPr>
          <p:cNvSpPr>
            <a:spLocks xmlns:a="http://schemas.openxmlformats.org/drawingml/2006/main" noGrp="1"/>
          </p:cNvSpPr>
          <p:nvPr/>
        </p:nvSpPr>
        <p:spPr>
          <a:xfrm xmlns:a="http://schemas.openxmlformats.org/drawingml/2006/main">
            <a:off x="457200" y="685800"/>
            <a:ext cx="822960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800" b="1">
                <a:solidFill>
                  <a:srgbClr val="1E2761"/>
                </a:solidFill>
                <a:latin typeface="Cambria"/>
                <a:ea typeface="Cambria"/>
                <a:cs typeface="Cambria"/>
              </a:rPr>
              <a:t>Scenario practice</a:t>
            </a:r>
            <a:endParaRPr sz="2800"/>
          </a:p>
        </p:txBody>
      </p:sp>
      <p:sp>
        <p:nvSpPr>
          <p:cNvPr id="6" name="Text 4">
            <a:extLst xmlns:a="http://schemas.openxmlformats.org/drawingml/2006/main">
              <a:ext uri="{FF2B5EF4-FFF2-40B4-BE49-F238E27FC236}">
                <a16:creationId xmlns:a16="http://schemas.microsoft.com/office/drawing/2014/main" id="{244B0269-0952-401A-9F82-A108DDDA083E}"/>
              </a:ext>
            </a:extLst>
          </p:cNvPr>
          <p:cNvSpPr>
            <a:spLocks xmlns:a="http://schemas.openxmlformats.org/drawingml/2006/main" noGrp="1"/>
          </p:cNvSpPr>
          <p:nvPr/>
        </p:nvSpPr>
        <p:spPr>
          <a:xfrm xmlns:a="http://schemas.openxmlformats.org/drawingml/2006/main">
            <a:off x="457200" y="1234440"/>
            <a:ext cx="82296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i="1">
                <a:solidFill>
                  <a:srgbClr val="6B7280"/>
                </a:solidFill>
                <a:latin typeface="Calibri"/>
                <a:ea typeface="Calibri"/>
                <a:cs typeface="Calibri"/>
              </a:rPr>
              <a:t>Groups of 3-4 discuss: Is this use appropriate? What are the risks? What would you change?</a:t>
            </a:r>
            <a:endParaRPr sz="1200"/>
          </a:p>
        </p:txBody>
      </p:sp>
      <p:sp>
        <p:nvSpPr>
          <p:cNvPr id="7" name="Shape 5">
            <a:extLst xmlns:a="http://schemas.openxmlformats.org/drawingml/2006/main">
              <a:ext uri="{FF2B5EF4-FFF2-40B4-BE49-F238E27FC236}">
                <a16:creationId xmlns:a16="http://schemas.microsoft.com/office/drawing/2014/main" id="{477F1086-5038-4D57-9F82-4F40CE7F78B4}"/>
              </a:ext>
            </a:extLst>
          </p:cNvPr>
          <p:cNvSpPr>
            <a:spLocks xmlns:a="http://schemas.openxmlformats.org/drawingml/2006/main" noGrp="1"/>
          </p:cNvSpPr>
          <p:nvPr/>
        </p:nvSpPr>
        <p:spPr>
          <a:xfrm xmlns:a="http://schemas.openxmlformats.org/drawingml/2006/main">
            <a:off x="457200" y="1783080"/>
            <a:ext cx="4069080" cy="1371600"/>
          </a:xfrm>
          <a:prstGeom xmlns:a="http://schemas.openxmlformats.org/drawingml/2006/main" prst="rect">
            <a:avLst/>
          </a:prstGeom>
          <a:solidFill xmlns:a="http://schemas.openxmlformats.org/drawingml/2006/main">
            <a:srgbClr val="F5F7FB"/>
          </a:solidFill>
          <a:ln xmlns:a="http://schemas.openxmlformats.org/drawingml/2006/main" w="6350">
            <a:solidFill>
              <a:srgbClr val="E5E7EB"/>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Shape 6">
            <a:extLst xmlns:a="http://schemas.openxmlformats.org/drawingml/2006/main">
              <a:ext uri="{FF2B5EF4-FFF2-40B4-BE49-F238E27FC236}">
                <a16:creationId xmlns:a16="http://schemas.microsoft.com/office/drawing/2014/main" id="{092F1713-E001-4DE4-8204-2EEDEEEF2E6F}"/>
              </a:ext>
            </a:extLst>
          </p:cNvPr>
          <p:cNvSpPr>
            <a:spLocks xmlns:a="http://schemas.openxmlformats.org/drawingml/2006/main" noGrp="1"/>
          </p:cNvSpPr>
          <p:nvPr/>
        </p:nvSpPr>
        <p:spPr>
          <a:xfrm xmlns:a="http://schemas.openxmlformats.org/drawingml/2006/main">
            <a:off x="640080" y="1965960"/>
            <a:ext cx="594360" cy="594360"/>
          </a:xfrm>
          <a:prstGeom xmlns:a="http://schemas.openxmlformats.org/drawingml/2006/main" prst="ellipse">
            <a:avLst/>
          </a:prstGeom>
          <a:solidFill xmlns:a="http://schemas.openxmlformats.org/drawingml/2006/main">
            <a:srgbClr val="1E2761"/>
          </a:solidFill>
          <a:ln xmlns:a="http://schemas.openxmlformats.org/drawingml/2006/main" w="12700">
            <a:solidFill>
              <a:srgbClr val="1E2761"/>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Text 7">
            <a:extLst xmlns:a="http://schemas.openxmlformats.org/drawingml/2006/main">
              <a:ext uri="{FF2B5EF4-FFF2-40B4-BE49-F238E27FC236}">
                <a16:creationId xmlns:a16="http://schemas.microsoft.com/office/drawing/2014/main" id="{EB924D1B-5CBE-4F50-93D2-AB6E692BFD19}"/>
              </a:ext>
            </a:extLst>
          </p:cNvPr>
          <p:cNvSpPr>
            <a:spLocks xmlns:a="http://schemas.openxmlformats.org/drawingml/2006/main" noGrp="1"/>
          </p:cNvSpPr>
          <p:nvPr/>
        </p:nvSpPr>
        <p:spPr>
          <a:xfrm xmlns:a="http://schemas.openxmlformats.org/drawingml/2006/main">
            <a:off x="640080" y="1993392"/>
            <a:ext cx="594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C9A961"/>
                </a:solidFill>
                <a:latin typeface="Cambria"/>
                <a:ea typeface="Cambria"/>
                <a:cs typeface="Cambria"/>
              </a:rPr>
              <a:t>A</a:t>
            </a:r>
            <a:endParaRPr sz="2200"/>
          </a:p>
        </p:txBody>
      </p:sp>
      <p:sp>
        <p:nvSpPr>
          <p:cNvPr id="10" name="Text 8">
            <a:extLst xmlns:a="http://schemas.openxmlformats.org/drawingml/2006/main">
              <a:ext uri="{FF2B5EF4-FFF2-40B4-BE49-F238E27FC236}">
                <a16:creationId xmlns:a16="http://schemas.microsoft.com/office/drawing/2014/main" id="{EB32B741-DF30-44F6-AB99-74C69E48D2B5}"/>
              </a:ext>
            </a:extLst>
          </p:cNvPr>
          <p:cNvSpPr>
            <a:spLocks xmlns:a="http://schemas.openxmlformats.org/drawingml/2006/main" noGrp="1"/>
          </p:cNvSpPr>
          <p:nvPr/>
        </p:nvSpPr>
        <p:spPr>
          <a:xfrm xmlns:a="http://schemas.openxmlformats.org/drawingml/2006/main">
            <a:off x="1371600" y="1984248"/>
            <a:ext cx="301752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300">
                <a:solidFill>
                  <a:srgbClr val="6B7280"/>
                </a:solidFill>
                <a:latin typeface="Calibri"/>
                <a:ea typeface="Calibri"/>
                <a:cs typeface="Calibri"/>
              </a:rPr>
              <a:t>SCENARIO</a:t>
            </a:r>
            <a:endParaRPr sz="900"/>
          </a:p>
        </p:txBody>
      </p:sp>
      <p:sp>
        <p:nvSpPr>
          <p:cNvPr id="11" name="Text 9">
            <a:extLst xmlns:a="http://schemas.openxmlformats.org/drawingml/2006/main">
              <a:ext uri="{FF2B5EF4-FFF2-40B4-BE49-F238E27FC236}">
                <a16:creationId xmlns:a16="http://schemas.microsoft.com/office/drawing/2014/main" id="{CA31CA1A-7B1B-4D37-9B96-545DD907B138}"/>
              </a:ext>
            </a:extLst>
          </p:cNvPr>
          <p:cNvSpPr>
            <a:spLocks xmlns:a="http://schemas.openxmlformats.org/drawingml/2006/main" noGrp="1"/>
          </p:cNvSpPr>
          <p:nvPr/>
        </p:nvSpPr>
        <p:spPr>
          <a:xfrm xmlns:a="http://schemas.openxmlformats.org/drawingml/2006/main">
            <a:off x="1371600" y="2240280"/>
            <a:ext cx="301752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1A1F3A"/>
                </a:solidFill>
                <a:latin typeface="Calibri"/>
                <a:ea typeface="Calibri"/>
                <a:cs typeface="Calibri"/>
              </a:rPr>
              <a:t>An AI tool automatically rejects resumes with gaps of more than 6 months without showing them to a recruiter.</a:t>
            </a:r>
            <a:endParaRPr sz="1100"/>
          </a:p>
        </p:txBody>
      </p:sp>
      <p:sp>
        <p:nvSpPr>
          <p:cNvPr id="12" name="Shape 10">
            <a:extLst xmlns:a="http://schemas.openxmlformats.org/drawingml/2006/main">
              <a:ext uri="{FF2B5EF4-FFF2-40B4-BE49-F238E27FC236}">
                <a16:creationId xmlns:a16="http://schemas.microsoft.com/office/drawing/2014/main" id="{D493D8A9-41C3-4ED5-B562-A75BDC143021}"/>
              </a:ext>
            </a:extLst>
          </p:cNvPr>
          <p:cNvSpPr>
            <a:spLocks xmlns:a="http://schemas.openxmlformats.org/drawingml/2006/main" noGrp="1"/>
          </p:cNvSpPr>
          <p:nvPr/>
        </p:nvSpPr>
        <p:spPr>
          <a:xfrm xmlns:a="http://schemas.openxmlformats.org/drawingml/2006/main">
            <a:off x="4617720" y="1783080"/>
            <a:ext cx="4069080" cy="1371600"/>
          </a:xfrm>
          <a:prstGeom xmlns:a="http://schemas.openxmlformats.org/drawingml/2006/main" prst="rect">
            <a:avLst/>
          </a:prstGeom>
          <a:solidFill xmlns:a="http://schemas.openxmlformats.org/drawingml/2006/main">
            <a:srgbClr val="F5F7FB"/>
          </a:solidFill>
          <a:ln xmlns:a="http://schemas.openxmlformats.org/drawingml/2006/main" w="6350">
            <a:solidFill>
              <a:srgbClr val="E5E7EB"/>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Shape 11">
            <a:extLst xmlns:a="http://schemas.openxmlformats.org/drawingml/2006/main">
              <a:ext uri="{FF2B5EF4-FFF2-40B4-BE49-F238E27FC236}">
                <a16:creationId xmlns:a16="http://schemas.microsoft.com/office/drawing/2014/main" id="{76591D3E-28F2-44D1-8EB8-C2DF65685EE3}"/>
              </a:ext>
            </a:extLst>
          </p:cNvPr>
          <p:cNvSpPr>
            <a:spLocks xmlns:a="http://schemas.openxmlformats.org/drawingml/2006/main" noGrp="1"/>
          </p:cNvSpPr>
          <p:nvPr/>
        </p:nvSpPr>
        <p:spPr>
          <a:xfrm xmlns:a="http://schemas.openxmlformats.org/drawingml/2006/main">
            <a:off x="4800600" y="1965960"/>
            <a:ext cx="594360" cy="594360"/>
          </a:xfrm>
          <a:prstGeom xmlns:a="http://schemas.openxmlformats.org/drawingml/2006/main" prst="ellipse">
            <a:avLst/>
          </a:prstGeom>
          <a:solidFill xmlns:a="http://schemas.openxmlformats.org/drawingml/2006/main">
            <a:srgbClr val="1E2761"/>
          </a:solidFill>
          <a:ln xmlns:a="http://schemas.openxmlformats.org/drawingml/2006/main" w="12700">
            <a:solidFill>
              <a:srgbClr val="1E2761"/>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2903BC25-6475-42A0-AC6C-1467B4D21B2C}"/>
              </a:ext>
            </a:extLst>
          </p:cNvPr>
          <p:cNvSpPr>
            <a:spLocks xmlns:a="http://schemas.openxmlformats.org/drawingml/2006/main" noGrp="1"/>
          </p:cNvSpPr>
          <p:nvPr/>
        </p:nvSpPr>
        <p:spPr>
          <a:xfrm xmlns:a="http://schemas.openxmlformats.org/drawingml/2006/main">
            <a:off x="4800600" y="1993392"/>
            <a:ext cx="594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C9A961"/>
                </a:solidFill>
                <a:latin typeface="Cambria"/>
                <a:ea typeface="Cambria"/>
                <a:cs typeface="Cambria"/>
              </a:rPr>
              <a:t>B</a:t>
            </a:r>
            <a:endParaRPr sz="2200"/>
          </a:p>
        </p:txBody>
      </p:sp>
      <p:sp>
        <p:nvSpPr>
          <p:cNvPr id="15" name="Text 13">
            <a:extLst xmlns:a="http://schemas.openxmlformats.org/drawingml/2006/main">
              <a:ext uri="{FF2B5EF4-FFF2-40B4-BE49-F238E27FC236}">
                <a16:creationId xmlns:a16="http://schemas.microsoft.com/office/drawing/2014/main" id="{6B7F7773-1F3E-4DB5-A581-98F6AAC08B8E}"/>
              </a:ext>
            </a:extLst>
          </p:cNvPr>
          <p:cNvSpPr>
            <a:spLocks xmlns:a="http://schemas.openxmlformats.org/drawingml/2006/main" noGrp="1"/>
          </p:cNvSpPr>
          <p:nvPr/>
        </p:nvSpPr>
        <p:spPr>
          <a:xfrm xmlns:a="http://schemas.openxmlformats.org/drawingml/2006/main">
            <a:off x="5532120" y="1984248"/>
            <a:ext cx="301752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300">
                <a:solidFill>
                  <a:srgbClr val="6B7280"/>
                </a:solidFill>
                <a:latin typeface="Calibri"/>
                <a:ea typeface="Calibri"/>
                <a:cs typeface="Calibri"/>
              </a:rPr>
              <a:t>SCENARIO</a:t>
            </a:r>
            <a:endParaRPr sz="900"/>
          </a:p>
        </p:txBody>
      </p:sp>
      <p:sp>
        <p:nvSpPr>
          <p:cNvPr id="16" name="Text 14">
            <a:extLst xmlns:a="http://schemas.openxmlformats.org/drawingml/2006/main">
              <a:ext uri="{FF2B5EF4-FFF2-40B4-BE49-F238E27FC236}">
                <a16:creationId xmlns:a16="http://schemas.microsoft.com/office/drawing/2014/main" id="{22394F4C-CBC3-4F53-962B-2EBE3C299506}"/>
              </a:ext>
            </a:extLst>
          </p:cNvPr>
          <p:cNvSpPr>
            <a:spLocks xmlns:a="http://schemas.openxmlformats.org/drawingml/2006/main" noGrp="1"/>
          </p:cNvSpPr>
          <p:nvPr/>
        </p:nvSpPr>
        <p:spPr>
          <a:xfrm xmlns:a="http://schemas.openxmlformats.org/drawingml/2006/main">
            <a:off x="5532120" y="2240280"/>
            <a:ext cx="301752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1A1F3A"/>
                </a:solidFill>
                <a:latin typeface="Calibri"/>
                <a:ea typeface="Calibri"/>
                <a:cs typeface="Calibri"/>
              </a:rPr>
              <a:t>An HRBP uses an AI writing assistant to draft a PIP for an employee, then reviews and edits it before sharing with the manager.</a:t>
            </a:r>
            <a:endParaRPr sz="1100"/>
          </a:p>
        </p:txBody>
      </p:sp>
      <p:sp>
        <p:nvSpPr>
          <p:cNvPr id="17" name="Shape 15">
            <a:extLst xmlns:a="http://schemas.openxmlformats.org/drawingml/2006/main">
              <a:ext uri="{FF2B5EF4-FFF2-40B4-BE49-F238E27FC236}">
                <a16:creationId xmlns:a16="http://schemas.microsoft.com/office/drawing/2014/main" id="{099AB256-FA6F-4BCE-A67A-2421B0063D20}"/>
              </a:ext>
            </a:extLst>
          </p:cNvPr>
          <p:cNvSpPr>
            <a:spLocks xmlns:a="http://schemas.openxmlformats.org/drawingml/2006/main" noGrp="1"/>
          </p:cNvSpPr>
          <p:nvPr/>
        </p:nvSpPr>
        <p:spPr>
          <a:xfrm xmlns:a="http://schemas.openxmlformats.org/drawingml/2006/main">
            <a:off x="457200" y="3291840"/>
            <a:ext cx="4069080" cy="1371600"/>
          </a:xfrm>
          <a:prstGeom xmlns:a="http://schemas.openxmlformats.org/drawingml/2006/main" prst="rect">
            <a:avLst/>
          </a:prstGeom>
          <a:solidFill xmlns:a="http://schemas.openxmlformats.org/drawingml/2006/main">
            <a:srgbClr val="F5F7FB"/>
          </a:solidFill>
          <a:ln xmlns:a="http://schemas.openxmlformats.org/drawingml/2006/main" w="6350">
            <a:solidFill>
              <a:srgbClr val="E5E7EB"/>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Shape 16">
            <a:extLst xmlns:a="http://schemas.openxmlformats.org/drawingml/2006/main">
              <a:ext uri="{FF2B5EF4-FFF2-40B4-BE49-F238E27FC236}">
                <a16:creationId xmlns:a16="http://schemas.microsoft.com/office/drawing/2014/main" id="{8A0B99C0-2CBE-4711-8C4F-4B77FB1079F7}"/>
              </a:ext>
            </a:extLst>
          </p:cNvPr>
          <p:cNvSpPr>
            <a:spLocks xmlns:a="http://schemas.openxmlformats.org/drawingml/2006/main" noGrp="1"/>
          </p:cNvSpPr>
          <p:nvPr/>
        </p:nvSpPr>
        <p:spPr>
          <a:xfrm xmlns:a="http://schemas.openxmlformats.org/drawingml/2006/main">
            <a:off x="640080" y="3474720"/>
            <a:ext cx="594360" cy="594360"/>
          </a:xfrm>
          <a:prstGeom xmlns:a="http://schemas.openxmlformats.org/drawingml/2006/main" prst="ellipse">
            <a:avLst/>
          </a:prstGeom>
          <a:solidFill xmlns:a="http://schemas.openxmlformats.org/drawingml/2006/main">
            <a:srgbClr val="1E2761"/>
          </a:solidFill>
          <a:ln xmlns:a="http://schemas.openxmlformats.org/drawingml/2006/main" w="12700">
            <a:solidFill>
              <a:srgbClr val="1E2761"/>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Text 17">
            <a:extLst xmlns:a="http://schemas.openxmlformats.org/drawingml/2006/main">
              <a:ext uri="{FF2B5EF4-FFF2-40B4-BE49-F238E27FC236}">
                <a16:creationId xmlns:a16="http://schemas.microsoft.com/office/drawing/2014/main" id="{5406D4BE-1F07-4FAA-B8BB-BDDDD26694A3}"/>
              </a:ext>
            </a:extLst>
          </p:cNvPr>
          <p:cNvSpPr>
            <a:spLocks xmlns:a="http://schemas.openxmlformats.org/drawingml/2006/main" noGrp="1"/>
          </p:cNvSpPr>
          <p:nvPr/>
        </p:nvSpPr>
        <p:spPr>
          <a:xfrm xmlns:a="http://schemas.openxmlformats.org/drawingml/2006/main">
            <a:off x="640080" y="3502152"/>
            <a:ext cx="594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C9A961"/>
                </a:solidFill>
                <a:latin typeface="Cambria"/>
                <a:ea typeface="Cambria"/>
                <a:cs typeface="Cambria"/>
              </a:rPr>
              <a:t>C</a:t>
            </a:r>
            <a:endParaRPr sz="2200"/>
          </a:p>
        </p:txBody>
      </p:sp>
      <p:sp>
        <p:nvSpPr>
          <p:cNvPr id="20" name="Text 18">
            <a:extLst xmlns:a="http://schemas.openxmlformats.org/drawingml/2006/main">
              <a:ext uri="{FF2B5EF4-FFF2-40B4-BE49-F238E27FC236}">
                <a16:creationId xmlns:a16="http://schemas.microsoft.com/office/drawing/2014/main" id="{9FD75BFC-6D62-4F7C-9D1A-488FC507CA03}"/>
              </a:ext>
            </a:extLst>
          </p:cNvPr>
          <p:cNvSpPr>
            <a:spLocks xmlns:a="http://schemas.openxmlformats.org/drawingml/2006/main" noGrp="1"/>
          </p:cNvSpPr>
          <p:nvPr/>
        </p:nvSpPr>
        <p:spPr>
          <a:xfrm xmlns:a="http://schemas.openxmlformats.org/drawingml/2006/main">
            <a:off x="1371600" y="3493008"/>
            <a:ext cx="301752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300">
                <a:solidFill>
                  <a:srgbClr val="6B7280"/>
                </a:solidFill>
                <a:latin typeface="Calibri"/>
                <a:ea typeface="Calibri"/>
                <a:cs typeface="Calibri"/>
              </a:rPr>
              <a:t>SCENARIO</a:t>
            </a:r>
            <a:endParaRPr sz="900"/>
          </a:p>
        </p:txBody>
      </p:sp>
      <p:sp>
        <p:nvSpPr>
          <p:cNvPr id="21" name="Text 19">
            <a:extLst xmlns:a="http://schemas.openxmlformats.org/drawingml/2006/main">
              <a:ext uri="{FF2B5EF4-FFF2-40B4-BE49-F238E27FC236}">
                <a16:creationId xmlns:a16="http://schemas.microsoft.com/office/drawing/2014/main" id="{573C69C2-7838-4786-8064-5123CAE33C5B}"/>
              </a:ext>
            </a:extLst>
          </p:cNvPr>
          <p:cNvSpPr>
            <a:spLocks xmlns:a="http://schemas.openxmlformats.org/drawingml/2006/main" noGrp="1"/>
          </p:cNvSpPr>
          <p:nvPr/>
        </p:nvSpPr>
        <p:spPr>
          <a:xfrm xmlns:a="http://schemas.openxmlformats.org/drawingml/2006/main">
            <a:off x="1371600" y="3749040"/>
            <a:ext cx="301752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1A1F3A"/>
                </a:solidFill>
                <a:latin typeface="Calibri"/>
                <a:ea typeface="Calibri"/>
                <a:cs typeface="Calibri"/>
              </a:rPr>
              <a:t>People Analytics builds an attrition risk model that scores all employees monthly and shares the scores directly with managers.</a:t>
            </a:r>
            <a:endParaRPr sz="1100"/>
          </a:p>
        </p:txBody>
      </p:sp>
      <p:sp>
        <p:nvSpPr>
          <p:cNvPr id="22" name="Shape 20">
            <a:extLst xmlns:a="http://schemas.openxmlformats.org/drawingml/2006/main">
              <a:ext uri="{FF2B5EF4-FFF2-40B4-BE49-F238E27FC236}">
                <a16:creationId xmlns:a16="http://schemas.microsoft.com/office/drawing/2014/main" id="{E66F8C3F-26EB-4B35-85ED-71289F936A4C}"/>
              </a:ext>
            </a:extLst>
          </p:cNvPr>
          <p:cNvSpPr>
            <a:spLocks xmlns:a="http://schemas.openxmlformats.org/drawingml/2006/main" noGrp="1"/>
          </p:cNvSpPr>
          <p:nvPr/>
        </p:nvSpPr>
        <p:spPr>
          <a:xfrm xmlns:a="http://schemas.openxmlformats.org/drawingml/2006/main">
            <a:off x="4617720" y="3291840"/>
            <a:ext cx="4069080" cy="1371600"/>
          </a:xfrm>
          <a:prstGeom xmlns:a="http://schemas.openxmlformats.org/drawingml/2006/main" prst="rect">
            <a:avLst/>
          </a:prstGeom>
          <a:solidFill xmlns:a="http://schemas.openxmlformats.org/drawingml/2006/main">
            <a:srgbClr val="F5F7FB"/>
          </a:solidFill>
          <a:ln xmlns:a="http://schemas.openxmlformats.org/drawingml/2006/main" w="6350">
            <a:solidFill>
              <a:srgbClr val="E5E7EB"/>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Shape 21">
            <a:extLst xmlns:a="http://schemas.openxmlformats.org/drawingml/2006/main">
              <a:ext uri="{FF2B5EF4-FFF2-40B4-BE49-F238E27FC236}">
                <a16:creationId xmlns:a16="http://schemas.microsoft.com/office/drawing/2014/main" id="{3F8BB4BD-691F-454D-A162-8AF65E66329C}"/>
              </a:ext>
            </a:extLst>
          </p:cNvPr>
          <p:cNvSpPr>
            <a:spLocks xmlns:a="http://schemas.openxmlformats.org/drawingml/2006/main" noGrp="1"/>
          </p:cNvSpPr>
          <p:nvPr/>
        </p:nvSpPr>
        <p:spPr>
          <a:xfrm xmlns:a="http://schemas.openxmlformats.org/drawingml/2006/main">
            <a:off x="4800600" y="3474720"/>
            <a:ext cx="594360" cy="594360"/>
          </a:xfrm>
          <a:prstGeom xmlns:a="http://schemas.openxmlformats.org/drawingml/2006/main" prst="ellipse">
            <a:avLst/>
          </a:prstGeom>
          <a:solidFill xmlns:a="http://schemas.openxmlformats.org/drawingml/2006/main">
            <a:srgbClr val="1E2761"/>
          </a:solidFill>
          <a:ln xmlns:a="http://schemas.openxmlformats.org/drawingml/2006/main" w="12700">
            <a:solidFill>
              <a:srgbClr val="1E2761"/>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Text 22">
            <a:extLst xmlns:a="http://schemas.openxmlformats.org/drawingml/2006/main">
              <a:ext uri="{FF2B5EF4-FFF2-40B4-BE49-F238E27FC236}">
                <a16:creationId xmlns:a16="http://schemas.microsoft.com/office/drawing/2014/main" id="{079D09A8-76DE-4BFD-A762-5CE39AE9A5FA}"/>
              </a:ext>
            </a:extLst>
          </p:cNvPr>
          <p:cNvSpPr>
            <a:spLocks xmlns:a="http://schemas.openxmlformats.org/drawingml/2006/main" noGrp="1"/>
          </p:cNvSpPr>
          <p:nvPr/>
        </p:nvSpPr>
        <p:spPr>
          <a:xfrm xmlns:a="http://schemas.openxmlformats.org/drawingml/2006/main">
            <a:off x="4800600" y="3502152"/>
            <a:ext cx="594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C9A961"/>
                </a:solidFill>
                <a:latin typeface="Cambria"/>
                <a:ea typeface="Cambria"/>
                <a:cs typeface="Cambria"/>
              </a:rPr>
              <a:t>D</a:t>
            </a:r>
            <a:endParaRPr sz="2200"/>
          </a:p>
        </p:txBody>
      </p:sp>
      <p:sp>
        <p:nvSpPr>
          <p:cNvPr id="25" name="Text 23">
            <a:extLst xmlns:a="http://schemas.openxmlformats.org/drawingml/2006/main">
              <a:ext uri="{FF2B5EF4-FFF2-40B4-BE49-F238E27FC236}">
                <a16:creationId xmlns:a16="http://schemas.microsoft.com/office/drawing/2014/main" id="{BC2A5985-2C56-4E44-BAA8-2FF9E4BDEC5D}"/>
              </a:ext>
            </a:extLst>
          </p:cNvPr>
          <p:cNvSpPr>
            <a:spLocks xmlns:a="http://schemas.openxmlformats.org/drawingml/2006/main" noGrp="1"/>
          </p:cNvSpPr>
          <p:nvPr/>
        </p:nvSpPr>
        <p:spPr>
          <a:xfrm xmlns:a="http://schemas.openxmlformats.org/drawingml/2006/main">
            <a:off x="5532120" y="3493008"/>
            <a:ext cx="301752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300">
                <a:solidFill>
                  <a:srgbClr val="6B7280"/>
                </a:solidFill>
                <a:latin typeface="Calibri"/>
                <a:ea typeface="Calibri"/>
                <a:cs typeface="Calibri"/>
              </a:rPr>
              <a:t>SCENARIO</a:t>
            </a:r>
            <a:endParaRPr sz="900"/>
          </a:p>
        </p:txBody>
      </p:sp>
      <p:sp>
        <p:nvSpPr>
          <p:cNvPr id="26" name="Text 24">
            <a:extLst xmlns:a="http://schemas.openxmlformats.org/drawingml/2006/main">
              <a:ext uri="{FF2B5EF4-FFF2-40B4-BE49-F238E27FC236}">
                <a16:creationId xmlns:a16="http://schemas.microsoft.com/office/drawing/2014/main" id="{B98F1202-C530-40EE-8FD3-36472272A05B}"/>
              </a:ext>
            </a:extLst>
          </p:cNvPr>
          <p:cNvSpPr>
            <a:spLocks xmlns:a="http://schemas.openxmlformats.org/drawingml/2006/main" noGrp="1"/>
          </p:cNvSpPr>
          <p:nvPr/>
        </p:nvSpPr>
        <p:spPr>
          <a:xfrm xmlns:a="http://schemas.openxmlformats.org/drawingml/2006/main">
            <a:off x="5532120" y="3749040"/>
            <a:ext cx="301752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1A1F3A"/>
                </a:solidFill>
                <a:latin typeface="Calibri"/>
                <a:ea typeface="Calibri"/>
                <a:cs typeface="Calibri"/>
              </a:rPr>
              <a:t>An AI chatbot answers benefits questions for employees. It sometimes gives incorrect information but flags that users should confirm with HR.</a:t>
            </a:r>
            <a:endParaRPr sz="1100"/>
          </a:p>
        </p:txBody>
      </p:sp>
      <p:sp>
        <p:nvSpPr>
          <p:cNvPr id="27" name="Text 25">
            <a:extLst xmlns:a="http://schemas.openxmlformats.org/drawingml/2006/main">
              <a:ext uri="{FF2B5EF4-FFF2-40B4-BE49-F238E27FC236}">
                <a16:creationId xmlns:a16="http://schemas.microsoft.com/office/drawing/2014/main" id="{FA1D4F07-6301-4535-8247-401B9F943CEE}"/>
              </a:ext>
            </a:extLst>
          </p:cNvPr>
          <p:cNvSpPr>
            <a:spLocks xmlns:a="http://schemas.openxmlformats.org/drawingml/2006/main" noGrp="1"/>
          </p:cNvSpPr>
          <p:nvPr/>
        </p:nvSpPr>
        <p:spPr>
          <a:xfrm xmlns:a="http://schemas.openxmlformats.org/drawingml/2006/main">
            <a:off x="457200" y="4846320"/>
            <a:ext cx="45720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HR AI Literacy Curriculum</a:t>
            </a:r>
            <a:endParaRPr sz="900"/>
          </a:p>
        </p:txBody>
      </p:sp>
      <p:sp>
        <p:nvSpPr>
          <p:cNvPr id="28" name="Text 26">
            <a:extLst xmlns:a="http://schemas.openxmlformats.org/drawingml/2006/main">
              <a:ext uri="{FF2B5EF4-FFF2-40B4-BE49-F238E27FC236}">
                <a16:creationId xmlns:a16="http://schemas.microsoft.com/office/drawing/2014/main" id="{15C4D180-DE44-413C-A6F3-935923771E68}"/>
              </a:ext>
            </a:extLst>
          </p:cNvPr>
          <p:cNvSpPr>
            <a:spLocks xmlns:a="http://schemas.openxmlformats.org/drawingml/2006/main" noGrp="1"/>
          </p:cNvSpPr>
          <p:nvPr/>
        </p:nvSpPr>
        <p:spPr>
          <a:xfrm xmlns:a="http://schemas.openxmlformats.org/drawingml/2006/main">
            <a:off x="8412480" y="4846320"/>
            <a:ext cx="4572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6B7280"/>
                </a:solidFill>
                <a:latin typeface="Calibri"/>
                <a:ea typeface="Calibri"/>
                <a:cs typeface="Calibri"/>
              </a:rPr>
              <a:t>16</a:t>
            </a:r>
            <a:endParaRPr sz="900"/>
          </a:p>
        </p:txBody>
      </p:sp>
    </p:spTree>
    <p:extLst>
      <p:ext uri="{BB962C8B-B14F-4D97-AF65-F5344CB8AC3E}">
        <p14:creationId xmlns:p14="http://schemas.microsoft.com/office/powerpoint/2010/main" val="1472166888"/>
      </p:ext>
    </p:extLst>
  </p:cSld>
</p:sld>
</file>

<file path=ppt/slides/slide17.xml><?xml version="1.0" encoding="utf-8"?>
<p:sld xmlns:p="http://schemas.openxmlformats.org/presentationml/2006/main">
  <p:cSld>
    <p:bg>
      <p:bgPr>
        <a:solidFill xmlns:a="http://schemas.openxmlformats.org/drawingml/2006/main">
          <a:srgbClr val="1E2761"/>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A33BDF5-2F41-4C4A-B958-2E3B47B6E184}"/>
              </a:ext>
            </a:extLst>
          </p:cNvPr>
          <p:cNvSpPr>
            <a:spLocks xmlns:a="http://schemas.openxmlformats.org/drawingml/2006/main" noGrp="1"/>
          </p:cNvSpPr>
          <p:nvPr/>
        </p:nvSpPr>
        <p:spPr>
          <a:xfrm xmlns:a="http://schemas.openxmlformats.org/drawingml/2006/main">
            <a:off x="640080" y="960120"/>
            <a:ext cx="2743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600">
                <a:solidFill>
                  <a:srgbClr val="CADCFC"/>
                </a:solidFill>
                <a:latin typeface="Calibri"/>
                <a:ea typeface="Calibri"/>
                <a:cs typeface="Calibri"/>
              </a:rPr>
              <a:t>MODULE</a:t>
            </a:r>
            <a:endParaRPr sz="1100"/>
          </a:p>
        </p:txBody>
      </p:sp>
      <p:sp>
        <p:nvSpPr>
          <p:cNvPr id="3" name="Text 1">
            <a:extLst xmlns:a="http://schemas.openxmlformats.org/drawingml/2006/main">
              <a:ext uri="{FF2B5EF4-FFF2-40B4-BE49-F238E27FC236}">
                <a16:creationId xmlns:a16="http://schemas.microsoft.com/office/drawing/2014/main" id="{D195988D-2D83-4AF9-A257-420B93A70BD2}"/>
              </a:ext>
            </a:extLst>
          </p:cNvPr>
          <p:cNvSpPr>
            <a:spLocks xmlns:a="http://schemas.openxmlformats.org/drawingml/2006/main" noGrp="1"/>
          </p:cNvSpPr>
          <p:nvPr/>
        </p:nvSpPr>
        <p:spPr>
          <a:xfrm xmlns:a="http://schemas.openxmlformats.org/drawingml/2006/main">
            <a:off x="457200" y="1463040"/>
            <a:ext cx="2286000" cy="18288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3000" b="1">
                <a:solidFill>
                  <a:srgbClr val="C9A961"/>
                </a:solidFill>
                <a:latin typeface="Cambria"/>
                <a:ea typeface="Cambria"/>
                <a:cs typeface="Cambria"/>
              </a:rPr>
              <a:t>04</a:t>
            </a:r>
            <a:endParaRPr sz="13000"/>
          </a:p>
        </p:txBody>
      </p:sp>
      <p:sp>
        <p:nvSpPr>
          <p:cNvPr id="4" name="Text 2">
            <a:extLst xmlns:a="http://schemas.openxmlformats.org/drawingml/2006/main">
              <a:ext uri="{FF2B5EF4-FFF2-40B4-BE49-F238E27FC236}">
                <a16:creationId xmlns:a16="http://schemas.microsoft.com/office/drawing/2014/main" id="{0BEB9527-8ECE-450A-BDE4-FD6566276FD9}"/>
              </a:ext>
            </a:extLst>
          </p:cNvPr>
          <p:cNvSpPr>
            <a:spLocks xmlns:a="http://schemas.openxmlformats.org/drawingml/2006/main" noGrp="1"/>
          </p:cNvSpPr>
          <p:nvPr/>
        </p:nvSpPr>
        <p:spPr>
          <a:xfrm xmlns:a="http://schemas.openxmlformats.org/drawingml/2006/main">
            <a:off x="3200400" y="1737360"/>
            <a:ext cx="548640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FFFFFF"/>
                </a:solidFill>
                <a:latin typeface="Cambria"/>
                <a:ea typeface="Cambria"/>
                <a:cs typeface="Cambria"/>
              </a:rPr>
              <a:t>Building and scaling AI use cases</a:t>
            </a:r>
            <a:endParaRPr sz="3000"/>
          </a:p>
        </p:txBody>
      </p:sp>
      <p:sp>
        <p:nvSpPr>
          <p:cNvPr id="5" name="Text 3">
            <a:extLst xmlns:a="http://schemas.openxmlformats.org/drawingml/2006/main">
              <a:ext uri="{FF2B5EF4-FFF2-40B4-BE49-F238E27FC236}">
                <a16:creationId xmlns:a16="http://schemas.microsoft.com/office/drawing/2014/main" id="{C5B6D8C1-3E12-401B-8102-E46D1BEC2C93}"/>
              </a:ext>
            </a:extLst>
          </p:cNvPr>
          <p:cNvSpPr>
            <a:spLocks xmlns:a="http://schemas.openxmlformats.org/drawingml/2006/main" noGrp="1"/>
          </p:cNvSpPr>
          <p:nvPr/>
        </p:nvSpPr>
        <p:spPr>
          <a:xfrm xmlns:a="http://schemas.openxmlformats.org/drawingml/2006/main">
            <a:off x="3200400" y="2606040"/>
            <a:ext cx="54864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i="1">
                <a:solidFill>
                  <a:srgbClr val="CADCFC"/>
                </a:solidFill>
                <a:latin typeface="Calibri"/>
                <a:ea typeface="Calibri"/>
                <a:cs typeface="Calibri"/>
              </a:rPr>
              <a:t>From idea to deployment to scale</a:t>
            </a:r>
            <a:endParaRPr sz="1600"/>
          </a:p>
        </p:txBody>
      </p:sp>
      <p:sp>
        <p:nvSpPr>
          <p:cNvPr id="6" name="Shape 4">
            <a:extLst xmlns:a="http://schemas.openxmlformats.org/drawingml/2006/main">
              <a:ext uri="{FF2B5EF4-FFF2-40B4-BE49-F238E27FC236}">
                <a16:creationId xmlns:a16="http://schemas.microsoft.com/office/drawing/2014/main" id="{3658F4AF-3447-48BF-BC2B-3134C6171FF3}"/>
              </a:ext>
            </a:extLst>
          </p:cNvPr>
          <p:cNvSpPr>
            <a:spLocks xmlns:a="http://schemas.openxmlformats.org/drawingml/2006/main" noGrp="1"/>
          </p:cNvSpPr>
          <p:nvPr/>
        </p:nvSpPr>
        <p:spPr>
          <a:xfrm xmlns:a="http://schemas.openxmlformats.org/drawingml/2006/main">
            <a:off x="3200400" y="3429000"/>
            <a:ext cx="36576" cy="914400"/>
          </a:xfrm>
          <a:prstGeom xmlns:a="http://schemas.openxmlformats.org/drawingml/2006/main" prst="rect">
            <a:avLst/>
          </a:prstGeom>
          <a:solidFill xmlns:a="http://schemas.openxmlformats.org/drawingml/2006/main">
            <a:srgbClr val="C9A961"/>
          </a:solidFill>
          <a:ln xmlns:a="http://schemas.openxmlformats.org/drawingml/2006/main" w="12700">
            <a:solidFill>
              <a:srgbClr val="C9A961"/>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Text 5">
            <a:extLst xmlns:a="http://schemas.openxmlformats.org/drawingml/2006/main">
              <a:ext uri="{FF2B5EF4-FFF2-40B4-BE49-F238E27FC236}">
                <a16:creationId xmlns:a16="http://schemas.microsoft.com/office/drawing/2014/main" id="{DB8D731A-D55C-49A0-B86D-1477A133B62C}"/>
              </a:ext>
            </a:extLst>
          </p:cNvPr>
          <p:cNvSpPr>
            <a:spLocks xmlns:a="http://schemas.openxmlformats.org/drawingml/2006/main" noGrp="1"/>
          </p:cNvSpPr>
          <p:nvPr/>
        </p:nvSpPr>
        <p:spPr>
          <a:xfrm xmlns:a="http://schemas.openxmlformats.org/drawingml/2006/main">
            <a:off x="3383280" y="3429000"/>
            <a:ext cx="45720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FFFFFF"/>
                </a:solidFill>
                <a:latin typeface="Calibri"/>
                <a:ea typeface="Calibri"/>
                <a:cs typeface="Calibri"/>
              </a:rPr>
              <a:t>2 hours</a:t>
            </a:r>
            <a:endParaRPr sz="1600"/>
          </a:p>
        </p:txBody>
      </p:sp>
      <p:sp>
        <p:nvSpPr>
          <p:cNvPr id="8" name="Text 6">
            <a:extLst xmlns:a="http://schemas.openxmlformats.org/drawingml/2006/main">
              <a:ext uri="{FF2B5EF4-FFF2-40B4-BE49-F238E27FC236}">
                <a16:creationId xmlns:a16="http://schemas.microsoft.com/office/drawing/2014/main" id="{0CC1095A-E7AC-41B8-A738-52595D3C3129}"/>
              </a:ext>
            </a:extLst>
          </p:cNvPr>
          <p:cNvSpPr>
            <a:spLocks xmlns:a="http://schemas.openxmlformats.org/drawingml/2006/main" noGrp="1"/>
          </p:cNvSpPr>
          <p:nvPr/>
        </p:nvSpPr>
        <p:spPr>
          <a:xfrm xmlns:a="http://schemas.openxmlformats.org/drawingml/2006/main">
            <a:off x="3383280" y="3794760"/>
            <a:ext cx="4572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a:solidFill>
                  <a:srgbClr val="CADCFC"/>
                </a:solidFill>
                <a:latin typeface="Calibri"/>
                <a:ea typeface="Calibri"/>
                <a:cs typeface="Calibri"/>
              </a:rPr>
              <a:t>Workshop + project</a:t>
            </a:r>
            <a:endParaRPr sz="1200"/>
          </a:p>
        </p:txBody>
      </p:sp>
      <p:sp>
        <p:nvSpPr>
          <p:cNvPr id="9" name="Text 7">
            <a:extLst xmlns:a="http://schemas.openxmlformats.org/drawingml/2006/main">
              <a:ext uri="{FF2B5EF4-FFF2-40B4-BE49-F238E27FC236}">
                <a16:creationId xmlns:a16="http://schemas.microsoft.com/office/drawing/2014/main" id="{67D966B6-88E1-4A84-907D-A61BF57BB52C}"/>
              </a:ext>
            </a:extLst>
          </p:cNvPr>
          <p:cNvSpPr>
            <a:spLocks xmlns:a="http://schemas.openxmlformats.org/drawingml/2006/main" noGrp="1"/>
          </p:cNvSpPr>
          <p:nvPr/>
        </p:nvSpPr>
        <p:spPr>
          <a:xfrm xmlns:a="http://schemas.openxmlformats.org/drawingml/2006/main">
            <a:off x="3383280" y="4114800"/>
            <a:ext cx="530352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i="1">
                <a:solidFill>
                  <a:srgbClr val="CADCFC"/>
                </a:solidFill>
                <a:latin typeface="Calibri"/>
                <a:ea typeface="Calibri"/>
                <a:cs typeface="Calibri"/>
              </a:rPr>
              <a:t>Participants apply the prioritization matrix to their team's top ideas and draft a one-page use case spec for their highest-ranked use case.</a:t>
            </a:r>
            <a:endParaRPr sz="1100"/>
          </a:p>
        </p:txBody>
      </p:sp>
    </p:spTree>
    <p:extLst>
      <p:ext uri="{BB962C8B-B14F-4D97-AF65-F5344CB8AC3E}">
        <p14:creationId xmlns:p14="http://schemas.microsoft.com/office/powerpoint/2010/main" val="24346981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72C9B46-66D5-44AE-BA1D-FD8DC9A9A613}"/>
              </a:ext>
            </a:extLst>
          </p:cNvPr>
          <p:cNvSpPr>
            <a:spLocks xmlns:a="http://schemas.openxmlformats.org/drawingml/2006/main" noGrp="1"/>
          </p:cNvSpPr>
          <p:nvPr/>
        </p:nvSpPr>
        <p:spPr>
          <a:xfrm xmlns:a="http://schemas.openxmlformats.org/drawingml/2006/main">
            <a:off x="0" y="0"/>
            <a:ext cx="9144000" cy="411480"/>
          </a:xfrm>
          <a:prstGeom xmlns:a="http://schemas.openxmlformats.org/drawingml/2006/main" prst="rect">
            <a:avLst/>
          </a:prstGeom>
          <a:solidFill xmlns:a="http://schemas.openxmlformats.org/drawingml/2006/main">
            <a:srgbClr val="1E2761"/>
          </a:solidFill>
          <a:ln xmlns:a="http://schemas.openxmlformats.org/drawingml/2006/main" w="12700">
            <a:solidFill>
              <a:srgbClr val="1E2761"/>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0235A4D3-769A-44C3-A6AC-3F69F4363415}"/>
              </a:ext>
            </a:extLst>
          </p:cNvPr>
          <p:cNvSpPr>
            <a:spLocks xmlns:a="http://schemas.openxmlformats.org/drawingml/2006/main" noGrp="1"/>
          </p:cNvSpPr>
          <p:nvPr/>
        </p:nvSpPr>
        <p:spPr>
          <a:xfrm xmlns:a="http://schemas.openxmlformats.org/drawingml/2006/main">
            <a:off x="457200" y="73152"/>
            <a:ext cx="2743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spc="400">
                <a:solidFill>
                  <a:srgbClr val="C9A961"/>
                </a:solidFill>
                <a:latin typeface="Calibri"/>
                <a:ea typeface="Calibri"/>
                <a:cs typeface="Calibri"/>
              </a:rPr>
              <a:t>MODULE 04</a:t>
            </a:r>
            <a:endParaRPr sz="1000"/>
          </a:p>
        </p:txBody>
      </p:sp>
      <p:sp>
        <p:nvSpPr>
          <p:cNvPr id="4" name="Text 2">
            <a:extLst xmlns:a="http://schemas.openxmlformats.org/drawingml/2006/main">
              <a:ext uri="{FF2B5EF4-FFF2-40B4-BE49-F238E27FC236}">
                <a16:creationId xmlns:a16="http://schemas.microsoft.com/office/drawing/2014/main" id="{150B52BB-C218-4137-A389-0945DC6BCDA0}"/>
              </a:ext>
            </a:extLst>
          </p:cNvPr>
          <p:cNvSpPr>
            <a:spLocks xmlns:a="http://schemas.openxmlformats.org/drawingml/2006/main" noGrp="1"/>
          </p:cNvSpPr>
          <p:nvPr/>
        </p:nvSpPr>
        <p:spPr>
          <a:xfrm xmlns:a="http://schemas.openxmlformats.org/drawingml/2006/main">
            <a:off x="3200400" y="73152"/>
            <a:ext cx="54864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000">
                <a:solidFill>
                  <a:srgbClr val="CADCFC"/>
                </a:solidFill>
                <a:latin typeface="Calibri"/>
                <a:ea typeface="Calibri"/>
                <a:cs typeface="Calibri"/>
              </a:rPr>
              <a:t>Building and scaling AI use cases</a:t>
            </a:r>
            <a:endParaRPr sz="1000"/>
          </a:p>
        </p:txBody>
      </p:sp>
      <p:sp>
        <p:nvSpPr>
          <p:cNvPr id="5" name="Text 3">
            <a:extLst xmlns:a="http://schemas.openxmlformats.org/drawingml/2006/main">
              <a:ext uri="{FF2B5EF4-FFF2-40B4-BE49-F238E27FC236}">
                <a16:creationId xmlns:a16="http://schemas.microsoft.com/office/drawing/2014/main" id="{21872FE5-21C8-4161-B514-699CECAAA9B5}"/>
              </a:ext>
            </a:extLst>
          </p:cNvPr>
          <p:cNvSpPr>
            <a:spLocks xmlns:a="http://schemas.openxmlformats.org/drawingml/2006/main" noGrp="1"/>
          </p:cNvSpPr>
          <p:nvPr/>
        </p:nvSpPr>
        <p:spPr>
          <a:xfrm xmlns:a="http://schemas.openxmlformats.org/drawingml/2006/main">
            <a:off x="457200" y="685800"/>
            <a:ext cx="822960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800" b="1">
                <a:solidFill>
                  <a:srgbClr val="1E2761"/>
                </a:solidFill>
                <a:latin typeface="Cambria"/>
                <a:ea typeface="Cambria"/>
                <a:cs typeface="Cambria"/>
              </a:rPr>
              <a:t>Learning objectives</a:t>
            </a:r>
            <a:endParaRPr sz="2800"/>
          </a:p>
        </p:txBody>
      </p:sp>
      <p:sp>
        <p:nvSpPr>
          <p:cNvPr id="6" name="Text 4">
            <a:extLst xmlns:a="http://schemas.openxmlformats.org/drawingml/2006/main">
              <a:ext uri="{FF2B5EF4-FFF2-40B4-BE49-F238E27FC236}">
                <a16:creationId xmlns:a16="http://schemas.microsoft.com/office/drawing/2014/main" id="{FD74714F-B586-416D-AB3F-6C365E91CAB7}"/>
              </a:ext>
            </a:extLst>
          </p:cNvPr>
          <p:cNvSpPr>
            <a:spLocks xmlns:a="http://schemas.openxmlformats.org/drawingml/2006/main" noGrp="1"/>
          </p:cNvSpPr>
          <p:nvPr/>
        </p:nvSpPr>
        <p:spPr>
          <a:xfrm xmlns:a="http://schemas.openxmlformats.org/drawingml/2006/main">
            <a:off x="457200" y="1234440"/>
            <a:ext cx="82296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i="1">
                <a:solidFill>
                  <a:srgbClr val="6B7280"/>
                </a:solidFill>
                <a:latin typeface="Calibri"/>
                <a:ea typeface="Calibri"/>
                <a:cs typeface="Calibri"/>
              </a:rPr>
              <a:t>After this session, participants will be able to:</a:t>
            </a:r>
            <a:endParaRPr sz="1300"/>
          </a:p>
        </p:txBody>
      </p:sp>
      <p:sp>
        <p:nvSpPr>
          <p:cNvPr id="7" name="Shape 5">
            <a:extLst xmlns:a="http://schemas.openxmlformats.org/drawingml/2006/main">
              <a:ext uri="{FF2B5EF4-FFF2-40B4-BE49-F238E27FC236}">
                <a16:creationId xmlns:a16="http://schemas.microsoft.com/office/drawing/2014/main" id="{6ADDCECF-ED0F-41D2-96AC-80DE79612016}"/>
              </a:ext>
            </a:extLst>
          </p:cNvPr>
          <p:cNvSpPr>
            <a:spLocks xmlns:a="http://schemas.openxmlformats.org/drawingml/2006/main" noGrp="1"/>
          </p:cNvSpPr>
          <p:nvPr/>
        </p:nvSpPr>
        <p:spPr>
          <a:xfrm xmlns:a="http://schemas.openxmlformats.org/drawingml/2006/main">
            <a:off x="457200" y="1965960"/>
            <a:ext cx="548640" cy="548640"/>
          </a:xfrm>
          <a:prstGeom xmlns:a="http://schemas.openxmlformats.org/drawingml/2006/main" prst="ellipse">
            <a:avLst/>
          </a:prstGeom>
          <a:solidFill xmlns:a="http://schemas.openxmlformats.org/drawingml/2006/main">
            <a:srgbClr val="1E2761"/>
          </a:solidFill>
          <a:ln xmlns:a="http://schemas.openxmlformats.org/drawingml/2006/main" w="12700">
            <a:solidFill>
              <a:srgbClr val="1E2761"/>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A612221F-11DB-4D4C-8571-D2523D0DEA8C}"/>
              </a:ext>
            </a:extLst>
          </p:cNvPr>
          <p:cNvSpPr>
            <a:spLocks xmlns:a="http://schemas.openxmlformats.org/drawingml/2006/main" noGrp="1"/>
          </p:cNvSpPr>
          <p:nvPr/>
        </p:nvSpPr>
        <p:spPr>
          <a:xfrm xmlns:a="http://schemas.openxmlformats.org/drawingml/2006/main">
            <a:off x="457200" y="1993392"/>
            <a:ext cx="5486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C9A961"/>
                </a:solidFill>
                <a:latin typeface="Cambria"/>
                <a:ea typeface="Cambria"/>
                <a:cs typeface="Cambria"/>
              </a:rPr>
              <a:t>1</a:t>
            </a:r>
            <a:endParaRPr sz="2200"/>
          </a:p>
        </p:txBody>
      </p:sp>
      <p:sp>
        <p:nvSpPr>
          <p:cNvPr id="9" name="Text 7">
            <a:extLst xmlns:a="http://schemas.openxmlformats.org/drawingml/2006/main">
              <a:ext uri="{FF2B5EF4-FFF2-40B4-BE49-F238E27FC236}">
                <a16:creationId xmlns:a16="http://schemas.microsoft.com/office/drawing/2014/main" id="{2B83B6D1-DED7-4E7E-A84B-08965715C269}"/>
              </a:ext>
            </a:extLst>
          </p:cNvPr>
          <p:cNvSpPr>
            <a:spLocks xmlns:a="http://schemas.openxmlformats.org/drawingml/2006/main" noGrp="1"/>
          </p:cNvSpPr>
          <p:nvPr/>
        </p:nvSpPr>
        <p:spPr>
          <a:xfrm xmlns:a="http://schemas.openxmlformats.org/drawingml/2006/main">
            <a:off x="1280160" y="2057400"/>
            <a:ext cx="731520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00">
                <a:solidFill>
                  <a:srgbClr val="1A1F3A"/>
                </a:solidFill>
                <a:latin typeface="Calibri"/>
                <a:ea typeface="Calibri"/>
                <a:cs typeface="Calibri"/>
              </a:rPr>
              <a:t>Apply the prioritization matrix to identify your team's highest-value AI use cases.</a:t>
            </a:r>
            <a:endParaRPr sz="1500"/>
          </a:p>
        </p:txBody>
      </p:sp>
      <p:sp>
        <p:nvSpPr>
          <p:cNvPr id="10" name="Shape 8">
            <a:extLst xmlns:a="http://schemas.openxmlformats.org/drawingml/2006/main">
              <a:ext uri="{FF2B5EF4-FFF2-40B4-BE49-F238E27FC236}">
                <a16:creationId xmlns:a16="http://schemas.microsoft.com/office/drawing/2014/main" id="{9DF1A55E-B0F8-4051-A368-2AB1ABF43979}"/>
              </a:ext>
            </a:extLst>
          </p:cNvPr>
          <p:cNvSpPr>
            <a:spLocks xmlns:a="http://schemas.openxmlformats.org/drawingml/2006/main" noGrp="1"/>
          </p:cNvSpPr>
          <p:nvPr/>
        </p:nvSpPr>
        <p:spPr>
          <a:xfrm xmlns:a="http://schemas.openxmlformats.org/drawingml/2006/main">
            <a:off x="457200" y="2971800"/>
            <a:ext cx="548640" cy="548640"/>
          </a:xfrm>
          <a:prstGeom xmlns:a="http://schemas.openxmlformats.org/drawingml/2006/main" prst="ellipse">
            <a:avLst/>
          </a:prstGeom>
          <a:solidFill xmlns:a="http://schemas.openxmlformats.org/drawingml/2006/main">
            <a:srgbClr val="1E2761"/>
          </a:solidFill>
          <a:ln xmlns:a="http://schemas.openxmlformats.org/drawingml/2006/main" w="12700">
            <a:solidFill>
              <a:srgbClr val="1E2761"/>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BB9CBEBB-F50B-4D2F-BBCE-E89C80B116BD}"/>
              </a:ext>
            </a:extLst>
          </p:cNvPr>
          <p:cNvSpPr>
            <a:spLocks xmlns:a="http://schemas.openxmlformats.org/drawingml/2006/main" noGrp="1"/>
          </p:cNvSpPr>
          <p:nvPr/>
        </p:nvSpPr>
        <p:spPr>
          <a:xfrm xmlns:a="http://schemas.openxmlformats.org/drawingml/2006/main">
            <a:off x="457200" y="2999232"/>
            <a:ext cx="5486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C9A961"/>
                </a:solidFill>
                <a:latin typeface="Cambria"/>
                <a:ea typeface="Cambria"/>
                <a:cs typeface="Cambria"/>
              </a:rPr>
              <a:t>2</a:t>
            </a:r>
            <a:endParaRPr sz="2200"/>
          </a:p>
        </p:txBody>
      </p:sp>
      <p:sp>
        <p:nvSpPr>
          <p:cNvPr id="12" name="Text 10">
            <a:extLst xmlns:a="http://schemas.openxmlformats.org/drawingml/2006/main">
              <a:ext uri="{FF2B5EF4-FFF2-40B4-BE49-F238E27FC236}">
                <a16:creationId xmlns:a16="http://schemas.microsoft.com/office/drawing/2014/main" id="{3C1A767A-0AE4-454C-B36F-36BF032959A4}"/>
              </a:ext>
            </a:extLst>
          </p:cNvPr>
          <p:cNvSpPr>
            <a:spLocks xmlns:a="http://schemas.openxmlformats.org/drawingml/2006/main" noGrp="1"/>
          </p:cNvSpPr>
          <p:nvPr/>
        </p:nvSpPr>
        <p:spPr>
          <a:xfrm xmlns:a="http://schemas.openxmlformats.org/drawingml/2006/main">
            <a:off x="1280160" y="3063240"/>
            <a:ext cx="731520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00">
                <a:solidFill>
                  <a:srgbClr val="1A1F3A"/>
                </a:solidFill>
                <a:latin typeface="Calibri"/>
                <a:ea typeface="Calibri"/>
                <a:cs typeface="Calibri"/>
              </a:rPr>
              <a:t>Define a use case with clear success metrics and governance requirements.</a:t>
            </a:r>
            <a:endParaRPr sz="1500"/>
          </a:p>
        </p:txBody>
      </p:sp>
      <p:sp>
        <p:nvSpPr>
          <p:cNvPr id="13" name="Shape 11">
            <a:extLst xmlns:a="http://schemas.openxmlformats.org/drawingml/2006/main">
              <a:ext uri="{FF2B5EF4-FFF2-40B4-BE49-F238E27FC236}">
                <a16:creationId xmlns:a16="http://schemas.microsoft.com/office/drawing/2014/main" id="{989A0AE4-A901-418B-9B68-19B7E25AAA81}"/>
              </a:ext>
            </a:extLst>
          </p:cNvPr>
          <p:cNvSpPr>
            <a:spLocks xmlns:a="http://schemas.openxmlformats.org/drawingml/2006/main" noGrp="1"/>
          </p:cNvSpPr>
          <p:nvPr/>
        </p:nvSpPr>
        <p:spPr>
          <a:xfrm xmlns:a="http://schemas.openxmlformats.org/drawingml/2006/main">
            <a:off x="457200" y="3977640"/>
            <a:ext cx="548640" cy="548640"/>
          </a:xfrm>
          <a:prstGeom xmlns:a="http://schemas.openxmlformats.org/drawingml/2006/main" prst="ellipse">
            <a:avLst/>
          </a:prstGeom>
          <a:solidFill xmlns:a="http://schemas.openxmlformats.org/drawingml/2006/main">
            <a:srgbClr val="1E2761"/>
          </a:solidFill>
          <a:ln xmlns:a="http://schemas.openxmlformats.org/drawingml/2006/main" w="12700">
            <a:solidFill>
              <a:srgbClr val="1E2761"/>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BE42C8A9-2A13-4D53-A7AF-C93D22439610}"/>
              </a:ext>
            </a:extLst>
          </p:cNvPr>
          <p:cNvSpPr>
            <a:spLocks xmlns:a="http://schemas.openxmlformats.org/drawingml/2006/main" noGrp="1"/>
          </p:cNvSpPr>
          <p:nvPr/>
        </p:nvSpPr>
        <p:spPr>
          <a:xfrm xmlns:a="http://schemas.openxmlformats.org/drawingml/2006/main">
            <a:off x="457200" y="4005072"/>
            <a:ext cx="5486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C9A961"/>
                </a:solidFill>
                <a:latin typeface="Cambria"/>
                <a:ea typeface="Cambria"/>
                <a:cs typeface="Cambria"/>
              </a:rPr>
              <a:t>3</a:t>
            </a:r>
            <a:endParaRPr sz="2200"/>
          </a:p>
        </p:txBody>
      </p:sp>
      <p:sp>
        <p:nvSpPr>
          <p:cNvPr id="15" name="Text 13">
            <a:extLst xmlns:a="http://schemas.openxmlformats.org/drawingml/2006/main">
              <a:ext uri="{FF2B5EF4-FFF2-40B4-BE49-F238E27FC236}">
                <a16:creationId xmlns:a16="http://schemas.microsoft.com/office/drawing/2014/main" id="{8C546AE9-1B11-4838-B33C-2C0AC215C26B}"/>
              </a:ext>
            </a:extLst>
          </p:cNvPr>
          <p:cNvSpPr>
            <a:spLocks xmlns:a="http://schemas.openxmlformats.org/drawingml/2006/main" noGrp="1"/>
          </p:cNvSpPr>
          <p:nvPr/>
        </p:nvSpPr>
        <p:spPr>
          <a:xfrm xmlns:a="http://schemas.openxmlformats.org/drawingml/2006/main">
            <a:off x="1280160" y="4069080"/>
            <a:ext cx="731520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00">
                <a:solidFill>
                  <a:srgbClr val="1A1F3A"/>
                </a:solidFill>
                <a:latin typeface="Calibri"/>
                <a:ea typeface="Calibri"/>
                <a:cs typeface="Calibri"/>
              </a:rPr>
              <a:t>Draft a basic implementation plan for a low-complexity use case.</a:t>
            </a:r>
            <a:endParaRPr sz="1500"/>
          </a:p>
        </p:txBody>
      </p:sp>
      <p:sp>
        <p:nvSpPr>
          <p:cNvPr id="16" name="Text 14">
            <a:extLst xmlns:a="http://schemas.openxmlformats.org/drawingml/2006/main">
              <a:ext uri="{FF2B5EF4-FFF2-40B4-BE49-F238E27FC236}">
                <a16:creationId xmlns:a16="http://schemas.microsoft.com/office/drawing/2014/main" id="{8CD5A898-FCE4-44C0-9953-C70279144C8A}"/>
              </a:ext>
            </a:extLst>
          </p:cNvPr>
          <p:cNvSpPr>
            <a:spLocks xmlns:a="http://schemas.openxmlformats.org/drawingml/2006/main" noGrp="1"/>
          </p:cNvSpPr>
          <p:nvPr/>
        </p:nvSpPr>
        <p:spPr>
          <a:xfrm xmlns:a="http://schemas.openxmlformats.org/drawingml/2006/main">
            <a:off x="457200" y="4846320"/>
            <a:ext cx="45720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HR AI Literacy Curriculum</a:t>
            </a:r>
            <a:endParaRPr sz="900"/>
          </a:p>
        </p:txBody>
      </p:sp>
      <p:sp>
        <p:nvSpPr>
          <p:cNvPr id="17" name="Text 15">
            <a:extLst xmlns:a="http://schemas.openxmlformats.org/drawingml/2006/main">
              <a:ext uri="{FF2B5EF4-FFF2-40B4-BE49-F238E27FC236}">
                <a16:creationId xmlns:a16="http://schemas.microsoft.com/office/drawing/2014/main" id="{88AE2B38-138D-470A-B87E-6378E2268B87}"/>
              </a:ext>
            </a:extLst>
          </p:cNvPr>
          <p:cNvSpPr>
            <a:spLocks xmlns:a="http://schemas.openxmlformats.org/drawingml/2006/main" noGrp="1"/>
          </p:cNvSpPr>
          <p:nvPr/>
        </p:nvSpPr>
        <p:spPr>
          <a:xfrm xmlns:a="http://schemas.openxmlformats.org/drawingml/2006/main">
            <a:off x="8412480" y="4846320"/>
            <a:ext cx="4572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6B7280"/>
                </a:solidFill>
                <a:latin typeface="Calibri"/>
                <a:ea typeface="Calibri"/>
                <a:cs typeface="Calibri"/>
              </a:rPr>
              <a:t>18</a:t>
            </a:r>
            <a:endParaRPr sz="900"/>
          </a:p>
        </p:txBody>
      </p:sp>
    </p:spTree>
    <p:extLst>
      <p:ext uri="{BB962C8B-B14F-4D97-AF65-F5344CB8AC3E}">
        <p14:creationId xmlns:p14="http://schemas.microsoft.com/office/powerpoint/2010/main" val="64468377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7F151AB-E272-4A2C-B53C-4B622A4B2AB9}"/>
              </a:ext>
            </a:extLst>
          </p:cNvPr>
          <p:cNvSpPr>
            <a:spLocks xmlns:a="http://schemas.openxmlformats.org/drawingml/2006/main" noGrp="1"/>
          </p:cNvSpPr>
          <p:nvPr/>
        </p:nvSpPr>
        <p:spPr>
          <a:xfrm xmlns:a="http://schemas.openxmlformats.org/drawingml/2006/main">
            <a:off x="0" y="0"/>
            <a:ext cx="9144000" cy="411480"/>
          </a:xfrm>
          <a:prstGeom xmlns:a="http://schemas.openxmlformats.org/drawingml/2006/main" prst="rect">
            <a:avLst/>
          </a:prstGeom>
          <a:solidFill xmlns:a="http://schemas.openxmlformats.org/drawingml/2006/main">
            <a:srgbClr val="1E2761"/>
          </a:solidFill>
          <a:ln xmlns:a="http://schemas.openxmlformats.org/drawingml/2006/main" w="12700">
            <a:solidFill>
              <a:srgbClr val="1E2761"/>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666A8326-3913-45D3-BFBA-533A9C3EEA81}"/>
              </a:ext>
            </a:extLst>
          </p:cNvPr>
          <p:cNvSpPr>
            <a:spLocks xmlns:a="http://schemas.openxmlformats.org/drawingml/2006/main" noGrp="1"/>
          </p:cNvSpPr>
          <p:nvPr/>
        </p:nvSpPr>
        <p:spPr>
          <a:xfrm xmlns:a="http://schemas.openxmlformats.org/drawingml/2006/main">
            <a:off x="457200" y="73152"/>
            <a:ext cx="2743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spc="400">
                <a:solidFill>
                  <a:srgbClr val="C9A961"/>
                </a:solidFill>
                <a:latin typeface="Calibri"/>
                <a:ea typeface="Calibri"/>
                <a:cs typeface="Calibri"/>
              </a:rPr>
              <a:t>MODULE 04</a:t>
            </a:r>
            <a:endParaRPr sz="1000"/>
          </a:p>
        </p:txBody>
      </p:sp>
      <p:sp>
        <p:nvSpPr>
          <p:cNvPr id="4" name="Text 2">
            <a:extLst xmlns:a="http://schemas.openxmlformats.org/drawingml/2006/main">
              <a:ext uri="{FF2B5EF4-FFF2-40B4-BE49-F238E27FC236}">
                <a16:creationId xmlns:a16="http://schemas.microsoft.com/office/drawing/2014/main" id="{3871104E-88FE-4A1D-8F46-9BD81B97A515}"/>
              </a:ext>
            </a:extLst>
          </p:cNvPr>
          <p:cNvSpPr>
            <a:spLocks xmlns:a="http://schemas.openxmlformats.org/drawingml/2006/main" noGrp="1"/>
          </p:cNvSpPr>
          <p:nvPr/>
        </p:nvSpPr>
        <p:spPr>
          <a:xfrm xmlns:a="http://schemas.openxmlformats.org/drawingml/2006/main">
            <a:off x="3200400" y="73152"/>
            <a:ext cx="54864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000">
                <a:solidFill>
                  <a:srgbClr val="CADCFC"/>
                </a:solidFill>
                <a:latin typeface="Calibri"/>
                <a:ea typeface="Calibri"/>
                <a:cs typeface="Calibri"/>
              </a:rPr>
              <a:t>Building and scaling AI use cases</a:t>
            </a:r>
            <a:endParaRPr sz="1000"/>
          </a:p>
        </p:txBody>
      </p:sp>
      <p:sp>
        <p:nvSpPr>
          <p:cNvPr id="5" name="Text 3">
            <a:extLst xmlns:a="http://schemas.openxmlformats.org/drawingml/2006/main">
              <a:ext uri="{FF2B5EF4-FFF2-40B4-BE49-F238E27FC236}">
                <a16:creationId xmlns:a16="http://schemas.microsoft.com/office/drawing/2014/main" id="{6AC9576A-C579-42CF-865B-1CA765F00029}"/>
              </a:ext>
            </a:extLst>
          </p:cNvPr>
          <p:cNvSpPr>
            <a:spLocks xmlns:a="http://schemas.openxmlformats.org/drawingml/2006/main" noGrp="1"/>
          </p:cNvSpPr>
          <p:nvPr/>
        </p:nvSpPr>
        <p:spPr>
          <a:xfrm xmlns:a="http://schemas.openxmlformats.org/drawingml/2006/main">
            <a:off x="457200" y="685800"/>
            <a:ext cx="822960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800" b="1">
                <a:solidFill>
                  <a:srgbClr val="1E2761"/>
                </a:solidFill>
                <a:latin typeface="Cambria"/>
                <a:ea typeface="Cambria"/>
                <a:cs typeface="Cambria"/>
              </a:rPr>
              <a:t>The use case lifecycle</a:t>
            </a:r>
            <a:endParaRPr sz="2800"/>
          </a:p>
        </p:txBody>
      </p:sp>
      <p:sp>
        <p:nvSpPr>
          <p:cNvPr id="6" name="Text 4">
            <a:extLst xmlns:a="http://schemas.openxmlformats.org/drawingml/2006/main">
              <a:ext uri="{FF2B5EF4-FFF2-40B4-BE49-F238E27FC236}">
                <a16:creationId xmlns:a16="http://schemas.microsoft.com/office/drawing/2014/main" id="{9BB73051-7849-42B8-AC4D-74C6CDE2912B}"/>
              </a:ext>
            </a:extLst>
          </p:cNvPr>
          <p:cNvSpPr>
            <a:spLocks xmlns:a="http://schemas.openxmlformats.org/drawingml/2006/main" noGrp="1"/>
          </p:cNvSpPr>
          <p:nvPr/>
        </p:nvSpPr>
        <p:spPr>
          <a:xfrm xmlns:a="http://schemas.openxmlformats.org/drawingml/2006/main">
            <a:off x="457200" y="1234440"/>
            <a:ext cx="82296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i="1">
                <a:solidFill>
                  <a:srgbClr val="6B7280"/>
                </a:solidFill>
                <a:latin typeface="Calibri"/>
                <a:ea typeface="Calibri"/>
                <a:cs typeface="Calibri"/>
              </a:rPr>
              <a:t>From idea to scale, with iteration baked in.</a:t>
            </a:r>
            <a:endParaRPr sz="1300"/>
          </a:p>
        </p:txBody>
      </p:sp>
      <p:sp>
        <p:nvSpPr>
          <p:cNvPr id="7" name="Shape 5">
            <a:extLst xmlns:a="http://schemas.openxmlformats.org/drawingml/2006/main">
              <a:ext uri="{FF2B5EF4-FFF2-40B4-BE49-F238E27FC236}">
                <a16:creationId xmlns:a16="http://schemas.microsoft.com/office/drawing/2014/main" id="{02F24DB3-A96A-4BC0-ABAC-1605E5ACA5DE}"/>
              </a:ext>
            </a:extLst>
          </p:cNvPr>
          <p:cNvSpPr>
            <a:spLocks xmlns:a="http://schemas.openxmlformats.org/drawingml/2006/main" noGrp="1"/>
          </p:cNvSpPr>
          <p:nvPr/>
        </p:nvSpPr>
        <p:spPr>
          <a:xfrm xmlns:a="http://schemas.openxmlformats.org/drawingml/2006/main">
            <a:off x="457200" y="1920240"/>
            <a:ext cx="1181100" cy="2194560"/>
          </a:xfrm>
          <a:prstGeom xmlns:a="http://schemas.openxmlformats.org/drawingml/2006/main" prst="rect">
            <a:avLst/>
          </a:prstGeom>
          <a:solidFill xmlns:a="http://schemas.openxmlformats.org/drawingml/2006/main">
            <a:srgbClr val="F5F7FB"/>
          </a:solidFill>
          <a:ln xmlns:a="http://schemas.openxmlformats.org/drawingml/2006/main" w="6350">
            <a:solidFill>
              <a:srgbClr val="E5E7EB"/>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Shape 6">
            <a:extLst xmlns:a="http://schemas.openxmlformats.org/drawingml/2006/main">
              <a:ext uri="{FF2B5EF4-FFF2-40B4-BE49-F238E27FC236}">
                <a16:creationId xmlns:a16="http://schemas.microsoft.com/office/drawing/2014/main" id="{0F126C24-8764-4C8C-9503-0B2A843E9D18}"/>
              </a:ext>
            </a:extLst>
          </p:cNvPr>
          <p:cNvSpPr>
            <a:spLocks xmlns:a="http://schemas.openxmlformats.org/drawingml/2006/main" noGrp="1"/>
          </p:cNvSpPr>
          <p:nvPr/>
        </p:nvSpPr>
        <p:spPr>
          <a:xfrm xmlns:a="http://schemas.openxmlformats.org/drawingml/2006/main">
            <a:off x="457200" y="1920240"/>
            <a:ext cx="1181100" cy="457200"/>
          </a:xfrm>
          <a:prstGeom xmlns:a="http://schemas.openxmlformats.org/drawingml/2006/main" prst="rect">
            <a:avLst/>
          </a:prstGeom>
          <a:solidFill xmlns:a="http://schemas.openxmlformats.org/drawingml/2006/main">
            <a:srgbClr val="1E2761"/>
          </a:solidFill>
          <a:ln xmlns:a="http://schemas.openxmlformats.org/drawingml/2006/main" w="12700">
            <a:solidFill>
              <a:srgbClr val="1E2761"/>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Text 7">
            <a:extLst xmlns:a="http://schemas.openxmlformats.org/drawingml/2006/main">
              <a:ext uri="{FF2B5EF4-FFF2-40B4-BE49-F238E27FC236}">
                <a16:creationId xmlns:a16="http://schemas.microsoft.com/office/drawing/2014/main" id="{05CA4A48-0348-4F4D-9596-ADAA31689F87}"/>
              </a:ext>
            </a:extLst>
          </p:cNvPr>
          <p:cNvSpPr>
            <a:spLocks xmlns:a="http://schemas.openxmlformats.org/drawingml/2006/main" noGrp="1"/>
          </p:cNvSpPr>
          <p:nvPr/>
        </p:nvSpPr>
        <p:spPr>
          <a:xfrm xmlns:a="http://schemas.openxmlformats.org/drawingml/2006/main">
            <a:off x="457200" y="1993392"/>
            <a:ext cx="11811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C9A961"/>
                </a:solidFill>
                <a:latin typeface="Cambria"/>
                <a:ea typeface="Cambria"/>
                <a:cs typeface="Cambria"/>
              </a:rPr>
              <a:t>01</a:t>
            </a:r>
            <a:endParaRPr sz="1400"/>
          </a:p>
        </p:txBody>
      </p:sp>
      <p:sp>
        <p:nvSpPr>
          <p:cNvPr id="10" name="Text 8">
            <a:extLst xmlns:a="http://schemas.openxmlformats.org/drawingml/2006/main">
              <a:ext uri="{FF2B5EF4-FFF2-40B4-BE49-F238E27FC236}">
                <a16:creationId xmlns:a16="http://schemas.microsoft.com/office/drawing/2014/main" id="{C3B762D7-1BC7-490B-AE74-8E305ECD61EF}"/>
              </a:ext>
            </a:extLst>
          </p:cNvPr>
          <p:cNvSpPr>
            <a:spLocks xmlns:a="http://schemas.openxmlformats.org/drawingml/2006/main" noGrp="1"/>
          </p:cNvSpPr>
          <p:nvPr/>
        </p:nvSpPr>
        <p:spPr>
          <a:xfrm xmlns:a="http://schemas.openxmlformats.org/drawingml/2006/main">
            <a:off x="548640" y="2514600"/>
            <a:ext cx="9982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E2761"/>
                </a:solidFill>
                <a:latin typeface="Cambria"/>
                <a:ea typeface="Cambria"/>
                <a:cs typeface="Cambria"/>
              </a:rPr>
              <a:t>Discover</a:t>
            </a:r>
            <a:endParaRPr sz="1400"/>
          </a:p>
        </p:txBody>
      </p:sp>
      <p:sp>
        <p:nvSpPr>
          <p:cNvPr id="11" name="Text 9">
            <a:extLst xmlns:a="http://schemas.openxmlformats.org/drawingml/2006/main">
              <a:ext uri="{FF2B5EF4-FFF2-40B4-BE49-F238E27FC236}">
                <a16:creationId xmlns:a16="http://schemas.microsoft.com/office/drawing/2014/main" id="{31026529-3BEE-49B4-80E3-28D846E770F2}"/>
              </a:ext>
            </a:extLst>
          </p:cNvPr>
          <p:cNvSpPr>
            <a:spLocks xmlns:a="http://schemas.openxmlformats.org/drawingml/2006/main" noGrp="1"/>
          </p:cNvSpPr>
          <p:nvPr/>
        </p:nvSpPr>
        <p:spPr>
          <a:xfrm xmlns:a="http://schemas.openxmlformats.org/drawingml/2006/main">
            <a:off x="548640" y="2971800"/>
            <a:ext cx="998220" cy="10058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ctr">
              <a:buNone/>
            </a:pPr>
            <a:r>
              <a:rPr sz="900">
                <a:solidFill>
                  <a:srgbClr val="1A1F3A"/>
                </a:solidFill>
                <a:latin typeface="Calibri"/>
                <a:ea typeface="Calibri"/>
                <a:cs typeface="Calibri"/>
              </a:rPr>
              <a:t>What problem are we solving? Who feels it most?</a:t>
            </a:r>
            <a:endParaRPr sz="900"/>
          </a:p>
        </p:txBody>
      </p:sp>
      <p:sp>
        <p:nvSpPr>
          <p:cNvPr id="12" name="Shape 10">
            <a:extLst xmlns:a="http://schemas.openxmlformats.org/drawingml/2006/main">
              <a:ext uri="{FF2B5EF4-FFF2-40B4-BE49-F238E27FC236}">
                <a16:creationId xmlns:a16="http://schemas.microsoft.com/office/drawing/2014/main" id="{F567EB0B-323A-4E84-BA65-296B22C5F808}"/>
              </a:ext>
            </a:extLst>
          </p:cNvPr>
          <p:cNvSpPr>
            <a:spLocks xmlns:a="http://schemas.openxmlformats.org/drawingml/2006/main" noGrp="1"/>
          </p:cNvSpPr>
          <p:nvPr/>
        </p:nvSpPr>
        <p:spPr>
          <a:xfrm xmlns:a="http://schemas.openxmlformats.org/drawingml/2006/main">
            <a:off x="1866900" y="1920240"/>
            <a:ext cx="1181100" cy="2194560"/>
          </a:xfrm>
          <a:prstGeom xmlns:a="http://schemas.openxmlformats.org/drawingml/2006/main" prst="rect">
            <a:avLst/>
          </a:prstGeom>
          <a:solidFill xmlns:a="http://schemas.openxmlformats.org/drawingml/2006/main">
            <a:srgbClr val="F5F7FB"/>
          </a:solidFill>
          <a:ln xmlns:a="http://schemas.openxmlformats.org/drawingml/2006/main" w="6350">
            <a:solidFill>
              <a:srgbClr val="E5E7EB"/>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Shape 11">
            <a:extLst xmlns:a="http://schemas.openxmlformats.org/drawingml/2006/main">
              <a:ext uri="{FF2B5EF4-FFF2-40B4-BE49-F238E27FC236}">
                <a16:creationId xmlns:a16="http://schemas.microsoft.com/office/drawing/2014/main" id="{2D79B9CC-37E1-4184-ABD7-E80180B81FDE}"/>
              </a:ext>
            </a:extLst>
          </p:cNvPr>
          <p:cNvSpPr>
            <a:spLocks xmlns:a="http://schemas.openxmlformats.org/drawingml/2006/main" noGrp="1"/>
          </p:cNvSpPr>
          <p:nvPr/>
        </p:nvSpPr>
        <p:spPr>
          <a:xfrm xmlns:a="http://schemas.openxmlformats.org/drawingml/2006/main">
            <a:off x="1866900" y="1920240"/>
            <a:ext cx="1181100" cy="457200"/>
          </a:xfrm>
          <a:prstGeom xmlns:a="http://schemas.openxmlformats.org/drawingml/2006/main" prst="rect">
            <a:avLst/>
          </a:prstGeom>
          <a:solidFill xmlns:a="http://schemas.openxmlformats.org/drawingml/2006/main">
            <a:srgbClr val="1E2761"/>
          </a:solidFill>
          <a:ln xmlns:a="http://schemas.openxmlformats.org/drawingml/2006/main" w="12700">
            <a:solidFill>
              <a:srgbClr val="1E2761"/>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5FE79A37-D48E-47AE-9547-7AB8AF0FD1D5}"/>
              </a:ext>
            </a:extLst>
          </p:cNvPr>
          <p:cNvSpPr>
            <a:spLocks xmlns:a="http://schemas.openxmlformats.org/drawingml/2006/main" noGrp="1"/>
          </p:cNvSpPr>
          <p:nvPr/>
        </p:nvSpPr>
        <p:spPr>
          <a:xfrm xmlns:a="http://schemas.openxmlformats.org/drawingml/2006/main">
            <a:off x="1866900" y="1993392"/>
            <a:ext cx="11811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C9A961"/>
                </a:solidFill>
                <a:latin typeface="Cambria"/>
                <a:ea typeface="Cambria"/>
                <a:cs typeface="Cambria"/>
              </a:rPr>
              <a:t>02</a:t>
            </a:r>
            <a:endParaRPr sz="1400"/>
          </a:p>
        </p:txBody>
      </p:sp>
      <p:sp>
        <p:nvSpPr>
          <p:cNvPr id="15" name="Text 13">
            <a:extLst xmlns:a="http://schemas.openxmlformats.org/drawingml/2006/main">
              <a:ext uri="{FF2B5EF4-FFF2-40B4-BE49-F238E27FC236}">
                <a16:creationId xmlns:a16="http://schemas.microsoft.com/office/drawing/2014/main" id="{FA22DD91-FF40-4034-935D-61C581B923F4}"/>
              </a:ext>
            </a:extLst>
          </p:cNvPr>
          <p:cNvSpPr>
            <a:spLocks xmlns:a="http://schemas.openxmlformats.org/drawingml/2006/main" noGrp="1"/>
          </p:cNvSpPr>
          <p:nvPr/>
        </p:nvSpPr>
        <p:spPr>
          <a:xfrm xmlns:a="http://schemas.openxmlformats.org/drawingml/2006/main">
            <a:off x="1958340" y="2514600"/>
            <a:ext cx="9982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E2761"/>
                </a:solidFill>
                <a:latin typeface="Cambria"/>
                <a:ea typeface="Cambria"/>
                <a:cs typeface="Cambria"/>
              </a:rPr>
              <a:t>Prioritize</a:t>
            </a:r>
            <a:endParaRPr sz="1400"/>
          </a:p>
        </p:txBody>
      </p:sp>
      <p:sp>
        <p:nvSpPr>
          <p:cNvPr id="16" name="Text 14">
            <a:extLst xmlns:a="http://schemas.openxmlformats.org/drawingml/2006/main">
              <a:ext uri="{FF2B5EF4-FFF2-40B4-BE49-F238E27FC236}">
                <a16:creationId xmlns:a16="http://schemas.microsoft.com/office/drawing/2014/main" id="{528FCED7-BFF1-4D1B-87EF-177AF3528ECE}"/>
              </a:ext>
            </a:extLst>
          </p:cNvPr>
          <p:cNvSpPr>
            <a:spLocks xmlns:a="http://schemas.openxmlformats.org/drawingml/2006/main" noGrp="1"/>
          </p:cNvSpPr>
          <p:nvPr/>
        </p:nvSpPr>
        <p:spPr>
          <a:xfrm xmlns:a="http://schemas.openxmlformats.org/drawingml/2006/main">
            <a:off x="1958340" y="2971800"/>
            <a:ext cx="998220" cy="10058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ctr">
              <a:buNone/>
            </a:pPr>
            <a:r>
              <a:rPr sz="900">
                <a:solidFill>
                  <a:srgbClr val="1A1F3A"/>
                </a:solidFill>
                <a:latin typeface="Calibri"/>
                <a:ea typeface="Calibri"/>
                <a:cs typeface="Calibri"/>
              </a:rPr>
              <a:t>Use the matrix. Don't skip this.</a:t>
            </a:r>
            <a:endParaRPr sz="900"/>
          </a:p>
        </p:txBody>
      </p:sp>
      <p:sp>
        <p:nvSpPr>
          <p:cNvPr id="17" name="Shape 15">
            <a:extLst xmlns:a="http://schemas.openxmlformats.org/drawingml/2006/main">
              <a:ext uri="{FF2B5EF4-FFF2-40B4-BE49-F238E27FC236}">
                <a16:creationId xmlns:a16="http://schemas.microsoft.com/office/drawing/2014/main" id="{8710C221-017C-4A5C-93EB-2D6E8E97E0BF}"/>
              </a:ext>
            </a:extLst>
          </p:cNvPr>
          <p:cNvSpPr>
            <a:spLocks xmlns:a="http://schemas.openxmlformats.org/drawingml/2006/main" noGrp="1"/>
          </p:cNvSpPr>
          <p:nvPr/>
        </p:nvSpPr>
        <p:spPr>
          <a:xfrm xmlns:a="http://schemas.openxmlformats.org/drawingml/2006/main">
            <a:off x="3276600" y="1920240"/>
            <a:ext cx="1181100" cy="2194560"/>
          </a:xfrm>
          <a:prstGeom xmlns:a="http://schemas.openxmlformats.org/drawingml/2006/main" prst="rect">
            <a:avLst/>
          </a:prstGeom>
          <a:solidFill xmlns:a="http://schemas.openxmlformats.org/drawingml/2006/main">
            <a:srgbClr val="F5F7FB"/>
          </a:solidFill>
          <a:ln xmlns:a="http://schemas.openxmlformats.org/drawingml/2006/main" w="6350">
            <a:solidFill>
              <a:srgbClr val="E5E7EB"/>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Shape 16">
            <a:extLst xmlns:a="http://schemas.openxmlformats.org/drawingml/2006/main">
              <a:ext uri="{FF2B5EF4-FFF2-40B4-BE49-F238E27FC236}">
                <a16:creationId xmlns:a16="http://schemas.microsoft.com/office/drawing/2014/main" id="{0F344E6B-17D9-417A-AAE2-FC1967969559}"/>
              </a:ext>
            </a:extLst>
          </p:cNvPr>
          <p:cNvSpPr>
            <a:spLocks xmlns:a="http://schemas.openxmlformats.org/drawingml/2006/main" noGrp="1"/>
          </p:cNvSpPr>
          <p:nvPr/>
        </p:nvSpPr>
        <p:spPr>
          <a:xfrm xmlns:a="http://schemas.openxmlformats.org/drawingml/2006/main">
            <a:off x="3276600" y="1920240"/>
            <a:ext cx="1181100" cy="457200"/>
          </a:xfrm>
          <a:prstGeom xmlns:a="http://schemas.openxmlformats.org/drawingml/2006/main" prst="rect">
            <a:avLst/>
          </a:prstGeom>
          <a:solidFill xmlns:a="http://schemas.openxmlformats.org/drawingml/2006/main">
            <a:srgbClr val="1E2761"/>
          </a:solidFill>
          <a:ln xmlns:a="http://schemas.openxmlformats.org/drawingml/2006/main" w="12700">
            <a:solidFill>
              <a:srgbClr val="1E2761"/>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Text 17">
            <a:extLst xmlns:a="http://schemas.openxmlformats.org/drawingml/2006/main">
              <a:ext uri="{FF2B5EF4-FFF2-40B4-BE49-F238E27FC236}">
                <a16:creationId xmlns:a16="http://schemas.microsoft.com/office/drawing/2014/main" id="{521C7A3F-340A-45A5-AF3E-EC9051D36A45}"/>
              </a:ext>
            </a:extLst>
          </p:cNvPr>
          <p:cNvSpPr>
            <a:spLocks xmlns:a="http://schemas.openxmlformats.org/drawingml/2006/main" noGrp="1"/>
          </p:cNvSpPr>
          <p:nvPr/>
        </p:nvSpPr>
        <p:spPr>
          <a:xfrm xmlns:a="http://schemas.openxmlformats.org/drawingml/2006/main">
            <a:off x="3276600" y="1993392"/>
            <a:ext cx="11811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C9A961"/>
                </a:solidFill>
                <a:latin typeface="Cambria"/>
                <a:ea typeface="Cambria"/>
                <a:cs typeface="Cambria"/>
              </a:rPr>
              <a:t>03</a:t>
            </a:r>
            <a:endParaRPr sz="1400"/>
          </a:p>
        </p:txBody>
      </p:sp>
      <p:sp>
        <p:nvSpPr>
          <p:cNvPr id="20" name="Text 18">
            <a:extLst xmlns:a="http://schemas.openxmlformats.org/drawingml/2006/main">
              <a:ext uri="{FF2B5EF4-FFF2-40B4-BE49-F238E27FC236}">
                <a16:creationId xmlns:a16="http://schemas.microsoft.com/office/drawing/2014/main" id="{0505DB33-F58E-4D50-9090-CEC2D86295E7}"/>
              </a:ext>
            </a:extLst>
          </p:cNvPr>
          <p:cNvSpPr>
            <a:spLocks xmlns:a="http://schemas.openxmlformats.org/drawingml/2006/main" noGrp="1"/>
          </p:cNvSpPr>
          <p:nvPr/>
        </p:nvSpPr>
        <p:spPr>
          <a:xfrm xmlns:a="http://schemas.openxmlformats.org/drawingml/2006/main">
            <a:off x="3368040" y="2514600"/>
            <a:ext cx="9982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E2761"/>
                </a:solidFill>
                <a:latin typeface="Cambria"/>
                <a:ea typeface="Cambria"/>
                <a:cs typeface="Cambria"/>
              </a:rPr>
              <a:t>Design</a:t>
            </a:r>
            <a:endParaRPr sz="1400"/>
          </a:p>
        </p:txBody>
      </p:sp>
      <p:sp>
        <p:nvSpPr>
          <p:cNvPr id="21" name="Text 19">
            <a:extLst xmlns:a="http://schemas.openxmlformats.org/drawingml/2006/main">
              <a:ext uri="{FF2B5EF4-FFF2-40B4-BE49-F238E27FC236}">
                <a16:creationId xmlns:a16="http://schemas.microsoft.com/office/drawing/2014/main" id="{496B31E7-460D-4B42-AE28-19C2D1A292A2}"/>
              </a:ext>
            </a:extLst>
          </p:cNvPr>
          <p:cNvSpPr>
            <a:spLocks xmlns:a="http://schemas.openxmlformats.org/drawingml/2006/main" noGrp="1"/>
          </p:cNvSpPr>
          <p:nvPr/>
        </p:nvSpPr>
        <p:spPr>
          <a:xfrm xmlns:a="http://schemas.openxmlformats.org/drawingml/2006/main">
            <a:off x="3368040" y="2971800"/>
            <a:ext cx="998220" cy="10058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ctr">
              <a:buNone/>
            </a:pPr>
            <a:r>
              <a:rPr sz="900">
                <a:solidFill>
                  <a:srgbClr val="1A1F3A"/>
                </a:solidFill>
                <a:latin typeface="Calibri"/>
                <a:ea typeface="Calibri"/>
                <a:cs typeface="Calibri"/>
              </a:rPr>
              <a:t>Inputs, outputs, human review gates, metrics, fallback.</a:t>
            </a:r>
            <a:endParaRPr sz="900"/>
          </a:p>
        </p:txBody>
      </p:sp>
      <p:sp>
        <p:nvSpPr>
          <p:cNvPr id="22" name="Shape 20">
            <a:extLst xmlns:a="http://schemas.openxmlformats.org/drawingml/2006/main">
              <a:ext uri="{FF2B5EF4-FFF2-40B4-BE49-F238E27FC236}">
                <a16:creationId xmlns:a16="http://schemas.microsoft.com/office/drawing/2014/main" id="{6170613D-D329-48CA-987A-B158CD1E6AEF}"/>
              </a:ext>
            </a:extLst>
          </p:cNvPr>
          <p:cNvSpPr>
            <a:spLocks xmlns:a="http://schemas.openxmlformats.org/drawingml/2006/main" noGrp="1"/>
          </p:cNvSpPr>
          <p:nvPr/>
        </p:nvSpPr>
        <p:spPr>
          <a:xfrm xmlns:a="http://schemas.openxmlformats.org/drawingml/2006/main">
            <a:off x="4686300" y="1920240"/>
            <a:ext cx="1181100" cy="2194560"/>
          </a:xfrm>
          <a:prstGeom xmlns:a="http://schemas.openxmlformats.org/drawingml/2006/main" prst="rect">
            <a:avLst/>
          </a:prstGeom>
          <a:solidFill xmlns:a="http://schemas.openxmlformats.org/drawingml/2006/main">
            <a:srgbClr val="F5F7FB"/>
          </a:solidFill>
          <a:ln xmlns:a="http://schemas.openxmlformats.org/drawingml/2006/main" w="6350">
            <a:solidFill>
              <a:srgbClr val="E5E7EB"/>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Shape 21">
            <a:extLst xmlns:a="http://schemas.openxmlformats.org/drawingml/2006/main">
              <a:ext uri="{FF2B5EF4-FFF2-40B4-BE49-F238E27FC236}">
                <a16:creationId xmlns:a16="http://schemas.microsoft.com/office/drawing/2014/main" id="{588B2976-C4D7-4BB4-8AAE-49388AEEFC48}"/>
              </a:ext>
            </a:extLst>
          </p:cNvPr>
          <p:cNvSpPr>
            <a:spLocks xmlns:a="http://schemas.openxmlformats.org/drawingml/2006/main" noGrp="1"/>
          </p:cNvSpPr>
          <p:nvPr/>
        </p:nvSpPr>
        <p:spPr>
          <a:xfrm xmlns:a="http://schemas.openxmlformats.org/drawingml/2006/main">
            <a:off x="4686300" y="1920240"/>
            <a:ext cx="1181100" cy="457200"/>
          </a:xfrm>
          <a:prstGeom xmlns:a="http://schemas.openxmlformats.org/drawingml/2006/main" prst="rect">
            <a:avLst/>
          </a:prstGeom>
          <a:solidFill xmlns:a="http://schemas.openxmlformats.org/drawingml/2006/main">
            <a:srgbClr val="1E2761"/>
          </a:solidFill>
          <a:ln xmlns:a="http://schemas.openxmlformats.org/drawingml/2006/main" w="12700">
            <a:solidFill>
              <a:srgbClr val="1E2761"/>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Text 22">
            <a:extLst xmlns:a="http://schemas.openxmlformats.org/drawingml/2006/main">
              <a:ext uri="{FF2B5EF4-FFF2-40B4-BE49-F238E27FC236}">
                <a16:creationId xmlns:a16="http://schemas.microsoft.com/office/drawing/2014/main" id="{A76576B4-6FA2-4CB1-90EC-B4E8E6EFA726}"/>
              </a:ext>
            </a:extLst>
          </p:cNvPr>
          <p:cNvSpPr>
            <a:spLocks xmlns:a="http://schemas.openxmlformats.org/drawingml/2006/main" noGrp="1"/>
          </p:cNvSpPr>
          <p:nvPr/>
        </p:nvSpPr>
        <p:spPr>
          <a:xfrm xmlns:a="http://schemas.openxmlformats.org/drawingml/2006/main">
            <a:off x="4686300" y="1993392"/>
            <a:ext cx="11811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C9A961"/>
                </a:solidFill>
                <a:latin typeface="Cambria"/>
                <a:ea typeface="Cambria"/>
                <a:cs typeface="Cambria"/>
              </a:rPr>
              <a:t>04</a:t>
            </a:r>
            <a:endParaRPr sz="1400"/>
          </a:p>
        </p:txBody>
      </p:sp>
      <p:sp>
        <p:nvSpPr>
          <p:cNvPr id="25" name="Text 23">
            <a:extLst xmlns:a="http://schemas.openxmlformats.org/drawingml/2006/main">
              <a:ext uri="{FF2B5EF4-FFF2-40B4-BE49-F238E27FC236}">
                <a16:creationId xmlns:a16="http://schemas.microsoft.com/office/drawing/2014/main" id="{59E647D7-025B-4166-BA75-D550FE51CAEB}"/>
              </a:ext>
            </a:extLst>
          </p:cNvPr>
          <p:cNvSpPr>
            <a:spLocks xmlns:a="http://schemas.openxmlformats.org/drawingml/2006/main" noGrp="1"/>
          </p:cNvSpPr>
          <p:nvPr/>
        </p:nvSpPr>
        <p:spPr>
          <a:xfrm xmlns:a="http://schemas.openxmlformats.org/drawingml/2006/main">
            <a:off x="4777740" y="2514600"/>
            <a:ext cx="9982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E2761"/>
                </a:solidFill>
                <a:latin typeface="Cambria"/>
                <a:ea typeface="Cambria"/>
                <a:cs typeface="Cambria"/>
              </a:rPr>
              <a:t>Pilot</a:t>
            </a:r>
            <a:endParaRPr sz="1400"/>
          </a:p>
        </p:txBody>
      </p:sp>
      <p:sp>
        <p:nvSpPr>
          <p:cNvPr id="26" name="Text 24">
            <a:extLst xmlns:a="http://schemas.openxmlformats.org/drawingml/2006/main">
              <a:ext uri="{FF2B5EF4-FFF2-40B4-BE49-F238E27FC236}">
                <a16:creationId xmlns:a16="http://schemas.microsoft.com/office/drawing/2014/main" id="{976F2274-BE5C-4D9F-9532-4A334E5458CC}"/>
              </a:ext>
            </a:extLst>
          </p:cNvPr>
          <p:cNvSpPr>
            <a:spLocks xmlns:a="http://schemas.openxmlformats.org/drawingml/2006/main" noGrp="1"/>
          </p:cNvSpPr>
          <p:nvPr/>
        </p:nvSpPr>
        <p:spPr>
          <a:xfrm xmlns:a="http://schemas.openxmlformats.org/drawingml/2006/main">
            <a:off x="4777740" y="2971800"/>
            <a:ext cx="998220" cy="10058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ctr">
              <a:buNone/>
            </a:pPr>
            <a:r>
              <a:rPr sz="900">
                <a:solidFill>
                  <a:srgbClr val="1A1F3A"/>
                </a:solidFill>
                <a:latin typeface="Calibri"/>
                <a:ea typeface="Calibri"/>
                <a:cs typeface="Calibri"/>
              </a:rPr>
              <a:t>Small scope, high observation. 4-8 weeks.</a:t>
            </a:r>
            <a:endParaRPr sz="900"/>
          </a:p>
        </p:txBody>
      </p:sp>
      <p:sp>
        <p:nvSpPr>
          <p:cNvPr id="27" name="Shape 25">
            <a:extLst xmlns:a="http://schemas.openxmlformats.org/drawingml/2006/main">
              <a:ext uri="{FF2B5EF4-FFF2-40B4-BE49-F238E27FC236}">
                <a16:creationId xmlns:a16="http://schemas.microsoft.com/office/drawing/2014/main" id="{EA054ADD-670C-4A5B-B837-68A600E75419}"/>
              </a:ext>
            </a:extLst>
          </p:cNvPr>
          <p:cNvSpPr>
            <a:spLocks xmlns:a="http://schemas.openxmlformats.org/drawingml/2006/main" noGrp="1"/>
          </p:cNvSpPr>
          <p:nvPr/>
        </p:nvSpPr>
        <p:spPr>
          <a:xfrm xmlns:a="http://schemas.openxmlformats.org/drawingml/2006/main">
            <a:off x="6096000" y="1920240"/>
            <a:ext cx="1181100" cy="2194560"/>
          </a:xfrm>
          <a:prstGeom xmlns:a="http://schemas.openxmlformats.org/drawingml/2006/main" prst="rect">
            <a:avLst/>
          </a:prstGeom>
          <a:solidFill xmlns:a="http://schemas.openxmlformats.org/drawingml/2006/main">
            <a:srgbClr val="F5F7FB"/>
          </a:solidFill>
          <a:ln xmlns:a="http://schemas.openxmlformats.org/drawingml/2006/main" w="6350">
            <a:solidFill>
              <a:srgbClr val="E5E7EB"/>
            </a:solidFill>
            <a:prstDash val="solid"/>
          </a:ln>
        </p:spPr>
        <p:txBody>
          <a:bodyPr xmlns:a="http://schemas.openxmlformats.org/drawingml/2006/main"/>
          <a:lstStyle xmlns:a="http://schemas.openxmlformats.org/drawingml/2006/main"/>
          <a:p xmlns:a="http://schemas.openxmlformats.org/drawingml/2006/main">
            <a:endParaRPr/>
          </a:p>
        </p:txBody>
      </p:sp>
      <p:sp>
        <p:nvSpPr>
          <p:cNvPr id="28" name="Shape 26">
            <a:extLst xmlns:a="http://schemas.openxmlformats.org/drawingml/2006/main">
              <a:ext uri="{FF2B5EF4-FFF2-40B4-BE49-F238E27FC236}">
                <a16:creationId xmlns:a16="http://schemas.microsoft.com/office/drawing/2014/main" id="{DEFE90B3-F125-4153-A0DC-6B1BA2FD953E}"/>
              </a:ext>
            </a:extLst>
          </p:cNvPr>
          <p:cNvSpPr>
            <a:spLocks xmlns:a="http://schemas.openxmlformats.org/drawingml/2006/main" noGrp="1"/>
          </p:cNvSpPr>
          <p:nvPr/>
        </p:nvSpPr>
        <p:spPr>
          <a:xfrm xmlns:a="http://schemas.openxmlformats.org/drawingml/2006/main">
            <a:off x="6096000" y="1920240"/>
            <a:ext cx="1181100" cy="457200"/>
          </a:xfrm>
          <a:prstGeom xmlns:a="http://schemas.openxmlformats.org/drawingml/2006/main" prst="rect">
            <a:avLst/>
          </a:prstGeom>
          <a:solidFill xmlns:a="http://schemas.openxmlformats.org/drawingml/2006/main">
            <a:srgbClr val="1E2761"/>
          </a:solidFill>
          <a:ln xmlns:a="http://schemas.openxmlformats.org/drawingml/2006/main" w="12700">
            <a:solidFill>
              <a:srgbClr val="1E2761"/>
            </a:solidFill>
            <a:prstDash val="solid"/>
          </a:ln>
        </p:spPr>
        <p:txBody>
          <a:bodyPr xmlns:a="http://schemas.openxmlformats.org/drawingml/2006/main"/>
          <a:lstStyle xmlns:a="http://schemas.openxmlformats.org/drawingml/2006/main"/>
          <a:p xmlns:a="http://schemas.openxmlformats.org/drawingml/2006/main">
            <a:endParaRPr/>
          </a:p>
        </p:txBody>
      </p:sp>
      <p:sp>
        <p:nvSpPr>
          <p:cNvPr id="29" name="Text 27">
            <a:extLst xmlns:a="http://schemas.openxmlformats.org/drawingml/2006/main">
              <a:ext uri="{FF2B5EF4-FFF2-40B4-BE49-F238E27FC236}">
                <a16:creationId xmlns:a16="http://schemas.microsoft.com/office/drawing/2014/main" id="{C109E9F9-273D-4792-95DE-6F8EE76C6453}"/>
              </a:ext>
            </a:extLst>
          </p:cNvPr>
          <p:cNvSpPr>
            <a:spLocks xmlns:a="http://schemas.openxmlformats.org/drawingml/2006/main" noGrp="1"/>
          </p:cNvSpPr>
          <p:nvPr/>
        </p:nvSpPr>
        <p:spPr>
          <a:xfrm xmlns:a="http://schemas.openxmlformats.org/drawingml/2006/main">
            <a:off x="6096000" y="1993392"/>
            <a:ext cx="11811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C9A961"/>
                </a:solidFill>
                <a:latin typeface="Cambria"/>
                <a:ea typeface="Cambria"/>
                <a:cs typeface="Cambria"/>
              </a:rPr>
              <a:t>05</a:t>
            </a:r>
            <a:endParaRPr sz="1400"/>
          </a:p>
        </p:txBody>
      </p:sp>
      <p:sp>
        <p:nvSpPr>
          <p:cNvPr id="30" name="Text 28">
            <a:extLst xmlns:a="http://schemas.openxmlformats.org/drawingml/2006/main">
              <a:ext uri="{FF2B5EF4-FFF2-40B4-BE49-F238E27FC236}">
                <a16:creationId xmlns:a16="http://schemas.microsoft.com/office/drawing/2014/main" id="{764D0797-D545-4FB6-9587-F4C8641F9B68}"/>
              </a:ext>
            </a:extLst>
          </p:cNvPr>
          <p:cNvSpPr>
            <a:spLocks xmlns:a="http://schemas.openxmlformats.org/drawingml/2006/main" noGrp="1"/>
          </p:cNvSpPr>
          <p:nvPr/>
        </p:nvSpPr>
        <p:spPr>
          <a:xfrm xmlns:a="http://schemas.openxmlformats.org/drawingml/2006/main">
            <a:off x="6187440" y="2514600"/>
            <a:ext cx="9982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E2761"/>
                </a:solidFill>
                <a:latin typeface="Cambria"/>
                <a:ea typeface="Cambria"/>
                <a:cs typeface="Cambria"/>
              </a:rPr>
              <a:t>Evaluate</a:t>
            </a:r>
            <a:endParaRPr sz="1400"/>
          </a:p>
        </p:txBody>
      </p:sp>
      <p:sp>
        <p:nvSpPr>
          <p:cNvPr id="31" name="Text 29">
            <a:extLst xmlns:a="http://schemas.openxmlformats.org/drawingml/2006/main">
              <a:ext uri="{FF2B5EF4-FFF2-40B4-BE49-F238E27FC236}">
                <a16:creationId xmlns:a16="http://schemas.microsoft.com/office/drawing/2014/main" id="{5AF9ED03-66A4-4BDB-A4D6-E9B46DD6FD88}"/>
              </a:ext>
            </a:extLst>
          </p:cNvPr>
          <p:cNvSpPr>
            <a:spLocks xmlns:a="http://schemas.openxmlformats.org/drawingml/2006/main" noGrp="1"/>
          </p:cNvSpPr>
          <p:nvPr/>
        </p:nvSpPr>
        <p:spPr>
          <a:xfrm xmlns:a="http://schemas.openxmlformats.org/drawingml/2006/main">
            <a:off x="6187440" y="2971800"/>
            <a:ext cx="998220" cy="10058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ctr">
              <a:buNone/>
            </a:pPr>
            <a:r>
              <a:rPr sz="900">
                <a:solidFill>
                  <a:srgbClr val="1A1F3A"/>
                </a:solidFill>
                <a:latin typeface="Calibri"/>
                <a:ea typeface="Calibri"/>
                <a:cs typeface="Calibri"/>
              </a:rPr>
              <a:t>Did it work? For whom? What didn't?</a:t>
            </a:r>
            <a:endParaRPr sz="900"/>
          </a:p>
        </p:txBody>
      </p:sp>
      <p:sp>
        <p:nvSpPr>
          <p:cNvPr id="32" name="Shape 30">
            <a:extLst xmlns:a="http://schemas.openxmlformats.org/drawingml/2006/main">
              <a:ext uri="{FF2B5EF4-FFF2-40B4-BE49-F238E27FC236}">
                <a16:creationId xmlns:a16="http://schemas.microsoft.com/office/drawing/2014/main" id="{DAE877B0-E506-404C-9820-87069339DB6E}"/>
              </a:ext>
            </a:extLst>
          </p:cNvPr>
          <p:cNvSpPr>
            <a:spLocks xmlns:a="http://schemas.openxmlformats.org/drawingml/2006/main" noGrp="1"/>
          </p:cNvSpPr>
          <p:nvPr/>
        </p:nvSpPr>
        <p:spPr>
          <a:xfrm xmlns:a="http://schemas.openxmlformats.org/drawingml/2006/main">
            <a:off x="7505700" y="1920240"/>
            <a:ext cx="1181100" cy="2194560"/>
          </a:xfrm>
          <a:prstGeom xmlns:a="http://schemas.openxmlformats.org/drawingml/2006/main" prst="rect">
            <a:avLst/>
          </a:prstGeom>
          <a:solidFill xmlns:a="http://schemas.openxmlformats.org/drawingml/2006/main">
            <a:srgbClr val="F5F7FB"/>
          </a:solidFill>
          <a:ln xmlns:a="http://schemas.openxmlformats.org/drawingml/2006/main" w="6350">
            <a:solidFill>
              <a:srgbClr val="E5E7EB"/>
            </a:solidFill>
            <a:prstDash val="solid"/>
          </a:ln>
        </p:spPr>
        <p:txBody>
          <a:bodyPr xmlns:a="http://schemas.openxmlformats.org/drawingml/2006/main"/>
          <a:lstStyle xmlns:a="http://schemas.openxmlformats.org/drawingml/2006/main"/>
          <a:p xmlns:a="http://schemas.openxmlformats.org/drawingml/2006/main">
            <a:endParaRPr/>
          </a:p>
        </p:txBody>
      </p:sp>
      <p:sp>
        <p:nvSpPr>
          <p:cNvPr id="33" name="Shape 31">
            <a:extLst xmlns:a="http://schemas.openxmlformats.org/drawingml/2006/main">
              <a:ext uri="{FF2B5EF4-FFF2-40B4-BE49-F238E27FC236}">
                <a16:creationId xmlns:a16="http://schemas.microsoft.com/office/drawing/2014/main" id="{18EE8D37-78DD-4BED-8E71-21C9FC553904}"/>
              </a:ext>
            </a:extLst>
          </p:cNvPr>
          <p:cNvSpPr>
            <a:spLocks xmlns:a="http://schemas.openxmlformats.org/drawingml/2006/main" noGrp="1"/>
          </p:cNvSpPr>
          <p:nvPr/>
        </p:nvSpPr>
        <p:spPr>
          <a:xfrm xmlns:a="http://schemas.openxmlformats.org/drawingml/2006/main">
            <a:off x="7505700" y="1920240"/>
            <a:ext cx="1181100" cy="457200"/>
          </a:xfrm>
          <a:prstGeom xmlns:a="http://schemas.openxmlformats.org/drawingml/2006/main" prst="rect">
            <a:avLst/>
          </a:prstGeom>
          <a:solidFill xmlns:a="http://schemas.openxmlformats.org/drawingml/2006/main">
            <a:srgbClr val="1E2761"/>
          </a:solidFill>
          <a:ln xmlns:a="http://schemas.openxmlformats.org/drawingml/2006/main" w="12700">
            <a:solidFill>
              <a:srgbClr val="1E2761"/>
            </a:solidFill>
            <a:prstDash val="solid"/>
          </a:ln>
        </p:spPr>
        <p:txBody>
          <a:bodyPr xmlns:a="http://schemas.openxmlformats.org/drawingml/2006/main"/>
          <a:lstStyle xmlns:a="http://schemas.openxmlformats.org/drawingml/2006/main"/>
          <a:p xmlns:a="http://schemas.openxmlformats.org/drawingml/2006/main">
            <a:endParaRPr/>
          </a:p>
        </p:txBody>
      </p:sp>
      <p:sp>
        <p:nvSpPr>
          <p:cNvPr id="34" name="Text 32">
            <a:extLst xmlns:a="http://schemas.openxmlformats.org/drawingml/2006/main">
              <a:ext uri="{FF2B5EF4-FFF2-40B4-BE49-F238E27FC236}">
                <a16:creationId xmlns:a16="http://schemas.microsoft.com/office/drawing/2014/main" id="{4D185165-6843-44D4-9749-5309896D969D}"/>
              </a:ext>
            </a:extLst>
          </p:cNvPr>
          <p:cNvSpPr>
            <a:spLocks xmlns:a="http://schemas.openxmlformats.org/drawingml/2006/main" noGrp="1"/>
          </p:cNvSpPr>
          <p:nvPr/>
        </p:nvSpPr>
        <p:spPr>
          <a:xfrm xmlns:a="http://schemas.openxmlformats.org/drawingml/2006/main">
            <a:off x="7505700" y="1993392"/>
            <a:ext cx="11811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C9A961"/>
                </a:solidFill>
                <a:latin typeface="Cambria"/>
                <a:ea typeface="Cambria"/>
                <a:cs typeface="Cambria"/>
              </a:rPr>
              <a:t>06</a:t>
            </a:r>
            <a:endParaRPr sz="1400"/>
          </a:p>
        </p:txBody>
      </p:sp>
      <p:sp>
        <p:nvSpPr>
          <p:cNvPr id="35" name="Text 33">
            <a:extLst xmlns:a="http://schemas.openxmlformats.org/drawingml/2006/main">
              <a:ext uri="{FF2B5EF4-FFF2-40B4-BE49-F238E27FC236}">
                <a16:creationId xmlns:a16="http://schemas.microsoft.com/office/drawing/2014/main" id="{136BF0AB-EEAA-4713-B68C-3581D394A894}"/>
              </a:ext>
            </a:extLst>
          </p:cNvPr>
          <p:cNvSpPr>
            <a:spLocks xmlns:a="http://schemas.openxmlformats.org/drawingml/2006/main" noGrp="1"/>
          </p:cNvSpPr>
          <p:nvPr/>
        </p:nvSpPr>
        <p:spPr>
          <a:xfrm xmlns:a="http://schemas.openxmlformats.org/drawingml/2006/main">
            <a:off x="7597140" y="2514600"/>
            <a:ext cx="9982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E2761"/>
                </a:solidFill>
                <a:latin typeface="Cambria"/>
                <a:ea typeface="Cambria"/>
                <a:cs typeface="Cambria"/>
              </a:rPr>
              <a:t>Scale</a:t>
            </a:r>
            <a:endParaRPr sz="1400"/>
          </a:p>
        </p:txBody>
      </p:sp>
      <p:sp>
        <p:nvSpPr>
          <p:cNvPr id="36" name="Text 34">
            <a:extLst xmlns:a="http://schemas.openxmlformats.org/drawingml/2006/main">
              <a:ext uri="{FF2B5EF4-FFF2-40B4-BE49-F238E27FC236}">
                <a16:creationId xmlns:a16="http://schemas.microsoft.com/office/drawing/2014/main" id="{FD6B7B7B-8D63-4CAD-AB79-CA4A6B247A9D}"/>
              </a:ext>
            </a:extLst>
          </p:cNvPr>
          <p:cNvSpPr>
            <a:spLocks xmlns:a="http://schemas.openxmlformats.org/drawingml/2006/main" noGrp="1"/>
          </p:cNvSpPr>
          <p:nvPr/>
        </p:nvSpPr>
        <p:spPr>
          <a:xfrm xmlns:a="http://schemas.openxmlformats.org/drawingml/2006/main">
            <a:off x="7597140" y="2971800"/>
            <a:ext cx="998220" cy="10058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ctr">
              <a:buNone/>
            </a:pPr>
            <a:r>
              <a:rPr sz="900">
                <a:solidFill>
                  <a:srgbClr val="1A1F3A"/>
                </a:solidFill>
                <a:latin typeface="Calibri"/>
                <a:ea typeface="Calibri"/>
                <a:cs typeface="Calibri"/>
              </a:rPr>
              <a:t>Expand with pilot lessons baked in.</a:t>
            </a:r>
            <a:endParaRPr sz="900"/>
          </a:p>
        </p:txBody>
      </p:sp>
      <p:sp>
        <p:nvSpPr>
          <p:cNvPr id="37" name="Text 35">
            <a:extLst xmlns:a="http://schemas.openxmlformats.org/drawingml/2006/main">
              <a:ext uri="{FF2B5EF4-FFF2-40B4-BE49-F238E27FC236}">
                <a16:creationId xmlns:a16="http://schemas.microsoft.com/office/drawing/2014/main" id="{80884F4F-9074-463D-9650-6362F1C0B0EB}"/>
              </a:ext>
            </a:extLst>
          </p:cNvPr>
          <p:cNvSpPr>
            <a:spLocks xmlns:a="http://schemas.openxmlformats.org/drawingml/2006/main" noGrp="1"/>
          </p:cNvSpPr>
          <p:nvPr/>
        </p:nvSpPr>
        <p:spPr>
          <a:xfrm xmlns:a="http://schemas.openxmlformats.org/drawingml/2006/main">
            <a:off x="457200" y="4297680"/>
            <a:ext cx="82296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00" i="1">
                <a:solidFill>
                  <a:srgbClr val="C9A961"/>
                </a:solidFill>
                <a:latin typeface="Calibri"/>
                <a:ea typeface="Calibri"/>
                <a:cs typeface="Calibri"/>
              </a:rPr>
              <a:t>↻  iterate</a:t>
            </a:r>
            <a:endParaRPr sz="1200"/>
          </a:p>
        </p:txBody>
      </p:sp>
      <p:sp>
        <p:nvSpPr>
          <p:cNvPr id="38" name="Text 36">
            <a:extLst xmlns:a="http://schemas.openxmlformats.org/drawingml/2006/main">
              <a:ext uri="{FF2B5EF4-FFF2-40B4-BE49-F238E27FC236}">
                <a16:creationId xmlns:a16="http://schemas.microsoft.com/office/drawing/2014/main" id="{6E4E5A87-CD42-45B7-AA89-C4FD02ABC6E1}"/>
              </a:ext>
            </a:extLst>
          </p:cNvPr>
          <p:cNvSpPr>
            <a:spLocks xmlns:a="http://schemas.openxmlformats.org/drawingml/2006/main" noGrp="1"/>
          </p:cNvSpPr>
          <p:nvPr/>
        </p:nvSpPr>
        <p:spPr>
          <a:xfrm xmlns:a="http://schemas.openxmlformats.org/drawingml/2006/main">
            <a:off x="457200" y="4846320"/>
            <a:ext cx="45720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HR AI Literacy Curriculum</a:t>
            </a:r>
            <a:endParaRPr sz="900"/>
          </a:p>
        </p:txBody>
      </p:sp>
      <p:sp>
        <p:nvSpPr>
          <p:cNvPr id="39" name="Text 37">
            <a:extLst xmlns:a="http://schemas.openxmlformats.org/drawingml/2006/main">
              <a:ext uri="{FF2B5EF4-FFF2-40B4-BE49-F238E27FC236}">
                <a16:creationId xmlns:a16="http://schemas.microsoft.com/office/drawing/2014/main" id="{A8419131-F883-45F1-831D-05A1716B5552}"/>
              </a:ext>
            </a:extLst>
          </p:cNvPr>
          <p:cNvSpPr>
            <a:spLocks xmlns:a="http://schemas.openxmlformats.org/drawingml/2006/main" noGrp="1"/>
          </p:cNvSpPr>
          <p:nvPr/>
        </p:nvSpPr>
        <p:spPr>
          <a:xfrm xmlns:a="http://schemas.openxmlformats.org/drawingml/2006/main">
            <a:off x="8412480" y="4846320"/>
            <a:ext cx="4572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6B7280"/>
                </a:solidFill>
                <a:latin typeface="Calibri"/>
                <a:ea typeface="Calibri"/>
                <a:cs typeface="Calibri"/>
              </a:rPr>
              <a:t>19</a:t>
            </a:r>
            <a:endParaRPr sz="900"/>
          </a:p>
        </p:txBody>
      </p:sp>
    </p:spTree>
    <p:extLst>
      <p:ext uri="{BB962C8B-B14F-4D97-AF65-F5344CB8AC3E}">
        <p14:creationId xmlns:p14="http://schemas.microsoft.com/office/powerpoint/2010/main" val="3056673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45F6E20-9661-49F9-94AA-F6E5D44A4E10}"/>
              </a:ext>
            </a:extLst>
          </p:cNvPr>
          <p:cNvSpPr>
            <a:spLocks xmlns:a="http://schemas.openxmlformats.org/drawingml/2006/main" noGrp="1"/>
          </p:cNvSpPr>
          <p:nvPr/>
        </p:nvSpPr>
        <p:spPr>
          <a:xfrm xmlns:a="http://schemas.openxmlformats.org/drawingml/2006/main">
            <a:off x="0" y="0"/>
            <a:ext cx="9144000" cy="411480"/>
          </a:xfrm>
          <a:prstGeom xmlns:a="http://schemas.openxmlformats.org/drawingml/2006/main" prst="rect">
            <a:avLst/>
          </a:prstGeom>
          <a:solidFill xmlns:a="http://schemas.openxmlformats.org/drawingml/2006/main">
            <a:srgbClr val="1E2761"/>
          </a:solidFill>
          <a:ln xmlns:a="http://schemas.openxmlformats.org/drawingml/2006/main" w="12700">
            <a:solidFill>
              <a:srgbClr val="1E2761"/>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67BCB5A8-14B0-4BFB-834B-8137C18F6FF4}"/>
              </a:ext>
            </a:extLst>
          </p:cNvPr>
          <p:cNvSpPr>
            <a:spLocks xmlns:a="http://schemas.openxmlformats.org/drawingml/2006/main" noGrp="1"/>
          </p:cNvSpPr>
          <p:nvPr/>
        </p:nvSpPr>
        <p:spPr>
          <a:xfrm xmlns:a="http://schemas.openxmlformats.org/drawingml/2006/main">
            <a:off x="457200" y="73152"/>
            <a:ext cx="2743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spc="400">
                <a:solidFill>
                  <a:srgbClr val="C9A961"/>
                </a:solidFill>
                <a:latin typeface="Calibri"/>
                <a:ea typeface="Calibri"/>
                <a:cs typeface="Calibri"/>
              </a:rPr>
              <a:t>MODULE 04</a:t>
            </a:r>
            <a:endParaRPr sz="1000"/>
          </a:p>
        </p:txBody>
      </p:sp>
      <p:sp>
        <p:nvSpPr>
          <p:cNvPr id="4" name="Text 2">
            <a:extLst xmlns:a="http://schemas.openxmlformats.org/drawingml/2006/main">
              <a:ext uri="{FF2B5EF4-FFF2-40B4-BE49-F238E27FC236}">
                <a16:creationId xmlns:a16="http://schemas.microsoft.com/office/drawing/2014/main" id="{78ACAB1C-8640-436B-B63D-C72017927CD9}"/>
              </a:ext>
            </a:extLst>
          </p:cNvPr>
          <p:cNvSpPr>
            <a:spLocks xmlns:a="http://schemas.openxmlformats.org/drawingml/2006/main" noGrp="1"/>
          </p:cNvSpPr>
          <p:nvPr/>
        </p:nvSpPr>
        <p:spPr>
          <a:xfrm xmlns:a="http://schemas.openxmlformats.org/drawingml/2006/main">
            <a:off x="3200400" y="73152"/>
            <a:ext cx="54864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000">
                <a:solidFill>
                  <a:srgbClr val="CADCFC"/>
                </a:solidFill>
                <a:latin typeface="Calibri"/>
                <a:ea typeface="Calibri"/>
                <a:cs typeface="Calibri"/>
              </a:rPr>
              <a:t>Building and scaling AI use cases</a:t>
            </a:r>
            <a:endParaRPr sz="1000"/>
          </a:p>
        </p:txBody>
      </p:sp>
      <p:sp>
        <p:nvSpPr>
          <p:cNvPr id="5" name="Text 3">
            <a:extLst xmlns:a="http://schemas.openxmlformats.org/drawingml/2006/main">
              <a:ext uri="{FF2B5EF4-FFF2-40B4-BE49-F238E27FC236}">
                <a16:creationId xmlns:a16="http://schemas.microsoft.com/office/drawing/2014/main" id="{185E6F8B-52E9-46DE-AB4A-B35C89164615}"/>
              </a:ext>
            </a:extLst>
          </p:cNvPr>
          <p:cNvSpPr>
            <a:spLocks xmlns:a="http://schemas.openxmlformats.org/drawingml/2006/main" noGrp="1"/>
          </p:cNvSpPr>
          <p:nvPr/>
        </p:nvSpPr>
        <p:spPr>
          <a:xfrm xmlns:a="http://schemas.openxmlformats.org/drawingml/2006/main">
            <a:off x="457200" y="685800"/>
            <a:ext cx="822960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600" b="1">
                <a:solidFill>
                  <a:srgbClr val="1E2761"/>
                </a:solidFill>
                <a:latin typeface="Cambria"/>
                <a:ea typeface="Cambria"/>
                <a:cs typeface="Cambria"/>
              </a:rPr>
              <a:t>One-page use case spec template</a:t>
            </a:r>
            <a:endParaRPr sz="2600"/>
          </a:p>
        </p:txBody>
      </p:sp>
      <p:sp>
        <p:nvSpPr>
          <p:cNvPr id="6" name="Text 4">
            <a:extLst xmlns:a="http://schemas.openxmlformats.org/drawingml/2006/main">
              <a:ext uri="{FF2B5EF4-FFF2-40B4-BE49-F238E27FC236}">
                <a16:creationId xmlns:a16="http://schemas.microsoft.com/office/drawing/2014/main" id="{E87FB1A7-43F1-427B-ABA0-7FB8A6BD653C}"/>
              </a:ext>
            </a:extLst>
          </p:cNvPr>
          <p:cNvSpPr>
            <a:spLocks xmlns:a="http://schemas.openxmlformats.org/drawingml/2006/main" noGrp="1"/>
          </p:cNvSpPr>
          <p:nvPr/>
        </p:nvSpPr>
        <p:spPr>
          <a:xfrm xmlns:a="http://schemas.openxmlformats.org/drawingml/2006/main">
            <a:off x="457200" y="1207008"/>
            <a:ext cx="82296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i="1">
                <a:solidFill>
                  <a:srgbClr val="6B7280"/>
                </a:solidFill>
                <a:latin typeface="Calibri"/>
                <a:ea typeface="Calibri"/>
                <a:cs typeface="Calibri"/>
              </a:rPr>
              <a:t>What participants complete for their team's top-ranked use case.</a:t>
            </a:r>
            <a:endParaRPr sz="1200"/>
          </a:p>
        </p:txBody>
      </p:sp>
      <p:sp>
        <p:nvSpPr>
          <p:cNvPr id="7" name="Shape 5">
            <a:extLst xmlns:a="http://schemas.openxmlformats.org/drawingml/2006/main">
              <a:ext uri="{FF2B5EF4-FFF2-40B4-BE49-F238E27FC236}">
                <a16:creationId xmlns:a16="http://schemas.microsoft.com/office/drawing/2014/main" id="{E5417C13-6C1E-4691-8B3D-2FB6C4105C71}"/>
              </a:ext>
            </a:extLst>
          </p:cNvPr>
          <p:cNvSpPr>
            <a:spLocks xmlns:a="http://schemas.openxmlformats.org/drawingml/2006/main" noGrp="1"/>
          </p:cNvSpPr>
          <p:nvPr/>
        </p:nvSpPr>
        <p:spPr>
          <a:xfrm xmlns:a="http://schemas.openxmlformats.org/drawingml/2006/main">
            <a:off x="457200" y="1691640"/>
            <a:ext cx="4069080" cy="292608"/>
          </a:xfrm>
          <a:prstGeom xmlns:a="http://schemas.openxmlformats.org/drawingml/2006/main" prst="rect">
            <a:avLst/>
          </a:prstGeom>
          <a:solidFill xmlns:a="http://schemas.openxmlformats.org/drawingml/2006/main">
            <a:srgbClr val="F5F7FB"/>
          </a:solidFill>
          <a:ln xmlns:a="http://schemas.openxmlformats.org/drawingml/2006/main" w="6350">
            <a:solidFill>
              <a:srgbClr val="E5E7EB"/>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Shape 6">
            <a:extLst xmlns:a="http://schemas.openxmlformats.org/drawingml/2006/main">
              <a:ext uri="{FF2B5EF4-FFF2-40B4-BE49-F238E27FC236}">
                <a16:creationId xmlns:a16="http://schemas.microsoft.com/office/drawing/2014/main" id="{12029DA3-544A-4B75-B716-E8787337E40A}"/>
              </a:ext>
            </a:extLst>
          </p:cNvPr>
          <p:cNvSpPr>
            <a:spLocks xmlns:a="http://schemas.openxmlformats.org/drawingml/2006/main" noGrp="1"/>
          </p:cNvSpPr>
          <p:nvPr/>
        </p:nvSpPr>
        <p:spPr>
          <a:xfrm xmlns:a="http://schemas.openxmlformats.org/drawingml/2006/main">
            <a:off x="457200" y="1691640"/>
            <a:ext cx="73152" cy="292608"/>
          </a:xfrm>
          <a:prstGeom xmlns:a="http://schemas.openxmlformats.org/drawingml/2006/main" prst="rect">
            <a:avLst/>
          </a:prstGeom>
          <a:solidFill xmlns:a="http://schemas.openxmlformats.org/drawingml/2006/main">
            <a:srgbClr val="C9A961"/>
          </a:solidFill>
          <a:ln xmlns:a="http://schemas.openxmlformats.org/drawingml/2006/main" w="12700">
            <a:solidFill>
              <a:srgbClr val="C9A961"/>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Text 7">
            <a:extLst xmlns:a="http://schemas.openxmlformats.org/drawingml/2006/main">
              <a:ext uri="{FF2B5EF4-FFF2-40B4-BE49-F238E27FC236}">
                <a16:creationId xmlns:a16="http://schemas.microsoft.com/office/drawing/2014/main" id="{747693BA-3347-4B69-A728-8F018EEA79D3}"/>
              </a:ext>
            </a:extLst>
          </p:cNvPr>
          <p:cNvSpPr>
            <a:spLocks xmlns:a="http://schemas.openxmlformats.org/drawingml/2006/main" noGrp="1"/>
          </p:cNvSpPr>
          <p:nvPr/>
        </p:nvSpPr>
        <p:spPr>
          <a:xfrm xmlns:a="http://schemas.openxmlformats.org/drawingml/2006/main">
            <a:off x="640080" y="1728216"/>
            <a:ext cx="37947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A1F3A"/>
                </a:solidFill>
                <a:latin typeface="Calibri"/>
                <a:ea typeface="Calibri"/>
                <a:cs typeface="Calibri"/>
              </a:rPr>
              <a:t>Use case name</a:t>
            </a:r>
            <a:endParaRPr sz="1100"/>
          </a:p>
        </p:txBody>
      </p:sp>
      <p:sp>
        <p:nvSpPr>
          <p:cNvPr id="10" name="Shape 8">
            <a:extLst xmlns:a="http://schemas.openxmlformats.org/drawingml/2006/main">
              <a:ext uri="{FF2B5EF4-FFF2-40B4-BE49-F238E27FC236}">
                <a16:creationId xmlns:a16="http://schemas.microsoft.com/office/drawing/2014/main" id="{838B010C-8987-4981-8D58-6D1DD2D3B7CD}"/>
              </a:ext>
            </a:extLst>
          </p:cNvPr>
          <p:cNvSpPr>
            <a:spLocks xmlns:a="http://schemas.openxmlformats.org/drawingml/2006/main" noGrp="1"/>
          </p:cNvSpPr>
          <p:nvPr/>
        </p:nvSpPr>
        <p:spPr>
          <a:xfrm xmlns:a="http://schemas.openxmlformats.org/drawingml/2006/main">
            <a:off x="457200" y="2029968"/>
            <a:ext cx="4069080" cy="292608"/>
          </a:xfrm>
          <a:prstGeom xmlns:a="http://schemas.openxmlformats.org/drawingml/2006/main" prst="rect">
            <a:avLst/>
          </a:prstGeom>
          <a:solidFill xmlns:a="http://schemas.openxmlformats.org/drawingml/2006/main">
            <a:srgbClr val="F5F7FB"/>
          </a:solidFill>
          <a:ln xmlns:a="http://schemas.openxmlformats.org/drawingml/2006/main" w="6350">
            <a:solidFill>
              <a:srgbClr val="E5E7EB"/>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F91128F8-AF1F-46AD-B240-74BEDF448B38}"/>
              </a:ext>
            </a:extLst>
          </p:cNvPr>
          <p:cNvSpPr>
            <a:spLocks xmlns:a="http://schemas.openxmlformats.org/drawingml/2006/main" noGrp="1"/>
          </p:cNvSpPr>
          <p:nvPr/>
        </p:nvSpPr>
        <p:spPr>
          <a:xfrm xmlns:a="http://schemas.openxmlformats.org/drawingml/2006/main">
            <a:off x="457200" y="2029968"/>
            <a:ext cx="73152" cy="292608"/>
          </a:xfrm>
          <a:prstGeom xmlns:a="http://schemas.openxmlformats.org/drawingml/2006/main" prst="rect">
            <a:avLst/>
          </a:prstGeom>
          <a:solidFill xmlns:a="http://schemas.openxmlformats.org/drawingml/2006/main">
            <a:srgbClr val="C9A961"/>
          </a:solidFill>
          <a:ln xmlns:a="http://schemas.openxmlformats.org/drawingml/2006/main" w="12700">
            <a:solidFill>
              <a:srgbClr val="C9A961"/>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36DD49F4-DD68-4149-9803-354268997368}"/>
              </a:ext>
            </a:extLst>
          </p:cNvPr>
          <p:cNvSpPr>
            <a:spLocks xmlns:a="http://schemas.openxmlformats.org/drawingml/2006/main" noGrp="1"/>
          </p:cNvSpPr>
          <p:nvPr/>
        </p:nvSpPr>
        <p:spPr>
          <a:xfrm xmlns:a="http://schemas.openxmlformats.org/drawingml/2006/main">
            <a:off x="640080" y="2066544"/>
            <a:ext cx="37947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A1F3A"/>
                </a:solidFill>
                <a:latin typeface="Calibri"/>
                <a:ea typeface="Calibri"/>
                <a:cs typeface="Calibri"/>
              </a:rPr>
              <a:t>Problem it solves (1 sentence)</a:t>
            </a:r>
            <a:endParaRPr sz="1100"/>
          </a:p>
        </p:txBody>
      </p:sp>
      <p:sp>
        <p:nvSpPr>
          <p:cNvPr id="13" name="Shape 11">
            <a:extLst xmlns:a="http://schemas.openxmlformats.org/drawingml/2006/main">
              <a:ext uri="{FF2B5EF4-FFF2-40B4-BE49-F238E27FC236}">
                <a16:creationId xmlns:a16="http://schemas.microsoft.com/office/drawing/2014/main" id="{CA1515CE-6A38-42AC-844A-E212BBB07029}"/>
              </a:ext>
            </a:extLst>
          </p:cNvPr>
          <p:cNvSpPr>
            <a:spLocks xmlns:a="http://schemas.openxmlformats.org/drawingml/2006/main" noGrp="1"/>
          </p:cNvSpPr>
          <p:nvPr/>
        </p:nvSpPr>
        <p:spPr>
          <a:xfrm xmlns:a="http://schemas.openxmlformats.org/drawingml/2006/main">
            <a:off x="457200" y="2368296"/>
            <a:ext cx="4069080" cy="292608"/>
          </a:xfrm>
          <a:prstGeom xmlns:a="http://schemas.openxmlformats.org/drawingml/2006/main" prst="rect">
            <a:avLst/>
          </a:prstGeom>
          <a:solidFill xmlns:a="http://schemas.openxmlformats.org/drawingml/2006/main">
            <a:srgbClr val="F5F7FB"/>
          </a:solidFill>
          <a:ln xmlns:a="http://schemas.openxmlformats.org/drawingml/2006/main" w="6350">
            <a:solidFill>
              <a:srgbClr val="E5E7EB"/>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hape 12">
            <a:extLst xmlns:a="http://schemas.openxmlformats.org/drawingml/2006/main">
              <a:ext uri="{FF2B5EF4-FFF2-40B4-BE49-F238E27FC236}">
                <a16:creationId xmlns:a16="http://schemas.microsoft.com/office/drawing/2014/main" id="{16C5F041-9923-4677-ABCE-484F67E7A582}"/>
              </a:ext>
            </a:extLst>
          </p:cNvPr>
          <p:cNvSpPr>
            <a:spLocks xmlns:a="http://schemas.openxmlformats.org/drawingml/2006/main" noGrp="1"/>
          </p:cNvSpPr>
          <p:nvPr/>
        </p:nvSpPr>
        <p:spPr>
          <a:xfrm xmlns:a="http://schemas.openxmlformats.org/drawingml/2006/main">
            <a:off x="457200" y="2368296"/>
            <a:ext cx="73152" cy="292608"/>
          </a:xfrm>
          <a:prstGeom xmlns:a="http://schemas.openxmlformats.org/drawingml/2006/main" prst="rect">
            <a:avLst/>
          </a:prstGeom>
          <a:solidFill xmlns:a="http://schemas.openxmlformats.org/drawingml/2006/main">
            <a:srgbClr val="C9A961"/>
          </a:solidFill>
          <a:ln xmlns:a="http://schemas.openxmlformats.org/drawingml/2006/main" w="12700">
            <a:solidFill>
              <a:srgbClr val="C9A961"/>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Text 13">
            <a:extLst xmlns:a="http://schemas.openxmlformats.org/drawingml/2006/main">
              <a:ext uri="{FF2B5EF4-FFF2-40B4-BE49-F238E27FC236}">
                <a16:creationId xmlns:a16="http://schemas.microsoft.com/office/drawing/2014/main" id="{24608371-7053-43BF-8490-6072AB504549}"/>
              </a:ext>
            </a:extLst>
          </p:cNvPr>
          <p:cNvSpPr>
            <a:spLocks xmlns:a="http://schemas.openxmlformats.org/drawingml/2006/main" noGrp="1"/>
          </p:cNvSpPr>
          <p:nvPr/>
        </p:nvSpPr>
        <p:spPr>
          <a:xfrm xmlns:a="http://schemas.openxmlformats.org/drawingml/2006/main">
            <a:off x="640080" y="2404872"/>
            <a:ext cx="37947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A1F3A"/>
                </a:solidFill>
                <a:latin typeface="Calibri"/>
                <a:ea typeface="Calibri"/>
                <a:cs typeface="Calibri"/>
              </a:rPr>
              <a:t>Who benefits and how</a:t>
            </a:r>
            <a:endParaRPr sz="1100"/>
          </a:p>
        </p:txBody>
      </p:sp>
      <p:sp>
        <p:nvSpPr>
          <p:cNvPr id="16" name="Shape 14">
            <a:extLst xmlns:a="http://schemas.openxmlformats.org/drawingml/2006/main">
              <a:ext uri="{FF2B5EF4-FFF2-40B4-BE49-F238E27FC236}">
                <a16:creationId xmlns:a16="http://schemas.microsoft.com/office/drawing/2014/main" id="{72F7B608-349C-4510-B107-7DA030E1530F}"/>
              </a:ext>
            </a:extLst>
          </p:cNvPr>
          <p:cNvSpPr>
            <a:spLocks xmlns:a="http://schemas.openxmlformats.org/drawingml/2006/main" noGrp="1"/>
          </p:cNvSpPr>
          <p:nvPr/>
        </p:nvSpPr>
        <p:spPr>
          <a:xfrm xmlns:a="http://schemas.openxmlformats.org/drawingml/2006/main">
            <a:off x="457200" y="2706624"/>
            <a:ext cx="4069080" cy="292608"/>
          </a:xfrm>
          <a:prstGeom xmlns:a="http://schemas.openxmlformats.org/drawingml/2006/main" prst="rect">
            <a:avLst/>
          </a:prstGeom>
          <a:solidFill xmlns:a="http://schemas.openxmlformats.org/drawingml/2006/main">
            <a:srgbClr val="F5F7FB"/>
          </a:solidFill>
          <a:ln xmlns:a="http://schemas.openxmlformats.org/drawingml/2006/main" w="6350">
            <a:solidFill>
              <a:srgbClr val="E5E7EB"/>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Shape 15">
            <a:extLst xmlns:a="http://schemas.openxmlformats.org/drawingml/2006/main">
              <a:ext uri="{FF2B5EF4-FFF2-40B4-BE49-F238E27FC236}">
                <a16:creationId xmlns:a16="http://schemas.microsoft.com/office/drawing/2014/main" id="{E5CAE1B6-B8C4-4BB2-96D1-0832CF8EED63}"/>
              </a:ext>
            </a:extLst>
          </p:cNvPr>
          <p:cNvSpPr>
            <a:spLocks xmlns:a="http://schemas.openxmlformats.org/drawingml/2006/main" noGrp="1"/>
          </p:cNvSpPr>
          <p:nvPr/>
        </p:nvSpPr>
        <p:spPr>
          <a:xfrm xmlns:a="http://schemas.openxmlformats.org/drawingml/2006/main">
            <a:off x="457200" y="2706624"/>
            <a:ext cx="73152" cy="292608"/>
          </a:xfrm>
          <a:prstGeom xmlns:a="http://schemas.openxmlformats.org/drawingml/2006/main" prst="rect">
            <a:avLst/>
          </a:prstGeom>
          <a:solidFill xmlns:a="http://schemas.openxmlformats.org/drawingml/2006/main">
            <a:srgbClr val="C9A961"/>
          </a:solidFill>
          <a:ln xmlns:a="http://schemas.openxmlformats.org/drawingml/2006/main" w="12700">
            <a:solidFill>
              <a:srgbClr val="C9A961"/>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6">
            <a:extLst xmlns:a="http://schemas.openxmlformats.org/drawingml/2006/main">
              <a:ext uri="{FF2B5EF4-FFF2-40B4-BE49-F238E27FC236}">
                <a16:creationId xmlns:a16="http://schemas.microsoft.com/office/drawing/2014/main" id="{2074440F-0C26-49E6-AFBE-05E90465A7B0}"/>
              </a:ext>
            </a:extLst>
          </p:cNvPr>
          <p:cNvSpPr>
            <a:spLocks xmlns:a="http://schemas.openxmlformats.org/drawingml/2006/main" noGrp="1"/>
          </p:cNvSpPr>
          <p:nvPr/>
        </p:nvSpPr>
        <p:spPr>
          <a:xfrm xmlns:a="http://schemas.openxmlformats.org/drawingml/2006/main">
            <a:off x="640080" y="2743200"/>
            <a:ext cx="37947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A1F3A"/>
                </a:solidFill>
                <a:latin typeface="Calibri"/>
                <a:ea typeface="Calibri"/>
                <a:cs typeface="Calibri"/>
              </a:rPr>
              <a:t>Approach: Rules / Augment / Assist / Human-led / Analytics</a:t>
            </a:r>
            <a:endParaRPr sz="1100"/>
          </a:p>
        </p:txBody>
      </p:sp>
      <p:sp>
        <p:nvSpPr>
          <p:cNvPr id="19" name="Shape 17">
            <a:extLst xmlns:a="http://schemas.openxmlformats.org/drawingml/2006/main">
              <a:ext uri="{FF2B5EF4-FFF2-40B4-BE49-F238E27FC236}">
                <a16:creationId xmlns:a16="http://schemas.microsoft.com/office/drawing/2014/main" id="{A346D81C-852E-4902-816D-EB325EAF57F1}"/>
              </a:ext>
            </a:extLst>
          </p:cNvPr>
          <p:cNvSpPr>
            <a:spLocks xmlns:a="http://schemas.openxmlformats.org/drawingml/2006/main" noGrp="1"/>
          </p:cNvSpPr>
          <p:nvPr/>
        </p:nvSpPr>
        <p:spPr>
          <a:xfrm xmlns:a="http://schemas.openxmlformats.org/drawingml/2006/main">
            <a:off x="457200" y="3044952"/>
            <a:ext cx="4069080" cy="292608"/>
          </a:xfrm>
          <a:prstGeom xmlns:a="http://schemas.openxmlformats.org/drawingml/2006/main" prst="rect">
            <a:avLst/>
          </a:prstGeom>
          <a:solidFill xmlns:a="http://schemas.openxmlformats.org/drawingml/2006/main">
            <a:srgbClr val="F5F7FB"/>
          </a:solidFill>
          <a:ln xmlns:a="http://schemas.openxmlformats.org/drawingml/2006/main" w="6350">
            <a:solidFill>
              <a:srgbClr val="E5E7EB"/>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Shape 18">
            <a:extLst xmlns:a="http://schemas.openxmlformats.org/drawingml/2006/main">
              <a:ext uri="{FF2B5EF4-FFF2-40B4-BE49-F238E27FC236}">
                <a16:creationId xmlns:a16="http://schemas.microsoft.com/office/drawing/2014/main" id="{2DCE3128-53D7-4F83-BFDD-53202FAB77EB}"/>
              </a:ext>
            </a:extLst>
          </p:cNvPr>
          <p:cNvSpPr>
            <a:spLocks xmlns:a="http://schemas.openxmlformats.org/drawingml/2006/main" noGrp="1"/>
          </p:cNvSpPr>
          <p:nvPr/>
        </p:nvSpPr>
        <p:spPr>
          <a:xfrm xmlns:a="http://schemas.openxmlformats.org/drawingml/2006/main">
            <a:off x="457200" y="3044952"/>
            <a:ext cx="73152" cy="292608"/>
          </a:xfrm>
          <a:prstGeom xmlns:a="http://schemas.openxmlformats.org/drawingml/2006/main" prst="rect">
            <a:avLst/>
          </a:prstGeom>
          <a:solidFill xmlns:a="http://schemas.openxmlformats.org/drawingml/2006/main">
            <a:srgbClr val="C9A961"/>
          </a:solidFill>
          <a:ln xmlns:a="http://schemas.openxmlformats.org/drawingml/2006/main" w="12700">
            <a:solidFill>
              <a:srgbClr val="C9A961"/>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Text 19">
            <a:extLst xmlns:a="http://schemas.openxmlformats.org/drawingml/2006/main">
              <a:ext uri="{FF2B5EF4-FFF2-40B4-BE49-F238E27FC236}">
                <a16:creationId xmlns:a16="http://schemas.microsoft.com/office/drawing/2014/main" id="{BE3234FA-2E93-472B-B8A6-8A33DD698FAD}"/>
              </a:ext>
            </a:extLst>
          </p:cNvPr>
          <p:cNvSpPr>
            <a:spLocks xmlns:a="http://schemas.openxmlformats.org/drawingml/2006/main" noGrp="1"/>
          </p:cNvSpPr>
          <p:nvPr/>
        </p:nvSpPr>
        <p:spPr>
          <a:xfrm xmlns:a="http://schemas.openxmlformats.org/drawingml/2006/main">
            <a:off x="640080" y="3081528"/>
            <a:ext cx="37947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A1F3A"/>
                </a:solidFill>
                <a:latin typeface="Calibri"/>
                <a:ea typeface="Calibri"/>
                <a:cs typeface="Calibri"/>
              </a:rPr>
              <a:t>Data needed</a:t>
            </a:r>
            <a:endParaRPr sz="1100"/>
          </a:p>
        </p:txBody>
      </p:sp>
      <p:sp>
        <p:nvSpPr>
          <p:cNvPr id="22" name="Shape 20">
            <a:extLst xmlns:a="http://schemas.openxmlformats.org/drawingml/2006/main">
              <a:ext uri="{FF2B5EF4-FFF2-40B4-BE49-F238E27FC236}">
                <a16:creationId xmlns:a16="http://schemas.microsoft.com/office/drawing/2014/main" id="{490D708B-786F-48F6-94F7-EC99C7F1F369}"/>
              </a:ext>
            </a:extLst>
          </p:cNvPr>
          <p:cNvSpPr>
            <a:spLocks xmlns:a="http://schemas.openxmlformats.org/drawingml/2006/main" noGrp="1"/>
          </p:cNvSpPr>
          <p:nvPr/>
        </p:nvSpPr>
        <p:spPr>
          <a:xfrm xmlns:a="http://schemas.openxmlformats.org/drawingml/2006/main">
            <a:off x="4617720" y="1691640"/>
            <a:ext cx="4069080" cy="292608"/>
          </a:xfrm>
          <a:prstGeom xmlns:a="http://schemas.openxmlformats.org/drawingml/2006/main" prst="rect">
            <a:avLst/>
          </a:prstGeom>
          <a:solidFill xmlns:a="http://schemas.openxmlformats.org/drawingml/2006/main">
            <a:srgbClr val="F5F7FB"/>
          </a:solidFill>
          <a:ln xmlns:a="http://schemas.openxmlformats.org/drawingml/2006/main" w="6350">
            <a:solidFill>
              <a:srgbClr val="E5E7EB"/>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Shape 21">
            <a:extLst xmlns:a="http://schemas.openxmlformats.org/drawingml/2006/main">
              <a:ext uri="{FF2B5EF4-FFF2-40B4-BE49-F238E27FC236}">
                <a16:creationId xmlns:a16="http://schemas.microsoft.com/office/drawing/2014/main" id="{34655FA1-73DE-40EA-B15E-24586BC62A83}"/>
              </a:ext>
            </a:extLst>
          </p:cNvPr>
          <p:cNvSpPr>
            <a:spLocks xmlns:a="http://schemas.openxmlformats.org/drawingml/2006/main" noGrp="1"/>
          </p:cNvSpPr>
          <p:nvPr/>
        </p:nvSpPr>
        <p:spPr>
          <a:xfrm xmlns:a="http://schemas.openxmlformats.org/drawingml/2006/main">
            <a:off x="4617720" y="1691640"/>
            <a:ext cx="73152" cy="292608"/>
          </a:xfrm>
          <a:prstGeom xmlns:a="http://schemas.openxmlformats.org/drawingml/2006/main" prst="rect">
            <a:avLst/>
          </a:prstGeom>
          <a:solidFill xmlns:a="http://schemas.openxmlformats.org/drawingml/2006/main">
            <a:srgbClr val="C9A961"/>
          </a:solidFill>
          <a:ln xmlns:a="http://schemas.openxmlformats.org/drawingml/2006/main" w="12700">
            <a:solidFill>
              <a:srgbClr val="C9A961"/>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Text 22">
            <a:extLst xmlns:a="http://schemas.openxmlformats.org/drawingml/2006/main">
              <a:ext uri="{FF2B5EF4-FFF2-40B4-BE49-F238E27FC236}">
                <a16:creationId xmlns:a16="http://schemas.microsoft.com/office/drawing/2014/main" id="{BD200B8E-9AF9-4838-9840-2FC200FFDAE5}"/>
              </a:ext>
            </a:extLst>
          </p:cNvPr>
          <p:cNvSpPr>
            <a:spLocks xmlns:a="http://schemas.openxmlformats.org/drawingml/2006/main" noGrp="1"/>
          </p:cNvSpPr>
          <p:nvPr/>
        </p:nvSpPr>
        <p:spPr>
          <a:xfrm xmlns:a="http://schemas.openxmlformats.org/drawingml/2006/main">
            <a:off x="4800600" y="1728216"/>
            <a:ext cx="37947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A1F3A"/>
                </a:solidFill>
                <a:latin typeface="Calibri"/>
                <a:ea typeface="Calibri"/>
                <a:cs typeface="Calibri"/>
              </a:rPr>
              <a:t>Human review gate</a:t>
            </a:r>
            <a:endParaRPr sz="1100"/>
          </a:p>
        </p:txBody>
      </p:sp>
      <p:sp>
        <p:nvSpPr>
          <p:cNvPr id="25" name="Shape 23">
            <a:extLst xmlns:a="http://schemas.openxmlformats.org/drawingml/2006/main">
              <a:ext uri="{FF2B5EF4-FFF2-40B4-BE49-F238E27FC236}">
                <a16:creationId xmlns:a16="http://schemas.microsoft.com/office/drawing/2014/main" id="{CCAEC4D4-6C0E-4BDE-A22C-965AB2586984}"/>
              </a:ext>
            </a:extLst>
          </p:cNvPr>
          <p:cNvSpPr>
            <a:spLocks xmlns:a="http://schemas.openxmlformats.org/drawingml/2006/main" noGrp="1"/>
          </p:cNvSpPr>
          <p:nvPr/>
        </p:nvSpPr>
        <p:spPr>
          <a:xfrm xmlns:a="http://schemas.openxmlformats.org/drawingml/2006/main">
            <a:off x="4617720" y="2029968"/>
            <a:ext cx="4069080" cy="292608"/>
          </a:xfrm>
          <a:prstGeom xmlns:a="http://schemas.openxmlformats.org/drawingml/2006/main" prst="rect">
            <a:avLst/>
          </a:prstGeom>
          <a:solidFill xmlns:a="http://schemas.openxmlformats.org/drawingml/2006/main">
            <a:srgbClr val="F5F7FB"/>
          </a:solidFill>
          <a:ln xmlns:a="http://schemas.openxmlformats.org/drawingml/2006/main" w="6350">
            <a:solidFill>
              <a:srgbClr val="E5E7EB"/>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Shape 24">
            <a:extLst xmlns:a="http://schemas.openxmlformats.org/drawingml/2006/main">
              <a:ext uri="{FF2B5EF4-FFF2-40B4-BE49-F238E27FC236}">
                <a16:creationId xmlns:a16="http://schemas.microsoft.com/office/drawing/2014/main" id="{053A4A8C-5E94-4C22-A1A6-2B78855B87B5}"/>
              </a:ext>
            </a:extLst>
          </p:cNvPr>
          <p:cNvSpPr>
            <a:spLocks xmlns:a="http://schemas.openxmlformats.org/drawingml/2006/main" noGrp="1"/>
          </p:cNvSpPr>
          <p:nvPr/>
        </p:nvSpPr>
        <p:spPr>
          <a:xfrm xmlns:a="http://schemas.openxmlformats.org/drawingml/2006/main">
            <a:off x="4617720" y="2029968"/>
            <a:ext cx="73152" cy="292608"/>
          </a:xfrm>
          <a:prstGeom xmlns:a="http://schemas.openxmlformats.org/drawingml/2006/main" prst="rect">
            <a:avLst/>
          </a:prstGeom>
          <a:solidFill xmlns:a="http://schemas.openxmlformats.org/drawingml/2006/main">
            <a:srgbClr val="C9A961"/>
          </a:solidFill>
          <a:ln xmlns:a="http://schemas.openxmlformats.org/drawingml/2006/main" w="12700">
            <a:solidFill>
              <a:srgbClr val="C9A961"/>
            </a:solidFill>
            <a:prstDash val="solid"/>
          </a:ln>
        </p:spPr>
        <p:txBody>
          <a:bodyPr xmlns:a="http://schemas.openxmlformats.org/drawingml/2006/main"/>
          <a:lstStyle xmlns:a="http://schemas.openxmlformats.org/drawingml/2006/main"/>
          <a:p xmlns:a="http://schemas.openxmlformats.org/drawingml/2006/main">
            <a:endParaRPr/>
          </a:p>
        </p:txBody>
      </p:sp>
      <p:sp>
        <p:nvSpPr>
          <p:cNvPr id="27" name="Text 25">
            <a:extLst xmlns:a="http://schemas.openxmlformats.org/drawingml/2006/main">
              <a:ext uri="{FF2B5EF4-FFF2-40B4-BE49-F238E27FC236}">
                <a16:creationId xmlns:a16="http://schemas.microsoft.com/office/drawing/2014/main" id="{F5B45188-0CA9-4B1B-AB85-BFE903CE4600}"/>
              </a:ext>
            </a:extLst>
          </p:cNvPr>
          <p:cNvSpPr>
            <a:spLocks xmlns:a="http://schemas.openxmlformats.org/drawingml/2006/main" noGrp="1"/>
          </p:cNvSpPr>
          <p:nvPr/>
        </p:nvSpPr>
        <p:spPr>
          <a:xfrm xmlns:a="http://schemas.openxmlformats.org/drawingml/2006/main">
            <a:off x="4800600" y="2066544"/>
            <a:ext cx="37947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A1F3A"/>
                </a:solidFill>
                <a:latin typeface="Calibri"/>
                <a:ea typeface="Calibri"/>
                <a:cs typeface="Calibri"/>
              </a:rPr>
              <a:t>Success metric(s)</a:t>
            </a:r>
            <a:endParaRPr sz="1100"/>
          </a:p>
        </p:txBody>
      </p:sp>
      <p:sp>
        <p:nvSpPr>
          <p:cNvPr id="28" name="Shape 26">
            <a:extLst xmlns:a="http://schemas.openxmlformats.org/drawingml/2006/main">
              <a:ext uri="{FF2B5EF4-FFF2-40B4-BE49-F238E27FC236}">
                <a16:creationId xmlns:a16="http://schemas.microsoft.com/office/drawing/2014/main" id="{DC85B4E8-1DAF-484A-A7FC-C725F52FC336}"/>
              </a:ext>
            </a:extLst>
          </p:cNvPr>
          <p:cNvSpPr>
            <a:spLocks xmlns:a="http://schemas.openxmlformats.org/drawingml/2006/main" noGrp="1"/>
          </p:cNvSpPr>
          <p:nvPr/>
        </p:nvSpPr>
        <p:spPr>
          <a:xfrm xmlns:a="http://schemas.openxmlformats.org/drawingml/2006/main">
            <a:off x="4617720" y="2368296"/>
            <a:ext cx="4069080" cy="292608"/>
          </a:xfrm>
          <a:prstGeom xmlns:a="http://schemas.openxmlformats.org/drawingml/2006/main" prst="rect">
            <a:avLst/>
          </a:prstGeom>
          <a:solidFill xmlns:a="http://schemas.openxmlformats.org/drawingml/2006/main">
            <a:srgbClr val="F5F7FB"/>
          </a:solidFill>
          <a:ln xmlns:a="http://schemas.openxmlformats.org/drawingml/2006/main" w="6350">
            <a:solidFill>
              <a:srgbClr val="E5E7EB"/>
            </a:solidFill>
            <a:prstDash val="solid"/>
          </a:ln>
        </p:spPr>
        <p:txBody>
          <a:bodyPr xmlns:a="http://schemas.openxmlformats.org/drawingml/2006/main"/>
          <a:lstStyle xmlns:a="http://schemas.openxmlformats.org/drawingml/2006/main"/>
          <a:p xmlns:a="http://schemas.openxmlformats.org/drawingml/2006/main">
            <a:endParaRPr/>
          </a:p>
        </p:txBody>
      </p:sp>
      <p:sp>
        <p:nvSpPr>
          <p:cNvPr id="29" name="Shape 27">
            <a:extLst xmlns:a="http://schemas.openxmlformats.org/drawingml/2006/main">
              <a:ext uri="{FF2B5EF4-FFF2-40B4-BE49-F238E27FC236}">
                <a16:creationId xmlns:a16="http://schemas.microsoft.com/office/drawing/2014/main" id="{A7492464-0444-43E4-B21E-B64FEF29053F}"/>
              </a:ext>
            </a:extLst>
          </p:cNvPr>
          <p:cNvSpPr>
            <a:spLocks xmlns:a="http://schemas.openxmlformats.org/drawingml/2006/main" noGrp="1"/>
          </p:cNvSpPr>
          <p:nvPr/>
        </p:nvSpPr>
        <p:spPr>
          <a:xfrm xmlns:a="http://schemas.openxmlformats.org/drawingml/2006/main">
            <a:off x="4617720" y="2368296"/>
            <a:ext cx="73152" cy="292608"/>
          </a:xfrm>
          <a:prstGeom xmlns:a="http://schemas.openxmlformats.org/drawingml/2006/main" prst="rect">
            <a:avLst/>
          </a:prstGeom>
          <a:solidFill xmlns:a="http://schemas.openxmlformats.org/drawingml/2006/main">
            <a:srgbClr val="C9A961"/>
          </a:solidFill>
          <a:ln xmlns:a="http://schemas.openxmlformats.org/drawingml/2006/main" w="12700">
            <a:solidFill>
              <a:srgbClr val="C9A961"/>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Text 28">
            <a:extLst xmlns:a="http://schemas.openxmlformats.org/drawingml/2006/main">
              <a:ext uri="{FF2B5EF4-FFF2-40B4-BE49-F238E27FC236}">
                <a16:creationId xmlns:a16="http://schemas.microsoft.com/office/drawing/2014/main" id="{9543E691-D15F-41E4-B038-ADC1814B039D}"/>
              </a:ext>
            </a:extLst>
          </p:cNvPr>
          <p:cNvSpPr>
            <a:spLocks xmlns:a="http://schemas.openxmlformats.org/drawingml/2006/main" noGrp="1"/>
          </p:cNvSpPr>
          <p:nvPr/>
        </p:nvSpPr>
        <p:spPr>
          <a:xfrm xmlns:a="http://schemas.openxmlformats.org/drawingml/2006/main">
            <a:off x="4800600" y="2404872"/>
            <a:ext cx="37947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A1F3A"/>
                </a:solidFill>
                <a:latin typeface="Calibri"/>
                <a:ea typeface="Calibri"/>
                <a:cs typeface="Calibri"/>
              </a:rPr>
              <a:t>What could go wrong</a:t>
            </a:r>
            <a:endParaRPr sz="1100"/>
          </a:p>
        </p:txBody>
      </p:sp>
      <p:sp>
        <p:nvSpPr>
          <p:cNvPr id="31" name="Shape 29">
            <a:extLst xmlns:a="http://schemas.openxmlformats.org/drawingml/2006/main">
              <a:ext uri="{FF2B5EF4-FFF2-40B4-BE49-F238E27FC236}">
                <a16:creationId xmlns:a16="http://schemas.microsoft.com/office/drawing/2014/main" id="{2BB86D7B-8785-44BB-97CD-D18E010E4A99}"/>
              </a:ext>
            </a:extLst>
          </p:cNvPr>
          <p:cNvSpPr>
            <a:spLocks xmlns:a="http://schemas.openxmlformats.org/drawingml/2006/main" noGrp="1"/>
          </p:cNvSpPr>
          <p:nvPr/>
        </p:nvSpPr>
        <p:spPr>
          <a:xfrm xmlns:a="http://schemas.openxmlformats.org/drawingml/2006/main">
            <a:off x="4617720" y="2706624"/>
            <a:ext cx="4069080" cy="292608"/>
          </a:xfrm>
          <a:prstGeom xmlns:a="http://schemas.openxmlformats.org/drawingml/2006/main" prst="rect">
            <a:avLst/>
          </a:prstGeom>
          <a:solidFill xmlns:a="http://schemas.openxmlformats.org/drawingml/2006/main">
            <a:srgbClr val="F5F7FB"/>
          </a:solidFill>
          <a:ln xmlns:a="http://schemas.openxmlformats.org/drawingml/2006/main" w="6350">
            <a:solidFill>
              <a:srgbClr val="E5E7EB"/>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Shape 30">
            <a:extLst xmlns:a="http://schemas.openxmlformats.org/drawingml/2006/main">
              <a:ext uri="{FF2B5EF4-FFF2-40B4-BE49-F238E27FC236}">
                <a16:creationId xmlns:a16="http://schemas.microsoft.com/office/drawing/2014/main" id="{F9F2DFF5-8A9E-440B-9A90-3A16B6A1905A}"/>
              </a:ext>
            </a:extLst>
          </p:cNvPr>
          <p:cNvSpPr>
            <a:spLocks xmlns:a="http://schemas.openxmlformats.org/drawingml/2006/main" noGrp="1"/>
          </p:cNvSpPr>
          <p:nvPr/>
        </p:nvSpPr>
        <p:spPr>
          <a:xfrm xmlns:a="http://schemas.openxmlformats.org/drawingml/2006/main">
            <a:off x="4617720" y="2706624"/>
            <a:ext cx="73152" cy="292608"/>
          </a:xfrm>
          <a:prstGeom xmlns:a="http://schemas.openxmlformats.org/drawingml/2006/main" prst="rect">
            <a:avLst/>
          </a:prstGeom>
          <a:solidFill xmlns:a="http://schemas.openxmlformats.org/drawingml/2006/main">
            <a:srgbClr val="C9A961"/>
          </a:solidFill>
          <a:ln xmlns:a="http://schemas.openxmlformats.org/drawingml/2006/main" w="12700">
            <a:solidFill>
              <a:srgbClr val="C9A961"/>
            </a:solidFill>
            <a:prstDash val="solid"/>
          </a:ln>
        </p:spPr>
        <p:txBody>
          <a:bodyPr xmlns:a="http://schemas.openxmlformats.org/drawingml/2006/main"/>
          <a:lstStyle xmlns:a="http://schemas.openxmlformats.org/drawingml/2006/main"/>
          <a:p xmlns:a="http://schemas.openxmlformats.org/drawingml/2006/main">
            <a:endParaRPr/>
          </a:p>
        </p:txBody>
      </p:sp>
      <p:sp>
        <p:nvSpPr>
          <p:cNvPr id="33" name="Text 31">
            <a:extLst xmlns:a="http://schemas.openxmlformats.org/drawingml/2006/main">
              <a:ext uri="{FF2B5EF4-FFF2-40B4-BE49-F238E27FC236}">
                <a16:creationId xmlns:a16="http://schemas.microsoft.com/office/drawing/2014/main" id="{E49171FB-713A-4DF4-9248-2F68C4EC331F}"/>
              </a:ext>
            </a:extLst>
          </p:cNvPr>
          <p:cNvSpPr>
            <a:spLocks xmlns:a="http://schemas.openxmlformats.org/drawingml/2006/main" noGrp="1"/>
          </p:cNvSpPr>
          <p:nvPr/>
        </p:nvSpPr>
        <p:spPr>
          <a:xfrm xmlns:a="http://schemas.openxmlformats.org/drawingml/2006/main">
            <a:off x="4800600" y="2743200"/>
            <a:ext cx="37947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A1F3A"/>
                </a:solidFill>
                <a:latin typeface="Calibri"/>
                <a:ea typeface="Calibri"/>
                <a:cs typeface="Calibri"/>
              </a:rPr>
              <a:t>Governance requirements (from risk assessment)</a:t>
            </a:r>
            <a:endParaRPr sz="1100"/>
          </a:p>
        </p:txBody>
      </p:sp>
      <p:sp>
        <p:nvSpPr>
          <p:cNvPr id="34" name="Shape 32">
            <a:extLst xmlns:a="http://schemas.openxmlformats.org/drawingml/2006/main">
              <a:ext uri="{FF2B5EF4-FFF2-40B4-BE49-F238E27FC236}">
                <a16:creationId xmlns:a16="http://schemas.microsoft.com/office/drawing/2014/main" id="{7CC5B09C-8283-4E78-BE97-F6260E060D8A}"/>
              </a:ext>
            </a:extLst>
          </p:cNvPr>
          <p:cNvSpPr>
            <a:spLocks xmlns:a="http://schemas.openxmlformats.org/drawingml/2006/main" noGrp="1"/>
          </p:cNvSpPr>
          <p:nvPr/>
        </p:nvSpPr>
        <p:spPr>
          <a:xfrm xmlns:a="http://schemas.openxmlformats.org/drawingml/2006/main">
            <a:off x="4617720" y="3044952"/>
            <a:ext cx="4069080" cy="292608"/>
          </a:xfrm>
          <a:prstGeom xmlns:a="http://schemas.openxmlformats.org/drawingml/2006/main" prst="rect">
            <a:avLst/>
          </a:prstGeom>
          <a:solidFill xmlns:a="http://schemas.openxmlformats.org/drawingml/2006/main">
            <a:srgbClr val="F5F7FB"/>
          </a:solidFill>
          <a:ln xmlns:a="http://schemas.openxmlformats.org/drawingml/2006/main" w="6350">
            <a:solidFill>
              <a:srgbClr val="E5E7EB"/>
            </a:solidFill>
            <a:prstDash val="solid"/>
          </a:ln>
        </p:spPr>
        <p:txBody>
          <a:bodyPr xmlns:a="http://schemas.openxmlformats.org/drawingml/2006/main"/>
          <a:lstStyle xmlns:a="http://schemas.openxmlformats.org/drawingml/2006/main"/>
          <a:p xmlns:a="http://schemas.openxmlformats.org/drawingml/2006/main">
            <a:endParaRPr/>
          </a:p>
        </p:txBody>
      </p:sp>
      <p:sp>
        <p:nvSpPr>
          <p:cNvPr id="35" name="Shape 33">
            <a:extLst xmlns:a="http://schemas.openxmlformats.org/drawingml/2006/main">
              <a:ext uri="{FF2B5EF4-FFF2-40B4-BE49-F238E27FC236}">
                <a16:creationId xmlns:a16="http://schemas.microsoft.com/office/drawing/2014/main" id="{ADB5107E-6446-4E1F-9621-A52E65E2FB9B}"/>
              </a:ext>
            </a:extLst>
          </p:cNvPr>
          <p:cNvSpPr>
            <a:spLocks xmlns:a="http://schemas.openxmlformats.org/drawingml/2006/main" noGrp="1"/>
          </p:cNvSpPr>
          <p:nvPr/>
        </p:nvSpPr>
        <p:spPr>
          <a:xfrm xmlns:a="http://schemas.openxmlformats.org/drawingml/2006/main">
            <a:off x="4617720" y="3044952"/>
            <a:ext cx="73152" cy="292608"/>
          </a:xfrm>
          <a:prstGeom xmlns:a="http://schemas.openxmlformats.org/drawingml/2006/main" prst="rect">
            <a:avLst/>
          </a:prstGeom>
          <a:solidFill xmlns:a="http://schemas.openxmlformats.org/drawingml/2006/main">
            <a:srgbClr val="C9A961"/>
          </a:solidFill>
          <a:ln xmlns:a="http://schemas.openxmlformats.org/drawingml/2006/main" w="12700">
            <a:solidFill>
              <a:srgbClr val="C9A961"/>
            </a:solidFill>
            <a:prstDash val="solid"/>
          </a:ln>
        </p:spPr>
        <p:txBody>
          <a:bodyPr xmlns:a="http://schemas.openxmlformats.org/drawingml/2006/main"/>
          <a:lstStyle xmlns:a="http://schemas.openxmlformats.org/drawingml/2006/main"/>
          <a:p xmlns:a="http://schemas.openxmlformats.org/drawingml/2006/main">
            <a:endParaRPr/>
          </a:p>
        </p:txBody>
      </p:sp>
      <p:sp>
        <p:nvSpPr>
          <p:cNvPr id="36" name="Text 34">
            <a:extLst xmlns:a="http://schemas.openxmlformats.org/drawingml/2006/main">
              <a:ext uri="{FF2B5EF4-FFF2-40B4-BE49-F238E27FC236}">
                <a16:creationId xmlns:a16="http://schemas.microsoft.com/office/drawing/2014/main" id="{29277FC9-6869-4109-AE34-81B9617186A2}"/>
              </a:ext>
            </a:extLst>
          </p:cNvPr>
          <p:cNvSpPr>
            <a:spLocks xmlns:a="http://schemas.openxmlformats.org/drawingml/2006/main" noGrp="1"/>
          </p:cNvSpPr>
          <p:nvPr/>
        </p:nvSpPr>
        <p:spPr>
          <a:xfrm xmlns:a="http://schemas.openxmlformats.org/drawingml/2006/main">
            <a:off x="4800600" y="3081528"/>
            <a:ext cx="37947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A1F3A"/>
                </a:solidFill>
                <a:latin typeface="Calibri"/>
                <a:ea typeface="Calibri"/>
                <a:cs typeface="Calibri"/>
              </a:rPr>
              <a:t>Pilot owner, baseline and expand / pause / stop gate</a:t>
            </a:r>
            <a:endParaRPr sz="1100"/>
          </a:p>
        </p:txBody>
      </p:sp>
      <p:sp>
        <p:nvSpPr>
          <p:cNvPr id="37" name="Text 35">
            <a:extLst xmlns:a="http://schemas.openxmlformats.org/drawingml/2006/main">
              <a:ext uri="{FF2B5EF4-FFF2-40B4-BE49-F238E27FC236}">
                <a16:creationId xmlns:a16="http://schemas.microsoft.com/office/drawing/2014/main" id="{2A84A767-E276-4A04-8C32-AEB7AFA92350}"/>
              </a:ext>
            </a:extLst>
          </p:cNvPr>
          <p:cNvSpPr>
            <a:spLocks xmlns:a="http://schemas.openxmlformats.org/drawingml/2006/main" noGrp="1"/>
          </p:cNvSpPr>
          <p:nvPr/>
        </p:nvSpPr>
        <p:spPr>
          <a:xfrm xmlns:a="http://schemas.openxmlformats.org/drawingml/2006/main">
            <a:off x="457200" y="4297680"/>
            <a:ext cx="82296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6B7280"/>
                </a:solidFill>
                <a:latin typeface="Calibri"/>
                <a:ea typeface="Calibri"/>
                <a:cs typeface="Calibri"/>
              </a:rPr>
              <a:t>Use synthetic exercises first. Before a real pilot, confirm governance approval, accountable owners, review cost and adoption evidence.</a:t>
            </a:r>
            <a:endParaRPr sz="1100"/>
          </a:p>
        </p:txBody>
      </p:sp>
      <p:sp>
        <p:nvSpPr>
          <p:cNvPr id="38" name="Text 36">
            <a:extLst xmlns:a="http://schemas.openxmlformats.org/drawingml/2006/main">
              <a:ext uri="{FF2B5EF4-FFF2-40B4-BE49-F238E27FC236}">
                <a16:creationId xmlns:a16="http://schemas.microsoft.com/office/drawing/2014/main" id="{7C46EFB9-9B74-47C5-B647-B8C5EA796CFE}"/>
              </a:ext>
            </a:extLst>
          </p:cNvPr>
          <p:cNvSpPr>
            <a:spLocks xmlns:a="http://schemas.openxmlformats.org/drawingml/2006/main" noGrp="1"/>
          </p:cNvSpPr>
          <p:nvPr/>
        </p:nvSpPr>
        <p:spPr>
          <a:xfrm xmlns:a="http://schemas.openxmlformats.org/drawingml/2006/main">
            <a:off x="457200" y="4846320"/>
            <a:ext cx="45720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HR AI Literacy Curriculum</a:t>
            </a:r>
            <a:endParaRPr sz="900"/>
          </a:p>
        </p:txBody>
      </p:sp>
      <p:sp>
        <p:nvSpPr>
          <p:cNvPr id="39" name="Text 37">
            <a:extLst xmlns:a="http://schemas.openxmlformats.org/drawingml/2006/main">
              <a:ext uri="{FF2B5EF4-FFF2-40B4-BE49-F238E27FC236}">
                <a16:creationId xmlns:a16="http://schemas.microsoft.com/office/drawing/2014/main" id="{108EA40D-C34D-45C0-8FCD-74C5A5F6DDCC}"/>
              </a:ext>
            </a:extLst>
          </p:cNvPr>
          <p:cNvSpPr>
            <a:spLocks xmlns:a="http://schemas.openxmlformats.org/drawingml/2006/main" noGrp="1"/>
          </p:cNvSpPr>
          <p:nvPr/>
        </p:nvSpPr>
        <p:spPr>
          <a:xfrm xmlns:a="http://schemas.openxmlformats.org/drawingml/2006/main">
            <a:off x="8412480" y="4846320"/>
            <a:ext cx="4572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6B7280"/>
                </a:solidFill>
                <a:latin typeface="Calibri"/>
                <a:ea typeface="Calibri"/>
                <a:cs typeface="Calibri"/>
              </a:rPr>
              <a:t>20</a:t>
            </a:r>
            <a:endParaRPr sz="900"/>
          </a:p>
        </p:txBody>
      </p:sp>
    </p:spTree>
    <p:extLst>
      <p:ext uri="{BB962C8B-B14F-4D97-AF65-F5344CB8AC3E}">
        <p14:creationId xmlns:p14="http://schemas.microsoft.com/office/powerpoint/2010/main" val="115438151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3C5F495-C0ED-4C5D-A121-7904BF4E8366}"/>
              </a:ext>
            </a:extLst>
          </p:cNvPr>
          <p:cNvSpPr>
            <a:spLocks xmlns:a="http://schemas.openxmlformats.org/drawingml/2006/main" noGrp="1"/>
          </p:cNvSpPr>
          <p:nvPr/>
        </p:nvSpPr>
        <p:spPr>
          <a:xfrm xmlns:a="http://schemas.openxmlformats.org/drawingml/2006/main">
            <a:off x="457200" y="365760"/>
            <a:ext cx="822960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200" b="1">
                <a:solidFill>
                  <a:srgbClr val="1E2761"/>
                </a:solidFill>
                <a:latin typeface="Cambria"/>
                <a:ea typeface="Cambria"/>
                <a:cs typeface="Cambria"/>
              </a:rPr>
              <a:t>Assessment &amp; recognition</a:t>
            </a:r>
            <a:endParaRPr sz="3200"/>
          </a:p>
        </p:txBody>
      </p:sp>
      <p:sp>
        <p:nvSpPr>
          <p:cNvPr id="3" name="Text 1">
            <a:extLst xmlns:a="http://schemas.openxmlformats.org/drawingml/2006/main">
              <a:ext uri="{FF2B5EF4-FFF2-40B4-BE49-F238E27FC236}">
                <a16:creationId xmlns:a16="http://schemas.microsoft.com/office/drawing/2014/main" id="{475C64A1-0B43-4B87-AB5C-7600BE3FB28B}"/>
              </a:ext>
            </a:extLst>
          </p:cNvPr>
          <p:cNvSpPr>
            <a:spLocks xmlns:a="http://schemas.openxmlformats.org/drawingml/2006/main" noGrp="1"/>
          </p:cNvSpPr>
          <p:nvPr/>
        </p:nvSpPr>
        <p:spPr>
          <a:xfrm xmlns:a="http://schemas.openxmlformats.org/drawingml/2006/main">
            <a:off x="457200" y="960120"/>
            <a:ext cx="82296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i="1">
                <a:solidFill>
                  <a:srgbClr val="6B7280"/>
                </a:solidFill>
                <a:latin typeface="Calibri"/>
                <a:ea typeface="Calibri"/>
                <a:cs typeface="Calibri"/>
              </a:rPr>
              <a:t>Proposed internal acknowledgment; not accreditation or proof of competence.</a:t>
            </a:r>
            <a:endParaRPr sz="1400"/>
          </a:p>
        </p:txBody>
      </p:sp>
      <p:sp>
        <p:nvSpPr>
          <p:cNvPr id="4" name="Shape 2">
            <a:extLst xmlns:a="http://schemas.openxmlformats.org/drawingml/2006/main">
              <a:ext uri="{FF2B5EF4-FFF2-40B4-BE49-F238E27FC236}">
                <a16:creationId xmlns:a16="http://schemas.microsoft.com/office/drawing/2014/main" id="{7CB2CB12-F9DE-4032-9C0C-BEB0CCB5CD1A}"/>
              </a:ext>
            </a:extLst>
          </p:cNvPr>
          <p:cNvSpPr>
            <a:spLocks xmlns:a="http://schemas.openxmlformats.org/drawingml/2006/main" noGrp="1"/>
          </p:cNvSpPr>
          <p:nvPr/>
        </p:nvSpPr>
        <p:spPr>
          <a:xfrm xmlns:a="http://schemas.openxmlformats.org/drawingml/2006/main">
            <a:off x="457200" y="1645920"/>
            <a:ext cx="4069080" cy="2926080"/>
          </a:xfrm>
          <a:prstGeom xmlns:a="http://schemas.openxmlformats.org/drawingml/2006/main" prst="rect">
            <a:avLst/>
          </a:prstGeom>
          <a:solidFill xmlns:a="http://schemas.openxmlformats.org/drawingml/2006/main">
            <a:srgbClr val="F5F7FB"/>
          </a:solidFill>
          <a:ln xmlns:a="http://schemas.openxmlformats.org/drawingml/2006/main" w="6350">
            <a:solidFill>
              <a:srgbClr val="E5E7EB"/>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C57D963A-1608-4FB4-802E-46B40066E40C}"/>
              </a:ext>
            </a:extLst>
          </p:cNvPr>
          <p:cNvSpPr>
            <a:spLocks xmlns:a="http://schemas.openxmlformats.org/drawingml/2006/main" noGrp="1"/>
          </p:cNvSpPr>
          <p:nvPr/>
        </p:nvSpPr>
        <p:spPr>
          <a:xfrm xmlns:a="http://schemas.openxmlformats.org/drawingml/2006/main">
            <a:off x="457200" y="1645920"/>
            <a:ext cx="4069080" cy="457200"/>
          </a:xfrm>
          <a:prstGeom xmlns:a="http://schemas.openxmlformats.org/drawingml/2006/main" prst="rect">
            <a:avLst/>
          </a:prstGeom>
          <a:solidFill xmlns:a="http://schemas.openxmlformats.org/drawingml/2006/main">
            <a:srgbClr val="1E2761"/>
          </a:solidFill>
          <a:ln xmlns:a="http://schemas.openxmlformats.org/drawingml/2006/main" w="12700">
            <a:solidFill>
              <a:srgbClr val="1E2761"/>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7CCEB2A0-A136-44AD-8C4A-DF40CA5DFAD2}"/>
              </a:ext>
            </a:extLst>
          </p:cNvPr>
          <p:cNvSpPr>
            <a:spLocks xmlns:a="http://schemas.openxmlformats.org/drawingml/2006/main" noGrp="1"/>
          </p:cNvSpPr>
          <p:nvPr/>
        </p:nvSpPr>
        <p:spPr>
          <a:xfrm xmlns:a="http://schemas.openxmlformats.org/drawingml/2006/main">
            <a:off x="685800" y="1755648"/>
            <a:ext cx="32004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400">
                <a:solidFill>
                  <a:srgbClr val="C9A961"/>
                </a:solidFill>
                <a:latin typeface="Calibri"/>
                <a:ea typeface="Calibri"/>
                <a:cs typeface="Calibri"/>
              </a:rPr>
              <a:t>STANDARD COMPLETION</a:t>
            </a:r>
            <a:endParaRPr sz="1100"/>
          </a:p>
        </p:txBody>
      </p:sp>
      <p:sp>
        <p:nvSpPr>
          <p:cNvPr id="7" name="Text 5">
            <a:extLst xmlns:a="http://schemas.openxmlformats.org/drawingml/2006/main">
              <a:ext uri="{FF2B5EF4-FFF2-40B4-BE49-F238E27FC236}">
                <a16:creationId xmlns:a16="http://schemas.microsoft.com/office/drawing/2014/main" id="{494799D2-91DC-427C-8E92-799F8039F898}"/>
              </a:ext>
            </a:extLst>
          </p:cNvPr>
          <p:cNvSpPr>
            <a:spLocks xmlns:a="http://schemas.openxmlformats.org/drawingml/2006/main" noGrp="1"/>
          </p:cNvSpPr>
          <p:nvPr/>
        </p:nvSpPr>
        <p:spPr>
          <a:xfrm xmlns:a="http://schemas.openxmlformats.org/drawingml/2006/main">
            <a:off x="685800" y="2331720"/>
            <a:ext cx="3611880"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200" b="1">
                <a:solidFill>
                  <a:srgbClr val="1E2761"/>
                </a:solidFill>
                <a:latin typeface="Cambria"/>
                <a:ea typeface="Cambria"/>
                <a:cs typeface="Cambria"/>
              </a:rPr>
              <a:t>HR AI Practitioner</a:t>
            </a:r>
            <a:endParaRPr sz="2200"/>
          </a:p>
        </p:txBody>
      </p:sp>
      <p:sp>
        <p:nvSpPr>
          <p:cNvPr id="8" name="Text 6">
            <a:extLst xmlns:a="http://schemas.openxmlformats.org/drawingml/2006/main">
              <a:ext uri="{FF2B5EF4-FFF2-40B4-BE49-F238E27FC236}">
                <a16:creationId xmlns:a16="http://schemas.microsoft.com/office/drawing/2014/main" id="{187EEA34-4997-429A-8A2D-981EC720B664}"/>
              </a:ext>
            </a:extLst>
          </p:cNvPr>
          <p:cNvSpPr>
            <a:spLocks xmlns:a="http://schemas.openxmlformats.org/drawingml/2006/main" noGrp="1"/>
          </p:cNvSpPr>
          <p:nvPr/>
        </p:nvSpPr>
        <p:spPr>
          <a:xfrm xmlns:a="http://schemas.openxmlformats.org/drawingml/2006/main">
            <a:off x="685800" y="2880360"/>
            <a:ext cx="361188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a:solidFill>
                  <a:srgbClr val="1A1F3A"/>
                </a:solidFill>
                <a:latin typeface="Calibri"/>
                <a:ea typeface="Calibri"/>
                <a:cs typeface="Calibri"/>
              </a:rPr>
              <a:t>Optional acknowledgment after four modules and hands-on activities. Completion does not establish safe independent HR AI use.</a:t>
            </a:r>
            <a:endParaRPr sz="1300"/>
          </a:p>
        </p:txBody>
      </p:sp>
      <p:sp>
        <p:nvSpPr>
          <p:cNvPr id="9" name="Text 7">
            <a:extLst xmlns:a="http://schemas.openxmlformats.org/drawingml/2006/main">
              <a:ext uri="{FF2B5EF4-FFF2-40B4-BE49-F238E27FC236}">
                <a16:creationId xmlns:a16="http://schemas.microsoft.com/office/drawing/2014/main" id="{155A4D45-7389-44AA-A4B2-E2E839A54735}"/>
              </a:ext>
            </a:extLst>
          </p:cNvPr>
          <p:cNvSpPr>
            <a:spLocks xmlns:a="http://schemas.openxmlformats.org/drawingml/2006/main" noGrp="1"/>
          </p:cNvSpPr>
          <p:nvPr/>
        </p:nvSpPr>
        <p:spPr>
          <a:xfrm xmlns:a="http://schemas.openxmlformats.org/drawingml/2006/main">
            <a:off x="685800" y="3566160"/>
            <a:ext cx="36118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1E2761"/>
                </a:solidFill>
                <a:latin typeface="Calibri"/>
                <a:ea typeface="Calibri"/>
                <a:cs typeface="Calibri"/>
              </a:rPr>
              <a:t>Requirements:</a:t>
            </a:r>
            <a:endParaRPr sz="1100"/>
          </a:p>
        </p:txBody>
      </p:sp>
      <p:sp>
        <p:nvSpPr>
          <p:cNvPr id="10" name="Text 8">
            <a:extLst xmlns:a="http://schemas.openxmlformats.org/drawingml/2006/main">
              <a:ext uri="{FF2B5EF4-FFF2-40B4-BE49-F238E27FC236}">
                <a16:creationId xmlns:a16="http://schemas.microsoft.com/office/drawing/2014/main" id="{67E44A50-DABF-4A44-A939-C8619B597896}"/>
              </a:ext>
            </a:extLst>
          </p:cNvPr>
          <p:cNvSpPr>
            <a:spLocks xmlns:a="http://schemas.openxmlformats.org/drawingml/2006/main" noGrp="1"/>
          </p:cNvSpPr>
          <p:nvPr/>
        </p:nvSpPr>
        <p:spPr>
          <a:xfrm xmlns:a="http://schemas.openxmlformats.org/drawingml/2006/main">
            <a:off x="685800" y="3840480"/>
            <a:ext cx="361188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342900" indent="-342900">
              <a:spcAft>
                <a:spcPts val="200"/>
              </a:spcAft>
              <a:buSzPct val="100000"/>
              <a:buChar char="•"/>
            </a:pPr>
            <a:r>
              <a:rPr sz="1100">
                <a:solidFill>
                  <a:srgbClr val="1A1F3A"/>
                </a:solidFill>
                <a:latin typeface="Calibri"/>
                <a:ea typeface="Calibri"/>
                <a:cs typeface="Calibri"/>
              </a:rPr>
              <a:t>Attend all 4 modules</a:t>
            </a:r>
            <a:endParaRPr sz="1100"/>
          </a:p>
          <a:p xmlns:a="http://schemas.openxmlformats.org/drawingml/2006/main">
            <a:pPr marL="342900" indent="-342900">
              <a:spcAft>
                <a:spcPts val="200"/>
              </a:spcAft>
              <a:buSzPct val="100000"/>
              <a:buChar char="•"/>
            </a:pPr>
            <a:r>
              <a:rPr sz="1100">
                <a:solidFill>
                  <a:srgbClr val="1A1F3A"/>
                </a:solidFill>
                <a:latin typeface="Calibri"/>
                <a:ea typeface="Calibri"/>
                <a:cs typeface="Calibri"/>
              </a:rPr>
              <a:t>Complete Module 2 lab</a:t>
            </a:r>
            <a:endParaRPr sz="1100"/>
          </a:p>
          <a:p xmlns:a="http://schemas.openxmlformats.org/drawingml/2006/main">
            <a:pPr marL="342900" indent="-342900">
              <a:spcAft>
                <a:spcPts val="200"/>
              </a:spcAft>
              <a:buSzPct val="100000"/>
              <a:buChar char="•"/>
            </a:pPr>
            <a:r>
              <a:rPr sz="1100">
                <a:solidFill>
                  <a:srgbClr val="1A1F3A"/>
                </a:solidFill>
                <a:latin typeface="Calibri"/>
                <a:ea typeface="Calibri"/>
                <a:cs typeface="Calibri"/>
              </a:rPr>
              <a:t>Participate in Module 3 scenarios</a:t>
            </a:r>
            <a:endParaRPr sz="1100"/>
          </a:p>
        </p:txBody>
      </p:sp>
      <p:sp>
        <p:nvSpPr>
          <p:cNvPr id="11" name="Shape 9">
            <a:extLst xmlns:a="http://schemas.openxmlformats.org/drawingml/2006/main">
              <a:ext uri="{FF2B5EF4-FFF2-40B4-BE49-F238E27FC236}">
                <a16:creationId xmlns:a16="http://schemas.microsoft.com/office/drawing/2014/main" id="{9F678092-CEBB-44E6-80AD-F25789FBB5A2}"/>
              </a:ext>
            </a:extLst>
          </p:cNvPr>
          <p:cNvSpPr>
            <a:spLocks xmlns:a="http://schemas.openxmlformats.org/drawingml/2006/main" noGrp="1"/>
          </p:cNvSpPr>
          <p:nvPr/>
        </p:nvSpPr>
        <p:spPr>
          <a:xfrm xmlns:a="http://schemas.openxmlformats.org/drawingml/2006/main">
            <a:off x="4617720" y="1645920"/>
            <a:ext cx="4069080" cy="2926080"/>
          </a:xfrm>
          <a:prstGeom xmlns:a="http://schemas.openxmlformats.org/drawingml/2006/main" prst="rect">
            <a:avLst/>
          </a:prstGeom>
          <a:solidFill xmlns:a="http://schemas.openxmlformats.org/drawingml/2006/main">
            <a:srgbClr val="1E2761"/>
          </a:solidFill>
          <a:ln xmlns:a="http://schemas.openxmlformats.org/drawingml/2006/main" w="12700">
            <a:solidFill>
              <a:srgbClr val="1E2761"/>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Shape 10">
            <a:extLst xmlns:a="http://schemas.openxmlformats.org/drawingml/2006/main">
              <a:ext uri="{FF2B5EF4-FFF2-40B4-BE49-F238E27FC236}">
                <a16:creationId xmlns:a16="http://schemas.microsoft.com/office/drawing/2014/main" id="{50EDAF2C-69B9-4D6E-B0A9-A81229DDE256}"/>
              </a:ext>
            </a:extLst>
          </p:cNvPr>
          <p:cNvSpPr>
            <a:spLocks xmlns:a="http://schemas.openxmlformats.org/drawingml/2006/main" noGrp="1"/>
          </p:cNvSpPr>
          <p:nvPr/>
        </p:nvSpPr>
        <p:spPr>
          <a:xfrm xmlns:a="http://schemas.openxmlformats.org/drawingml/2006/main">
            <a:off x="4617720" y="1645920"/>
            <a:ext cx="4069080" cy="457200"/>
          </a:xfrm>
          <a:prstGeom xmlns:a="http://schemas.openxmlformats.org/drawingml/2006/main" prst="rect">
            <a:avLst/>
          </a:prstGeom>
          <a:solidFill xmlns:a="http://schemas.openxmlformats.org/drawingml/2006/main">
            <a:srgbClr val="C9A961"/>
          </a:solidFill>
          <a:ln xmlns:a="http://schemas.openxmlformats.org/drawingml/2006/main" w="12700">
            <a:solidFill>
              <a:srgbClr val="C9A961"/>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Text 11">
            <a:extLst xmlns:a="http://schemas.openxmlformats.org/drawingml/2006/main">
              <a:ext uri="{FF2B5EF4-FFF2-40B4-BE49-F238E27FC236}">
                <a16:creationId xmlns:a16="http://schemas.microsoft.com/office/drawing/2014/main" id="{83C6E7F2-0543-4BBF-96E4-4755C5AA5FA6}"/>
              </a:ext>
            </a:extLst>
          </p:cNvPr>
          <p:cNvSpPr>
            <a:spLocks xmlns:a="http://schemas.openxmlformats.org/drawingml/2006/main" noGrp="1"/>
          </p:cNvSpPr>
          <p:nvPr/>
        </p:nvSpPr>
        <p:spPr>
          <a:xfrm xmlns:a="http://schemas.openxmlformats.org/drawingml/2006/main">
            <a:off x="4846320" y="1755648"/>
            <a:ext cx="32004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400">
                <a:solidFill>
                  <a:srgbClr val="1E2761"/>
                </a:solidFill>
                <a:latin typeface="Calibri"/>
                <a:ea typeface="Calibri"/>
                <a:cs typeface="Calibri"/>
              </a:rPr>
              <a:t>OPTIONAL EXTENSION</a:t>
            </a:r>
            <a:endParaRPr sz="1100"/>
          </a:p>
        </p:txBody>
      </p:sp>
      <p:sp>
        <p:nvSpPr>
          <p:cNvPr id="14" name="Text 12">
            <a:extLst xmlns:a="http://schemas.openxmlformats.org/drawingml/2006/main">
              <a:ext uri="{FF2B5EF4-FFF2-40B4-BE49-F238E27FC236}">
                <a16:creationId xmlns:a16="http://schemas.microsoft.com/office/drawing/2014/main" id="{F57777F0-3C17-478D-9868-ABA4ED8EFD6C}"/>
              </a:ext>
            </a:extLst>
          </p:cNvPr>
          <p:cNvSpPr>
            <a:spLocks xmlns:a="http://schemas.openxmlformats.org/drawingml/2006/main" noGrp="1"/>
          </p:cNvSpPr>
          <p:nvPr/>
        </p:nvSpPr>
        <p:spPr>
          <a:xfrm xmlns:a="http://schemas.openxmlformats.org/drawingml/2006/main">
            <a:off x="4846320" y="2331720"/>
            <a:ext cx="3611880"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200" b="1">
                <a:solidFill>
                  <a:srgbClr val="FFFFFF"/>
                </a:solidFill>
                <a:latin typeface="Cambria"/>
                <a:ea typeface="Cambria"/>
                <a:cs typeface="Cambria"/>
              </a:rPr>
              <a:t>HR AI Champion</a:t>
            </a:r>
            <a:endParaRPr sz="2200"/>
          </a:p>
        </p:txBody>
      </p:sp>
      <p:sp>
        <p:nvSpPr>
          <p:cNvPr id="15" name="Text 13">
            <a:extLst xmlns:a="http://schemas.openxmlformats.org/drawingml/2006/main">
              <a:ext uri="{FF2B5EF4-FFF2-40B4-BE49-F238E27FC236}">
                <a16:creationId xmlns:a16="http://schemas.microsoft.com/office/drawing/2014/main" id="{D2501594-4D2A-4DA2-9E71-6752659BDCD2}"/>
              </a:ext>
            </a:extLst>
          </p:cNvPr>
          <p:cNvSpPr>
            <a:spLocks xmlns:a="http://schemas.openxmlformats.org/drawingml/2006/main" noGrp="1"/>
          </p:cNvSpPr>
          <p:nvPr/>
        </p:nvSpPr>
        <p:spPr>
          <a:xfrm xmlns:a="http://schemas.openxmlformats.org/drawingml/2006/main">
            <a:off x="4846320" y="2880360"/>
            <a:ext cx="361188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a:solidFill>
                  <a:srgbClr val="CADCFC"/>
                </a:solidFill>
                <a:latin typeface="Calibri"/>
                <a:ea typeface="Calibri"/>
                <a:cs typeface="Calibri"/>
              </a:rPr>
              <a:t>A proposed informal internal designation for peer enablement. It requires an accountable program owner.</a:t>
            </a:r>
            <a:endParaRPr sz="1300"/>
          </a:p>
        </p:txBody>
      </p:sp>
      <p:sp>
        <p:nvSpPr>
          <p:cNvPr id="16" name="Text 14">
            <a:extLst xmlns:a="http://schemas.openxmlformats.org/drawingml/2006/main">
              <a:ext uri="{FF2B5EF4-FFF2-40B4-BE49-F238E27FC236}">
                <a16:creationId xmlns:a16="http://schemas.microsoft.com/office/drawing/2014/main" id="{BB9DB3BA-5A7C-4D2D-AEB6-D71D5A791982}"/>
              </a:ext>
            </a:extLst>
          </p:cNvPr>
          <p:cNvSpPr>
            <a:spLocks xmlns:a="http://schemas.openxmlformats.org/drawingml/2006/main" noGrp="1"/>
          </p:cNvSpPr>
          <p:nvPr/>
        </p:nvSpPr>
        <p:spPr>
          <a:xfrm xmlns:a="http://schemas.openxmlformats.org/drawingml/2006/main">
            <a:off x="4846320" y="3566160"/>
            <a:ext cx="36118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C9A961"/>
                </a:solidFill>
                <a:latin typeface="Calibri"/>
                <a:ea typeface="Calibri"/>
                <a:cs typeface="Calibri"/>
              </a:rPr>
              <a:t>Additional requirement:</a:t>
            </a:r>
            <a:endParaRPr sz="1100"/>
          </a:p>
        </p:txBody>
      </p:sp>
      <p:sp>
        <p:nvSpPr>
          <p:cNvPr id="17" name="Text 15">
            <a:extLst xmlns:a="http://schemas.openxmlformats.org/drawingml/2006/main">
              <a:ext uri="{FF2B5EF4-FFF2-40B4-BE49-F238E27FC236}">
                <a16:creationId xmlns:a16="http://schemas.microsoft.com/office/drawing/2014/main" id="{992C42E0-5F66-409A-8E89-6E3C5AC028AA}"/>
              </a:ext>
            </a:extLst>
          </p:cNvPr>
          <p:cNvSpPr>
            <a:spLocks xmlns:a="http://schemas.openxmlformats.org/drawingml/2006/main" noGrp="1"/>
          </p:cNvSpPr>
          <p:nvPr/>
        </p:nvSpPr>
        <p:spPr>
          <a:xfrm xmlns:a="http://schemas.openxmlformats.org/drawingml/2006/main">
            <a:off x="4846320" y="3840480"/>
            <a:ext cx="361188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a:solidFill>
                  <a:srgbClr val="CADCFC"/>
                </a:solidFill>
                <a:latin typeface="Calibri"/>
                <a:ea typeface="Calibri"/>
                <a:cs typeface="Calibri"/>
              </a:rPr>
              <a:t>Complete a full use case spec and present it to the HR Technology team.</a:t>
            </a:r>
            <a:endParaRPr sz="1100"/>
          </a:p>
        </p:txBody>
      </p:sp>
      <p:sp>
        <p:nvSpPr>
          <p:cNvPr id="18" name="Text 16">
            <a:extLst xmlns:a="http://schemas.openxmlformats.org/drawingml/2006/main">
              <a:ext uri="{FF2B5EF4-FFF2-40B4-BE49-F238E27FC236}">
                <a16:creationId xmlns:a16="http://schemas.microsoft.com/office/drawing/2014/main" id="{31889180-A177-4756-B76D-5B5562AF615A}"/>
              </a:ext>
            </a:extLst>
          </p:cNvPr>
          <p:cNvSpPr>
            <a:spLocks xmlns:a="http://schemas.openxmlformats.org/drawingml/2006/main" noGrp="1"/>
          </p:cNvSpPr>
          <p:nvPr/>
        </p:nvSpPr>
        <p:spPr>
          <a:xfrm xmlns:a="http://schemas.openxmlformats.org/drawingml/2006/main">
            <a:off x="457200" y="4846320"/>
            <a:ext cx="45720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HR AI Literacy Curriculum</a:t>
            </a:r>
            <a:endParaRPr sz="900"/>
          </a:p>
        </p:txBody>
      </p:sp>
      <p:sp>
        <p:nvSpPr>
          <p:cNvPr id="19" name="Text 17">
            <a:extLst xmlns:a="http://schemas.openxmlformats.org/drawingml/2006/main">
              <a:ext uri="{FF2B5EF4-FFF2-40B4-BE49-F238E27FC236}">
                <a16:creationId xmlns:a16="http://schemas.microsoft.com/office/drawing/2014/main" id="{51BCF00F-24E8-403D-935B-8EE50FFFE797}"/>
              </a:ext>
            </a:extLst>
          </p:cNvPr>
          <p:cNvSpPr>
            <a:spLocks xmlns:a="http://schemas.openxmlformats.org/drawingml/2006/main" noGrp="1"/>
          </p:cNvSpPr>
          <p:nvPr/>
        </p:nvSpPr>
        <p:spPr>
          <a:xfrm xmlns:a="http://schemas.openxmlformats.org/drawingml/2006/main">
            <a:off x="8412480" y="4846320"/>
            <a:ext cx="4572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6B7280"/>
                </a:solidFill>
                <a:latin typeface="Calibri"/>
                <a:ea typeface="Calibri"/>
                <a:cs typeface="Calibri"/>
              </a:rPr>
              <a:t>21</a:t>
            </a:r>
            <a:endParaRPr sz="900"/>
          </a:p>
        </p:txBody>
      </p:sp>
    </p:spTree>
    <p:extLst>
      <p:ext uri="{BB962C8B-B14F-4D97-AF65-F5344CB8AC3E}">
        <p14:creationId xmlns:p14="http://schemas.microsoft.com/office/powerpoint/2010/main" val="34003702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694E780-5E4E-41EE-B941-E0A71276EB6C}"/>
              </a:ext>
            </a:extLst>
          </p:cNvPr>
          <p:cNvSpPr>
            <a:spLocks xmlns:a="http://schemas.openxmlformats.org/drawingml/2006/main" noGrp="1"/>
          </p:cNvSpPr>
          <p:nvPr/>
        </p:nvSpPr>
        <p:spPr>
          <a:xfrm xmlns:a="http://schemas.openxmlformats.org/drawingml/2006/main">
            <a:off x="457200" y="365760"/>
            <a:ext cx="822960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200" b="1">
                <a:solidFill>
                  <a:srgbClr val="1E2761"/>
                </a:solidFill>
                <a:latin typeface="Cambria"/>
                <a:ea typeface="Cambria"/>
                <a:cs typeface="Cambria"/>
              </a:rPr>
              <a:t>Facilitator notes</a:t>
            </a:r>
            <a:endParaRPr sz="3200"/>
          </a:p>
        </p:txBody>
      </p:sp>
      <p:sp>
        <p:nvSpPr>
          <p:cNvPr id="3" name="Text 1">
            <a:extLst xmlns:a="http://schemas.openxmlformats.org/drawingml/2006/main">
              <a:ext uri="{FF2B5EF4-FFF2-40B4-BE49-F238E27FC236}">
                <a16:creationId xmlns:a16="http://schemas.microsoft.com/office/drawing/2014/main" id="{BA225ED5-A9DC-4EED-A420-2D810C51FA3A}"/>
              </a:ext>
            </a:extLst>
          </p:cNvPr>
          <p:cNvSpPr>
            <a:spLocks xmlns:a="http://schemas.openxmlformats.org/drawingml/2006/main" noGrp="1"/>
          </p:cNvSpPr>
          <p:nvPr/>
        </p:nvSpPr>
        <p:spPr>
          <a:xfrm xmlns:a="http://schemas.openxmlformats.org/drawingml/2006/main">
            <a:off x="457200" y="960120"/>
            <a:ext cx="82296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i="1">
                <a:solidFill>
                  <a:srgbClr val="6B7280"/>
                </a:solidFill>
                <a:latin typeface="Calibri"/>
                <a:ea typeface="Calibri"/>
                <a:cs typeface="Calibri"/>
              </a:rPr>
              <a:t>Proposed delivery guidance. Effectiveness and adoption still need evaluation.</a:t>
            </a:r>
            <a:endParaRPr sz="1400"/>
          </a:p>
        </p:txBody>
      </p:sp>
      <p:sp>
        <p:nvSpPr>
          <p:cNvPr id="4" name="Shape 2">
            <a:extLst xmlns:a="http://schemas.openxmlformats.org/drawingml/2006/main">
              <a:ext uri="{FF2B5EF4-FFF2-40B4-BE49-F238E27FC236}">
                <a16:creationId xmlns:a16="http://schemas.microsoft.com/office/drawing/2014/main" id="{6D1CC4FD-1189-4B97-86A2-166642E0E80A}"/>
              </a:ext>
            </a:extLst>
          </p:cNvPr>
          <p:cNvSpPr>
            <a:spLocks xmlns:a="http://schemas.openxmlformats.org/drawingml/2006/main" noGrp="1"/>
          </p:cNvSpPr>
          <p:nvPr/>
        </p:nvSpPr>
        <p:spPr>
          <a:xfrm xmlns:a="http://schemas.openxmlformats.org/drawingml/2006/main">
            <a:off x="457200" y="1691640"/>
            <a:ext cx="2103120" cy="640080"/>
          </a:xfrm>
          <a:prstGeom xmlns:a="http://schemas.openxmlformats.org/drawingml/2006/main" prst="rect">
            <a:avLst/>
          </a:prstGeom>
          <a:solidFill xmlns:a="http://schemas.openxmlformats.org/drawingml/2006/main">
            <a:srgbClr val="1E2761"/>
          </a:solidFill>
          <a:ln xmlns:a="http://schemas.openxmlformats.org/drawingml/2006/main" w="12700">
            <a:solidFill>
              <a:srgbClr val="1E2761"/>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3">
            <a:extLst xmlns:a="http://schemas.openxmlformats.org/drawingml/2006/main">
              <a:ext uri="{FF2B5EF4-FFF2-40B4-BE49-F238E27FC236}">
                <a16:creationId xmlns:a16="http://schemas.microsoft.com/office/drawing/2014/main" id="{FB477CA9-FA97-4C60-BBC9-FCE076559B84}"/>
              </a:ext>
            </a:extLst>
          </p:cNvPr>
          <p:cNvSpPr>
            <a:spLocks xmlns:a="http://schemas.openxmlformats.org/drawingml/2006/main" noGrp="1"/>
          </p:cNvSpPr>
          <p:nvPr/>
        </p:nvSpPr>
        <p:spPr>
          <a:xfrm xmlns:a="http://schemas.openxmlformats.org/drawingml/2006/main">
            <a:off x="548640" y="1874520"/>
            <a:ext cx="19202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300">
                <a:solidFill>
                  <a:srgbClr val="C9A961"/>
                </a:solidFill>
                <a:latin typeface="Calibri"/>
                <a:ea typeface="Calibri"/>
                <a:cs typeface="Calibri"/>
              </a:rPr>
              <a:t>MODULE 3</a:t>
            </a:r>
            <a:endParaRPr sz="1100"/>
          </a:p>
        </p:txBody>
      </p:sp>
      <p:sp>
        <p:nvSpPr>
          <p:cNvPr id="6" name="Shape 4">
            <a:extLst xmlns:a="http://schemas.openxmlformats.org/drawingml/2006/main">
              <a:ext uri="{FF2B5EF4-FFF2-40B4-BE49-F238E27FC236}">
                <a16:creationId xmlns:a16="http://schemas.microsoft.com/office/drawing/2014/main" id="{F716C74B-D958-45F7-AE98-7B276DF88792}"/>
              </a:ext>
            </a:extLst>
          </p:cNvPr>
          <p:cNvSpPr>
            <a:spLocks xmlns:a="http://schemas.openxmlformats.org/drawingml/2006/main" noGrp="1"/>
          </p:cNvSpPr>
          <p:nvPr/>
        </p:nvSpPr>
        <p:spPr>
          <a:xfrm xmlns:a="http://schemas.openxmlformats.org/drawingml/2006/main">
            <a:off x="2560320" y="1691640"/>
            <a:ext cx="6126480" cy="640080"/>
          </a:xfrm>
          <a:prstGeom xmlns:a="http://schemas.openxmlformats.org/drawingml/2006/main" prst="rect">
            <a:avLst/>
          </a:prstGeom>
          <a:solidFill xmlns:a="http://schemas.openxmlformats.org/drawingml/2006/main">
            <a:srgbClr val="F5F7FB"/>
          </a:solidFill>
          <a:ln xmlns:a="http://schemas.openxmlformats.org/drawingml/2006/main" w="6350">
            <a:solidFill>
              <a:srgbClr val="E5E7EB"/>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Text 5">
            <a:extLst xmlns:a="http://schemas.openxmlformats.org/drawingml/2006/main">
              <a:ext uri="{FF2B5EF4-FFF2-40B4-BE49-F238E27FC236}">
                <a16:creationId xmlns:a16="http://schemas.microsoft.com/office/drawing/2014/main" id="{D60B4205-162F-484B-B9E0-B4478C9459EB}"/>
              </a:ext>
            </a:extLst>
          </p:cNvPr>
          <p:cNvSpPr>
            <a:spLocks xmlns:a="http://schemas.openxmlformats.org/drawingml/2006/main" noGrp="1"/>
          </p:cNvSpPr>
          <p:nvPr/>
        </p:nvSpPr>
        <p:spPr>
          <a:xfrm xmlns:a="http://schemas.openxmlformats.org/drawingml/2006/main">
            <a:off x="2743200" y="1856232"/>
            <a:ext cx="5852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A1F3A"/>
                </a:solidFill>
                <a:latin typeface="Calibri"/>
                <a:ea typeface="Calibri"/>
                <a:cs typeface="Calibri"/>
              </a:rPr>
              <a:t>Allow time for risk discussion and different perspectives. Governance approvals precede real-work pilots.</a:t>
            </a:r>
            <a:endParaRPr sz="1200"/>
          </a:p>
        </p:txBody>
      </p:sp>
      <p:sp>
        <p:nvSpPr>
          <p:cNvPr id="8" name="Shape 6">
            <a:extLst xmlns:a="http://schemas.openxmlformats.org/drawingml/2006/main">
              <a:ext uri="{FF2B5EF4-FFF2-40B4-BE49-F238E27FC236}">
                <a16:creationId xmlns:a16="http://schemas.microsoft.com/office/drawing/2014/main" id="{A4F9D792-7CF7-4C03-80B7-17E0538D10E0}"/>
              </a:ext>
            </a:extLst>
          </p:cNvPr>
          <p:cNvSpPr>
            <a:spLocks xmlns:a="http://schemas.openxmlformats.org/drawingml/2006/main" noGrp="1"/>
          </p:cNvSpPr>
          <p:nvPr/>
        </p:nvSpPr>
        <p:spPr>
          <a:xfrm xmlns:a="http://schemas.openxmlformats.org/drawingml/2006/main">
            <a:off x="457200" y="2404872"/>
            <a:ext cx="2103120" cy="640080"/>
          </a:xfrm>
          <a:prstGeom xmlns:a="http://schemas.openxmlformats.org/drawingml/2006/main" prst="rect">
            <a:avLst/>
          </a:prstGeom>
          <a:solidFill xmlns:a="http://schemas.openxmlformats.org/drawingml/2006/main">
            <a:srgbClr val="1E2761"/>
          </a:solidFill>
          <a:ln xmlns:a="http://schemas.openxmlformats.org/drawingml/2006/main" w="12700">
            <a:solidFill>
              <a:srgbClr val="1E2761"/>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Text 7">
            <a:extLst xmlns:a="http://schemas.openxmlformats.org/drawingml/2006/main">
              <a:ext uri="{FF2B5EF4-FFF2-40B4-BE49-F238E27FC236}">
                <a16:creationId xmlns:a16="http://schemas.microsoft.com/office/drawing/2014/main" id="{2E5B89DB-A3ED-4A54-B28C-C0A6EC049246}"/>
              </a:ext>
            </a:extLst>
          </p:cNvPr>
          <p:cNvSpPr>
            <a:spLocks xmlns:a="http://schemas.openxmlformats.org/drawingml/2006/main" noGrp="1"/>
          </p:cNvSpPr>
          <p:nvPr/>
        </p:nvSpPr>
        <p:spPr>
          <a:xfrm xmlns:a="http://schemas.openxmlformats.org/drawingml/2006/main">
            <a:off x="548640" y="2587752"/>
            <a:ext cx="19202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300">
                <a:solidFill>
                  <a:srgbClr val="C9A961"/>
                </a:solidFill>
                <a:latin typeface="Calibri"/>
                <a:ea typeface="Calibri"/>
                <a:cs typeface="Calibri"/>
              </a:rPr>
              <a:t>MODULE 2 LAB</a:t>
            </a:r>
            <a:endParaRPr sz="1100"/>
          </a:p>
        </p:txBody>
      </p:sp>
      <p:sp>
        <p:nvSpPr>
          <p:cNvPr id="10" name="Shape 8">
            <a:extLst xmlns:a="http://schemas.openxmlformats.org/drawingml/2006/main">
              <a:ext uri="{FF2B5EF4-FFF2-40B4-BE49-F238E27FC236}">
                <a16:creationId xmlns:a16="http://schemas.microsoft.com/office/drawing/2014/main" id="{DBD49C03-A15D-4F00-9608-02EC6895A8C9}"/>
              </a:ext>
            </a:extLst>
          </p:cNvPr>
          <p:cNvSpPr>
            <a:spLocks xmlns:a="http://schemas.openxmlformats.org/drawingml/2006/main" noGrp="1"/>
          </p:cNvSpPr>
          <p:nvPr/>
        </p:nvSpPr>
        <p:spPr>
          <a:xfrm xmlns:a="http://schemas.openxmlformats.org/drawingml/2006/main">
            <a:off x="2560320" y="2404872"/>
            <a:ext cx="6126480" cy="640080"/>
          </a:xfrm>
          <a:prstGeom xmlns:a="http://schemas.openxmlformats.org/drawingml/2006/main" prst="rect">
            <a:avLst/>
          </a:prstGeom>
          <a:solidFill xmlns:a="http://schemas.openxmlformats.org/drawingml/2006/main">
            <a:srgbClr val="F5F7FB"/>
          </a:solidFill>
          <a:ln xmlns:a="http://schemas.openxmlformats.org/drawingml/2006/main" w="6350">
            <a:solidFill>
              <a:srgbClr val="E5E7EB"/>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36884A97-2B57-4E50-BA04-AB0A70372865}"/>
              </a:ext>
            </a:extLst>
          </p:cNvPr>
          <p:cNvSpPr>
            <a:spLocks xmlns:a="http://schemas.openxmlformats.org/drawingml/2006/main" noGrp="1"/>
          </p:cNvSpPr>
          <p:nvPr/>
        </p:nvSpPr>
        <p:spPr>
          <a:xfrm xmlns:a="http://schemas.openxmlformats.org/drawingml/2006/main">
            <a:off x="2743200" y="2569464"/>
            <a:ext cx="5852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A1F3A"/>
                </a:solidFill>
                <a:latin typeface="Calibri"/>
                <a:ea typeface="Calibri"/>
                <a:cs typeface="Calibri"/>
              </a:rPr>
              <a:t>Protect hands-on practice time. Evaluate errors, review effort and learning rather than assuming the lab is effective.</a:t>
            </a:r>
            <a:endParaRPr sz="1200"/>
          </a:p>
        </p:txBody>
      </p:sp>
      <p:sp>
        <p:nvSpPr>
          <p:cNvPr id="12" name="Shape 10">
            <a:extLst xmlns:a="http://schemas.openxmlformats.org/drawingml/2006/main">
              <a:ext uri="{FF2B5EF4-FFF2-40B4-BE49-F238E27FC236}">
                <a16:creationId xmlns:a16="http://schemas.microsoft.com/office/drawing/2014/main" id="{FD171620-E26A-49B3-BE41-661FC3F4088E}"/>
              </a:ext>
            </a:extLst>
          </p:cNvPr>
          <p:cNvSpPr>
            <a:spLocks xmlns:a="http://schemas.openxmlformats.org/drawingml/2006/main" noGrp="1"/>
          </p:cNvSpPr>
          <p:nvPr/>
        </p:nvSpPr>
        <p:spPr>
          <a:xfrm xmlns:a="http://schemas.openxmlformats.org/drawingml/2006/main">
            <a:off x="457200" y="3118104"/>
            <a:ext cx="2103120" cy="640080"/>
          </a:xfrm>
          <a:prstGeom xmlns:a="http://schemas.openxmlformats.org/drawingml/2006/main" prst="rect">
            <a:avLst/>
          </a:prstGeom>
          <a:solidFill xmlns:a="http://schemas.openxmlformats.org/drawingml/2006/main">
            <a:srgbClr val="1E2761"/>
          </a:solidFill>
          <a:ln xmlns:a="http://schemas.openxmlformats.org/drawingml/2006/main" w="12700">
            <a:solidFill>
              <a:srgbClr val="1E2761"/>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Text 11">
            <a:extLst xmlns:a="http://schemas.openxmlformats.org/drawingml/2006/main">
              <a:ext uri="{FF2B5EF4-FFF2-40B4-BE49-F238E27FC236}">
                <a16:creationId xmlns:a16="http://schemas.microsoft.com/office/drawing/2014/main" id="{7B435664-468F-4CED-B584-C4944296017F}"/>
              </a:ext>
            </a:extLst>
          </p:cNvPr>
          <p:cNvSpPr>
            <a:spLocks xmlns:a="http://schemas.openxmlformats.org/drawingml/2006/main" noGrp="1"/>
          </p:cNvSpPr>
          <p:nvPr/>
        </p:nvSpPr>
        <p:spPr>
          <a:xfrm xmlns:a="http://schemas.openxmlformats.org/drawingml/2006/main">
            <a:off x="548640" y="3300984"/>
            <a:ext cx="19202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300">
                <a:solidFill>
                  <a:srgbClr val="C9A961"/>
                </a:solidFill>
                <a:latin typeface="Calibri"/>
                <a:ea typeface="Calibri"/>
                <a:cs typeface="Calibri"/>
              </a:rPr>
              <a:t>CASE STUDIES</a:t>
            </a:r>
            <a:endParaRPr sz="1100"/>
          </a:p>
        </p:txBody>
      </p:sp>
      <p:sp>
        <p:nvSpPr>
          <p:cNvPr id="14" name="Shape 12">
            <a:extLst xmlns:a="http://schemas.openxmlformats.org/drawingml/2006/main">
              <a:ext uri="{FF2B5EF4-FFF2-40B4-BE49-F238E27FC236}">
                <a16:creationId xmlns:a16="http://schemas.microsoft.com/office/drawing/2014/main" id="{1A3B5B96-2256-406C-A024-751BF2E6BFF7}"/>
              </a:ext>
            </a:extLst>
          </p:cNvPr>
          <p:cNvSpPr>
            <a:spLocks xmlns:a="http://schemas.openxmlformats.org/drawingml/2006/main" noGrp="1"/>
          </p:cNvSpPr>
          <p:nvPr/>
        </p:nvSpPr>
        <p:spPr>
          <a:xfrm xmlns:a="http://schemas.openxmlformats.org/drawingml/2006/main">
            <a:off x="2560320" y="3118104"/>
            <a:ext cx="6126480" cy="640080"/>
          </a:xfrm>
          <a:prstGeom xmlns:a="http://schemas.openxmlformats.org/drawingml/2006/main" prst="rect">
            <a:avLst/>
          </a:prstGeom>
          <a:solidFill xmlns:a="http://schemas.openxmlformats.org/drawingml/2006/main">
            <a:srgbClr val="F5F7FB"/>
          </a:solidFill>
          <a:ln xmlns:a="http://schemas.openxmlformats.org/drawingml/2006/main" w="6350">
            <a:solidFill>
              <a:srgbClr val="E5E7EB"/>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Text 13">
            <a:extLst xmlns:a="http://schemas.openxmlformats.org/drawingml/2006/main">
              <a:ext uri="{FF2B5EF4-FFF2-40B4-BE49-F238E27FC236}">
                <a16:creationId xmlns:a16="http://schemas.microsoft.com/office/drawing/2014/main" id="{CE2E0EB8-99B6-47F6-95D4-E830C2A8E412}"/>
              </a:ext>
            </a:extLst>
          </p:cNvPr>
          <p:cNvSpPr>
            <a:spLocks xmlns:a="http://schemas.openxmlformats.org/drawingml/2006/main" noGrp="1"/>
          </p:cNvSpPr>
          <p:nvPr/>
        </p:nvSpPr>
        <p:spPr>
          <a:xfrm xmlns:a="http://schemas.openxmlformats.org/drawingml/2006/main">
            <a:off x="2743200" y="3282696"/>
            <a:ext cx="5852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A1F3A"/>
                </a:solidFill>
                <a:latin typeface="Calibri"/>
                <a:ea typeface="Calibri"/>
                <a:cs typeface="Calibri"/>
              </a:rPr>
              <a:t>Adapt fictional scenarios to relevant HR workflows. Do not use identifiable employee or confidential employer information.</a:t>
            </a:r>
            <a:endParaRPr sz="1200"/>
          </a:p>
        </p:txBody>
      </p:sp>
      <p:sp>
        <p:nvSpPr>
          <p:cNvPr id="16" name="Shape 14">
            <a:extLst xmlns:a="http://schemas.openxmlformats.org/drawingml/2006/main">
              <a:ext uri="{FF2B5EF4-FFF2-40B4-BE49-F238E27FC236}">
                <a16:creationId xmlns:a16="http://schemas.microsoft.com/office/drawing/2014/main" id="{30F77709-90C6-45FA-9148-94355EAB9525}"/>
              </a:ext>
            </a:extLst>
          </p:cNvPr>
          <p:cNvSpPr>
            <a:spLocks xmlns:a="http://schemas.openxmlformats.org/drawingml/2006/main" noGrp="1"/>
          </p:cNvSpPr>
          <p:nvPr/>
        </p:nvSpPr>
        <p:spPr>
          <a:xfrm xmlns:a="http://schemas.openxmlformats.org/drawingml/2006/main">
            <a:off x="457200" y="3831336"/>
            <a:ext cx="2103120" cy="640080"/>
          </a:xfrm>
          <a:prstGeom xmlns:a="http://schemas.openxmlformats.org/drawingml/2006/main" prst="rect">
            <a:avLst/>
          </a:prstGeom>
          <a:solidFill xmlns:a="http://schemas.openxmlformats.org/drawingml/2006/main">
            <a:srgbClr val="1E2761"/>
          </a:solidFill>
          <a:ln xmlns:a="http://schemas.openxmlformats.org/drawingml/2006/main" w="12700">
            <a:solidFill>
              <a:srgbClr val="1E2761"/>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D0F464F3-6248-4B71-B545-1FCE6360025F}"/>
              </a:ext>
            </a:extLst>
          </p:cNvPr>
          <p:cNvSpPr>
            <a:spLocks xmlns:a="http://schemas.openxmlformats.org/drawingml/2006/main" noGrp="1"/>
          </p:cNvSpPr>
          <p:nvPr/>
        </p:nvSpPr>
        <p:spPr>
          <a:xfrm xmlns:a="http://schemas.openxmlformats.org/drawingml/2006/main">
            <a:off x="548640" y="4014216"/>
            <a:ext cx="19202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300">
                <a:solidFill>
                  <a:srgbClr val="C9A961"/>
                </a:solidFill>
                <a:latin typeface="Calibri"/>
                <a:ea typeface="Calibri"/>
                <a:cs typeface="Calibri"/>
              </a:rPr>
              <a:t>FACILITATION</a:t>
            </a:r>
            <a:endParaRPr sz="1100"/>
          </a:p>
        </p:txBody>
      </p:sp>
      <p:sp>
        <p:nvSpPr>
          <p:cNvPr id="18" name="Shape 16">
            <a:extLst xmlns:a="http://schemas.openxmlformats.org/drawingml/2006/main">
              <a:ext uri="{FF2B5EF4-FFF2-40B4-BE49-F238E27FC236}">
                <a16:creationId xmlns:a16="http://schemas.microsoft.com/office/drawing/2014/main" id="{938E1A70-8948-4302-BF9F-F0A2A11CF274}"/>
              </a:ext>
            </a:extLst>
          </p:cNvPr>
          <p:cNvSpPr>
            <a:spLocks xmlns:a="http://schemas.openxmlformats.org/drawingml/2006/main" noGrp="1"/>
          </p:cNvSpPr>
          <p:nvPr/>
        </p:nvSpPr>
        <p:spPr>
          <a:xfrm xmlns:a="http://schemas.openxmlformats.org/drawingml/2006/main">
            <a:off x="2560320" y="3831336"/>
            <a:ext cx="6126480" cy="640080"/>
          </a:xfrm>
          <a:prstGeom xmlns:a="http://schemas.openxmlformats.org/drawingml/2006/main" prst="rect">
            <a:avLst/>
          </a:prstGeom>
          <a:solidFill xmlns:a="http://schemas.openxmlformats.org/drawingml/2006/main">
            <a:srgbClr val="F5F7FB"/>
          </a:solidFill>
          <a:ln xmlns:a="http://schemas.openxmlformats.org/drawingml/2006/main" w="6350">
            <a:solidFill>
              <a:srgbClr val="E5E7EB"/>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Text 17">
            <a:extLst xmlns:a="http://schemas.openxmlformats.org/drawingml/2006/main">
              <a:ext uri="{FF2B5EF4-FFF2-40B4-BE49-F238E27FC236}">
                <a16:creationId xmlns:a16="http://schemas.microsoft.com/office/drawing/2014/main" id="{8AC24925-52F5-491A-866C-CC60ADE539B7}"/>
              </a:ext>
            </a:extLst>
          </p:cNvPr>
          <p:cNvSpPr>
            <a:spLocks xmlns:a="http://schemas.openxmlformats.org/drawingml/2006/main" noGrp="1"/>
          </p:cNvSpPr>
          <p:nvPr/>
        </p:nvSpPr>
        <p:spPr>
          <a:xfrm xmlns:a="http://schemas.openxmlformats.org/drawingml/2006/main">
            <a:off x="2743200" y="3995928"/>
            <a:ext cx="5852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A1F3A"/>
                </a:solidFill>
                <a:latin typeface="Calibri"/>
                <a:ea typeface="Calibri"/>
                <a:cs typeface="Calibri"/>
              </a:rPr>
              <a:t>Invite a range of views. Track adoption barriers, reviewer burden and evidence for expanding, pausing or stopping.</a:t>
            </a:r>
            <a:endParaRPr sz="1200"/>
          </a:p>
        </p:txBody>
      </p:sp>
      <p:sp>
        <p:nvSpPr>
          <p:cNvPr id="20" name="Text 18">
            <a:extLst xmlns:a="http://schemas.openxmlformats.org/drawingml/2006/main">
              <a:ext uri="{FF2B5EF4-FFF2-40B4-BE49-F238E27FC236}">
                <a16:creationId xmlns:a16="http://schemas.microsoft.com/office/drawing/2014/main" id="{16DB8419-19F7-4C83-83D8-49CA1355DE86}"/>
              </a:ext>
            </a:extLst>
          </p:cNvPr>
          <p:cNvSpPr>
            <a:spLocks xmlns:a="http://schemas.openxmlformats.org/drawingml/2006/main" noGrp="1"/>
          </p:cNvSpPr>
          <p:nvPr/>
        </p:nvSpPr>
        <p:spPr>
          <a:xfrm xmlns:a="http://schemas.openxmlformats.org/drawingml/2006/main">
            <a:off x="457200" y="4846320"/>
            <a:ext cx="45720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HR AI Literacy Curriculum</a:t>
            </a:r>
            <a:endParaRPr sz="900"/>
          </a:p>
        </p:txBody>
      </p:sp>
      <p:sp>
        <p:nvSpPr>
          <p:cNvPr id="21" name="Text 19">
            <a:extLst xmlns:a="http://schemas.openxmlformats.org/drawingml/2006/main">
              <a:ext uri="{FF2B5EF4-FFF2-40B4-BE49-F238E27FC236}">
                <a16:creationId xmlns:a16="http://schemas.microsoft.com/office/drawing/2014/main" id="{D07367A7-626E-490C-8145-DFCF80435829}"/>
              </a:ext>
            </a:extLst>
          </p:cNvPr>
          <p:cNvSpPr>
            <a:spLocks xmlns:a="http://schemas.openxmlformats.org/drawingml/2006/main" noGrp="1"/>
          </p:cNvSpPr>
          <p:nvPr/>
        </p:nvSpPr>
        <p:spPr>
          <a:xfrm xmlns:a="http://schemas.openxmlformats.org/drawingml/2006/main">
            <a:off x="8412480" y="4846320"/>
            <a:ext cx="4572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6B7280"/>
                </a:solidFill>
                <a:latin typeface="Calibri"/>
                <a:ea typeface="Calibri"/>
                <a:cs typeface="Calibri"/>
              </a:rPr>
              <a:t>22</a:t>
            </a:r>
            <a:endParaRPr sz="900"/>
          </a:p>
        </p:txBody>
      </p:sp>
    </p:spTree>
    <p:extLst>
      <p:ext uri="{BB962C8B-B14F-4D97-AF65-F5344CB8AC3E}">
        <p14:creationId xmlns:p14="http://schemas.microsoft.com/office/powerpoint/2010/main" val="330735750"/>
      </p:ext>
    </p:extLst>
  </p:cSld>
</p:sld>
</file>

<file path=ppt/slides/slide23.xml><?xml version="1.0" encoding="utf-8"?>
<p:sld xmlns:p="http://schemas.openxmlformats.org/presentationml/2006/main">
  <p:cSld>
    <p:bg>
      <p:bgPr>
        <a:solidFill xmlns:a="http://schemas.openxmlformats.org/drawingml/2006/main">
          <a:srgbClr val="1E2761"/>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542D207-7939-4302-9697-1C406737D955}"/>
              </a:ext>
            </a:extLst>
          </p:cNvPr>
          <p:cNvSpPr>
            <a:spLocks xmlns:a="http://schemas.openxmlformats.org/drawingml/2006/main" noGrp="1"/>
          </p:cNvSpPr>
          <p:nvPr/>
        </p:nvSpPr>
        <p:spPr>
          <a:xfrm xmlns:a="http://schemas.openxmlformats.org/drawingml/2006/main">
            <a:off x="0" y="0"/>
            <a:ext cx="137160" cy="5143500"/>
          </a:xfrm>
          <a:prstGeom xmlns:a="http://schemas.openxmlformats.org/drawingml/2006/main" prst="rect">
            <a:avLst/>
          </a:prstGeom>
          <a:solidFill xmlns:a="http://schemas.openxmlformats.org/drawingml/2006/main">
            <a:srgbClr val="C9A961"/>
          </a:solidFill>
          <a:ln xmlns:a="http://schemas.openxmlformats.org/drawingml/2006/main" w="12700">
            <a:solidFill>
              <a:srgbClr val="C9A961"/>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1733A7DF-D3AD-4148-BE43-98F97503FD91}"/>
              </a:ext>
            </a:extLst>
          </p:cNvPr>
          <p:cNvSpPr>
            <a:spLocks xmlns:a="http://schemas.openxmlformats.org/drawingml/2006/main" noGrp="1"/>
          </p:cNvSpPr>
          <p:nvPr/>
        </p:nvSpPr>
        <p:spPr>
          <a:xfrm xmlns:a="http://schemas.openxmlformats.org/drawingml/2006/main">
            <a:off x="640080" y="1097280"/>
            <a:ext cx="54864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600">
                <a:solidFill>
                  <a:srgbClr val="C9A961"/>
                </a:solidFill>
                <a:latin typeface="Calibri"/>
                <a:ea typeface="Calibri"/>
                <a:cs typeface="Calibri"/>
              </a:rPr>
              <a:t>THIS CURRICULUM IS PART OF</a:t>
            </a:r>
            <a:endParaRPr sz="1100"/>
          </a:p>
        </p:txBody>
      </p:sp>
      <p:sp>
        <p:nvSpPr>
          <p:cNvPr id="4" name="Text 2">
            <a:extLst xmlns:a="http://schemas.openxmlformats.org/drawingml/2006/main">
              <a:ext uri="{FF2B5EF4-FFF2-40B4-BE49-F238E27FC236}">
                <a16:creationId xmlns:a16="http://schemas.microsoft.com/office/drawing/2014/main" id="{976D850A-FCE3-4389-9BD2-695503EF9826}"/>
              </a:ext>
            </a:extLst>
          </p:cNvPr>
          <p:cNvSpPr>
            <a:spLocks xmlns:a="http://schemas.openxmlformats.org/drawingml/2006/main" noGrp="1"/>
          </p:cNvSpPr>
          <p:nvPr/>
        </p:nvSpPr>
        <p:spPr>
          <a:xfrm xmlns:a="http://schemas.openxmlformats.org/drawingml/2006/main">
            <a:off x="640080" y="1508760"/>
            <a:ext cx="822960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600" b="1">
                <a:solidFill>
                  <a:srgbClr val="FFFFFF"/>
                </a:solidFill>
                <a:latin typeface="Cambria"/>
                <a:ea typeface="Cambria"/>
                <a:cs typeface="Cambria"/>
              </a:rPr>
              <a:t>HR AI Transformation Playbook</a:t>
            </a:r>
            <a:endParaRPr sz="3600"/>
          </a:p>
        </p:txBody>
      </p:sp>
      <p:sp>
        <p:nvSpPr>
          <p:cNvPr id="5" name="Text 3">
            <a:extLst xmlns:a="http://schemas.openxmlformats.org/drawingml/2006/main">
              <a:ext uri="{FF2B5EF4-FFF2-40B4-BE49-F238E27FC236}">
                <a16:creationId xmlns:a16="http://schemas.microsoft.com/office/drawing/2014/main" id="{1FB89DEC-6572-458D-A6D2-0B70B5E33E2F}"/>
              </a:ext>
            </a:extLst>
          </p:cNvPr>
          <p:cNvSpPr>
            <a:spLocks xmlns:a="http://schemas.openxmlformats.org/drawingml/2006/main" noGrp="1"/>
          </p:cNvSpPr>
          <p:nvPr/>
        </p:nvSpPr>
        <p:spPr>
          <a:xfrm xmlns:a="http://schemas.openxmlformats.org/drawingml/2006/main">
            <a:off x="640080" y="2423160"/>
            <a:ext cx="7955280" cy="10058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400">
                <a:solidFill>
                  <a:srgbClr val="CADCFC"/>
                </a:solidFill>
                <a:latin typeface="Calibri"/>
                <a:ea typeface="Calibri"/>
                <a:cs typeface="Calibri"/>
              </a:rPr>
              <a:t>A field guide for HR and People Teams designing responsible AI programs: use cases, prompt drafts, governance templates, workflow patterns, evaluation tools and a transformation roadmap.</a:t>
            </a:r>
            <a:endParaRPr sz="1400"/>
          </a:p>
        </p:txBody>
      </p:sp>
      <p:sp>
        <p:nvSpPr>
          <p:cNvPr id="6" name="Shape 4">
            <a:extLst xmlns:a="http://schemas.openxmlformats.org/drawingml/2006/main">
              <a:ext uri="{FF2B5EF4-FFF2-40B4-BE49-F238E27FC236}">
                <a16:creationId xmlns:a16="http://schemas.microsoft.com/office/drawing/2014/main" id="{831B65A7-F872-4385-BE4A-AD44ECE21A79}"/>
              </a:ext>
            </a:extLst>
          </p:cNvPr>
          <p:cNvSpPr>
            <a:spLocks xmlns:a="http://schemas.openxmlformats.org/drawingml/2006/main" noGrp="1"/>
          </p:cNvSpPr>
          <p:nvPr/>
        </p:nvSpPr>
        <p:spPr>
          <a:xfrm xmlns:a="http://schemas.openxmlformats.org/drawingml/2006/main">
            <a:off x="640080" y="3749040"/>
            <a:ext cx="3931920" cy="777240"/>
          </a:xfrm>
          <a:prstGeom xmlns:a="http://schemas.openxmlformats.org/drawingml/2006/main" prst="rect">
            <a:avLst/>
          </a:prstGeom>
          <a:solidFill xmlns:a="http://schemas.openxmlformats.org/drawingml/2006/main">
            <a:srgbClr val="141C45"/>
          </a:solidFill>
          <a:ln xmlns:a="http://schemas.openxmlformats.org/drawingml/2006/main" w="6350">
            <a:solidFill>
              <a:srgbClr val="C9A961"/>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Text 5">
            <a:extLst xmlns:a="http://schemas.openxmlformats.org/drawingml/2006/main">
              <a:ext uri="{FF2B5EF4-FFF2-40B4-BE49-F238E27FC236}">
                <a16:creationId xmlns:a16="http://schemas.microsoft.com/office/drawing/2014/main" id="{D959C2ED-319B-4977-958B-8707E08E8053}"/>
              </a:ext>
            </a:extLst>
          </p:cNvPr>
          <p:cNvSpPr>
            <a:spLocks xmlns:a="http://schemas.openxmlformats.org/drawingml/2006/main" noGrp="1"/>
          </p:cNvSpPr>
          <p:nvPr/>
        </p:nvSpPr>
        <p:spPr>
          <a:xfrm xmlns:a="http://schemas.openxmlformats.org/drawingml/2006/main">
            <a:off x="777240" y="3822192"/>
            <a:ext cx="36576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300">
                <a:solidFill>
                  <a:srgbClr val="C9A961"/>
                </a:solidFill>
                <a:latin typeface="Calibri"/>
                <a:ea typeface="Calibri"/>
                <a:cs typeface="Calibri"/>
              </a:rPr>
              <a:t>REPOSITORY</a:t>
            </a:r>
            <a:endParaRPr sz="900"/>
          </a:p>
        </p:txBody>
      </p:sp>
      <p:sp>
        <p:nvSpPr>
          <p:cNvPr id="8" name="Text 6">
            <a:extLst xmlns:a="http://schemas.openxmlformats.org/drawingml/2006/main">
              <a:ext uri="{FF2B5EF4-FFF2-40B4-BE49-F238E27FC236}">
                <a16:creationId xmlns:a16="http://schemas.microsoft.com/office/drawing/2014/main" id="{6E39B6A5-02DB-463F-97E7-27723C1FEC34}"/>
              </a:ext>
            </a:extLst>
          </p:cNvPr>
          <p:cNvSpPr>
            <a:spLocks xmlns:a="http://schemas.openxmlformats.org/drawingml/2006/main" noGrp="1"/>
          </p:cNvSpPr>
          <p:nvPr/>
        </p:nvSpPr>
        <p:spPr>
          <a:xfrm xmlns:a="http://schemas.openxmlformats.org/drawingml/2006/main">
            <a:off x="777240" y="4078224"/>
            <a:ext cx="36576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a:solidFill>
                  <a:srgbClr val="FFFFFF"/>
                </a:solidFill>
                <a:latin typeface="Calibri"/>
                <a:ea typeface="Calibri"/>
                <a:cs typeface="Calibri"/>
                <a:hlinkClick xmlns:r="http://schemas.openxmlformats.org/officeDocument/2006/relationships" r:id="R105235448d944659"/>
              </a:rPr>
              <a:t>github.com/ellehelvig/hr-ai-transformation-playbook</a:t>
            </a:r>
            <a:endParaRPr sz="1100"/>
          </a:p>
        </p:txBody>
      </p:sp>
      <p:sp>
        <p:nvSpPr>
          <p:cNvPr id="9" name="Shape 7">
            <a:extLst xmlns:a="http://schemas.openxmlformats.org/drawingml/2006/main">
              <a:ext uri="{FF2B5EF4-FFF2-40B4-BE49-F238E27FC236}">
                <a16:creationId xmlns:a16="http://schemas.microsoft.com/office/drawing/2014/main" id="{1BF57740-C8AC-42B1-B59C-A2D3F2E42B31}"/>
              </a:ext>
            </a:extLst>
          </p:cNvPr>
          <p:cNvSpPr>
            <a:spLocks xmlns:a="http://schemas.openxmlformats.org/drawingml/2006/main" noGrp="1"/>
          </p:cNvSpPr>
          <p:nvPr/>
        </p:nvSpPr>
        <p:spPr>
          <a:xfrm xmlns:a="http://schemas.openxmlformats.org/drawingml/2006/main">
            <a:off x="4754880" y="3749040"/>
            <a:ext cx="3931920" cy="777240"/>
          </a:xfrm>
          <a:prstGeom xmlns:a="http://schemas.openxmlformats.org/drawingml/2006/main" prst="rect">
            <a:avLst/>
          </a:prstGeom>
          <a:solidFill xmlns:a="http://schemas.openxmlformats.org/drawingml/2006/main">
            <a:srgbClr val="141C45"/>
          </a:solidFill>
          <a:ln xmlns:a="http://schemas.openxmlformats.org/drawingml/2006/main" w="6350">
            <a:solidFill>
              <a:srgbClr val="C9A961"/>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Text 8">
            <a:extLst xmlns:a="http://schemas.openxmlformats.org/drawingml/2006/main">
              <a:ext uri="{FF2B5EF4-FFF2-40B4-BE49-F238E27FC236}">
                <a16:creationId xmlns:a16="http://schemas.microsoft.com/office/drawing/2014/main" id="{21A7AADD-B3C8-416C-9F63-CD03D100F892}"/>
              </a:ext>
            </a:extLst>
          </p:cNvPr>
          <p:cNvSpPr>
            <a:spLocks xmlns:a="http://schemas.openxmlformats.org/drawingml/2006/main" noGrp="1"/>
          </p:cNvSpPr>
          <p:nvPr/>
        </p:nvSpPr>
        <p:spPr>
          <a:xfrm xmlns:a="http://schemas.openxmlformats.org/drawingml/2006/main">
            <a:off x="4892040" y="3822192"/>
            <a:ext cx="36576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300">
                <a:solidFill>
                  <a:srgbClr val="C9A961"/>
                </a:solidFill>
                <a:latin typeface="Calibri"/>
                <a:ea typeface="Calibri"/>
                <a:cs typeface="Calibri"/>
              </a:rPr>
              <a:t>CONNECT</a:t>
            </a:r>
            <a:endParaRPr sz="900"/>
          </a:p>
        </p:txBody>
      </p:sp>
      <p:sp>
        <p:nvSpPr>
          <p:cNvPr id="11" name="Text 9">
            <a:extLst xmlns:a="http://schemas.openxmlformats.org/drawingml/2006/main">
              <a:ext uri="{FF2B5EF4-FFF2-40B4-BE49-F238E27FC236}">
                <a16:creationId xmlns:a16="http://schemas.microsoft.com/office/drawing/2014/main" id="{D41947B2-AE80-4EE5-952A-ED00C3F534E7}"/>
              </a:ext>
            </a:extLst>
          </p:cNvPr>
          <p:cNvSpPr>
            <a:spLocks xmlns:a="http://schemas.openxmlformats.org/drawingml/2006/main" noGrp="1"/>
          </p:cNvSpPr>
          <p:nvPr/>
        </p:nvSpPr>
        <p:spPr>
          <a:xfrm xmlns:a="http://schemas.openxmlformats.org/drawingml/2006/main">
            <a:off x="4892040" y="4078224"/>
            <a:ext cx="36576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a:solidFill>
                  <a:srgbClr val="FFFFFF"/>
                </a:solidFill>
                <a:latin typeface="Calibri"/>
                <a:ea typeface="Calibri"/>
                <a:cs typeface="Calibri"/>
                <a:hlinkClick xmlns:r="http://schemas.openxmlformats.org/officeDocument/2006/relationships" r:id="Rf72ad1babed840ec"/>
              </a:rPr>
              <a:t>linkedin.com/in/ellehelvig</a:t>
            </a:r>
            <a:endParaRPr sz="1100"/>
          </a:p>
        </p:txBody>
      </p:sp>
      <p:sp>
        <p:nvSpPr>
          <p:cNvPr id="12" name="Text 10">
            <a:extLst xmlns:a="http://schemas.openxmlformats.org/drawingml/2006/main">
              <a:ext uri="{FF2B5EF4-FFF2-40B4-BE49-F238E27FC236}">
                <a16:creationId xmlns:a16="http://schemas.microsoft.com/office/drawing/2014/main" id="{68F7F490-6196-4F3D-848E-9F04FD5A7BFA}"/>
              </a:ext>
            </a:extLst>
          </p:cNvPr>
          <p:cNvSpPr>
            <a:spLocks xmlns:a="http://schemas.openxmlformats.org/drawingml/2006/main" noGrp="1"/>
          </p:cNvSpPr>
          <p:nvPr/>
        </p:nvSpPr>
        <p:spPr>
          <a:xfrm xmlns:a="http://schemas.openxmlformats.org/drawingml/2006/main">
            <a:off x="640080" y="4754880"/>
            <a:ext cx="82296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i="1">
                <a:solidFill>
                  <a:srgbClr val="CADCFC"/>
                </a:solidFill>
                <a:latin typeface="Calibri"/>
                <a:ea typeface="Calibri"/>
                <a:cs typeface="Calibri"/>
              </a:rPr>
              <a:t>Built by Elle Helvig</a:t>
            </a:r>
            <a:endParaRPr sz="1000"/>
          </a:p>
        </p:txBody>
      </p:sp>
    </p:spTree>
    <p:extLst>
      <p:ext uri="{BB962C8B-B14F-4D97-AF65-F5344CB8AC3E}">
        <p14:creationId xmlns:p14="http://schemas.microsoft.com/office/powerpoint/2010/main" val="1087278989"/>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2026-10-13T22:20:27.9200000Z</dcterms:created>
  <dcterms:modified xsi:type="dcterms:W3CDTF">2026-10-13T22:20:27.9200000Z</dcterms:modified>
</coreProperties>
</file>